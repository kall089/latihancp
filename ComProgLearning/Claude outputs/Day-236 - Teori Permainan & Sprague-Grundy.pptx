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1371600"/>
            <a:ext cx="7680960" cy="2468880"/>
          </a:xfrm>
          <a:prstGeom prst="rect">
            <a:avLst/>
          </a:prstGeom>
          <a:noFill/>
          <a:ln/>
        </p:spPr>
        <p:txBody>
          <a:bodyPr wrap="square" lIns="0" tIns="0" rIns="0" bIns="0" rtlCol="0" anchor="ctr"/>
          <a:lstStyle/>
          <a:p>
            <a:pPr indent="0" marL="0">
              <a:lnSpc>
                <a:spcPct val="116000"/>
              </a:lnSpc>
              <a:buNone/>
            </a:pPr>
            <a:r>
              <a:rPr lang="en-US" sz="4200" dirty="0">
                <a:solidFill>
                  <a:srgbClr val="1A1A1A"/>
                </a:solidFill>
                <a:latin typeface="Century Gothic" pitchFamily="34" charset="0"/>
                <a:ea typeface="Century Gothic" pitchFamily="34" charset="-122"/>
                <a:cs typeface="Century Gothic" pitchFamily="34" charset="-120"/>
              </a:rPr>
              <a:t>Teori Permainan</a:t>
            </a:r>
            <a:endParaRPr lang="en-US" sz="4200" dirty="0"/>
          </a:p>
          <a:p>
            <a:pPr indent="0" marL="0">
              <a:lnSpc>
                <a:spcPct val="116000"/>
              </a:lnSpc>
              <a:buNone/>
            </a:pPr>
            <a:r>
              <a:rPr lang="en-US" sz="4200" dirty="0">
                <a:solidFill>
                  <a:srgbClr val="1A1A1A"/>
                </a:solidFill>
                <a:latin typeface="Century Gothic" pitchFamily="34" charset="0"/>
                <a:ea typeface="Century Gothic" pitchFamily="34" charset="-122"/>
                <a:cs typeface="Century Gothic" pitchFamily="34" charset="-120"/>
              </a:rPr>
              <a:t>&amp; Sprague-Grundy</a:t>
            </a:r>
            <a:endParaRPr lang="en-US" sz="4200" dirty="0"/>
          </a:p>
        </p:txBody>
      </p:sp>
      <p:sp>
        <p:nvSpPr>
          <p:cNvPr id="3" name="Text 1"/>
          <p:cNvSpPr txBox="1"/>
          <p:nvPr/>
        </p:nvSpPr>
        <p:spPr>
          <a:xfrm>
            <a:off x="667512" y="4023360"/>
            <a:ext cx="7680960" cy="457200"/>
          </a:xfrm>
          <a:prstGeom prst="rect">
            <a:avLst/>
          </a:prstGeom>
          <a:noFill/>
          <a:ln/>
        </p:spPr>
        <p:txBody>
          <a:bodyPr wrap="square" lIns="0" tIns="0" rIns="0" bIns="0" rtlCol="0" anchor="ctr"/>
          <a:lstStyle/>
          <a:p>
            <a:pPr indent="0" marL="0">
              <a:buNone/>
            </a:pPr>
            <a:r>
              <a:rPr lang="en-US" sz="1400" dirty="0">
                <a:solidFill>
                  <a:srgbClr val="7F7F7F"/>
                </a:solidFill>
                <a:latin typeface="Century Gothic" pitchFamily="34" charset="0"/>
                <a:ea typeface="Century Gothic" pitchFamily="34" charset="-122"/>
                <a:cs typeface="Century Gothic" pitchFamily="34" charset="-120"/>
              </a:rPr>
              <a:t>Nim, bilangan grundy, dan kenapa semua permainan imparsial sama saja</a:t>
            </a:r>
            <a:endParaRPr lang="en-US" sz="1400" dirty="0"/>
          </a:p>
        </p:txBody>
      </p:sp>
      <p:sp>
        <p:nvSpPr>
          <p:cNvPr id="4" name="Text 2"/>
          <p:cNvSpPr txBox="1"/>
          <p:nvPr/>
        </p:nvSpPr>
        <p:spPr>
          <a:xfrm>
            <a:off x="667512" y="4645152"/>
            <a:ext cx="7315200" cy="365760"/>
          </a:xfrm>
          <a:prstGeom prst="rect">
            <a:avLst/>
          </a:prstGeom>
          <a:noFill/>
          <a:ln/>
        </p:spPr>
        <p:txBody>
          <a:bodyPr wrap="square" lIns="0" tIns="0" rIns="0" bIns="0" rtlCol="0" anchor="ctr"/>
          <a:lstStyle/>
          <a:p>
            <a:pPr indent="0" marL="0">
              <a:buNone/>
            </a:pPr>
            <a:r>
              <a:rPr lang="en-US" sz="1200" dirty="0">
                <a:solidFill>
                  <a:srgbClr val="4FA8E8"/>
                </a:solidFill>
                <a:latin typeface="Century Gothic" pitchFamily="34" charset="0"/>
                <a:ea typeface="Century Gothic" pitchFamily="34" charset="-122"/>
                <a:cs typeface="Century Gothic" pitchFamily="34" charset="-120"/>
              </a:rPr>
              <a:t>Permainan · Day 236</a:t>
            </a:r>
            <a:endParaRPr lang="en-US" sz="1200" dirty="0"/>
          </a:p>
        </p:txBody>
      </p:sp>
      <p:sp>
        <p:nvSpPr>
          <p:cNvPr id="5" name="Shape 3"/>
          <p:cNvSpPr/>
          <p:nvPr/>
        </p:nvSpPr>
        <p:spPr>
          <a:xfrm>
            <a:off x="9235440" y="1371600"/>
            <a:ext cx="2286000" cy="2286000"/>
          </a:xfrm>
          <a:prstGeom prst="rect">
            <a:avLst/>
          </a:prstGeom>
          <a:solidFill>
            <a:srgbClr val="F2F7FD"/>
          </a:solidFill>
          <a:ln/>
        </p:spPr>
      </p:sp>
      <p:sp>
        <p:nvSpPr>
          <p:cNvPr id="6" name="Text 4"/>
          <p:cNvSpPr txBox="1"/>
          <p:nvPr/>
        </p:nvSpPr>
        <p:spPr>
          <a:xfrm>
            <a:off x="9235440" y="1371600"/>
            <a:ext cx="2286000" cy="2286000"/>
          </a:xfrm>
          <a:prstGeom prst="rect">
            <a:avLst/>
          </a:prstGeom>
          <a:noFill/>
          <a:ln/>
        </p:spPr>
        <p:txBody>
          <a:bodyPr wrap="square" lIns="0" tIns="0" rIns="0" bIns="0" rtlCol="0" anchor="ctr"/>
          <a:lstStyle/>
          <a:p>
            <a:pPr algn="ctr" indent="0" marL="0">
              <a:buNone/>
            </a:pPr>
            <a:r>
              <a:rPr lang="en-US" sz="5600" dirty="0">
                <a:solidFill>
                  <a:srgbClr val="4FA8E8"/>
                </a:solidFill>
                <a:latin typeface="Century Gothic" pitchFamily="34" charset="0"/>
                <a:ea typeface="Century Gothic" pitchFamily="34" charset="-122"/>
                <a:cs typeface="Century Gothic" pitchFamily="34" charset="-120"/>
              </a:rPr>
              <a:t>236</a:t>
            </a:r>
            <a:endParaRPr lang="en-US" sz="5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00</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Sebelum Mulai</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Materi ini tentang apa, dan kapan ia dipakai</a:t>
            </a:r>
            <a:endParaRPr lang="en-US" sz="1350" dirty="0"/>
          </a:p>
        </p:txBody>
      </p:sp>
      <p:sp>
        <p:nvSpPr>
          <p:cNvPr id="5" name="Shape 3"/>
          <p:cNvSpPr/>
          <p:nvPr/>
        </p:nvSpPr>
        <p:spPr>
          <a:xfrm>
            <a:off x="5815584" y="4251960"/>
            <a:ext cx="548640" cy="45720"/>
          </a:xfrm>
          <a:prstGeom prst="rect">
            <a:avLst/>
          </a:prstGeom>
          <a:solidFill>
            <a:srgbClr val="3ECF9E"/>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Penjelasan Sederhana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Bayangkan permainan mengambil permen dari beberapa toples, dan yang tidak kebagian mengambil kalah.</a:t>
            </a:r>
            <a:endParaRPr lang="en-US" sz="1300" dirty="0"/>
          </a:p>
        </p:txBody>
      </p:sp>
      <p:sp>
        <p:nvSpPr>
          <p:cNvPr id="4" name="Text 2"/>
          <p:cNvSpPr txBox="1"/>
          <p:nvPr/>
        </p:nvSpPr>
        <p:spPr>
          <a:xfrm>
            <a:off x="667512" y="1892808"/>
            <a:ext cx="4663440" cy="274320"/>
          </a:xfrm>
          <a:prstGeom prst="rect">
            <a:avLst/>
          </a:prstGeom>
          <a:noFill/>
          <a:ln/>
        </p:spPr>
        <p:txBody>
          <a:bodyPr wrap="square" lIns="0" tIns="0" rIns="0" bIns="0" rtlCol="0" anchor="ctr"/>
          <a:lstStyle/>
          <a:p>
            <a:pPr indent="0" marL="0">
              <a:buNone/>
            </a:pPr>
            <a:r>
              <a:rPr lang="en-US" sz="1050" spc="200" kern="0" dirty="0">
                <a:solidFill>
                  <a:srgbClr val="F5A623"/>
                </a:solidFill>
                <a:latin typeface="Century Gothic" pitchFamily="34" charset="0"/>
                <a:ea typeface="Century Gothic" pitchFamily="34" charset="-122"/>
                <a:cs typeface="Century Gothic" pitchFamily="34" charset="-120"/>
              </a:rPr>
              <a:t>BAYANGKAN SEPERTI INI</a:t>
            </a:r>
            <a:endParaRPr lang="en-US" sz="1050" dirty="0"/>
          </a:p>
        </p:txBody>
      </p:sp>
      <p:sp>
        <p:nvSpPr>
          <p:cNvPr id="5" name="Text 3"/>
          <p:cNvSpPr txBox="1"/>
          <p:nvPr/>
        </p:nvSpPr>
        <p:spPr>
          <a:xfrm>
            <a:off x="6858000" y="1892808"/>
            <a:ext cx="4663440" cy="274320"/>
          </a:xfrm>
          <a:prstGeom prst="rect">
            <a:avLst/>
          </a:prstGeom>
          <a:noFill/>
          <a:ln/>
        </p:spPr>
        <p:txBody>
          <a:bodyPr wrap="square" lIns="0" tIns="0" rIns="0" bIns="0" rtlCol="0" anchor="ctr"/>
          <a:lstStyle/>
          <a:p>
            <a:pPr indent="0" marL="0">
              <a:buNone/>
            </a:pPr>
            <a:r>
              <a:rPr lang="en-US" sz="1050" spc="200" kern="0" dirty="0">
                <a:solidFill>
                  <a:srgbClr val="4FA8E8"/>
                </a:solidFill>
                <a:latin typeface="Century Gothic" pitchFamily="34" charset="0"/>
                <a:ea typeface="Century Gothic" pitchFamily="34" charset="-122"/>
                <a:cs typeface="Century Gothic" pitchFamily="34" charset="-120"/>
              </a:rPr>
              <a:t>DI DALAM SOAL</a:t>
            </a:r>
            <a:endParaRPr lang="en-US" sz="1050" dirty="0"/>
          </a:p>
        </p:txBody>
      </p:sp>
      <p:sp>
        <p:nvSpPr>
          <p:cNvPr id="6" name="Shape 4"/>
          <p:cNvSpPr/>
          <p:nvPr/>
        </p:nvSpPr>
        <p:spPr>
          <a:xfrm>
            <a:off x="667512" y="2276856"/>
            <a:ext cx="4663440" cy="493776"/>
          </a:xfrm>
          <a:prstGeom prst="rect">
            <a:avLst/>
          </a:prstGeom>
          <a:solidFill>
            <a:srgbClr val="FFF8EC"/>
          </a:solidFill>
          <a:ln/>
        </p:spPr>
      </p:sp>
      <p:sp>
        <p:nvSpPr>
          <p:cNvPr id="7" name="Shape 5"/>
          <p:cNvSpPr/>
          <p:nvPr/>
        </p:nvSpPr>
        <p:spPr>
          <a:xfrm>
            <a:off x="667512" y="2276856"/>
            <a:ext cx="54864" cy="493776"/>
          </a:xfrm>
          <a:prstGeom prst="rect">
            <a:avLst/>
          </a:prstGeom>
          <a:solidFill>
            <a:srgbClr val="F5A623"/>
          </a:solidFill>
          <a:ln/>
        </p:spPr>
      </p:sp>
      <p:sp>
        <p:nvSpPr>
          <p:cNvPr id="8" name="Text 6"/>
          <p:cNvSpPr txBox="1"/>
          <p:nvPr/>
        </p:nvSpPr>
        <p:spPr>
          <a:xfrm>
            <a:off x="923544" y="2276856"/>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Beberapa toples berisi permen</a:t>
            </a:r>
            <a:endParaRPr lang="en-US" sz="1200" dirty="0"/>
          </a:p>
        </p:txBody>
      </p:sp>
      <p:sp>
        <p:nvSpPr>
          <p:cNvPr id="9" name="Shape 7"/>
          <p:cNvSpPr/>
          <p:nvPr/>
        </p:nvSpPr>
        <p:spPr>
          <a:xfrm>
            <a:off x="5586984" y="2523744"/>
            <a:ext cx="1014984" cy="914"/>
          </a:xfrm>
          <a:prstGeom prst="line">
            <a:avLst/>
          </a:prstGeom>
          <a:noFill/>
          <a:ln w="19050">
            <a:solidFill>
              <a:srgbClr val="C8CDD4"/>
            </a:solidFill>
            <a:prstDash val="solid"/>
            <a:tailEnd type="triangle"/>
          </a:ln>
        </p:spPr>
      </p:sp>
      <p:sp>
        <p:nvSpPr>
          <p:cNvPr id="10" name="Shape 8"/>
          <p:cNvSpPr/>
          <p:nvPr/>
        </p:nvSpPr>
        <p:spPr>
          <a:xfrm>
            <a:off x="6858000" y="2276856"/>
            <a:ext cx="4663440" cy="493776"/>
          </a:xfrm>
          <a:prstGeom prst="rect">
            <a:avLst/>
          </a:prstGeom>
          <a:solidFill>
            <a:srgbClr val="F2F7FD"/>
          </a:solidFill>
          <a:ln/>
        </p:spPr>
      </p:sp>
      <p:sp>
        <p:nvSpPr>
          <p:cNvPr id="11" name="Shape 9"/>
          <p:cNvSpPr/>
          <p:nvPr/>
        </p:nvSpPr>
        <p:spPr>
          <a:xfrm>
            <a:off x="6858000" y="2276856"/>
            <a:ext cx="54864" cy="493776"/>
          </a:xfrm>
          <a:prstGeom prst="rect">
            <a:avLst/>
          </a:prstGeom>
          <a:solidFill>
            <a:srgbClr val="4FA8E8"/>
          </a:solidFill>
          <a:ln/>
        </p:spPr>
      </p:sp>
      <p:sp>
        <p:nvSpPr>
          <p:cNvPr id="12" name="Text 10"/>
          <p:cNvSpPr txBox="1"/>
          <p:nvPr/>
        </p:nvSpPr>
        <p:spPr>
          <a:xfrm>
            <a:off x="7114032" y="2276856"/>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Beberapa tumpukan pada Nim</a:t>
            </a:r>
            <a:endParaRPr lang="en-US" sz="1200" dirty="0"/>
          </a:p>
        </p:txBody>
      </p:sp>
      <p:sp>
        <p:nvSpPr>
          <p:cNvPr id="13" name="Shape 11"/>
          <p:cNvSpPr/>
          <p:nvPr/>
        </p:nvSpPr>
        <p:spPr>
          <a:xfrm>
            <a:off x="667512" y="2898648"/>
            <a:ext cx="4663440" cy="493776"/>
          </a:xfrm>
          <a:prstGeom prst="rect">
            <a:avLst/>
          </a:prstGeom>
          <a:solidFill>
            <a:srgbClr val="FFF8EC"/>
          </a:solidFill>
          <a:ln/>
        </p:spPr>
      </p:sp>
      <p:sp>
        <p:nvSpPr>
          <p:cNvPr id="14" name="Shape 12"/>
          <p:cNvSpPr/>
          <p:nvPr/>
        </p:nvSpPr>
        <p:spPr>
          <a:xfrm>
            <a:off x="667512" y="2898648"/>
            <a:ext cx="54864" cy="493776"/>
          </a:xfrm>
          <a:prstGeom prst="rect">
            <a:avLst/>
          </a:prstGeom>
          <a:solidFill>
            <a:srgbClr val="F5A623"/>
          </a:solidFill>
          <a:ln/>
        </p:spPr>
      </p:sp>
      <p:sp>
        <p:nvSpPr>
          <p:cNvPr id="15" name="Text 13"/>
          <p:cNvSpPr txBox="1"/>
          <p:nvPr/>
        </p:nvSpPr>
        <p:spPr>
          <a:xfrm>
            <a:off x="923544" y="2898648"/>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Ambil berapa pun dari SATU toples</a:t>
            </a:r>
            <a:endParaRPr lang="en-US" sz="1200" dirty="0"/>
          </a:p>
        </p:txBody>
      </p:sp>
      <p:sp>
        <p:nvSpPr>
          <p:cNvPr id="16" name="Shape 14"/>
          <p:cNvSpPr/>
          <p:nvPr/>
        </p:nvSpPr>
        <p:spPr>
          <a:xfrm>
            <a:off x="5586984" y="3145536"/>
            <a:ext cx="1014984" cy="914"/>
          </a:xfrm>
          <a:prstGeom prst="line">
            <a:avLst/>
          </a:prstGeom>
          <a:noFill/>
          <a:ln w="19050">
            <a:solidFill>
              <a:srgbClr val="C8CDD4"/>
            </a:solidFill>
            <a:prstDash val="solid"/>
            <a:tailEnd type="triangle"/>
          </a:ln>
        </p:spPr>
      </p:sp>
      <p:sp>
        <p:nvSpPr>
          <p:cNvPr id="17" name="Shape 15"/>
          <p:cNvSpPr/>
          <p:nvPr/>
        </p:nvSpPr>
        <p:spPr>
          <a:xfrm>
            <a:off x="6858000" y="2898648"/>
            <a:ext cx="4663440" cy="493776"/>
          </a:xfrm>
          <a:prstGeom prst="rect">
            <a:avLst/>
          </a:prstGeom>
          <a:solidFill>
            <a:srgbClr val="F2F7FD"/>
          </a:solidFill>
          <a:ln/>
        </p:spPr>
      </p:sp>
      <p:sp>
        <p:nvSpPr>
          <p:cNvPr id="18" name="Shape 16"/>
          <p:cNvSpPr/>
          <p:nvPr/>
        </p:nvSpPr>
        <p:spPr>
          <a:xfrm>
            <a:off x="6858000" y="2898648"/>
            <a:ext cx="54864" cy="493776"/>
          </a:xfrm>
          <a:prstGeom prst="rect">
            <a:avLst/>
          </a:prstGeom>
          <a:solidFill>
            <a:srgbClr val="4FA8E8"/>
          </a:solidFill>
          <a:ln/>
        </p:spPr>
      </p:sp>
      <p:sp>
        <p:nvSpPr>
          <p:cNvPr id="19" name="Text 17"/>
          <p:cNvSpPr txBox="1"/>
          <p:nvPr/>
        </p:nvSpPr>
        <p:spPr>
          <a:xfrm>
            <a:off x="7114032" y="2898648"/>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Satu langkah menyentuh satu bagian</a:t>
            </a:r>
            <a:endParaRPr lang="en-US" sz="1200" dirty="0"/>
          </a:p>
        </p:txBody>
      </p:sp>
      <p:sp>
        <p:nvSpPr>
          <p:cNvPr id="20" name="Shape 18"/>
          <p:cNvSpPr/>
          <p:nvPr/>
        </p:nvSpPr>
        <p:spPr>
          <a:xfrm>
            <a:off x="667512" y="3520440"/>
            <a:ext cx="4663440" cy="493776"/>
          </a:xfrm>
          <a:prstGeom prst="rect">
            <a:avLst/>
          </a:prstGeom>
          <a:solidFill>
            <a:srgbClr val="FFF8EC"/>
          </a:solidFill>
          <a:ln/>
        </p:spPr>
      </p:sp>
      <p:sp>
        <p:nvSpPr>
          <p:cNvPr id="21" name="Shape 19"/>
          <p:cNvSpPr/>
          <p:nvPr/>
        </p:nvSpPr>
        <p:spPr>
          <a:xfrm>
            <a:off x="667512" y="3520440"/>
            <a:ext cx="54864" cy="493776"/>
          </a:xfrm>
          <a:prstGeom prst="rect">
            <a:avLst/>
          </a:prstGeom>
          <a:solidFill>
            <a:srgbClr val="F5A623"/>
          </a:solidFill>
          <a:ln/>
        </p:spPr>
      </p:sp>
      <p:sp>
        <p:nvSpPr>
          <p:cNvPr id="22" name="Text 20"/>
          <p:cNvSpPr txBox="1"/>
          <p:nvPr/>
        </p:nvSpPr>
        <p:spPr>
          <a:xfrm>
            <a:off x="923544" y="3520440"/>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Ada susunan yang pasti bikin kalah</a:t>
            </a:r>
            <a:endParaRPr lang="en-US" sz="1200" dirty="0"/>
          </a:p>
        </p:txBody>
      </p:sp>
      <p:sp>
        <p:nvSpPr>
          <p:cNvPr id="23" name="Shape 21"/>
          <p:cNvSpPr/>
          <p:nvPr/>
        </p:nvSpPr>
        <p:spPr>
          <a:xfrm>
            <a:off x="5586984" y="3767328"/>
            <a:ext cx="1014984" cy="914"/>
          </a:xfrm>
          <a:prstGeom prst="line">
            <a:avLst/>
          </a:prstGeom>
          <a:noFill/>
          <a:ln w="19050">
            <a:solidFill>
              <a:srgbClr val="C8CDD4"/>
            </a:solidFill>
            <a:prstDash val="solid"/>
            <a:tailEnd type="triangle"/>
          </a:ln>
        </p:spPr>
      </p:sp>
      <p:sp>
        <p:nvSpPr>
          <p:cNvPr id="24" name="Shape 22"/>
          <p:cNvSpPr/>
          <p:nvPr/>
        </p:nvSpPr>
        <p:spPr>
          <a:xfrm>
            <a:off x="6858000" y="3520440"/>
            <a:ext cx="4663440" cy="493776"/>
          </a:xfrm>
          <a:prstGeom prst="rect">
            <a:avLst/>
          </a:prstGeom>
          <a:solidFill>
            <a:srgbClr val="F2F7FD"/>
          </a:solidFill>
          <a:ln/>
        </p:spPr>
      </p:sp>
      <p:sp>
        <p:nvSpPr>
          <p:cNvPr id="25" name="Shape 23"/>
          <p:cNvSpPr/>
          <p:nvPr/>
        </p:nvSpPr>
        <p:spPr>
          <a:xfrm>
            <a:off x="6858000" y="3520440"/>
            <a:ext cx="54864" cy="493776"/>
          </a:xfrm>
          <a:prstGeom prst="rect">
            <a:avLst/>
          </a:prstGeom>
          <a:solidFill>
            <a:srgbClr val="4FA8E8"/>
          </a:solidFill>
          <a:ln/>
        </p:spPr>
      </p:sp>
      <p:sp>
        <p:nvSpPr>
          <p:cNvPr id="26" name="Text 24"/>
          <p:cNvSpPr txBox="1"/>
          <p:nvPr/>
        </p:nvSpPr>
        <p:spPr>
          <a:xfrm>
            <a:off x="7114032" y="3520440"/>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Posisi kalah: XOR bernilai nol</a:t>
            </a:r>
            <a:endParaRPr lang="en-US" sz="1200" dirty="0"/>
          </a:p>
        </p:txBody>
      </p:sp>
      <p:sp>
        <p:nvSpPr>
          <p:cNvPr id="27" name="Shape 25"/>
          <p:cNvSpPr/>
          <p:nvPr/>
        </p:nvSpPr>
        <p:spPr>
          <a:xfrm>
            <a:off x="667512" y="4142232"/>
            <a:ext cx="4663440" cy="493776"/>
          </a:xfrm>
          <a:prstGeom prst="rect">
            <a:avLst/>
          </a:prstGeom>
          <a:solidFill>
            <a:srgbClr val="FFF8EC"/>
          </a:solidFill>
          <a:ln/>
        </p:spPr>
      </p:sp>
      <p:sp>
        <p:nvSpPr>
          <p:cNvPr id="28" name="Shape 26"/>
          <p:cNvSpPr/>
          <p:nvPr/>
        </p:nvSpPr>
        <p:spPr>
          <a:xfrm>
            <a:off x="667512" y="4142232"/>
            <a:ext cx="54864" cy="493776"/>
          </a:xfrm>
          <a:prstGeom prst="rect">
            <a:avLst/>
          </a:prstGeom>
          <a:solidFill>
            <a:srgbClr val="F5A623"/>
          </a:solidFill>
          <a:ln/>
        </p:spPr>
      </p:sp>
      <p:sp>
        <p:nvSpPr>
          <p:cNvPr id="29" name="Text 27"/>
          <p:cNvSpPr txBox="1"/>
          <p:nvPr/>
        </p:nvSpPr>
        <p:spPr>
          <a:xfrm>
            <a:off x="923544" y="4142232"/>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Selalu kembalikan ke susunan itu</a:t>
            </a:r>
            <a:endParaRPr lang="en-US" sz="1200" dirty="0"/>
          </a:p>
        </p:txBody>
      </p:sp>
      <p:sp>
        <p:nvSpPr>
          <p:cNvPr id="30" name="Shape 28"/>
          <p:cNvSpPr/>
          <p:nvPr/>
        </p:nvSpPr>
        <p:spPr>
          <a:xfrm>
            <a:off x="5586984" y="4389120"/>
            <a:ext cx="1014984" cy="914"/>
          </a:xfrm>
          <a:prstGeom prst="line">
            <a:avLst/>
          </a:prstGeom>
          <a:noFill/>
          <a:ln w="19050">
            <a:solidFill>
              <a:srgbClr val="C8CDD4"/>
            </a:solidFill>
            <a:prstDash val="solid"/>
            <a:tailEnd type="triangle"/>
          </a:ln>
        </p:spPr>
      </p:sp>
      <p:sp>
        <p:nvSpPr>
          <p:cNvPr id="31" name="Shape 29"/>
          <p:cNvSpPr/>
          <p:nvPr/>
        </p:nvSpPr>
        <p:spPr>
          <a:xfrm>
            <a:off x="6858000" y="4142232"/>
            <a:ext cx="4663440" cy="493776"/>
          </a:xfrm>
          <a:prstGeom prst="rect">
            <a:avLst/>
          </a:prstGeom>
          <a:solidFill>
            <a:srgbClr val="F2F7FD"/>
          </a:solidFill>
          <a:ln/>
        </p:spPr>
      </p:sp>
      <p:sp>
        <p:nvSpPr>
          <p:cNvPr id="32" name="Shape 30"/>
          <p:cNvSpPr/>
          <p:nvPr/>
        </p:nvSpPr>
        <p:spPr>
          <a:xfrm>
            <a:off x="6858000" y="4142232"/>
            <a:ext cx="54864" cy="493776"/>
          </a:xfrm>
          <a:prstGeom prst="rect">
            <a:avLst/>
          </a:prstGeom>
          <a:solidFill>
            <a:srgbClr val="4FA8E8"/>
          </a:solidFill>
          <a:ln/>
        </p:spPr>
      </p:sp>
      <p:sp>
        <p:nvSpPr>
          <p:cNvPr id="33" name="Text 31"/>
          <p:cNvSpPr txBox="1"/>
          <p:nvPr/>
        </p:nvSpPr>
        <p:spPr>
          <a:xfrm>
            <a:off x="7114032" y="4142232"/>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Strategi menang</a:t>
            </a:r>
            <a:endParaRPr lang="en-US" sz="1200" dirty="0"/>
          </a:p>
        </p:txBody>
      </p:sp>
      <p:sp>
        <p:nvSpPr>
          <p:cNvPr id="34" name="Shape 32"/>
          <p:cNvSpPr/>
          <p:nvPr/>
        </p:nvSpPr>
        <p:spPr>
          <a:xfrm>
            <a:off x="667512" y="4764024"/>
            <a:ext cx="4663440" cy="493776"/>
          </a:xfrm>
          <a:prstGeom prst="rect">
            <a:avLst/>
          </a:prstGeom>
          <a:solidFill>
            <a:srgbClr val="FFF8EC"/>
          </a:solidFill>
          <a:ln/>
        </p:spPr>
      </p:sp>
      <p:sp>
        <p:nvSpPr>
          <p:cNvPr id="35" name="Shape 33"/>
          <p:cNvSpPr/>
          <p:nvPr/>
        </p:nvSpPr>
        <p:spPr>
          <a:xfrm>
            <a:off x="667512" y="4764024"/>
            <a:ext cx="54864" cy="493776"/>
          </a:xfrm>
          <a:prstGeom prst="rect">
            <a:avLst/>
          </a:prstGeom>
          <a:solidFill>
            <a:srgbClr val="F5A623"/>
          </a:solidFill>
          <a:ln/>
        </p:spPr>
      </p:sp>
      <p:sp>
        <p:nvSpPr>
          <p:cNvPr id="36" name="Text 34"/>
          <p:cNvSpPr txBox="1"/>
          <p:nvPr/>
        </p:nvSpPr>
        <p:spPr>
          <a:xfrm>
            <a:off x="923544" y="4764024"/>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Permainan lain ternyata sama saja</a:t>
            </a:r>
            <a:endParaRPr lang="en-US" sz="1200" dirty="0"/>
          </a:p>
        </p:txBody>
      </p:sp>
      <p:sp>
        <p:nvSpPr>
          <p:cNvPr id="37" name="Shape 35"/>
          <p:cNvSpPr/>
          <p:nvPr/>
        </p:nvSpPr>
        <p:spPr>
          <a:xfrm>
            <a:off x="5586984" y="5010912"/>
            <a:ext cx="1014984" cy="914"/>
          </a:xfrm>
          <a:prstGeom prst="line">
            <a:avLst/>
          </a:prstGeom>
          <a:noFill/>
          <a:ln w="19050">
            <a:solidFill>
              <a:srgbClr val="C8CDD4"/>
            </a:solidFill>
            <a:prstDash val="solid"/>
            <a:tailEnd type="triangle"/>
          </a:ln>
        </p:spPr>
      </p:sp>
      <p:sp>
        <p:nvSpPr>
          <p:cNvPr id="38" name="Shape 36"/>
          <p:cNvSpPr/>
          <p:nvPr/>
        </p:nvSpPr>
        <p:spPr>
          <a:xfrm>
            <a:off x="6858000" y="4764024"/>
            <a:ext cx="4663440" cy="493776"/>
          </a:xfrm>
          <a:prstGeom prst="rect">
            <a:avLst/>
          </a:prstGeom>
          <a:solidFill>
            <a:srgbClr val="F2F7FD"/>
          </a:solidFill>
          <a:ln/>
        </p:spPr>
      </p:sp>
      <p:sp>
        <p:nvSpPr>
          <p:cNvPr id="39" name="Shape 37"/>
          <p:cNvSpPr/>
          <p:nvPr/>
        </p:nvSpPr>
        <p:spPr>
          <a:xfrm>
            <a:off x="6858000" y="4764024"/>
            <a:ext cx="54864" cy="493776"/>
          </a:xfrm>
          <a:prstGeom prst="rect">
            <a:avLst/>
          </a:prstGeom>
          <a:solidFill>
            <a:srgbClr val="4FA8E8"/>
          </a:solidFill>
          <a:ln/>
        </p:spPr>
      </p:sp>
      <p:sp>
        <p:nvSpPr>
          <p:cNvPr id="40" name="Text 38"/>
          <p:cNvSpPr txBox="1"/>
          <p:nvPr/>
        </p:nvSpPr>
        <p:spPr>
          <a:xfrm>
            <a:off x="7114032" y="4764024"/>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Teorema Sprague-Grundy</a:t>
            </a:r>
            <a:endParaRPr lang="en-US" sz="1200" dirty="0"/>
          </a:p>
        </p:txBody>
      </p:sp>
      <p:sp>
        <p:nvSpPr>
          <p:cNvPr id="41" name="Shape 39"/>
          <p:cNvSpPr/>
          <p:nvPr/>
        </p:nvSpPr>
        <p:spPr>
          <a:xfrm>
            <a:off x="667512" y="5532120"/>
            <a:ext cx="10853928" cy="914400"/>
          </a:xfrm>
          <a:prstGeom prst="rect">
            <a:avLst/>
          </a:prstGeom>
          <a:solidFill>
            <a:srgbClr val="FAFAFA"/>
          </a:solidFill>
          <a:ln/>
        </p:spPr>
      </p:sp>
      <p:sp>
        <p:nvSpPr>
          <p:cNvPr id="42" name="Shape 40"/>
          <p:cNvSpPr/>
          <p:nvPr/>
        </p:nvSpPr>
        <p:spPr>
          <a:xfrm>
            <a:off x="667512" y="5532120"/>
            <a:ext cx="10853928" cy="45720"/>
          </a:xfrm>
          <a:prstGeom prst="rect">
            <a:avLst/>
          </a:prstGeom>
          <a:solidFill>
            <a:srgbClr val="3ECF9E"/>
          </a:solidFill>
          <a:ln/>
        </p:spPr>
      </p:sp>
      <p:sp>
        <p:nvSpPr>
          <p:cNvPr id="43" name="Text 41"/>
          <p:cNvSpPr txBox="1"/>
          <p:nvPr/>
        </p:nvSpPr>
        <p:spPr>
          <a:xfrm>
            <a:off x="941832" y="5678424"/>
            <a:ext cx="1828800" cy="237744"/>
          </a:xfrm>
          <a:prstGeom prst="rect">
            <a:avLst/>
          </a:prstGeom>
          <a:noFill/>
          <a:ln/>
        </p:spPr>
        <p:txBody>
          <a:bodyPr wrap="square" lIns="0" tIns="0" rIns="0" bIns="0" rtlCol="0" anchor="ctr"/>
          <a:lstStyle/>
          <a:p>
            <a:pPr indent="0" marL="0">
              <a:buNone/>
            </a:pPr>
            <a:r>
              <a:rPr lang="en-US" sz="1000" spc="200" kern="0" dirty="0">
                <a:solidFill>
                  <a:srgbClr val="3ECF9E"/>
                </a:solidFill>
                <a:latin typeface="Century Gothic" pitchFamily="34" charset="0"/>
                <a:ea typeface="Century Gothic" pitchFamily="34" charset="-122"/>
                <a:cs typeface="Century Gothic" pitchFamily="34" charset="-120"/>
              </a:rPr>
              <a:t>INTINYA</a:t>
            </a:r>
            <a:endParaRPr lang="en-US" sz="1000" dirty="0"/>
          </a:p>
        </p:txBody>
      </p:sp>
      <p:sp>
        <p:nvSpPr>
          <p:cNvPr id="44" name="Text 42"/>
          <p:cNvSpPr txBox="1"/>
          <p:nvPr/>
        </p:nvSpPr>
        <p:spPr>
          <a:xfrm>
            <a:off x="941832" y="5916168"/>
            <a:ext cx="10332720" cy="45720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entury Gothic" pitchFamily="34" charset="0"/>
                <a:ea typeface="Century Gothic" pitchFamily="34" charset="-122"/>
                <a:cs typeface="Century Gothic" pitchFamily="34" charset="-120"/>
              </a:rPr>
              <a:t>Semua permainan imparsial ternyata adalah Nim yang menyamar — bilangan grundy adalah penerjemahnya.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Materi Ini Tentang Apa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Teori permainan kombinatorial menjawab siapa yang menang bila kedua pemain bermain sempurna — dan ternyata semua permainan imparsial adalah Nim yang menyamar.</a:t>
            </a:r>
            <a:endParaRPr lang="en-US" sz="1300" dirty="0"/>
          </a:p>
        </p:txBody>
      </p:sp>
      <p:sp>
        <p:nvSpPr>
          <p:cNvPr id="4" name="Shape 2"/>
          <p:cNvSpPr/>
          <p:nvPr/>
        </p:nvSpPr>
        <p:spPr>
          <a:xfrm>
            <a:off x="667512" y="2130552"/>
            <a:ext cx="91440" cy="91440"/>
          </a:xfrm>
          <a:prstGeom prst="rect">
            <a:avLst/>
          </a:prstGeom>
          <a:solidFill>
            <a:srgbClr val="4FA8E8"/>
          </a:solidFill>
          <a:ln/>
        </p:spPr>
      </p:sp>
      <p:sp>
        <p:nvSpPr>
          <p:cNvPr id="5" name="Text 3"/>
          <p:cNvSpPr txBox="1"/>
          <p:nvPr/>
        </p:nvSpPr>
        <p:spPr>
          <a:xfrm>
            <a:off x="960120" y="1975104"/>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Posisi kalah berarti semua langkah menuju posisi menang</a:t>
            </a:r>
            <a:endParaRPr lang="en-US" sz="1500" dirty="0"/>
          </a:p>
        </p:txBody>
      </p:sp>
      <p:sp>
        <p:nvSpPr>
          <p:cNvPr id="6" name="Text 4"/>
          <p:cNvSpPr txBox="1"/>
          <p:nvPr/>
        </p:nvSpPr>
        <p:spPr>
          <a:xfrm>
            <a:off x="960120" y="2322576"/>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Dari definisi itu seluruh permainan bisa dihitung mundur dengan DP biasa. Posisi tanpa langkah selalu posisi kalah.</a:t>
            </a:r>
            <a:endParaRPr lang="en-US" sz="1250" dirty="0"/>
          </a:p>
        </p:txBody>
      </p:sp>
      <p:sp>
        <p:nvSpPr>
          <p:cNvPr id="7" name="Shape 5"/>
          <p:cNvSpPr/>
          <p:nvPr/>
        </p:nvSpPr>
        <p:spPr>
          <a:xfrm>
            <a:off x="667512" y="3129534"/>
            <a:ext cx="91440" cy="91440"/>
          </a:xfrm>
          <a:prstGeom prst="rect">
            <a:avLst/>
          </a:prstGeom>
          <a:solidFill>
            <a:srgbClr val="3ECF9E"/>
          </a:solidFill>
          <a:ln/>
        </p:spPr>
      </p:sp>
      <p:sp>
        <p:nvSpPr>
          <p:cNvPr id="8" name="Text 6"/>
          <p:cNvSpPr txBox="1"/>
          <p:nvPr/>
        </p:nvSpPr>
        <p:spPr>
          <a:xfrm>
            <a:off x="960120" y="2974086"/>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Nim selesai dengan satu XOR</a:t>
            </a:r>
            <a:endParaRPr lang="en-US" sz="1500" dirty="0"/>
          </a:p>
        </p:txBody>
      </p:sp>
      <p:sp>
        <p:nvSpPr>
          <p:cNvPr id="9" name="Text 7"/>
          <p:cNvSpPr txBox="1"/>
          <p:nvPr/>
        </p:nvSpPr>
        <p:spPr>
          <a:xfrm>
            <a:off x="960120" y="3321558"/>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XOR seluruh ukuran tumpukan bernilai nol berarti giliran sekarang kalah. Satu baris menyelesaikan permainan sebesar apa pun.</a:t>
            </a:r>
            <a:endParaRPr lang="en-US" sz="1250" dirty="0"/>
          </a:p>
        </p:txBody>
      </p:sp>
      <p:sp>
        <p:nvSpPr>
          <p:cNvPr id="10" name="Shape 8"/>
          <p:cNvSpPr/>
          <p:nvPr/>
        </p:nvSpPr>
        <p:spPr>
          <a:xfrm>
            <a:off x="667512" y="4128516"/>
            <a:ext cx="91440" cy="91440"/>
          </a:xfrm>
          <a:prstGeom prst="rect">
            <a:avLst/>
          </a:prstGeom>
          <a:solidFill>
            <a:srgbClr val="F5A623"/>
          </a:solidFill>
          <a:ln/>
        </p:spPr>
      </p:sp>
      <p:sp>
        <p:nvSpPr>
          <p:cNvPr id="11" name="Text 9"/>
          <p:cNvSpPr txBox="1"/>
          <p:nvPr/>
        </p:nvSpPr>
        <p:spPr>
          <a:xfrm>
            <a:off x="960120" y="3973068"/>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Bilangan grundy adalah mex nilai tetangganya</a:t>
            </a:r>
            <a:endParaRPr lang="en-US" sz="1500" dirty="0"/>
          </a:p>
        </p:txBody>
      </p:sp>
      <p:sp>
        <p:nvSpPr>
          <p:cNvPr id="12" name="Text 10"/>
          <p:cNvSpPr txBox="1"/>
          <p:nvPr/>
        </p:nvSpPr>
        <p:spPr>
          <a:xfrm>
            <a:off x="960120" y="4320540"/>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Posisi mana pun setara dengan satu tumpukan Nim berukuran grundy-nya. Nilai nol berarti posisi kalah.</a:t>
            </a:r>
            <a:endParaRPr lang="en-US" sz="1250" dirty="0"/>
          </a:p>
        </p:txBody>
      </p:sp>
      <p:sp>
        <p:nvSpPr>
          <p:cNvPr id="13" name="Shape 11"/>
          <p:cNvSpPr/>
          <p:nvPr/>
        </p:nvSpPr>
        <p:spPr>
          <a:xfrm>
            <a:off x="667512" y="5127498"/>
            <a:ext cx="91440" cy="91440"/>
          </a:xfrm>
          <a:prstGeom prst="rect">
            <a:avLst/>
          </a:prstGeom>
          <a:solidFill>
            <a:srgbClr val="A78BFA"/>
          </a:solidFill>
          <a:ln/>
        </p:spPr>
      </p:sp>
      <p:sp>
        <p:nvSpPr>
          <p:cNvPr id="14" name="Text 12"/>
          <p:cNvSpPr txBox="1"/>
          <p:nvPr/>
        </p:nvSpPr>
        <p:spPr>
          <a:xfrm>
            <a:off x="960120" y="497205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Permainan gabungan memakai XOR nilai grundy</a:t>
            </a:r>
            <a:endParaRPr lang="en-US" sz="1500" dirty="0"/>
          </a:p>
        </p:txBody>
      </p:sp>
      <p:sp>
        <p:nvSpPr>
          <p:cNvPr id="15" name="Text 13"/>
          <p:cNvSpPr txBox="1"/>
          <p:nvPr/>
        </p:nvSpPr>
        <p:spPr>
          <a:xfrm>
            <a:off x="960120" y="5319522"/>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Bukan penjumlahan. Sifat x xor x = 0 memodelkan strategi mencerminkan langkah lawan.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Kapan Dipakai, Kapan Tidak</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Berlaku hanya bila kedua pemain punya langkah yang SAMA. Kalau langkahnya berbeda, teori ini tidak berlaku.</a:t>
            </a:r>
            <a:endParaRPr lang="en-US" sz="1300" dirty="0"/>
          </a:p>
        </p:txBody>
      </p:sp>
      <p:sp>
        <p:nvSpPr>
          <p:cNvPr id="4" name="Shape 2"/>
          <p:cNvSpPr/>
          <p:nvPr/>
        </p:nvSpPr>
        <p:spPr>
          <a:xfrm>
            <a:off x="667512" y="2176272"/>
            <a:ext cx="5349240" cy="3840480"/>
          </a:xfrm>
          <a:prstGeom prst="rect">
            <a:avLst/>
          </a:prstGeom>
          <a:solidFill>
            <a:srgbClr val="FAFAFA"/>
          </a:solidFill>
          <a:ln/>
        </p:spPr>
      </p:sp>
      <p:sp>
        <p:nvSpPr>
          <p:cNvPr id="5" name="Shape 3"/>
          <p:cNvSpPr/>
          <p:nvPr/>
        </p:nvSpPr>
        <p:spPr>
          <a:xfrm>
            <a:off x="667512" y="2176272"/>
            <a:ext cx="5349240" cy="50292"/>
          </a:xfrm>
          <a:prstGeom prst="rect">
            <a:avLst/>
          </a:prstGeom>
          <a:solidFill>
            <a:srgbClr val="2FA97B"/>
          </a:solidFill>
          <a:ln/>
        </p:spPr>
      </p:sp>
      <p:sp>
        <p:nvSpPr>
          <p:cNvPr id="6" name="Text 4"/>
          <p:cNvSpPr txBox="1"/>
          <p:nvPr/>
        </p:nvSpPr>
        <p:spPr>
          <a:xfrm>
            <a:off x="941832" y="2395728"/>
            <a:ext cx="4800600" cy="347472"/>
          </a:xfrm>
          <a:prstGeom prst="rect">
            <a:avLst/>
          </a:prstGeom>
          <a:noFill/>
          <a:ln/>
        </p:spPr>
        <p:txBody>
          <a:bodyPr wrap="square" lIns="0" tIns="0" rIns="0" bIns="0" rtlCol="0" anchor="ctr"/>
          <a:lstStyle/>
          <a:p>
            <a:pPr indent="0" marL="0">
              <a:buNone/>
            </a:pPr>
            <a:r>
              <a:rPr lang="en-US" sz="1450" spc="100" kern="0" dirty="0">
                <a:solidFill>
                  <a:srgbClr val="2FA97B"/>
                </a:solidFill>
                <a:latin typeface="Century Gothic" pitchFamily="34" charset="0"/>
                <a:ea typeface="Century Gothic" pitchFamily="34" charset="-122"/>
                <a:cs typeface="Century Gothic" pitchFamily="34" charset="-120"/>
              </a:rPr>
              <a:t>PAKAI KETIKA</a:t>
            </a:r>
            <a:endParaRPr lang="en-US" sz="1450" dirty="0"/>
          </a:p>
        </p:txBody>
      </p:sp>
      <p:sp>
        <p:nvSpPr>
          <p:cNvPr id="7" name="Shape 5"/>
          <p:cNvSpPr/>
          <p:nvPr/>
        </p:nvSpPr>
        <p:spPr>
          <a:xfrm>
            <a:off x="941832" y="2971800"/>
            <a:ext cx="274320" cy="274320"/>
          </a:xfrm>
          <a:prstGeom prst="ellipse">
            <a:avLst/>
          </a:prstGeom>
          <a:solidFill>
            <a:srgbClr val="2FA97B"/>
          </a:solidFill>
          <a:ln/>
        </p:spPr>
      </p:sp>
      <p:sp>
        <p:nvSpPr>
          <p:cNvPr id="8" name="Text 6"/>
          <p:cNvSpPr txBox="1"/>
          <p:nvPr/>
        </p:nvSpPr>
        <p:spPr>
          <a:xfrm>
            <a:off x="941832" y="297180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9" name="Text 7"/>
          <p:cNvSpPr txBox="1"/>
          <p:nvPr/>
        </p:nvSpPr>
        <p:spPr>
          <a:xfrm>
            <a:off x="1353312" y="2907792"/>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Dua pemain bergantian, langkah yang tersedia sama bagi keduanya</a:t>
            </a:r>
            <a:endParaRPr lang="en-US" sz="1250" dirty="0"/>
          </a:p>
        </p:txBody>
      </p:sp>
      <p:sp>
        <p:nvSpPr>
          <p:cNvPr id="10" name="Shape 8"/>
          <p:cNvSpPr/>
          <p:nvPr/>
        </p:nvSpPr>
        <p:spPr>
          <a:xfrm>
            <a:off x="941832" y="3721608"/>
            <a:ext cx="274320" cy="274320"/>
          </a:xfrm>
          <a:prstGeom prst="ellipse">
            <a:avLst/>
          </a:prstGeom>
          <a:solidFill>
            <a:srgbClr val="2FA97B"/>
          </a:solidFill>
          <a:ln/>
        </p:spPr>
      </p:sp>
      <p:sp>
        <p:nvSpPr>
          <p:cNvPr id="11" name="Text 9"/>
          <p:cNvSpPr txBox="1"/>
          <p:nvPr/>
        </p:nvSpPr>
        <p:spPr>
          <a:xfrm>
            <a:off x="941832" y="3721608"/>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2" name="Text 10"/>
          <p:cNvSpPr txBox="1"/>
          <p:nvPr/>
        </p:nvSpPr>
        <p:spPr>
          <a:xfrm>
            <a:off x="1353312" y="3657600"/>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Papan terdiri dari beberapa bagian bebas yang bisa dijumlahkan</a:t>
            </a:r>
            <a:endParaRPr lang="en-US" sz="1250" dirty="0"/>
          </a:p>
        </p:txBody>
      </p:sp>
      <p:sp>
        <p:nvSpPr>
          <p:cNvPr id="13" name="Shape 11"/>
          <p:cNvSpPr/>
          <p:nvPr/>
        </p:nvSpPr>
        <p:spPr>
          <a:xfrm>
            <a:off x="941832" y="4471416"/>
            <a:ext cx="274320" cy="274320"/>
          </a:xfrm>
          <a:prstGeom prst="ellipse">
            <a:avLst/>
          </a:prstGeom>
          <a:solidFill>
            <a:srgbClr val="2FA97B"/>
          </a:solidFill>
          <a:ln/>
        </p:spPr>
      </p:sp>
      <p:sp>
        <p:nvSpPr>
          <p:cNvPr id="14" name="Text 12"/>
          <p:cNvSpPr txBox="1"/>
          <p:nvPr/>
        </p:nvSpPr>
        <p:spPr>
          <a:xfrm>
            <a:off x="941832" y="447141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5" name="Text 13"/>
          <p:cNvSpPr txBox="1"/>
          <p:nvPr/>
        </p:nvSpPr>
        <p:spPr>
          <a:xfrm>
            <a:off x="1353312" y="4407408"/>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Soal bertanya siapa menang bila keduanya bermain sempurna</a:t>
            </a:r>
            <a:endParaRPr lang="en-US" sz="1250" dirty="0"/>
          </a:p>
        </p:txBody>
      </p:sp>
      <p:sp>
        <p:nvSpPr>
          <p:cNvPr id="16" name="Shape 14"/>
          <p:cNvSpPr/>
          <p:nvPr/>
        </p:nvSpPr>
        <p:spPr>
          <a:xfrm>
            <a:off x="941832" y="5221224"/>
            <a:ext cx="274320" cy="274320"/>
          </a:xfrm>
          <a:prstGeom prst="ellipse">
            <a:avLst/>
          </a:prstGeom>
          <a:solidFill>
            <a:srgbClr val="2FA97B"/>
          </a:solidFill>
          <a:ln/>
        </p:spPr>
      </p:sp>
      <p:sp>
        <p:nvSpPr>
          <p:cNvPr id="17" name="Text 15"/>
          <p:cNvSpPr txBox="1"/>
          <p:nvPr/>
        </p:nvSpPr>
        <p:spPr>
          <a:xfrm>
            <a:off x="941832" y="5221224"/>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8" name="Text 16"/>
          <p:cNvSpPr txBox="1"/>
          <p:nvPr/>
        </p:nvSpPr>
        <p:spPr>
          <a:xfrm>
            <a:off x="1353312" y="5157216"/>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Aturan permainan sederhana dan bisa dihitung mundur</a:t>
            </a:r>
            <a:endParaRPr lang="en-US" sz="1250" dirty="0"/>
          </a:p>
        </p:txBody>
      </p:sp>
      <p:sp>
        <p:nvSpPr>
          <p:cNvPr id="19" name="Shape 17"/>
          <p:cNvSpPr/>
          <p:nvPr/>
        </p:nvSpPr>
        <p:spPr>
          <a:xfrm>
            <a:off x="6336792" y="2176272"/>
            <a:ext cx="5349240" cy="3090672"/>
          </a:xfrm>
          <a:prstGeom prst="rect">
            <a:avLst/>
          </a:prstGeom>
          <a:solidFill>
            <a:srgbClr val="FAFAFA"/>
          </a:solidFill>
          <a:ln/>
        </p:spPr>
      </p:sp>
      <p:sp>
        <p:nvSpPr>
          <p:cNvPr id="20" name="Shape 18"/>
          <p:cNvSpPr/>
          <p:nvPr/>
        </p:nvSpPr>
        <p:spPr>
          <a:xfrm>
            <a:off x="6336792" y="2176272"/>
            <a:ext cx="5349240" cy="50292"/>
          </a:xfrm>
          <a:prstGeom prst="rect">
            <a:avLst/>
          </a:prstGeom>
          <a:solidFill>
            <a:srgbClr val="D9534F"/>
          </a:solidFill>
          <a:ln/>
        </p:spPr>
      </p:sp>
      <p:sp>
        <p:nvSpPr>
          <p:cNvPr id="21" name="Text 19"/>
          <p:cNvSpPr txBox="1"/>
          <p:nvPr/>
        </p:nvSpPr>
        <p:spPr>
          <a:xfrm>
            <a:off x="6611112" y="2395728"/>
            <a:ext cx="4800600" cy="347472"/>
          </a:xfrm>
          <a:prstGeom prst="rect">
            <a:avLst/>
          </a:prstGeom>
          <a:noFill/>
          <a:ln/>
        </p:spPr>
        <p:txBody>
          <a:bodyPr wrap="square" lIns="0" tIns="0" rIns="0" bIns="0" rtlCol="0" anchor="ctr"/>
          <a:lstStyle/>
          <a:p>
            <a:pPr indent="0" marL="0">
              <a:buNone/>
            </a:pPr>
            <a:r>
              <a:rPr lang="en-US" sz="1450" spc="100" kern="0" dirty="0">
                <a:solidFill>
                  <a:srgbClr val="D9534F"/>
                </a:solidFill>
                <a:latin typeface="Century Gothic" pitchFamily="34" charset="0"/>
                <a:ea typeface="Century Gothic" pitchFamily="34" charset="-122"/>
                <a:cs typeface="Century Gothic" pitchFamily="34" charset="-120"/>
              </a:rPr>
              <a:t>JANGAN PAKAI KETIKA</a:t>
            </a:r>
            <a:endParaRPr lang="en-US" sz="1450" dirty="0"/>
          </a:p>
        </p:txBody>
      </p:sp>
      <p:sp>
        <p:nvSpPr>
          <p:cNvPr id="22" name="Shape 20"/>
          <p:cNvSpPr/>
          <p:nvPr/>
        </p:nvSpPr>
        <p:spPr>
          <a:xfrm>
            <a:off x="6611112" y="2971800"/>
            <a:ext cx="274320" cy="274320"/>
          </a:xfrm>
          <a:prstGeom prst="ellipse">
            <a:avLst/>
          </a:prstGeom>
          <a:solidFill>
            <a:srgbClr val="D9534F"/>
          </a:solidFill>
          <a:ln/>
        </p:spPr>
      </p:sp>
      <p:sp>
        <p:nvSpPr>
          <p:cNvPr id="23" name="Text 21"/>
          <p:cNvSpPr txBox="1"/>
          <p:nvPr/>
        </p:nvSpPr>
        <p:spPr>
          <a:xfrm>
            <a:off x="6611112" y="297180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24" name="Text 22"/>
          <p:cNvSpPr txBox="1"/>
          <p:nvPr/>
        </p:nvSpPr>
        <p:spPr>
          <a:xfrm>
            <a:off x="7022592" y="2907792"/>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Langkah kedua pemain berbeda — pakai DP menang-kalah biasa</a:t>
            </a:r>
            <a:endParaRPr lang="en-US" sz="1250" dirty="0"/>
          </a:p>
        </p:txBody>
      </p:sp>
      <p:sp>
        <p:nvSpPr>
          <p:cNvPr id="25" name="Shape 23"/>
          <p:cNvSpPr/>
          <p:nvPr/>
        </p:nvSpPr>
        <p:spPr>
          <a:xfrm>
            <a:off x="6611112" y="3721608"/>
            <a:ext cx="274320" cy="274320"/>
          </a:xfrm>
          <a:prstGeom prst="ellipse">
            <a:avLst/>
          </a:prstGeom>
          <a:solidFill>
            <a:srgbClr val="D9534F"/>
          </a:solidFill>
          <a:ln/>
        </p:spPr>
      </p:sp>
      <p:sp>
        <p:nvSpPr>
          <p:cNvPr id="26" name="Text 24"/>
          <p:cNvSpPr txBox="1"/>
          <p:nvPr/>
        </p:nvSpPr>
        <p:spPr>
          <a:xfrm>
            <a:off x="6611112" y="3721608"/>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27" name="Text 25"/>
          <p:cNvSpPr txBox="1"/>
          <p:nvPr/>
        </p:nvSpPr>
        <p:spPr>
          <a:xfrm>
            <a:off x="7022592" y="3657600"/>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Ada unsur keberuntungan atau informasi tersembunyi</a:t>
            </a:r>
            <a:endParaRPr lang="en-US" sz="1250" dirty="0"/>
          </a:p>
        </p:txBody>
      </p:sp>
      <p:sp>
        <p:nvSpPr>
          <p:cNvPr id="28" name="Shape 26"/>
          <p:cNvSpPr/>
          <p:nvPr/>
        </p:nvSpPr>
        <p:spPr>
          <a:xfrm>
            <a:off x="6611112" y="4471416"/>
            <a:ext cx="274320" cy="274320"/>
          </a:xfrm>
          <a:prstGeom prst="ellipse">
            <a:avLst/>
          </a:prstGeom>
          <a:solidFill>
            <a:srgbClr val="D9534F"/>
          </a:solidFill>
          <a:ln/>
        </p:spPr>
      </p:sp>
      <p:sp>
        <p:nvSpPr>
          <p:cNvPr id="29" name="Text 27"/>
          <p:cNvSpPr txBox="1"/>
          <p:nvPr/>
        </p:nvSpPr>
        <p:spPr>
          <a:xfrm>
            <a:off x="6611112" y="447141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30" name="Text 28"/>
          <p:cNvSpPr txBox="1"/>
          <p:nvPr/>
        </p:nvSpPr>
        <p:spPr>
          <a:xfrm>
            <a:off x="7022592" y="4407408"/>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Pemenangnya ditentukan skor, bukan siapa yang tidak bisa melangkah</a:t>
            </a:r>
            <a:endParaRPr lang="en-US" sz="1250" dirty="0"/>
          </a:p>
        </p:txBody>
      </p:sp>
      <p:sp>
        <p:nvSpPr>
          <p:cNvPr id="31" name="Shape 29"/>
          <p:cNvSpPr/>
          <p:nvPr/>
        </p:nvSpPr>
        <p:spPr>
          <a:xfrm>
            <a:off x="667512" y="5870448"/>
            <a:ext cx="10853928" cy="658368"/>
          </a:xfrm>
          <a:prstGeom prst="rect">
            <a:avLst/>
          </a:prstGeom>
          <a:solidFill>
            <a:srgbClr val="F2F7FD"/>
          </a:solidFill>
          <a:ln/>
        </p:spPr>
      </p:sp>
      <p:sp>
        <p:nvSpPr>
          <p:cNvPr id="32" name="Text 30"/>
          <p:cNvSpPr txBox="1"/>
          <p:nvPr/>
        </p:nvSpPr>
        <p:spPr>
          <a:xfrm>
            <a:off x="941832" y="5870448"/>
            <a:ext cx="10332720" cy="658368"/>
          </a:xfrm>
          <a:prstGeom prst="rect">
            <a:avLst/>
          </a:prstGeom>
          <a:noFill/>
          <a:ln/>
        </p:spPr>
        <p:txBody>
          <a:bodyPr wrap="square" lIns="0" tIns="0" rIns="0" bIns="0" rtlCol="0" anchor="ctr"/>
          <a:lstStyle/>
          <a:p>
            <a:pPr indent="0" marL="0">
              <a:lnSpc>
                <a:spcPct val="120000"/>
              </a:lnSpc>
              <a:buNone/>
            </a:pPr>
            <a:r>
              <a:rPr lang="en-US" sz="1250" dirty="0">
                <a:solidFill>
                  <a:srgbClr val="1B6CA8"/>
                </a:solidFill>
                <a:latin typeface="Century Gothic" pitchFamily="34" charset="0"/>
                <a:ea typeface="Century Gothic" pitchFamily="34" charset="-122"/>
                <a:cs typeface="Century Gothic" pitchFamily="34" charset="-120"/>
              </a:rPr>
              <a:t>Misere Nim adalah jebakan klasik: aturannya sama persis dengan Nim biasa KECUALI ketika semua tumpukan berukuran satu, dan justru kasus itulah yang muncul di uji kasus.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Posisi Materi Ini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Materi ini tidak berdiri sendiri. Di kiri adalah yang sebaiknya sudah kamu kuasai, di kanan adalah yang terbuka setelah materi ini selesai.</a:t>
            </a:r>
            <a:endParaRPr lang="en-US" sz="1300" dirty="0"/>
          </a:p>
        </p:txBody>
      </p:sp>
      <p:sp>
        <p:nvSpPr>
          <p:cNvPr id="4" name="Text 2"/>
          <p:cNvSpPr txBox="1"/>
          <p:nvPr/>
        </p:nvSpPr>
        <p:spPr>
          <a:xfrm>
            <a:off x="667512" y="2002536"/>
            <a:ext cx="3200400" cy="274320"/>
          </a:xfrm>
          <a:prstGeom prst="rect">
            <a:avLst/>
          </a:prstGeom>
          <a:noFill/>
          <a:ln/>
        </p:spPr>
        <p:txBody>
          <a:bodyPr wrap="square" lIns="0" tIns="0" rIns="0" bIns="0" rtlCol="0" anchor="ctr"/>
          <a:lstStyle/>
          <a:p>
            <a:pPr indent="0" marL="0">
              <a:buNone/>
            </a:pPr>
            <a:r>
              <a:rPr lang="en-US" sz="1100" spc="200" kern="0" dirty="0">
                <a:solidFill>
                  <a:srgbClr val="A0A6AD"/>
                </a:solidFill>
                <a:latin typeface="Century Gothic" pitchFamily="34" charset="0"/>
                <a:ea typeface="Century Gothic" pitchFamily="34" charset="-122"/>
                <a:cs typeface="Century Gothic" pitchFamily="34" charset="-120"/>
              </a:rPr>
              <a:t>PRASYARAT</a:t>
            </a:r>
            <a:endParaRPr lang="en-US" sz="1100" dirty="0"/>
          </a:p>
        </p:txBody>
      </p:sp>
      <p:sp>
        <p:nvSpPr>
          <p:cNvPr id="5" name="Shape 3"/>
          <p:cNvSpPr/>
          <p:nvPr/>
        </p:nvSpPr>
        <p:spPr>
          <a:xfrm>
            <a:off x="667512" y="2313432"/>
            <a:ext cx="3200400" cy="676656"/>
          </a:xfrm>
          <a:prstGeom prst="rect">
            <a:avLst/>
          </a:prstGeom>
          <a:solidFill>
            <a:srgbClr val="FAFAFA"/>
          </a:solidFill>
          <a:ln/>
        </p:spPr>
      </p:sp>
      <p:sp>
        <p:nvSpPr>
          <p:cNvPr id="6" name="Shape 4"/>
          <p:cNvSpPr/>
          <p:nvPr/>
        </p:nvSpPr>
        <p:spPr>
          <a:xfrm>
            <a:off x="667512" y="2313432"/>
            <a:ext cx="54864" cy="676656"/>
          </a:xfrm>
          <a:prstGeom prst="rect">
            <a:avLst/>
          </a:prstGeom>
          <a:solidFill>
            <a:srgbClr val="A0A6AD"/>
          </a:solidFill>
          <a:ln/>
        </p:spPr>
      </p:sp>
      <p:sp>
        <p:nvSpPr>
          <p:cNvPr id="7" name="Text 5"/>
          <p:cNvSpPr txBox="1"/>
          <p:nvPr/>
        </p:nvSpPr>
        <p:spPr>
          <a:xfrm>
            <a:off x="905256" y="231343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Operasi bit (Day 60)</a:t>
            </a:r>
            <a:endParaRPr lang="en-US" sz="1200" dirty="0"/>
          </a:p>
        </p:txBody>
      </p:sp>
      <p:sp>
        <p:nvSpPr>
          <p:cNvPr id="8" name="Shape 6"/>
          <p:cNvSpPr/>
          <p:nvPr/>
        </p:nvSpPr>
        <p:spPr>
          <a:xfrm>
            <a:off x="667512" y="3136392"/>
            <a:ext cx="3200400" cy="676656"/>
          </a:xfrm>
          <a:prstGeom prst="rect">
            <a:avLst/>
          </a:prstGeom>
          <a:solidFill>
            <a:srgbClr val="FAFAFA"/>
          </a:solidFill>
          <a:ln/>
        </p:spPr>
      </p:sp>
      <p:sp>
        <p:nvSpPr>
          <p:cNvPr id="9" name="Shape 7"/>
          <p:cNvSpPr/>
          <p:nvPr/>
        </p:nvSpPr>
        <p:spPr>
          <a:xfrm>
            <a:off x="667512" y="3136392"/>
            <a:ext cx="54864" cy="676656"/>
          </a:xfrm>
          <a:prstGeom prst="rect">
            <a:avLst/>
          </a:prstGeom>
          <a:solidFill>
            <a:srgbClr val="A0A6AD"/>
          </a:solidFill>
          <a:ln/>
        </p:spPr>
      </p:sp>
      <p:sp>
        <p:nvSpPr>
          <p:cNvPr id="10" name="Text 8"/>
          <p:cNvSpPr txBox="1"/>
          <p:nvPr/>
        </p:nvSpPr>
        <p:spPr>
          <a:xfrm>
            <a:off x="905256" y="313639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DP dasar (Day 141)</a:t>
            </a:r>
            <a:endParaRPr lang="en-US" sz="1200" dirty="0"/>
          </a:p>
        </p:txBody>
      </p:sp>
      <p:sp>
        <p:nvSpPr>
          <p:cNvPr id="11" name="Shape 9"/>
          <p:cNvSpPr/>
          <p:nvPr/>
        </p:nvSpPr>
        <p:spPr>
          <a:xfrm>
            <a:off x="667512" y="3959352"/>
            <a:ext cx="3200400" cy="676656"/>
          </a:xfrm>
          <a:prstGeom prst="rect">
            <a:avLst/>
          </a:prstGeom>
          <a:solidFill>
            <a:srgbClr val="FAFAFA"/>
          </a:solidFill>
          <a:ln/>
        </p:spPr>
      </p:sp>
      <p:sp>
        <p:nvSpPr>
          <p:cNvPr id="12" name="Shape 10"/>
          <p:cNvSpPr/>
          <p:nvPr/>
        </p:nvSpPr>
        <p:spPr>
          <a:xfrm>
            <a:off x="667512" y="3959352"/>
            <a:ext cx="54864" cy="676656"/>
          </a:xfrm>
          <a:prstGeom prst="rect">
            <a:avLst/>
          </a:prstGeom>
          <a:solidFill>
            <a:srgbClr val="A0A6AD"/>
          </a:solidFill>
          <a:ln/>
        </p:spPr>
      </p:sp>
      <p:sp>
        <p:nvSpPr>
          <p:cNvPr id="13" name="Text 11"/>
          <p:cNvSpPr txBox="1"/>
          <p:nvPr/>
        </p:nvSpPr>
        <p:spPr>
          <a:xfrm>
            <a:off x="905256" y="395935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Game DP (Day 165)</a:t>
            </a:r>
            <a:endParaRPr lang="en-US" sz="1200" dirty="0"/>
          </a:p>
        </p:txBody>
      </p:sp>
      <p:sp>
        <p:nvSpPr>
          <p:cNvPr id="14" name="Text 12"/>
          <p:cNvSpPr txBox="1"/>
          <p:nvPr/>
        </p:nvSpPr>
        <p:spPr>
          <a:xfrm>
            <a:off x="8403336" y="2002536"/>
            <a:ext cx="3200400" cy="274320"/>
          </a:xfrm>
          <a:prstGeom prst="rect">
            <a:avLst/>
          </a:prstGeom>
          <a:noFill/>
          <a:ln/>
        </p:spPr>
        <p:txBody>
          <a:bodyPr wrap="square" lIns="0" tIns="0" rIns="0" bIns="0" rtlCol="0" anchor="ctr"/>
          <a:lstStyle/>
          <a:p>
            <a:pPr indent="0" marL="0">
              <a:buNone/>
            </a:pPr>
            <a:r>
              <a:rPr lang="en-US" sz="1100" spc="200" kern="0" dirty="0">
                <a:solidFill>
                  <a:srgbClr val="A0A6AD"/>
                </a:solidFill>
                <a:latin typeface="Century Gothic" pitchFamily="34" charset="0"/>
                <a:ea typeface="Century Gothic" pitchFamily="34" charset="-122"/>
                <a:cs typeface="Century Gothic" pitchFamily="34" charset="-120"/>
              </a:rPr>
              <a:t>SETELAH INI</a:t>
            </a:r>
            <a:endParaRPr lang="en-US" sz="1100" dirty="0"/>
          </a:p>
        </p:txBody>
      </p:sp>
      <p:sp>
        <p:nvSpPr>
          <p:cNvPr id="15" name="Shape 13"/>
          <p:cNvSpPr/>
          <p:nvPr/>
        </p:nvSpPr>
        <p:spPr>
          <a:xfrm>
            <a:off x="8403336" y="2313432"/>
            <a:ext cx="3200400" cy="676656"/>
          </a:xfrm>
          <a:prstGeom prst="rect">
            <a:avLst/>
          </a:prstGeom>
          <a:solidFill>
            <a:srgbClr val="FAFAFA"/>
          </a:solidFill>
          <a:ln/>
        </p:spPr>
      </p:sp>
      <p:sp>
        <p:nvSpPr>
          <p:cNvPr id="16" name="Shape 14"/>
          <p:cNvSpPr/>
          <p:nvPr/>
        </p:nvSpPr>
        <p:spPr>
          <a:xfrm>
            <a:off x="8403336" y="2313432"/>
            <a:ext cx="54864" cy="676656"/>
          </a:xfrm>
          <a:prstGeom prst="rect">
            <a:avLst/>
          </a:prstGeom>
          <a:solidFill>
            <a:srgbClr val="A78BFA"/>
          </a:solidFill>
          <a:ln/>
        </p:spPr>
      </p:sp>
      <p:sp>
        <p:nvSpPr>
          <p:cNvPr id="17" name="Text 15"/>
          <p:cNvSpPr txBox="1"/>
          <p:nvPr/>
        </p:nvSpPr>
        <p:spPr>
          <a:xfrm>
            <a:off x="8641080" y="231343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Misere Nim</a:t>
            </a:r>
            <a:endParaRPr lang="en-US" sz="1200" dirty="0"/>
          </a:p>
        </p:txBody>
      </p:sp>
      <p:sp>
        <p:nvSpPr>
          <p:cNvPr id="18" name="Shape 16"/>
          <p:cNvSpPr/>
          <p:nvPr/>
        </p:nvSpPr>
        <p:spPr>
          <a:xfrm>
            <a:off x="8403336" y="3136392"/>
            <a:ext cx="3200400" cy="676656"/>
          </a:xfrm>
          <a:prstGeom prst="rect">
            <a:avLst/>
          </a:prstGeom>
          <a:solidFill>
            <a:srgbClr val="FAFAFA"/>
          </a:solidFill>
          <a:ln/>
        </p:spPr>
      </p:sp>
      <p:sp>
        <p:nvSpPr>
          <p:cNvPr id="19" name="Shape 17"/>
          <p:cNvSpPr/>
          <p:nvPr/>
        </p:nvSpPr>
        <p:spPr>
          <a:xfrm>
            <a:off x="8403336" y="3136392"/>
            <a:ext cx="54864" cy="676656"/>
          </a:xfrm>
          <a:prstGeom prst="rect">
            <a:avLst/>
          </a:prstGeom>
          <a:solidFill>
            <a:srgbClr val="A78BFA"/>
          </a:solidFill>
          <a:ln/>
        </p:spPr>
      </p:sp>
      <p:sp>
        <p:nvSpPr>
          <p:cNvPr id="20" name="Text 18"/>
          <p:cNvSpPr txBox="1"/>
          <p:nvPr/>
        </p:nvSpPr>
        <p:spPr>
          <a:xfrm>
            <a:off x="8641080" y="313639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Permainan pada graf</a:t>
            </a:r>
            <a:endParaRPr lang="en-US" sz="1200" dirty="0"/>
          </a:p>
        </p:txBody>
      </p:sp>
      <p:sp>
        <p:nvSpPr>
          <p:cNvPr id="21" name="Shape 19"/>
          <p:cNvSpPr/>
          <p:nvPr/>
        </p:nvSpPr>
        <p:spPr>
          <a:xfrm>
            <a:off x="8403336" y="3959352"/>
            <a:ext cx="3200400" cy="676656"/>
          </a:xfrm>
          <a:prstGeom prst="rect">
            <a:avLst/>
          </a:prstGeom>
          <a:solidFill>
            <a:srgbClr val="FAFAFA"/>
          </a:solidFill>
          <a:ln/>
        </p:spPr>
      </p:sp>
      <p:sp>
        <p:nvSpPr>
          <p:cNvPr id="22" name="Shape 20"/>
          <p:cNvSpPr/>
          <p:nvPr/>
        </p:nvSpPr>
        <p:spPr>
          <a:xfrm>
            <a:off x="8403336" y="3959352"/>
            <a:ext cx="54864" cy="676656"/>
          </a:xfrm>
          <a:prstGeom prst="rect">
            <a:avLst/>
          </a:prstGeom>
          <a:solidFill>
            <a:srgbClr val="A78BFA"/>
          </a:solidFill>
          <a:ln/>
        </p:spPr>
      </p:sp>
      <p:sp>
        <p:nvSpPr>
          <p:cNvPr id="23" name="Text 21"/>
          <p:cNvSpPr txBox="1"/>
          <p:nvPr/>
        </p:nvSpPr>
        <p:spPr>
          <a:xfrm>
            <a:off x="8641080" y="395935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Surreal number</a:t>
            </a:r>
            <a:endParaRPr lang="en-US" sz="1200" dirty="0"/>
          </a:p>
        </p:txBody>
      </p:sp>
      <p:sp>
        <p:nvSpPr>
          <p:cNvPr id="24" name="Shape 22"/>
          <p:cNvSpPr/>
          <p:nvPr/>
        </p:nvSpPr>
        <p:spPr>
          <a:xfrm>
            <a:off x="4352544" y="2313432"/>
            <a:ext cx="3566160" cy="2322576"/>
          </a:xfrm>
          <a:prstGeom prst="rect">
            <a:avLst/>
          </a:prstGeom>
          <a:solidFill>
            <a:srgbClr val="F2F7FD"/>
          </a:solidFill>
          <a:ln/>
        </p:spPr>
      </p:sp>
      <p:sp>
        <p:nvSpPr>
          <p:cNvPr id="25" name="Shape 23"/>
          <p:cNvSpPr/>
          <p:nvPr/>
        </p:nvSpPr>
        <p:spPr>
          <a:xfrm>
            <a:off x="4352544" y="2313432"/>
            <a:ext cx="3566160" cy="54864"/>
          </a:xfrm>
          <a:prstGeom prst="rect">
            <a:avLst/>
          </a:prstGeom>
          <a:solidFill>
            <a:srgbClr val="4FA8E8"/>
          </a:solidFill>
          <a:ln/>
        </p:spPr>
      </p:sp>
      <p:sp>
        <p:nvSpPr>
          <p:cNvPr id="26" name="Text 24"/>
          <p:cNvSpPr txBox="1"/>
          <p:nvPr/>
        </p:nvSpPr>
        <p:spPr>
          <a:xfrm>
            <a:off x="4626864" y="2551176"/>
            <a:ext cx="3017520" cy="256032"/>
          </a:xfrm>
          <a:prstGeom prst="rect">
            <a:avLst/>
          </a:prstGeom>
          <a:noFill/>
          <a:ln/>
        </p:spPr>
        <p:txBody>
          <a:bodyPr wrap="square" lIns="0" tIns="0" rIns="0" bIns="0" rtlCol="0" anchor="ctr"/>
          <a:lstStyle/>
          <a:p>
            <a:pPr indent="0" marL="0">
              <a:buNone/>
            </a:pPr>
            <a:r>
              <a:rPr lang="en-US" sz="1050" spc="200" kern="0" dirty="0">
                <a:solidFill>
                  <a:srgbClr val="4FA8E8"/>
                </a:solidFill>
                <a:latin typeface="Century Gothic" pitchFamily="34" charset="0"/>
                <a:ea typeface="Century Gothic" pitchFamily="34" charset="-122"/>
                <a:cs typeface="Century Gothic" pitchFamily="34" charset="-120"/>
              </a:rPr>
              <a:t>MATERI INI</a:t>
            </a:r>
            <a:endParaRPr lang="en-US" sz="1050" dirty="0"/>
          </a:p>
        </p:txBody>
      </p:sp>
      <p:sp>
        <p:nvSpPr>
          <p:cNvPr id="27" name="Text 25"/>
          <p:cNvSpPr txBox="1"/>
          <p:nvPr/>
        </p:nvSpPr>
        <p:spPr>
          <a:xfrm>
            <a:off x="4626864" y="2880360"/>
            <a:ext cx="3017520" cy="914400"/>
          </a:xfrm>
          <a:prstGeom prst="rect">
            <a:avLst/>
          </a:prstGeom>
          <a:noFill/>
          <a:ln/>
        </p:spPr>
        <p:txBody>
          <a:bodyPr wrap="square" lIns="0" tIns="0" rIns="0" bIns="0" rtlCol="0" anchor="ctr"/>
          <a:lstStyle/>
          <a:p>
            <a:pPr indent="0" marL="0">
              <a:lnSpc>
                <a:spcPct val="110000"/>
              </a:lnSpc>
              <a:buNone/>
            </a:pPr>
            <a:r>
              <a:rPr lang="en-US" sz="2000" dirty="0">
                <a:solidFill>
                  <a:srgbClr val="1A1A1A"/>
                </a:solidFill>
                <a:latin typeface="Century Gothic" pitchFamily="34" charset="0"/>
                <a:ea typeface="Century Gothic" pitchFamily="34" charset="-122"/>
                <a:cs typeface="Century Gothic" pitchFamily="34" charset="-120"/>
              </a:rPr>
              <a:t>Teori Permainan &amp;</a:t>
            </a:r>
            <a:endParaRPr lang="en-US" sz="2000" dirty="0"/>
          </a:p>
          <a:p>
            <a:pPr indent="0" marL="0">
              <a:lnSpc>
                <a:spcPct val="110000"/>
              </a:lnSpc>
              <a:buNone/>
            </a:pPr>
            <a:r>
              <a:rPr lang="en-US" sz="2000" dirty="0">
                <a:solidFill>
                  <a:srgbClr val="1A1A1A"/>
                </a:solidFill>
                <a:latin typeface="Century Gothic" pitchFamily="34" charset="0"/>
                <a:ea typeface="Century Gothic" pitchFamily="34" charset="-122"/>
                <a:cs typeface="Century Gothic" pitchFamily="34" charset="-120"/>
              </a:rPr>
              <a:t>Sprague-Grundy</a:t>
            </a:r>
            <a:endParaRPr lang="en-US" sz="2000" dirty="0"/>
          </a:p>
        </p:txBody>
      </p:sp>
      <p:sp>
        <p:nvSpPr>
          <p:cNvPr id="28" name="Text 26"/>
          <p:cNvSpPr txBox="1"/>
          <p:nvPr/>
        </p:nvSpPr>
        <p:spPr>
          <a:xfrm>
            <a:off x="4626864" y="3941064"/>
            <a:ext cx="3017520" cy="640080"/>
          </a:xfrm>
          <a:prstGeom prst="rect">
            <a:avLst/>
          </a:prstGeom>
          <a:noFill/>
          <a:ln/>
        </p:spPr>
        <p:txBody>
          <a:bodyPr wrap="square" lIns="0" tIns="0" rIns="0" bIns="0" rtlCol="0" anchor="ctr"/>
          <a:lstStyle/>
          <a:p>
            <a:pPr indent="0" marL="0">
              <a:lnSpc>
                <a:spcPct val="125000"/>
              </a:lnSpc>
              <a:buNone/>
            </a:pPr>
            <a:r>
              <a:rPr lang="en-US" sz="1200" dirty="0">
                <a:solidFill>
                  <a:srgbClr val="7F7F7F"/>
                </a:solidFill>
                <a:latin typeface="Century Gothic" pitchFamily="34" charset="0"/>
                <a:ea typeface="Century Gothic" pitchFamily="34" charset="-122"/>
                <a:cs typeface="Century Gothic" pitchFamily="34" charset="-120"/>
              </a:rPr>
              <a:t>Nim, bilangan grundy, dan permainan gabungan.</a:t>
            </a:r>
            <a:endParaRPr lang="en-US" sz="1200" dirty="0"/>
          </a:p>
        </p:txBody>
      </p:sp>
      <p:sp>
        <p:nvSpPr>
          <p:cNvPr id="29" name="Shape 27"/>
          <p:cNvSpPr/>
          <p:nvPr/>
        </p:nvSpPr>
        <p:spPr>
          <a:xfrm>
            <a:off x="3941064" y="3456432"/>
            <a:ext cx="338328" cy="914"/>
          </a:xfrm>
          <a:prstGeom prst="line">
            <a:avLst/>
          </a:prstGeom>
          <a:noFill/>
          <a:ln w="19050">
            <a:solidFill>
              <a:srgbClr val="C8CDD4"/>
            </a:solidFill>
            <a:prstDash val="solid"/>
            <a:tailEnd type="triangle"/>
          </a:ln>
        </p:spPr>
      </p:sp>
      <p:sp>
        <p:nvSpPr>
          <p:cNvPr id="30" name="Shape 28"/>
          <p:cNvSpPr/>
          <p:nvPr/>
        </p:nvSpPr>
        <p:spPr>
          <a:xfrm>
            <a:off x="7991856" y="3456432"/>
            <a:ext cx="338328" cy="914"/>
          </a:xfrm>
          <a:prstGeom prst="line">
            <a:avLst/>
          </a:prstGeom>
          <a:noFill/>
          <a:ln w="19050">
            <a:solidFill>
              <a:srgbClr val="C8CDD4"/>
            </a:solidFill>
            <a:prstDash val="solid"/>
            <a:tailEnd type="triangle"/>
          </a:ln>
        </p:spPr>
      </p:sp>
      <p:sp>
        <p:nvSpPr>
          <p:cNvPr id="31" name="Shape 29"/>
          <p:cNvSpPr/>
          <p:nvPr/>
        </p:nvSpPr>
        <p:spPr>
          <a:xfrm>
            <a:off x="667512" y="5111496"/>
            <a:ext cx="10853928" cy="822960"/>
          </a:xfrm>
          <a:prstGeom prst="rect">
            <a:avLst/>
          </a:prstGeom>
          <a:solidFill>
            <a:srgbClr val="FAFAFA"/>
          </a:solidFill>
          <a:ln/>
        </p:spPr>
      </p:sp>
      <p:sp>
        <p:nvSpPr>
          <p:cNvPr id="32" name="Text 30"/>
          <p:cNvSpPr txBox="1"/>
          <p:nvPr/>
        </p:nvSpPr>
        <p:spPr>
          <a:xfrm>
            <a:off x="941832" y="5111496"/>
            <a:ext cx="10332720" cy="822960"/>
          </a:xfrm>
          <a:prstGeom prst="rect">
            <a:avLst/>
          </a:prstGeom>
          <a:noFill/>
          <a:ln/>
        </p:spPr>
        <p:txBody>
          <a:bodyPr wrap="square" lIns="0" tIns="0" rIns="0" bIns="0" rtlCol="0" anchor="ctr"/>
          <a:lstStyle/>
          <a:p>
            <a:pPr indent="0" marL="0">
              <a:lnSpc>
                <a:spcPct val="125000"/>
              </a:lnSpc>
              <a:buNone/>
            </a:pPr>
            <a:r>
              <a:rPr lang="en-US" sz="1200" dirty="0">
                <a:solidFill>
                  <a:srgbClr val="2B2B2B"/>
                </a:solidFill>
                <a:latin typeface="Century Gothic" pitchFamily="34" charset="0"/>
                <a:ea typeface="Century Gothic" pitchFamily="34" charset="-122"/>
                <a:cs typeface="Century Gothic" pitchFamily="34" charset="-120"/>
              </a:rPr>
              <a:t>Bagian tersulit bukan kodenya, melainkan menemukan nilai grundy-nya. Tulis brute force lebih dulu, cetak grundy untuk n kecil, lalu cari polanya — itu teknik yang sah dan sangat sering dipakai.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Agenda</a:t>
            </a:r>
            <a:endParaRPr lang="en-US" sz="3000" dirty="0"/>
          </a:p>
        </p:txBody>
      </p:sp>
      <p:sp>
        <p:nvSpPr>
          <p:cNvPr id="3" name="Text 1"/>
          <p:cNvSpPr txBox="1"/>
          <p:nvPr/>
        </p:nvSpPr>
        <p:spPr>
          <a:xfrm>
            <a:off x="667512" y="1280160"/>
            <a:ext cx="5120640" cy="457200"/>
          </a:xfrm>
          <a:prstGeom prst="rect">
            <a:avLst/>
          </a:prstGeom>
          <a:noFill/>
          <a:ln/>
        </p:spPr>
        <p:txBody>
          <a:bodyPr wrap="square" lIns="0" tIns="0" rIns="0" bIns="0" rtlCol="0" anchor="ctr"/>
          <a:lstStyle/>
          <a:p>
            <a:pPr indent="0" marL="0">
              <a:buNone/>
            </a:pPr>
            <a:r>
              <a:rPr lang="en-US" sz="1600" dirty="0">
                <a:solidFill>
                  <a:srgbClr val="4FA8E8"/>
                </a:solidFill>
                <a:latin typeface="Century Gothic" pitchFamily="34" charset="0"/>
                <a:ea typeface="Century Gothic" pitchFamily="34" charset="-122"/>
                <a:cs typeface="Century Gothic" pitchFamily="34" charset="-120"/>
              </a:rPr>
              <a:t>01   </a:t>
            </a:r>
            <a:pPr indent="0" marL="0">
              <a:buNone/>
            </a:pPr>
            <a:r>
              <a:rPr lang="en-US" sz="1600" dirty="0">
                <a:solidFill>
                  <a:srgbClr val="2B2B2B"/>
                </a:solidFill>
                <a:latin typeface="Century Gothic" pitchFamily="34" charset="0"/>
                <a:ea typeface="Century Gothic" pitchFamily="34" charset="-122"/>
                <a:cs typeface="Century Gothic" pitchFamily="34" charset="-120"/>
              </a:rPr>
              <a:t>Permainan Imparsial &amp; Dua Jenis Posisi</a:t>
            </a:r>
            <a:endParaRPr lang="en-US" sz="1600" dirty="0"/>
          </a:p>
        </p:txBody>
      </p:sp>
      <p:sp>
        <p:nvSpPr>
          <p:cNvPr id="4" name="Text 2"/>
          <p:cNvSpPr txBox="1"/>
          <p:nvPr/>
        </p:nvSpPr>
        <p:spPr>
          <a:xfrm>
            <a:off x="667512" y="1956816"/>
            <a:ext cx="5120640" cy="457200"/>
          </a:xfrm>
          <a:prstGeom prst="rect">
            <a:avLst/>
          </a:prstGeom>
          <a:noFill/>
          <a:ln/>
        </p:spPr>
        <p:txBody>
          <a:bodyPr wrap="square" lIns="0" tIns="0" rIns="0" bIns="0" rtlCol="0" anchor="ctr"/>
          <a:lstStyle/>
          <a:p>
            <a:pPr indent="0" marL="0">
              <a:buNone/>
            </a:pPr>
            <a:r>
              <a:rPr lang="en-US" sz="1600" dirty="0">
                <a:solidFill>
                  <a:srgbClr val="3ECF9E"/>
                </a:solidFill>
                <a:latin typeface="Century Gothic" pitchFamily="34" charset="0"/>
                <a:ea typeface="Century Gothic" pitchFamily="34" charset="-122"/>
                <a:cs typeface="Century Gothic" pitchFamily="34" charset="-120"/>
              </a:rPr>
              <a:t>02   </a:t>
            </a:r>
            <a:pPr indent="0" marL="0">
              <a:buNone/>
            </a:pPr>
            <a:r>
              <a:rPr lang="en-US" sz="1600" dirty="0">
                <a:solidFill>
                  <a:srgbClr val="2B2B2B"/>
                </a:solidFill>
                <a:latin typeface="Century Gothic" pitchFamily="34" charset="0"/>
                <a:ea typeface="Century Gothic" pitchFamily="34" charset="-122"/>
                <a:cs typeface="Century Gothic" pitchFamily="34" charset="-120"/>
              </a:rPr>
              <a:t>Nim &amp; Teoremanya</a:t>
            </a:r>
            <a:endParaRPr lang="en-US" sz="1600" dirty="0"/>
          </a:p>
        </p:txBody>
      </p:sp>
      <p:sp>
        <p:nvSpPr>
          <p:cNvPr id="5" name="Text 3"/>
          <p:cNvSpPr txBox="1"/>
          <p:nvPr/>
        </p:nvSpPr>
        <p:spPr>
          <a:xfrm>
            <a:off x="667512" y="2633472"/>
            <a:ext cx="5120640" cy="457200"/>
          </a:xfrm>
          <a:prstGeom prst="rect">
            <a:avLst/>
          </a:prstGeom>
          <a:noFill/>
          <a:ln/>
        </p:spPr>
        <p:txBody>
          <a:bodyPr wrap="square" lIns="0" tIns="0" rIns="0" bIns="0" rtlCol="0" anchor="ctr"/>
          <a:lstStyle/>
          <a:p>
            <a:pPr indent="0" marL="0">
              <a:buNone/>
            </a:pPr>
            <a:r>
              <a:rPr lang="en-US" sz="1600" dirty="0">
                <a:solidFill>
                  <a:srgbClr val="F5A623"/>
                </a:solidFill>
                <a:latin typeface="Century Gothic" pitchFamily="34" charset="0"/>
                <a:ea typeface="Century Gothic" pitchFamily="34" charset="-122"/>
                <a:cs typeface="Century Gothic" pitchFamily="34" charset="-120"/>
              </a:rPr>
              <a:t>03   </a:t>
            </a:r>
            <a:pPr indent="0" marL="0">
              <a:buNone/>
            </a:pPr>
            <a:r>
              <a:rPr lang="en-US" sz="1600" dirty="0">
                <a:solidFill>
                  <a:srgbClr val="2B2B2B"/>
                </a:solidFill>
                <a:latin typeface="Century Gothic" pitchFamily="34" charset="0"/>
                <a:ea typeface="Century Gothic" pitchFamily="34" charset="-122"/>
                <a:cs typeface="Century Gothic" pitchFamily="34" charset="-120"/>
              </a:rPr>
              <a:t>Bilangan Grundy</a:t>
            </a:r>
            <a:endParaRPr lang="en-US" sz="1600" dirty="0"/>
          </a:p>
        </p:txBody>
      </p:sp>
      <p:sp>
        <p:nvSpPr>
          <p:cNvPr id="6" name="Text 4"/>
          <p:cNvSpPr txBox="1"/>
          <p:nvPr/>
        </p:nvSpPr>
        <p:spPr>
          <a:xfrm>
            <a:off x="667512" y="3310128"/>
            <a:ext cx="5120640" cy="457200"/>
          </a:xfrm>
          <a:prstGeom prst="rect">
            <a:avLst/>
          </a:prstGeom>
          <a:noFill/>
          <a:ln/>
        </p:spPr>
        <p:txBody>
          <a:bodyPr wrap="square" lIns="0" tIns="0" rIns="0" bIns="0" rtlCol="0" anchor="ctr"/>
          <a:lstStyle/>
          <a:p>
            <a:pPr indent="0" marL="0">
              <a:buNone/>
            </a:pPr>
            <a:r>
              <a:rPr lang="en-US" sz="1600" dirty="0">
                <a:solidFill>
                  <a:srgbClr val="A78BFA"/>
                </a:solidFill>
                <a:latin typeface="Century Gothic" pitchFamily="34" charset="0"/>
                <a:ea typeface="Century Gothic" pitchFamily="34" charset="-122"/>
                <a:cs typeface="Century Gothic" pitchFamily="34" charset="-120"/>
              </a:rPr>
              <a:t>04   </a:t>
            </a:r>
            <a:pPr indent="0" marL="0">
              <a:buNone/>
            </a:pPr>
            <a:r>
              <a:rPr lang="en-US" sz="1600" dirty="0">
                <a:solidFill>
                  <a:srgbClr val="2B2B2B"/>
                </a:solidFill>
                <a:latin typeface="Century Gothic" pitchFamily="34" charset="0"/>
                <a:ea typeface="Century Gothic" pitchFamily="34" charset="-122"/>
                <a:cs typeface="Century Gothic" pitchFamily="34" charset="-120"/>
              </a:rPr>
              <a:t>Simulasi Langkah demi Langkah</a:t>
            </a:r>
            <a:endParaRPr lang="en-US" sz="1600" dirty="0"/>
          </a:p>
        </p:txBody>
      </p:sp>
      <p:sp>
        <p:nvSpPr>
          <p:cNvPr id="7" name="Text 5"/>
          <p:cNvSpPr txBox="1"/>
          <p:nvPr/>
        </p:nvSpPr>
        <p:spPr>
          <a:xfrm>
            <a:off x="6062472" y="1280160"/>
            <a:ext cx="5120640" cy="457200"/>
          </a:xfrm>
          <a:prstGeom prst="rect">
            <a:avLst/>
          </a:prstGeom>
          <a:noFill/>
          <a:ln/>
        </p:spPr>
        <p:txBody>
          <a:bodyPr wrap="square" lIns="0" tIns="0" rIns="0" bIns="0" rtlCol="0" anchor="ctr"/>
          <a:lstStyle/>
          <a:p>
            <a:pPr indent="0" marL="0">
              <a:buNone/>
            </a:pPr>
            <a:r>
              <a:rPr lang="en-US" sz="1600" dirty="0">
                <a:solidFill>
                  <a:srgbClr val="EC6BA8"/>
                </a:solidFill>
                <a:latin typeface="Century Gothic" pitchFamily="34" charset="0"/>
                <a:ea typeface="Century Gothic" pitchFamily="34" charset="-122"/>
                <a:cs typeface="Century Gothic" pitchFamily="34" charset="-120"/>
              </a:rPr>
              <a:t>05   </a:t>
            </a:r>
            <a:pPr indent="0" marL="0">
              <a:buNone/>
            </a:pPr>
            <a:r>
              <a:rPr lang="en-US" sz="1600" dirty="0">
                <a:solidFill>
                  <a:srgbClr val="2B2B2B"/>
                </a:solidFill>
                <a:latin typeface="Century Gothic" pitchFamily="34" charset="0"/>
                <a:ea typeface="Century Gothic" pitchFamily="34" charset="-122"/>
                <a:cs typeface="Century Gothic" pitchFamily="34" charset="-120"/>
              </a:rPr>
              <a:t>Menghitung Grundy dengan DP</a:t>
            </a:r>
            <a:endParaRPr lang="en-US" sz="1600" dirty="0"/>
          </a:p>
        </p:txBody>
      </p:sp>
      <p:sp>
        <p:nvSpPr>
          <p:cNvPr id="8" name="Text 6"/>
          <p:cNvSpPr txBox="1"/>
          <p:nvPr/>
        </p:nvSpPr>
        <p:spPr>
          <a:xfrm>
            <a:off x="6062472" y="1956816"/>
            <a:ext cx="5120640" cy="457200"/>
          </a:xfrm>
          <a:prstGeom prst="rect">
            <a:avLst/>
          </a:prstGeom>
          <a:noFill/>
          <a:ln/>
        </p:spPr>
        <p:txBody>
          <a:bodyPr wrap="square" lIns="0" tIns="0" rIns="0" bIns="0" rtlCol="0" anchor="ctr"/>
          <a:lstStyle/>
          <a:p>
            <a:pPr indent="0" marL="0">
              <a:buNone/>
            </a:pPr>
            <a:r>
              <a:rPr lang="en-US" sz="1600" dirty="0">
                <a:solidFill>
                  <a:srgbClr val="4ECDC4"/>
                </a:solidFill>
                <a:latin typeface="Century Gothic" pitchFamily="34" charset="0"/>
                <a:ea typeface="Century Gothic" pitchFamily="34" charset="-122"/>
                <a:cs typeface="Century Gothic" pitchFamily="34" charset="-120"/>
              </a:rPr>
              <a:t>06   </a:t>
            </a:r>
            <a:pPr indent="0" marL="0">
              <a:buNone/>
            </a:pPr>
            <a:r>
              <a:rPr lang="en-US" sz="1600" dirty="0">
                <a:solidFill>
                  <a:srgbClr val="2B2B2B"/>
                </a:solidFill>
                <a:latin typeface="Century Gothic" pitchFamily="34" charset="0"/>
                <a:ea typeface="Century Gothic" pitchFamily="34" charset="-122"/>
                <a:cs typeface="Century Gothic" pitchFamily="34" charset="-120"/>
              </a:rPr>
              <a:t>Menggabungkan Beberapa Permainan</a:t>
            </a:r>
            <a:endParaRPr lang="en-US" sz="1600" dirty="0"/>
          </a:p>
        </p:txBody>
      </p:sp>
      <p:sp>
        <p:nvSpPr>
          <p:cNvPr id="9" name="Text 7"/>
          <p:cNvSpPr txBox="1"/>
          <p:nvPr/>
        </p:nvSpPr>
        <p:spPr>
          <a:xfrm>
            <a:off x="6062472" y="2633472"/>
            <a:ext cx="5120640" cy="457200"/>
          </a:xfrm>
          <a:prstGeom prst="rect">
            <a:avLst/>
          </a:prstGeom>
          <a:noFill/>
          <a:ln/>
        </p:spPr>
        <p:txBody>
          <a:bodyPr wrap="square" lIns="0" tIns="0" rIns="0" bIns="0" rtlCol="0" anchor="ctr"/>
          <a:lstStyle/>
          <a:p>
            <a:pPr indent="0" marL="0">
              <a:buNone/>
            </a:pPr>
            <a:r>
              <a:rPr lang="en-US" sz="1600" dirty="0">
                <a:solidFill>
                  <a:srgbClr val="F0736A"/>
                </a:solidFill>
                <a:latin typeface="Century Gothic" pitchFamily="34" charset="0"/>
                <a:ea typeface="Century Gothic" pitchFamily="34" charset="-122"/>
                <a:cs typeface="Century Gothic" pitchFamily="34" charset="-120"/>
              </a:rPr>
              <a:t>07   </a:t>
            </a:r>
            <a:pPr indent="0" marL="0">
              <a:buNone/>
            </a:pPr>
            <a:r>
              <a:rPr lang="en-US" sz="1600" dirty="0">
                <a:solidFill>
                  <a:srgbClr val="2B2B2B"/>
                </a:solidFill>
                <a:latin typeface="Century Gothic" pitchFamily="34" charset="0"/>
                <a:ea typeface="Century Gothic" pitchFamily="34" charset="-122"/>
                <a:cs typeface="Century Gothic" pitchFamily="34" charset="-120"/>
              </a:rPr>
              <a:t>Enam Varian yang Sering Muncul</a:t>
            </a:r>
            <a:endParaRPr lang="en-US" sz="1600" dirty="0"/>
          </a:p>
        </p:txBody>
      </p:sp>
      <p:sp>
        <p:nvSpPr>
          <p:cNvPr id="10" name="Text 8"/>
          <p:cNvSpPr txBox="1"/>
          <p:nvPr/>
        </p:nvSpPr>
        <p:spPr>
          <a:xfrm>
            <a:off x="6062472" y="3310128"/>
            <a:ext cx="5120640" cy="457200"/>
          </a:xfrm>
          <a:prstGeom prst="rect">
            <a:avLst/>
          </a:prstGeom>
          <a:noFill/>
          <a:ln/>
        </p:spPr>
        <p:txBody>
          <a:bodyPr wrap="square" lIns="0" tIns="0" rIns="0" bIns="0" rtlCol="0" anchor="ctr"/>
          <a:lstStyle/>
          <a:p>
            <a:pPr indent="0" marL="0">
              <a:buNone/>
            </a:pPr>
            <a:r>
              <a:rPr lang="en-US" sz="1600" dirty="0">
                <a:solidFill>
                  <a:srgbClr val="5B8DEF"/>
                </a:solidFill>
                <a:latin typeface="Century Gothic" pitchFamily="34" charset="0"/>
                <a:ea typeface="Century Gothic" pitchFamily="34" charset="-122"/>
                <a:cs typeface="Century Gothic" pitchFamily="34" charset="-120"/>
              </a:rPr>
              <a:t>08   </a:t>
            </a:r>
            <a:pPr indent="0" marL="0">
              <a:buNone/>
            </a:pPr>
            <a:r>
              <a:rPr lang="en-US" sz="1600" dirty="0">
                <a:solidFill>
                  <a:srgbClr val="2B2B2B"/>
                </a:solidFill>
                <a:latin typeface="Century Gothic" pitchFamily="34" charset="0"/>
                <a:ea typeface="Century Gothic" pitchFamily="34" charset="-122"/>
                <a:cs typeface="Century Gothic" pitchFamily="34" charset="-120"/>
              </a:rPr>
              <a:t>Contoh Soal &amp; Latihan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01</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Dasarnya</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Posisi menang dan posisi kalah</a:t>
            </a:r>
            <a:endParaRPr lang="en-US" sz="1350" dirty="0"/>
          </a:p>
        </p:txBody>
      </p:sp>
      <p:sp>
        <p:nvSpPr>
          <p:cNvPr id="5" name="Shape 3"/>
          <p:cNvSpPr/>
          <p:nvPr/>
        </p:nvSpPr>
        <p:spPr>
          <a:xfrm>
            <a:off x="5815584" y="4251960"/>
            <a:ext cx="548640" cy="45720"/>
          </a:xfrm>
          <a:prstGeom prst="rect">
            <a:avLst/>
          </a:prstGeom>
          <a:solidFill>
            <a:srgbClr val="5B8DEF"/>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Permainan Imparsial</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Empat syarat di baris 4 sampai 9 menentukan apakah seluruh teori ini berlaku pada sebuah soal.</a:t>
            </a:r>
            <a:endParaRPr lang="en-US" sz="1300" dirty="0"/>
          </a:p>
        </p:txBody>
      </p:sp>
      <p:pic>
        <p:nvPicPr>
          <p:cNvPr id="4" name="Image 0" descr="/tmp/ppt/imgs/c14_8_110.png">    </p:cNvPr>
          <p:cNvPicPr>
            <a:picLocks noChangeAspect="1"/>
          </p:cNvPicPr>
          <p:nvPr/>
        </p:nvPicPr>
        <p:blipFill>
          <a:blip r:embed="rId1"/>
          <a:stretch>
            <a:fillRect/>
          </a:stretch>
        </p:blipFill>
        <p:spPr>
          <a:xfrm>
            <a:off x="1559618" y="1755648"/>
            <a:ext cx="4662307" cy="4233672"/>
          </a:xfrm>
          <a:prstGeom prst="rect">
            <a:avLst/>
          </a:prstGeom>
        </p:spPr>
      </p:pic>
      <p:sp>
        <p:nvSpPr>
          <p:cNvPr id="5" name="Shape 2"/>
          <p:cNvSpPr/>
          <p:nvPr/>
        </p:nvSpPr>
        <p:spPr>
          <a:xfrm>
            <a:off x="7571232" y="1755648"/>
            <a:ext cx="3950208" cy="4233672"/>
          </a:xfrm>
          <a:prstGeom prst="rect">
            <a:avLst/>
          </a:prstGeom>
          <a:solidFill>
            <a:srgbClr val="FAFAFA"/>
          </a:solidFill>
          <a:ln/>
        </p:spPr>
      </p:sp>
      <p:sp>
        <p:nvSpPr>
          <p:cNvPr id="6" name="Shape 3"/>
          <p:cNvSpPr/>
          <p:nvPr/>
        </p:nvSpPr>
        <p:spPr>
          <a:xfrm>
            <a:off x="7571232" y="1755648"/>
            <a:ext cx="3950208" cy="45720"/>
          </a:xfrm>
          <a:prstGeom prst="rect">
            <a:avLst/>
          </a:prstGeom>
          <a:solidFill>
            <a:srgbClr val="4FA8E8"/>
          </a:solidFill>
          <a:ln/>
        </p:spPr>
      </p:sp>
      <p:sp>
        <p:nvSpPr>
          <p:cNvPr id="7" name="Text 4"/>
          <p:cNvSpPr txBox="1"/>
          <p:nvPr/>
        </p:nvSpPr>
        <p:spPr>
          <a:xfrm>
            <a:off x="7845552" y="1956816"/>
            <a:ext cx="3401568" cy="274320"/>
          </a:xfrm>
          <a:prstGeom prst="rect">
            <a:avLst/>
          </a:prstGeom>
          <a:noFill/>
          <a:ln/>
        </p:spPr>
        <p:txBody>
          <a:bodyPr wrap="square" lIns="0" tIns="0" rIns="0" bIns="0" rtlCol="0" anchor="ctr"/>
          <a:lstStyle/>
          <a:p>
            <a:pPr indent="0" marL="0">
              <a:buNone/>
            </a:pPr>
            <a:r>
              <a:rPr lang="en-US" sz="1050" spc="300" kern="0" dirty="0">
                <a:solidFill>
                  <a:srgbClr val="4FA8E8"/>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359152"/>
            <a:ext cx="3401568" cy="950976"/>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Perhatikan syarat kedua: langkah yang tersedia harus sama bagi kedua pemain. Catur melanggarnya, sehingga Sprague-Grundy tidak berlaku di sana.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Nim &amp; Teoremanya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Satu baris di baris 9 menyelesaikan seluruh permainan Nim, betapa pun banyak tumpukannya.</a:t>
            </a:r>
            <a:endParaRPr lang="en-US" sz="1300" dirty="0"/>
          </a:p>
        </p:txBody>
      </p:sp>
      <p:pic>
        <p:nvPicPr>
          <p:cNvPr id="4" name="Image 0" descr="/tmp/ppt/imgs/c14_9_111.png">    </p:cNvPr>
          <p:cNvPicPr>
            <a:picLocks noChangeAspect="1"/>
          </p:cNvPicPr>
          <p:nvPr/>
        </p:nvPicPr>
        <p:blipFill>
          <a:blip r:embed="rId1"/>
          <a:stretch>
            <a:fillRect/>
          </a:stretch>
        </p:blipFill>
        <p:spPr>
          <a:xfrm>
            <a:off x="4059091" y="1755648"/>
            <a:ext cx="4070770" cy="4114800"/>
          </a:xfrm>
          <a:prstGeom prst="rect">
            <a:avLst/>
          </a:prstGeom>
        </p:spPr>
      </p:pic>
      <p:sp>
        <p:nvSpPr>
          <p:cNvPr id="5" name="Shape 2"/>
          <p:cNvSpPr/>
          <p:nvPr/>
        </p:nvSpPr>
        <p:spPr>
          <a:xfrm>
            <a:off x="667512" y="6071616"/>
            <a:ext cx="10853928" cy="548640"/>
          </a:xfrm>
          <a:prstGeom prst="rect">
            <a:avLst/>
          </a:prstGeom>
          <a:solidFill>
            <a:srgbClr val="FAFAFA"/>
          </a:solidFill>
          <a:ln/>
        </p:spPr>
      </p:sp>
      <p:sp>
        <p:nvSpPr>
          <p:cNvPr id="6" name="Shape 3"/>
          <p:cNvSpPr/>
          <p:nvPr/>
        </p:nvSpPr>
        <p:spPr>
          <a:xfrm>
            <a:off x="667512" y="6071616"/>
            <a:ext cx="45720" cy="548640"/>
          </a:xfrm>
          <a:prstGeom prst="rect">
            <a:avLst/>
          </a:prstGeom>
          <a:solidFill>
            <a:srgbClr val="3ECF9E"/>
          </a:solidFill>
          <a:ln/>
        </p:spPr>
      </p:sp>
      <p:sp>
        <p:nvSpPr>
          <p:cNvPr id="7" name="Text 4"/>
          <p:cNvSpPr txBox="1"/>
          <p:nvPr/>
        </p:nvSpPr>
        <p:spPr>
          <a:xfrm>
            <a:off x="960120" y="6071616"/>
            <a:ext cx="10268712" cy="548640"/>
          </a:xfrm>
          <a:prstGeom prst="rect">
            <a:avLst/>
          </a:prstGeom>
          <a:noFill/>
          <a:ln/>
        </p:spPr>
        <p:txBody>
          <a:bodyPr wrap="square" lIns="0" tIns="0" rIns="0" bIns="0" rtlCol="0" anchor="ctr"/>
          <a:lstStyle/>
          <a:p>
            <a:pPr indent="0" marL="0">
              <a:lnSpc>
                <a:spcPct val="120000"/>
              </a:lnSpc>
              <a:buNone/>
            </a:pPr>
            <a:r>
              <a:rPr lang="en-US" sz="1150" dirty="0">
                <a:solidFill>
                  <a:srgbClr val="2B2B2B"/>
                </a:solidFill>
                <a:latin typeface="Century Gothic" pitchFamily="34" charset="0"/>
                <a:ea typeface="Century Gothic" pitchFamily="34" charset="-122"/>
                <a:cs typeface="Century Gothic" pitchFamily="34" charset="-120"/>
              </a:rPr>
              <a:t>Kalimat terakhir adalah alasan Nim dipelajari: bukan karena permainannya menarik, melainkan karena setiap permainan imparsial ternyata setara dengan Nim.</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Bilangan Grundy</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Definisi mex di baris 3 dan 4, lalu teorema Sprague-Grundy di baris 21 sampai 25.</a:t>
            </a:r>
            <a:endParaRPr lang="en-US" sz="1300" dirty="0"/>
          </a:p>
        </p:txBody>
      </p:sp>
      <p:pic>
        <p:nvPicPr>
          <p:cNvPr id="4" name="Image 0" descr="/tmp/ppt/imgs/c14_10_112.png">    </p:cNvPr>
          <p:cNvPicPr>
            <a:picLocks noChangeAspect="1"/>
          </p:cNvPicPr>
          <p:nvPr/>
        </p:nvPicPr>
        <p:blipFill>
          <a:blip r:embed="rId1"/>
          <a:stretch>
            <a:fillRect/>
          </a:stretch>
        </p:blipFill>
        <p:spPr>
          <a:xfrm>
            <a:off x="4351294" y="1755648"/>
            <a:ext cx="3486365" cy="4114800"/>
          </a:xfrm>
          <a:prstGeom prst="rect">
            <a:avLst/>
          </a:prstGeom>
        </p:spPr>
      </p:pic>
      <p:sp>
        <p:nvSpPr>
          <p:cNvPr id="5" name="Shape 2"/>
          <p:cNvSpPr/>
          <p:nvPr/>
        </p:nvSpPr>
        <p:spPr>
          <a:xfrm>
            <a:off x="667512" y="6071616"/>
            <a:ext cx="10853928" cy="548640"/>
          </a:xfrm>
          <a:prstGeom prst="rect">
            <a:avLst/>
          </a:prstGeom>
          <a:solidFill>
            <a:srgbClr val="FAFAFA"/>
          </a:solidFill>
          <a:ln/>
        </p:spPr>
      </p:sp>
      <p:sp>
        <p:nvSpPr>
          <p:cNvPr id="6" name="Shape 3"/>
          <p:cNvSpPr/>
          <p:nvPr/>
        </p:nvSpPr>
        <p:spPr>
          <a:xfrm>
            <a:off x="667512" y="6071616"/>
            <a:ext cx="45720" cy="548640"/>
          </a:xfrm>
          <a:prstGeom prst="rect">
            <a:avLst/>
          </a:prstGeom>
          <a:solidFill>
            <a:srgbClr val="F5A623"/>
          </a:solidFill>
          <a:ln/>
        </p:spPr>
      </p:sp>
      <p:sp>
        <p:nvSpPr>
          <p:cNvPr id="7" name="Text 4"/>
          <p:cNvSpPr txBox="1"/>
          <p:nvPr/>
        </p:nvSpPr>
        <p:spPr>
          <a:xfrm>
            <a:off x="960120" y="6071616"/>
            <a:ext cx="10268712" cy="548640"/>
          </a:xfrm>
          <a:prstGeom prst="rect">
            <a:avLst/>
          </a:prstGeom>
          <a:noFill/>
          <a:ln/>
        </p:spPr>
        <p:txBody>
          <a:bodyPr wrap="square" lIns="0" tIns="0" rIns="0" bIns="0" rtlCol="0" anchor="ctr"/>
          <a:lstStyle/>
          <a:p>
            <a:pPr indent="0" marL="0">
              <a:lnSpc>
                <a:spcPct val="120000"/>
              </a:lnSpc>
              <a:buNone/>
            </a:pPr>
            <a:r>
              <a:rPr lang="en-US" sz="1150" dirty="0">
                <a:solidFill>
                  <a:srgbClr val="2B2B2B"/>
                </a:solidFill>
                <a:latin typeface="Century Gothic" pitchFamily="34" charset="0"/>
                <a:ea typeface="Century Gothic" pitchFamily="34" charset="-122"/>
                <a:cs typeface="Century Gothic" pitchFamily="34" charset="-120"/>
              </a:rPr>
              <a:t>Baris grundy(v) = 0 berarti posisi kalah adalah cara tercepat memakai teori ini: hitung grundy, periksa apakah nol, selesai.</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02</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Simulasi</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Permainan pengurangan: ambil 1, 3, atau 4 batu</a:t>
            </a:r>
            <a:endParaRPr lang="en-US" sz="1350" dirty="0"/>
          </a:p>
        </p:txBody>
      </p:sp>
      <p:sp>
        <p:nvSpPr>
          <p:cNvPr id="5" name="Shape 3"/>
          <p:cNvSpPr/>
          <p:nvPr/>
        </p:nvSpPr>
        <p:spPr>
          <a:xfrm>
            <a:off x="5815584" y="4251960"/>
            <a:ext cx="548640" cy="45720"/>
          </a:xfrm>
          <a:prstGeom prst="rect">
            <a:avLst/>
          </a:prstGeom>
          <a:solidFill>
            <a:srgbClr val="A78BFA"/>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1 — Menghitung dari Bawah</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Nilai grundy dihitung mundur dari nol. Dengan nol batu tidak ada langkah, jadi grundy nol.</a:t>
            </a:r>
            <a:endParaRPr lang="en-US" sz="1300" dirty="0"/>
          </a:p>
        </p:txBody>
      </p:sp>
      <p:sp>
        <p:nvSpPr>
          <p:cNvPr id="4" name="Text 2"/>
          <p:cNvSpPr txBox="1"/>
          <p:nvPr/>
        </p:nvSpPr>
        <p:spPr>
          <a:xfrm>
            <a:off x="667512" y="2542032"/>
            <a:ext cx="1463040" cy="256032"/>
          </a:xfrm>
          <a:prstGeom prst="rect">
            <a:avLst/>
          </a:prstGeom>
          <a:noFill/>
          <a:ln/>
        </p:spPr>
        <p:txBody>
          <a:bodyPr wrap="square" lIns="0" tIns="0" rIns="0" bIns="0" rtlCol="0" anchor="ctr"/>
          <a:lstStyle/>
          <a:p>
            <a:pPr algn="l" indent="0" marL="0">
              <a:buNone/>
            </a:pPr>
            <a:r>
              <a:rPr lang="en-US" sz="1250" dirty="0">
                <a:solidFill>
                  <a:srgbClr val="2B2B2B"/>
                </a:solidFill>
                <a:latin typeface="Century Gothic" pitchFamily="34" charset="0"/>
                <a:ea typeface="Century Gothic" pitchFamily="34" charset="-122"/>
                <a:cs typeface="Century Gothic" pitchFamily="34" charset="-120"/>
              </a:rPr>
              <a:t>grundy</a:t>
            </a:r>
            <a:endParaRPr lang="en-US" sz="1250" dirty="0"/>
          </a:p>
        </p:txBody>
      </p:sp>
      <p:sp>
        <p:nvSpPr>
          <p:cNvPr id="5" name="Shape 3"/>
          <p:cNvSpPr/>
          <p:nvPr/>
        </p:nvSpPr>
        <p:spPr>
          <a:xfrm>
            <a:off x="2130552" y="2395728"/>
            <a:ext cx="777240" cy="548640"/>
          </a:xfrm>
          <a:prstGeom prst="rect">
            <a:avLst/>
          </a:prstGeom>
          <a:solidFill>
            <a:srgbClr val="E6F2FC"/>
          </a:solidFill>
          <a:ln w="9525">
            <a:solidFill>
              <a:srgbClr val="DADDE2"/>
            </a:solidFill>
            <a:prstDash val="solid"/>
          </a:ln>
        </p:spPr>
      </p:sp>
      <p:sp>
        <p:nvSpPr>
          <p:cNvPr id="6" name="Text 4"/>
          <p:cNvSpPr txBox="1"/>
          <p:nvPr/>
        </p:nvSpPr>
        <p:spPr>
          <a:xfrm>
            <a:off x="2130552"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0</a:t>
            </a:r>
            <a:endParaRPr lang="en-US" sz="1400" dirty="0"/>
          </a:p>
        </p:txBody>
      </p:sp>
      <p:sp>
        <p:nvSpPr>
          <p:cNvPr id="7" name="Text 5"/>
          <p:cNvSpPr txBox="1"/>
          <p:nvPr/>
        </p:nvSpPr>
        <p:spPr>
          <a:xfrm>
            <a:off x="213055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n=0</a:t>
            </a:r>
            <a:endParaRPr lang="en-US" sz="1000" dirty="0"/>
          </a:p>
        </p:txBody>
      </p:sp>
      <p:sp>
        <p:nvSpPr>
          <p:cNvPr id="8" name="Shape 6"/>
          <p:cNvSpPr/>
          <p:nvPr/>
        </p:nvSpPr>
        <p:spPr>
          <a:xfrm>
            <a:off x="2980944" y="2395728"/>
            <a:ext cx="777240" cy="548640"/>
          </a:xfrm>
          <a:prstGeom prst="rect">
            <a:avLst/>
          </a:prstGeom>
          <a:solidFill>
            <a:srgbClr val="E6F2FC"/>
          </a:solidFill>
          <a:ln w="9525">
            <a:solidFill>
              <a:srgbClr val="DADDE2"/>
            </a:solidFill>
            <a:prstDash val="solid"/>
          </a:ln>
        </p:spPr>
      </p:sp>
      <p:sp>
        <p:nvSpPr>
          <p:cNvPr id="9" name="Text 7"/>
          <p:cNvSpPr txBox="1"/>
          <p:nvPr/>
        </p:nvSpPr>
        <p:spPr>
          <a:xfrm>
            <a:off x="2980944"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1</a:t>
            </a:r>
            <a:endParaRPr lang="en-US" sz="1400" dirty="0"/>
          </a:p>
        </p:txBody>
      </p:sp>
      <p:sp>
        <p:nvSpPr>
          <p:cNvPr id="10" name="Text 8"/>
          <p:cNvSpPr txBox="1"/>
          <p:nvPr/>
        </p:nvSpPr>
        <p:spPr>
          <a:xfrm>
            <a:off x="2980944"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n=1</a:t>
            </a:r>
            <a:endParaRPr lang="en-US" sz="1000" dirty="0"/>
          </a:p>
        </p:txBody>
      </p:sp>
      <p:sp>
        <p:nvSpPr>
          <p:cNvPr id="11" name="Shape 9"/>
          <p:cNvSpPr/>
          <p:nvPr/>
        </p:nvSpPr>
        <p:spPr>
          <a:xfrm>
            <a:off x="3831336" y="2395728"/>
            <a:ext cx="777240" cy="548640"/>
          </a:xfrm>
          <a:prstGeom prst="rect">
            <a:avLst/>
          </a:prstGeom>
          <a:solidFill>
            <a:srgbClr val="FFF3D6"/>
          </a:solidFill>
          <a:ln w="9525">
            <a:solidFill>
              <a:srgbClr val="DADDE2"/>
            </a:solidFill>
            <a:prstDash val="solid"/>
          </a:ln>
        </p:spPr>
      </p:sp>
      <p:sp>
        <p:nvSpPr>
          <p:cNvPr id="12" name="Text 10"/>
          <p:cNvSpPr txBox="1"/>
          <p:nvPr/>
        </p:nvSpPr>
        <p:spPr>
          <a:xfrm>
            <a:off x="3831336" y="2395728"/>
            <a:ext cx="777240" cy="548640"/>
          </a:xfrm>
          <a:prstGeom prst="rect">
            <a:avLst/>
          </a:prstGeom>
          <a:noFill/>
          <a:ln/>
        </p:spPr>
        <p:txBody>
          <a:bodyPr wrap="square" lIns="0" tIns="0" rIns="0" bIns="0" rtlCol="0" anchor="ctr"/>
          <a:lstStyle/>
          <a:p>
            <a:pPr algn="ctr" indent="0" marL="0">
              <a:buNone/>
            </a:pPr>
            <a:r>
              <a:rPr lang="en-US" sz="1400" dirty="0">
                <a:solidFill>
                  <a:srgbClr val="B45309"/>
                </a:solidFill>
                <a:latin typeface="Century Gothic" pitchFamily="34" charset="0"/>
                <a:ea typeface="Century Gothic" pitchFamily="34" charset="-122"/>
                <a:cs typeface="Century Gothic" pitchFamily="34" charset="-120"/>
              </a:rPr>
              <a:t>0</a:t>
            </a:r>
            <a:endParaRPr lang="en-US" sz="1400" dirty="0"/>
          </a:p>
        </p:txBody>
      </p:sp>
      <p:sp>
        <p:nvSpPr>
          <p:cNvPr id="13" name="Text 11"/>
          <p:cNvSpPr txBox="1"/>
          <p:nvPr/>
        </p:nvSpPr>
        <p:spPr>
          <a:xfrm>
            <a:off x="3831336"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n=2</a:t>
            </a:r>
            <a:endParaRPr lang="en-US" sz="1000" dirty="0"/>
          </a:p>
        </p:txBody>
      </p:sp>
      <p:sp>
        <p:nvSpPr>
          <p:cNvPr id="14" name="Shape 12"/>
          <p:cNvSpPr/>
          <p:nvPr/>
        </p:nvSpPr>
        <p:spPr>
          <a:xfrm>
            <a:off x="4681728" y="2395728"/>
            <a:ext cx="777240" cy="548640"/>
          </a:xfrm>
          <a:prstGeom prst="rect">
            <a:avLst/>
          </a:prstGeom>
          <a:solidFill>
            <a:srgbClr val="FFFFFF"/>
          </a:solidFill>
          <a:ln w="9525">
            <a:solidFill>
              <a:srgbClr val="DADDE2"/>
            </a:solidFill>
            <a:prstDash val="solid"/>
          </a:ln>
        </p:spPr>
      </p:sp>
      <p:sp>
        <p:nvSpPr>
          <p:cNvPr id="15" name="Text 13"/>
          <p:cNvSpPr txBox="1"/>
          <p:nvPr/>
        </p:nvSpPr>
        <p:spPr>
          <a:xfrm>
            <a:off x="4681728"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16" name="Text 14"/>
          <p:cNvSpPr txBox="1"/>
          <p:nvPr/>
        </p:nvSpPr>
        <p:spPr>
          <a:xfrm>
            <a:off x="4681728"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n=3</a:t>
            </a:r>
            <a:endParaRPr lang="en-US" sz="1000" dirty="0"/>
          </a:p>
        </p:txBody>
      </p:sp>
      <p:sp>
        <p:nvSpPr>
          <p:cNvPr id="17" name="Shape 15"/>
          <p:cNvSpPr/>
          <p:nvPr/>
        </p:nvSpPr>
        <p:spPr>
          <a:xfrm>
            <a:off x="5532120" y="2395728"/>
            <a:ext cx="777240" cy="548640"/>
          </a:xfrm>
          <a:prstGeom prst="rect">
            <a:avLst/>
          </a:prstGeom>
          <a:solidFill>
            <a:srgbClr val="FFFFFF"/>
          </a:solidFill>
          <a:ln w="9525">
            <a:solidFill>
              <a:srgbClr val="DADDE2"/>
            </a:solidFill>
            <a:prstDash val="solid"/>
          </a:ln>
        </p:spPr>
      </p:sp>
      <p:sp>
        <p:nvSpPr>
          <p:cNvPr id="18" name="Text 16"/>
          <p:cNvSpPr txBox="1"/>
          <p:nvPr/>
        </p:nvSpPr>
        <p:spPr>
          <a:xfrm>
            <a:off x="5532120"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19" name="Text 17"/>
          <p:cNvSpPr txBox="1"/>
          <p:nvPr/>
        </p:nvSpPr>
        <p:spPr>
          <a:xfrm>
            <a:off x="5532120"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n=4</a:t>
            </a:r>
            <a:endParaRPr lang="en-US" sz="1000" dirty="0"/>
          </a:p>
        </p:txBody>
      </p:sp>
      <p:sp>
        <p:nvSpPr>
          <p:cNvPr id="20" name="Shape 18"/>
          <p:cNvSpPr/>
          <p:nvPr/>
        </p:nvSpPr>
        <p:spPr>
          <a:xfrm>
            <a:off x="6382512" y="2395728"/>
            <a:ext cx="777240" cy="548640"/>
          </a:xfrm>
          <a:prstGeom prst="rect">
            <a:avLst/>
          </a:prstGeom>
          <a:solidFill>
            <a:srgbClr val="FFFFFF"/>
          </a:solidFill>
          <a:ln w="9525">
            <a:solidFill>
              <a:srgbClr val="DADDE2"/>
            </a:solidFill>
            <a:prstDash val="solid"/>
          </a:ln>
        </p:spPr>
      </p:sp>
      <p:sp>
        <p:nvSpPr>
          <p:cNvPr id="21" name="Text 19"/>
          <p:cNvSpPr txBox="1"/>
          <p:nvPr/>
        </p:nvSpPr>
        <p:spPr>
          <a:xfrm>
            <a:off x="6382512"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22" name="Text 20"/>
          <p:cNvSpPr txBox="1"/>
          <p:nvPr/>
        </p:nvSpPr>
        <p:spPr>
          <a:xfrm>
            <a:off x="638251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n=5</a:t>
            </a:r>
            <a:endParaRPr lang="en-US" sz="1000" dirty="0"/>
          </a:p>
        </p:txBody>
      </p:sp>
      <p:sp>
        <p:nvSpPr>
          <p:cNvPr id="23" name="Shape 21"/>
          <p:cNvSpPr/>
          <p:nvPr/>
        </p:nvSpPr>
        <p:spPr>
          <a:xfrm>
            <a:off x="7232904" y="2395728"/>
            <a:ext cx="777240" cy="548640"/>
          </a:xfrm>
          <a:prstGeom prst="rect">
            <a:avLst/>
          </a:prstGeom>
          <a:solidFill>
            <a:srgbClr val="FFFFFF"/>
          </a:solidFill>
          <a:ln w="9525">
            <a:solidFill>
              <a:srgbClr val="DADDE2"/>
            </a:solidFill>
            <a:prstDash val="solid"/>
          </a:ln>
        </p:spPr>
      </p:sp>
      <p:sp>
        <p:nvSpPr>
          <p:cNvPr id="24" name="Text 22"/>
          <p:cNvSpPr txBox="1"/>
          <p:nvPr/>
        </p:nvSpPr>
        <p:spPr>
          <a:xfrm>
            <a:off x="7232904"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25" name="Text 23"/>
          <p:cNvSpPr txBox="1"/>
          <p:nvPr/>
        </p:nvSpPr>
        <p:spPr>
          <a:xfrm>
            <a:off x="7232904"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n=6</a:t>
            </a:r>
            <a:endParaRPr lang="en-US" sz="1000" dirty="0"/>
          </a:p>
        </p:txBody>
      </p:sp>
      <p:sp>
        <p:nvSpPr>
          <p:cNvPr id="26" name="Shape 24"/>
          <p:cNvSpPr/>
          <p:nvPr/>
        </p:nvSpPr>
        <p:spPr>
          <a:xfrm>
            <a:off x="8083296" y="2395728"/>
            <a:ext cx="777240" cy="548640"/>
          </a:xfrm>
          <a:prstGeom prst="rect">
            <a:avLst/>
          </a:prstGeom>
          <a:solidFill>
            <a:srgbClr val="FFFFFF"/>
          </a:solidFill>
          <a:ln w="9525">
            <a:solidFill>
              <a:srgbClr val="DADDE2"/>
            </a:solidFill>
            <a:prstDash val="solid"/>
          </a:ln>
        </p:spPr>
      </p:sp>
      <p:sp>
        <p:nvSpPr>
          <p:cNvPr id="27" name="Text 25"/>
          <p:cNvSpPr txBox="1"/>
          <p:nvPr/>
        </p:nvSpPr>
        <p:spPr>
          <a:xfrm>
            <a:off x="8083296"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28" name="Text 26"/>
          <p:cNvSpPr txBox="1"/>
          <p:nvPr/>
        </p:nvSpPr>
        <p:spPr>
          <a:xfrm>
            <a:off x="8083296"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n=7</a:t>
            </a:r>
            <a:endParaRPr lang="en-US" sz="1000" dirty="0"/>
          </a:p>
        </p:txBody>
      </p:sp>
      <p:sp>
        <p:nvSpPr>
          <p:cNvPr id="29" name="Shape 27"/>
          <p:cNvSpPr/>
          <p:nvPr/>
        </p:nvSpPr>
        <p:spPr>
          <a:xfrm>
            <a:off x="8933688" y="2395728"/>
            <a:ext cx="777240" cy="548640"/>
          </a:xfrm>
          <a:prstGeom prst="rect">
            <a:avLst/>
          </a:prstGeom>
          <a:solidFill>
            <a:srgbClr val="FFFFFF"/>
          </a:solidFill>
          <a:ln w="9525">
            <a:solidFill>
              <a:srgbClr val="DADDE2"/>
            </a:solidFill>
            <a:prstDash val="solid"/>
          </a:ln>
        </p:spPr>
      </p:sp>
      <p:sp>
        <p:nvSpPr>
          <p:cNvPr id="30" name="Text 28"/>
          <p:cNvSpPr txBox="1"/>
          <p:nvPr/>
        </p:nvSpPr>
        <p:spPr>
          <a:xfrm>
            <a:off x="8933688"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31" name="Text 29"/>
          <p:cNvSpPr txBox="1"/>
          <p:nvPr/>
        </p:nvSpPr>
        <p:spPr>
          <a:xfrm>
            <a:off x="8933688"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n=8</a:t>
            </a:r>
            <a:endParaRPr lang="en-US" sz="1000" dirty="0"/>
          </a:p>
        </p:txBody>
      </p:sp>
      <p:sp>
        <p:nvSpPr>
          <p:cNvPr id="32" name="Shape 30"/>
          <p:cNvSpPr/>
          <p:nvPr/>
        </p:nvSpPr>
        <p:spPr>
          <a:xfrm>
            <a:off x="9784080" y="2395728"/>
            <a:ext cx="777240" cy="548640"/>
          </a:xfrm>
          <a:prstGeom prst="rect">
            <a:avLst/>
          </a:prstGeom>
          <a:solidFill>
            <a:srgbClr val="FFFFFF"/>
          </a:solidFill>
          <a:ln w="9525">
            <a:solidFill>
              <a:srgbClr val="DADDE2"/>
            </a:solidFill>
            <a:prstDash val="solid"/>
          </a:ln>
        </p:spPr>
      </p:sp>
      <p:sp>
        <p:nvSpPr>
          <p:cNvPr id="33" name="Text 31"/>
          <p:cNvSpPr txBox="1"/>
          <p:nvPr/>
        </p:nvSpPr>
        <p:spPr>
          <a:xfrm>
            <a:off x="9784080"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34" name="Text 32"/>
          <p:cNvSpPr txBox="1"/>
          <p:nvPr/>
        </p:nvSpPr>
        <p:spPr>
          <a:xfrm>
            <a:off x="9784080"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n=9</a:t>
            </a:r>
            <a:endParaRPr lang="en-US" sz="1000" dirty="0"/>
          </a:p>
        </p:txBody>
      </p:sp>
      <p:sp>
        <p:nvSpPr>
          <p:cNvPr id="35" name="Shape 33"/>
          <p:cNvSpPr/>
          <p:nvPr/>
        </p:nvSpPr>
        <p:spPr>
          <a:xfrm>
            <a:off x="10634472" y="2395728"/>
            <a:ext cx="777240" cy="548640"/>
          </a:xfrm>
          <a:prstGeom prst="rect">
            <a:avLst/>
          </a:prstGeom>
          <a:solidFill>
            <a:srgbClr val="FFFFFF"/>
          </a:solidFill>
          <a:ln w="9525">
            <a:solidFill>
              <a:srgbClr val="DADDE2"/>
            </a:solidFill>
            <a:prstDash val="solid"/>
          </a:ln>
        </p:spPr>
      </p:sp>
      <p:sp>
        <p:nvSpPr>
          <p:cNvPr id="36" name="Text 34"/>
          <p:cNvSpPr txBox="1"/>
          <p:nvPr/>
        </p:nvSpPr>
        <p:spPr>
          <a:xfrm>
            <a:off x="10634472"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37" name="Text 35"/>
          <p:cNvSpPr txBox="1"/>
          <p:nvPr/>
        </p:nvSpPr>
        <p:spPr>
          <a:xfrm>
            <a:off x="1063447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n=10</a:t>
            </a:r>
            <a:endParaRPr lang="en-US" sz="1000" dirty="0"/>
          </a:p>
        </p:txBody>
      </p:sp>
      <p:sp>
        <p:nvSpPr>
          <p:cNvPr id="38" name="Shape 36"/>
          <p:cNvSpPr/>
          <p:nvPr/>
        </p:nvSpPr>
        <p:spPr>
          <a:xfrm>
            <a:off x="667512" y="3511296"/>
            <a:ext cx="10853928" cy="914400"/>
          </a:xfrm>
          <a:prstGeom prst="rect">
            <a:avLst/>
          </a:prstGeom>
          <a:solidFill>
            <a:srgbClr val="FAFAFA"/>
          </a:solidFill>
          <a:ln/>
        </p:spPr>
      </p:sp>
      <p:sp>
        <p:nvSpPr>
          <p:cNvPr id="39" name="Text 37"/>
          <p:cNvSpPr txBox="1"/>
          <p:nvPr/>
        </p:nvSpPr>
        <p:spPr>
          <a:xfrm>
            <a:off x="941832" y="3602736"/>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g(0) = 0      g(1) = mex{g(0)} = mex{0} = 1      g(2) = mex{g(1)} = mex{1} = 0</a:t>
            </a:r>
            <a:endParaRPr lang="en-US" sz="1300" dirty="0"/>
          </a:p>
        </p:txBody>
      </p:sp>
      <p:sp>
        <p:nvSpPr>
          <p:cNvPr id="40" name="Text 38"/>
          <p:cNvSpPr txBox="1"/>
          <p:nvPr/>
        </p:nvSpPr>
        <p:spPr>
          <a:xfrm>
            <a:off x="941832" y="3950208"/>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Dari 2 batu hanya bisa mengambil 1, sehingga satu-satunya tujuan adalah posisi 1 yang bernilai 1. Bilangan tak negatif terkecil di luar {1} adalah 0.</a:t>
            </a:r>
            <a:endParaRPr lang="en-US" sz="1200" dirty="0"/>
          </a:p>
        </p:txBody>
      </p:sp>
      <p:sp>
        <p:nvSpPr>
          <p:cNvPr id="41" name="Shape 39"/>
          <p:cNvSpPr/>
          <p:nvPr/>
        </p:nvSpPr>
        <p:spPr>
          <a:xfrm>
            <a:off x="9692640" y="1737360"/>
            <a:ext cx="1828800" cy="384048"/>
          </a:xfrm>
          <a:prstGeom prst="rect">
            <a:avLst/>
          </a:prstGeom>
          <a:solidFill>
            <a:srgbClr val="F2F7FD"/>
          </a:solidFill>
          <a:ln/>
        </p:spPr>
      </p:sp>
      <p:sp>
        <p:nvSpPr>
          <p:cNvPr id="42" name="Text 40"/>
          <p:cNvSpPr txBox="1"/>
          <p:nvPr/>
        </p:nvSpPr>
        <p:spPr>
          <a:xfrm>
            <a:off x="9692640" y="1737360"/>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1 / 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2 — Nilai Mulai Beragam</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Dari 4 batu ada tiga langkah: ke 3, ke 1, dan ke 0. Nilainya 1, 1, dan 0 — jadi mex-nya 2.</a:t>
            </a:r>
            <a:endParaRPr lang="en-US" sz="1300" dirty="0"/>
          </a:p>
        </p:txBody>
      </p:sp>
      <p:sp>
        <p:nvSpPr>
          <p:cNvPr id="4" name="Text 2"/>
          <p:cNvSpPr txBox="1"/>
          <p:nvPr/>
        </p:nvSpPr>
        <p:spPr>
          <a:xfrm>
            <a:off x="667512" y="2542032"/>
            <a:ext cx="1463040" cy="256032"/>
          </a:xfrm>
          <a:prstGeom prst="rect">
            <a:avLst/>
          </a:prstGeom>
          <a:noFill/>
          <a:ln/>
        </p:spPr>
        <p:txBody>
          <a:bodyPr wrap="square" lIns="0" tIns="0" rIns="0" bIns="0" rtlCol="0" anchor="ctr"/>
          <a:lstStyle/>
          <a:p>
            <a:pPr algn="l" indent="0" marL="0">
              <a:buNone/>
            </a:pPr>
            <a:r>
              <a:rPr lang="en-US" sz="1250" dirty="0">
                <a:solidFill>
                  <a:srgbClr val="2B2B2B"/>
                </a:solidFill>
                <a:latin typeface="Century Gothic" pitchFamily="34" charset="0"/>
                <a:ea typeface="Century Gothic" pitchFamily="34" charset="-122"/>
                <a:cs typeface="Century Gothic" pitchFamily="34" charset="-120"/>
              </a:rPr>
              <a:t>grundy</a:t>
            </a:r>
            <a:endParaRPr lang="en-US" sz="1250" dirty="0"/>
          </a:p>
        </p:txBody>
      </p:sp>
      <p:sp>
        <p:nvSpPr>
          <p:cNvPr id="5" name="Shape 3"/>
          <p:cNvSpPr/>
          <p:nvPr/>
        </p:nvSpPr>
        <p:spPr>
          <a:xfrm>
            <a:off x="2130552" y="2395728"/>
            <a:ext cx="777240" cy="548640"/>
          </a:xfrm>
          <a:prstGeom prst="rect">
            <a:avLst/>
          </a:prstGeom>
          <a:solidFill>
            <a:srgbClr val="E6F2FC"/>
          </a:solidFill>
          <a:ln w="9525">
            <a:solidFill>
              <a:srgbClr val="DADDE2"/>
            </a:solidFill>
            <a:prstDash val="solid"/>
          </a:ln>
        </p:spPr>
      </p:sp>
      <p:sp>
        <p:nvSpPr>
          <p:cNvPr id="6" name="Text 4"/>
          <p:cNvSpPr txBox="1"/>
          <p:nvPr/>
        </p:nvSpPr>
        <p:spPr>
          <a:xfrm>
            <a:off x="2130552"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0</a:t>
            </a:r>
            <a:endParaRPr lang="en-US" sz="1400" dirty="0"/>
          </a:p>
        </p:txBody>
      </p:sp>
      <p:sp>
        <p:nvSpPr>
          <p:cNvPr id="7" name="Text 5"/>
          <p:cNvSpPr txBox="1"/>
          <p:nvPr/>
        </p:nvSpPr>
        <p:spPr>
          <a:xfrm>
            <a:off x="213055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n=0</a:t>
            </a:r>
            <a:endParaRPr lang="en-US" sz="1000" dirty="0"/>
          </a:p>
        </p:txBody>
      </p:sp>
      <p:sp>
        <p:nvSpPr>
          <p:cNvPr id="8" name="Shape 6"/>
          <p:cNvSpPr/>
          <p:nvPr/>
        </p:nvSpPr>
        <p:spPr>
          <a:xfrm>
            <a:off x="2980944" y="2395728"/>
            <a:ext cx="777240" cy="548640"/>
          </a:xfrm>
          <a:prstGeom prst="rect">
            <a:avLst/>
          </a:prstGeom>
          <a:solidFill>
            <a:srgbClr val="E6F2FC"/>
          </a:solidFill>
          <a:ln w="9525">
            <a:solidFill>
              <a:srgbClr val="DADDE2"/>
            </a:solidFill>
            <a:prstDash val="solid"/>
          </a:ln>
        </p:spPr>
      </p:sp>
      <p:sp>
        <p:nvSpPr>
          <p:cNvPr id="9" name="Text 7"/>
          <p:cNvSpPr txBox="1"/>
          <p:nvPr/>
        </p:nvSpPr>
        <p:spPr>
          <a:xfrm>
            <a:off x="2980944"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1</a:t>
            </a:r>
            <a:endParaRPr lang="en-US" sz="1400" dirty="0"/>
          </a:p>
        </p:txBody>
      </p:sp>
      <p:sp>
        <p:nvSpPr>
          <p:cNvPr id="10" name="Text 8"/>
          <p:cNvSpPr txBox="1"/>
          <p:nvPr/>
        </p:nvSpPr>
        <p:spPr>
          <a:xfrm>
            <a:off x="2980944"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n=1</a:t>
            </a:r>
            <a:endParaRPr lang="en-US" sz="1000" dirty="0"/>
          </a:p>
        </p:txBody>
      </p:sp>
      <p:sp>
        <p:nvSpPr>
          <p:cNvPr id="11" name="Shape 9"/>
          <p:cNvSpPr/>
          <p:nvPr/>
        </p:nvSpPr>
        <p:spPr>
          <a:xfrm>
            <a:off x="3831336" y="2395728"/>
            <a:ext cx="777240" cy="548640"/>
          </a:xfrm>
          <a:prstGeom prst="rect">
            <a:avLst/>
          </a:prstGeom>
          <a:solidFill>
            <a:srgbClr val="FFFFFF"/>
          </a:solidFill>
          <a:ln w="9525">
            <a:solidFill>
              <a:srgbClr val="DADDE2"/>
            </a:solidFill>
            <a:prstDash val="solid"/>
          </a:ln>
        </p:spPr>
      </p:sp>
      <p:sp>
        <p:nvSpPr>
          <p:cNvPr id="12" name="Text 10"/>
          <p:cNvSpPr txBox="1"/>
          <p:nvPr/>
        </p:nvSpPr>
        <p:spPr>
          <a:xfrm>
            <a:off x="3831336"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0</a:t>
            </a:r>
            <a:endParaRPr lang="en-US" sz="1400" dirty="0"/>
          </a:p>
        </p:txBody>
      </p:sp>
      <p:sp>
        <p:nvSpPr>
          <p:cNvPr id="13" name="Text 11"/>
          <p:cNvSpPr txBox="1"/>
          <p:nvPr/>
        </p:nvSpPr>
        <p:spPr>
          <a:xfrm>
            <a:off x="3831336"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n=2</a:t>
            </a:r>
            <a:endParaRPr lang="en-US" sz="1000" dirty="0"/>
          </a:p>
        </p:txBody>
      </p:sp>
      <p:sp>
        <p:nvSpPr>
          <p:cNvPr id="14" name="Shape 12"/>
          <p:cNvSpPr/>
          <p:nvPr/>
        </p:nvSpPr>
        <p:spPr>
          <a:xfrm>
            <a:off x="4681728" y="2395728"/>
            <a:ext cx="777240" cy="548640"/>
          </a:xfrm>
          <a:prstGeom prst="rect">
            <a:avLst/>
          </a:prstGeom>
          <a:solidFill>
            <a:srgbClr val="E6F2FC"/>
          </a:solidFill>
          <a:ln w="9525">
            <a:solidFill>
              <a:srgbClr val="DADDE2"/>
            </a:solidFill>
            <a:prstDash val="solid"/>
          </a:ln>
        </p:spPr>
      </p:sp>
      <p:sp>
        <p:nvSpPr>
          <p:cNvPr id="15" name="Text 13"/>
          <p:cNvSpPr txBox="1"/>
          <p:nvPr/>
        </p:nvSpPr>
        <p:spPr>
          <a:xfrm>
            <a:off x="4681728"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1</a:t>
            </a:r>
            <a:endParaRPr lang="en-US" sz="1400" dirty="0"/>
          </a:p>
        </p:txBody>
      </p:sp>
      <p:sp>
        <p:nvSpPr>
          <p:cNvPr id="16" name="Text 14"/>
          <p:cNvSpPr txBox="1"/>
          <p:nvPr/>
        </p:nvSpPr>
        <p:spPr>
          <a:xfrm>
            <a:off x="4681728"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n=3</a:t>
            </a:r>
            <a:endParaRPr lang="en-US" sz="1000" dirty="0"/>
          </a:p>
        </p:txBody>
      </p:sp>
      <p:sp>
        <p:nvSpPr>
          <p:cNvPr id="17" name="Shape 15"/>
          <p:cNvSpPr/>
          <p:nvPr/>
        </p:nvSpPr>
        <p:spPr>
          <a:xfrm>
            <a:off x="5532120" y="2395728"/>
            <a:ext cx="777240" cy="548640"/>
          </a:xfrm>
          <a:prstGeom prst="rect">
            <a:avLst/>
          </a:prstGeom>
          <a:solidFill>
            <a:srgbClr val="FFF3D6"/>
          </a:solidFill>
          <a:ln w="9525">
            <a:solidFill>
              <a:srgbClr val="DADDE2"/>
            </a:solidFill>
            <a:prstDash val="solid"/>
          </a:ln>
        </p:spPr>
      </p:sp>
      <p:sp>
        <p:nvSpPr>
          <p:cNvPr id="18" name="Text 16"/>
          <p:cNvSpPr txBox="1"/>
          <p:nvPr/>
        </p:nvSpPr>
        <p:spPr>
          <a:xfrm>
            <a:off x="5532120" y="2395728"/>
            <a:ext cx="777240" cy="548640"/>
          </a:xfrm>
          <a:prstGeom prst="rect">
            <a:avLst/>
          </a:prstGeom>
          <a:noFill/>
          <a:ln/>
        </p:spPr>
        <p:txBody>
          <a:bodyPr wrap="square" lIns="0" tIns="0" rIns="0" bIns="0" rtlCol="0" anchor="ctr"/>
          <a:lstStyle/>
          <a:p>
            <a:pPr algn="ctr" indent="0" marL="0">
              <a:buNone/>
            </a:pPr>
            <a:r>
              <a:rPr lang="en-US" sz="1400" dirty="0">
                <a:solidFill>
                  <a:srgbClr val="B45309"/>
                </a:solidFill>
                <a:latin typeface="Century Gothic" pitchFamily="34" charset="0"/>
                <a:ea typeface="Century Gothic" pitchFamily="34" charset="-122"/>
                <a:cs typeface="Century Gothic" pitchFamily="34" charset="-120"/>
              </a:rPr>
              <a:t>2</a:t>
            </a:r>
            <a:endParaRPr lang="en-US" sz="1400" dirty="0"/>
          </a:p>
        </p:txBody>
      </p:sp>
      <p:sp>
        <p:nvSpPr>
          <p:cNvPr id="19" name="Text 17"/>
          <p:cNvSpPr txBox="1"/>
          <p:nvPr/>
        </p:nvSpPr>
        <p:spPr>
          <a:xfrm>
            <a:off x="5532120"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n=4</a:t>
            </a:r>
            <a:endParaRPr lang="en-US" sz="1000" dirty="0"/>
          </a:p>
        </p:txBody>
      </p:sp>
      <p:sp>
        <p:nvSpPr>
          <p:cNvPr id="20" name="Shape 18"/>
          <p:cNvSpPr/>
          <p:nvPr/>
        </p:nvSpPr>
        <p:spPr>
          <a:xfrm>
            <a:off x="6382512" y="2395728"/>
            <a:ext cx="777240" cy="548640"/>
          </a:xfrm>
          <a:prstGeom prst="rect">
            <a:avLst/>
          </a:prstGeom>
          <a:solidFill>
            <a:srgbClr val="FFFFFF"/>
          </a:solidFill>
          <a:ln w="9525">
            <a:solidFill>
              <a:srgbClr val="DADDE2"/>
            </a:solidFill>
            <a:prstDash val="solid"/>
          </a:ln>
        </p:spPr>
      </p:sp>
      <p:sp>
        <p:nvSpPr>
          <p:cNvPr id="21" name="Text 19"/>
          <p:cNvSpPr txBox="1"/>
          <p:nvPr/>
        </p:nvSpPr>
        <p:spPr>
          <a:xfrm>
            <a:off x="6382512"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3</a:t>
            </a:r>
            <a:endParaRPr lang="en-US" sz="1400" dirty="0"/>
          </a:p>
        </p:txBody>
      </p:sp>
      <p:sp>
        <p:nvSpPr>
          <p:cNvPr id="22" name="Text 20"/>
          <p:cNvSpPr txBox="1"/>
          <p:nvPr/>
        </p:nvSpPr>
        <p:spPr>
          <a:xfrm>
            <a:off x="638251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n=5</a:t>
            </a:r>
            <a:endParaRPr lang="en-US" sz="1000" dirty="0"/>
          </a:p>
        </p:txBody>
      </p:sp>
      <p:sp>
        <p:nvSpPr>
          <p:cNvPr id="23" name="Shape 21"/>
          <p:cNvSpPr/>
          <p:nvPr/>
        </p:nvSpPr>
        <p:spPr>
          <a:xfrm>
            <a:off x="7232904" y="2395728"/>
            <a:ext cx="777240" cy="548640"/>
          </a:xfrm>
          <a:prstGeom prst="rect">
            <a:avLst/>
          </a:prstGeom>
          <a:solidFill>
            <a:srgbClr val="FFFFFF"/>
          </a:solidFill>
          <a:ln w="9525">
            <a:solidFill>
              <a:srgbClr val="DADDE2"/>
            </a:solidFill>
            <a:prstDash val="solid"/>
          </a:ln>
        </p:spPr>
      </p:sp>
      <p:sp>
        <p:nvSpPr>
          <p:cNvPr id="24" name="Text 22"/>
          <p:cNvSpPr txBox="1"/>
          <p:nvPr/>
        </p:nvSpPr>
        <p:spPr>
          <a:xfrm>
            <a:off x="7232904"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2</a:t>
            </a:r>
            <a:endParaRPr lang="en-US" sz="1400" dirty="0"/>
          </a:p>
        </p:txBody>
      </p:sp>
      <p:sp>
        <p:nvSpPr>
          <p:cNvPr id="25" name="Text 23"/>
          <p:cNvSpPr txBox="1"/>
          <p:nvPr/>
        </p:nvSpPr>
        <p:spPr>
          <a:xfrm>
            <a:off x="7232904"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n=6</a:t>
            </a:r>
            <a:endParaRPr lang="en-US" sz="1000" dirty="0"/>
          </a:p>
        </p:txBody>
      </p:sp>
      <p:sp>
        <p:nvSpPr>
          <p:cNvPr id="26" name="Shape 24"/>
          <p:cNvSpPr/>
          <p:nvPr/>
        </p:nvSpPr>
        <p:spPr>
          <a:xfrm>
            <a:off x="8083296" y="2395728"/>
            <a:ext cx="777240" cy="548640"/>
          </a:xfrm>
          <a:prstGeom prst="rect">
            <a:avLst/>
          </a:prstGeom>
          <a:solidFill>
            <a:srgbClr val="FFFFFF"/>
          </a:solidFill>
          <a:ln w="9525">
            <a:solidFill>
              <a:srgbClr val="DADDE2"/>
            </a:solidFill>
            <a:prstDash val="solid"/>
          </a:ln>
        </p:spPr>
      </p:sp>
      <p:sp>
        <p:nvSpPr>
          <p:cNvPr id="27" name="Text 25"/>
          <p:cNvSpPr txBox="1"/>
          <p:nvPr/>
        </p:nvSpPr>
        <p:spPr>
          <a:xfrm>
            <a:off x="8083296"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28" name="Text 26"/>
          <p:cNvSpPr txBox="1"/>
          <p:nvPr/>
        </p:nvSpPr>
        <p:spPr>
          <a:xfrm>
            <a:off x="8083296"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n=7</a:t>
            </a:r>
            <a:endParaRPr lang="en-US" sz="1000" dirty="0"/>
          </a:p>
        </p:txBody>
      </p:sp>
      <p:sp>
        <p:nvSpPr>
          <p:cNvPr id="29" name="Shape 27"/>
          <p:cNvSpPr/>
          <p:nvPr/>
        </p:nvSpPr>
        <p:spPr>
          <a:xfrm>
            <a:off x="8933688" y="2395728"/>
            <a:ext cx="777240" cy="548640"/>
          </a:xfrm>
          <a:prstGeom prst="rect">
            <a:avLst/>
          </a:prstGeom>
          <a:solidFill>
            <a:srgbClr val="FFFFFF"/>
          </a:solidFill>
          <a:ln w="9525">
            <a:solidFill>
              <a:srgbClr val="DADDE2"/>
            </a:solidFill>
            <a:prstDash val="solid"/>
          </a:ln>
        </p:spPr>
      </p:sp>
      <p:sp>
        <p:nvSpPr>
          <p:cNvPr id="30" name="Text 28"/>
          <p:cNvSpPr txBox="1"/>
          <p:nvPr/>
        </p:nvSpPr>
        <p:spPr>
          <a:xfrm>
            <a:off x="8933688"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31" name="Text 29"/>
          <p:cNvSpPr txBox="1"/>
          <p:nvPr/>
        </p:nvSpPr>
        <p:spPr>
          <a:xfrm>
            <a:off x="8933688"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n=8</a:t>
            </a:r>
            <a:endParaRPr lang="en-US" sz="1000" dirty="0"/>
          </a:p>
        </p:txBody>
      </p:sp>
      <p:sp>
        <p:nvSpPr>
          <p:cNvPr id="32" name="Shape 30"/>
          <p:cNvSpPr/>
          <p:nvPr/>
        </p:nvSpPr>
        <p:spPr>
          <a:xfrm>
            <a:off x="9784080" y="2395728"/>
            <a:ext cx="777240" cy="548640"/>
          </a:xfrm>
          <a:prstGeom prst="rect">
            <a:avLst/>
          </a:prstGeom>
          <a:solidFill>
            <a:srgbClr val="FFFFFF"/>
          </a:solidFill>
          <a:ln w="9525">
            <a:solidFill>
              <a:srgbClr val="DADDE2"/>
            </a:solidFill>
            <a:prstDash val="solid"/>
          </a:ln>
        </p:spPr>
      </p:sp>
      <p:sp>
        <p:nvSpPr>
          <p:cNvPr id="33" name="Text 31"/>
          <p:cNvSpPr txBox="1"/>
          <p:nvPr/>
        </p:nvSpPr>
        <p:spPr>
          <a:xfrm>
            <a:off x="9784080"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34" name="Text 32"/>
          <p:cNvSpPr txBox="1"/>
          <p:nvPr/>
        </p:nvSpPr>
        <p:spPr>
          <a:xfrm>
            <a:off x="9784080"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n=9</a:t>
            </a:r>
            <a:endParaRPr lang="en-US" sz="1000" dirty="0"/>
          </a:p>
        </p:txBody>
      </p:sp>
      <p:sp>
        <p:nvSpPr>
          <p:cNvPr id="35" name="Shape 33"/>
          <p:cNvSpPr/>
          <p:nvPr/>
        </p:nvSpPr>
        <p:spPr>
          <a:xfrm>
            <a:off x="10634472" y="2395728"/>
            <a:ext cx="777240" cy="548640"/>
          </a:xfrm>
          <a:prstGeom prst="rect">
            <a:avLst/>
          </a:prstGeom>
          <a:solidFill>
            <a:srgbClr val="FFFFFF"/>
          </a:solidFill>
          <a:ln w="9525">
            <a:solidFill>
              <a:srgbClr val="DADDE2"/>
            </a:solidFill>
            <a:prstDash val="solid"/>
          </a:ln>
        </p:spPr>
      </p:sp>
      <p:sp>
        <p:nvSpPr>
          <p:cNvPr id="36" name="Text 34"/>
          <p:cNvSpPr txBox="1"/>
          <p:nvPr/>
        </p:nvSpPr>
        <p:spPr>
          <a:xfrm>
            <a:off x="10634472"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37" name="Text 35"/>
          <p:cNvSpPr txBox="1"/>
          <p:nvPr/>
        </p:nvSpPr>
        <p:spPr>
          <a:xfrm>
            <a:off x="1063447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n=10</a:t>
            </a:r>
            <a:endParaRPr lang="en-US" sz="1000" dirty="0"/>
          </a:p>
        </p:txBody>
      </p:sp>
      <p:sp>
        <p:nvSpPr>
          <p:cNvPr id="38" name="Shape 36"/>
          <p:cNvSpPr/>
          <p:nvPr/>
        </p:nvSpPr>
        <p:spPr>
          <a:xfrm>
            <a:off x="667512" y="3511296"/>
            <a:ext cx="10853928" cy="914400"/>
          </a:xfrm>
          <a:prstGeom prst="rect">
            <a:avLst/>
          </a:prstGeom>
          <a:solidFill>
            <a:srgbClr val="FAFAFA"/>
          </a:solidFill>
          <a:ln/>
        </p:spPr>
      </p:sp>
      <p:sp>
        <p:nvSpPr>
          <p:cNvPr id="39" name="Text 37"/>
          <p:cNvSpPr txBox="1"/>
          <p:nvPr/>
        </p:nvSpPr>
        <p:spPr>
          <a:xfrm>
            <a:off x="941832" y="3602736"/>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g(4) = mex{g(3), g(1), g(0)} = mex{1, 1, 0} = 2        g(5) = mex{2, 0, 1} = 3</a:t>
            </a:r>
            <a:endParaRPr lang="en-US" sz="1300" dirty="0"/>
          </a:p>
        </p:txBody>
      </p:sp>
      <p:sp>
        <p:nvSpPr>
          <p:cNvPr id="40" name="Text 38"/>
          <p:cNvSpPr txBox="1"/>
          <p:nvPr/>
        </p:nvSpPr>
        <p:spPr>
          <a:xfrm>
            <a:off x="941832" y="3950208"/>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Nilai grundy 2 berarti posisi ini setara dengan satu tumpukan Nim berisi dua batu — walaupun aturan permainannya sama sekali berbeda dari Nim.</a:t>
            </a:r>
            <a:endParaRPr lang="en-US" sz="1200" dirty="0"/>
          </a:p>
        </p:txBody>
      </p:sp>
      <p:sp>
        <p:nvSpPr>
          <p:cNvPr id="41" name="Shape 39"/>
          <p:cNvSpPr/>
          <p:nvPr/>
        </p:nvSpPr>
        <p:spPr>
          <a:xfrm>
            <a:off x="9692640" y="1737360"/>
            <a:ext cx="1828800" cy="384048"/>
          </a:xfrm>
          <a:prstGeom prst="rect">
            <a:avLst/>
          </a:prstGeom>
          <a:solidFill>
            <a:srgbClr val="F2F7FD"/>
          </a:solidFill>
          <a:ln/>
        </p:spPr>
      </p:sp>
      <p:sp>
        <p:nvSpPr>
          <p:cNvPr id="42" name="Text 40"/>
          <p:cNvSpPr txBox="1"/>
          <p:nvPr/>
        </p:nvSpPr>
        <p:spPr>
          <a:xfrm>
            <a:off x="9692640" y="1737360"/>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2 / 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3 — Polanya Berulang</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Mulai dari n = 7 barisannya mengulang dirinya sendiri. Periodenya tujuh.</a:t>
            </a:r>
            <a:endParaRPr lang="en-US" sz="1300" dirty="0"/>
          </a:p>
        </p:txBody>
      </p:sp>
      <p:sp>
        <p:nvSpPr>
          <p:cNvPr id="4" name="Text 2"/>
          <p:cNvSpPr txBox="1"/>
          <p:nvPr/>
        </p:nvSpPr>
        <p:spPr>
          <a:xfrm>
            <a:off x="667512" y="2542032"/>
            <a:ext cx="1463040" cy="256032"/>
          </a:xfrm>
          <a:prstGeom prst="rect">
            <a:avLst/>
          </a:prstGeom>
          <a:noFill/>
          <a:ln/>
        </p:spPr>
        <p:txBody>
          <a:bodyPr wrap="square" lIns="0" tIns="0" rIns="0" bIns="0" rtlCol="0" anchor="ctr"/>
          <a:lstStyle/>
          <a:p>
            <a:pPr algn="l" indent="0" marL="0">
              <a:buNone/>
            </a:pPr>
            <a:r>
              <a:rPr lang="en-US" sz="1250" dirty="0">
                <a:solidFill>
                  <a:srgbClr val="2B2B2B"/>
                </a:solidFill>
                <a:latin typeface="Century Gothic" pitchFamily="34" charset="0"/>
                <a:ea typeface="Century Gothic" pitchFamily="34" charset="-122"/>
                <a:cs typeface="Century Gothic" pitchFamily="34" charset="-120"/>
              </a:rPr>
              <a:t>grundy</a:t>
            </a:r>
            <a:endParaRPr lang="en-US" sz="1250" dirty="0"/>
          </a:p>
        </p:txBody>
      </p:sp>
      <p:sp>
        <p:nvSpPr>
          <p:cNvPr id="5" name="Shape 3"/>
          <p:cNvSpPr/>
          <p:nvPr/>
        </p:nvSpPr>
        <p:spPr>
          <a:xfrm>
            <a:off x="2130552" y="2395728"/>
            <a:ext cx="777240" cy="548640"/>
          </a:xfrm>
          <a:prstGeom prst="rect">
            <a:avLst/>
          </a:prstGeom>
          <a:solidFill>
            <a:srgbClr val="E6F2FC"/>
          </a:solidFill>
          <a:ln w="9525">
            <a:solidFill>
              <a:srgbClr val="DADDE2"/>
            </a:solidFill>
            <a:prstDash val="solid"/>
          </a:ln>
        </p:spPr>
      </p:sp>
      <p:sp>
        <p:nvSpPr>
          <p:cNvPr id="6" name="Text 4"/>
          <p:cNvSpPr txBox="1"/>
          <p:nvPr/>
        </p:nvSpPr>
        <p:spPr>
          <a:xfrm>
            <a:off x="2130552"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0</a:t>
            </a:r>
            <a:endParaRPr lang="en-US" sz="1400" dirty="0"/>
          </a:p>
        </p:txBody>
      </p:sp>
      <p:sp>
        <p:nvSpPr>
          <p:cNvPr id="7" name="Text 5"/>
          <p:cNvSpPr txBox="1"/>
          <p:nvPr/>
        </p:nvSpPr>
        <p:spPr>
          <a:xfrm>
            <a:off x="213055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n=0</a:t>
            </a:r>
            <a:endParaRPr lang="en-US" sz="1000" dirty="0"/>
          </a:p>
        </p:txBody>
      </p:sp>
      <p:sp>
        <p:nvSpPr>
          <p:cNvPr id="8" name="Shape 6"/>
          <p:cNvSpPr/>
          <p:nvPr/>
        </p:nvSpPr>
        <p:spPr>
          <a:xfrm>
            <a:off x="2980944" y="2395728"/>
            <a:ext cx="777240" cy="548640"/>
          </a:xfrm>
          <a:prstGeom prst="rect">
            <a:avLst/>
          </a:prstGeom>
          <a:solidFill>
            <a:srgbClr val="E6F2FC"/>
          </a:solidFill>
          <a:ln w="9525">
            <a:solidFill>
              <a:srgbClr val="DADDE2"/>
            </a:solidFill>
            <a:prstDash val="solid"/>
          </a:ln>
        </p:spPr>
      </p:sp>
      <p:sp>
        <p:nvSpPr>
          <p:cNvPr id="9" name="Text 7"/>
          <p:cNvSpPr txBox="1"/>
          <p:nvPr/>
        </p:nvSpPr>
        <p:spPr>
          <a:xfrm>
            <a:off x="2980944"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1</a:t>
            </a:r>
            <a:endParaRPr lang="en-US" sz="1400" dirty="0"/>
          </a:p>
        </p:txBody>
      </p:sp>
      <p:sp>
        <p:nvSpPr>
          <p:cNvPr id="10" name="Text 8"/>
          <p:cNvSpPr txBox="1"/>
          <p:nvPr/>
        </p:nvSpPr>
        <p:spPr>
          <a:xfrm>
            <a:off x="2980944"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n=1</a:t>
            </a:r>
            <a:endParaRPr lang="en-US" sz="1000" dirty="0"/>
          </a:p>
        </p:txBody>
      </p:sp>
      <p:sp>
        <p:nvSpPr>
          <p:cNvPr id="11" name="Shape 9"/>
          <p:cNvSpPr/>
          <p:nvPr/>
        </p:nvSpPr>
        <p:spPr>
          <a:xfrm>
            <a:off x="3831336" y="2395728"/>
            <a:ext cx="777240" cy="548640"/>
          </a:xfrm>
          <a:prstGeom prst="rect">
            <a:avLst/>
          </a:prstGeom>
          <a:solidFill>
            <a:srgbClr val="E6F2FC"/>
          </a:solidFill>
          <a:ln w="9525">
            <a:solidFill>
              <a:srgbClr val="DADDE2"/>
            </a:solidFill>
            <a:prstDash val="solid"/>
          </a:ln>
        </p:spPr>
      </p:sp>
      <p:sp>
        <p:nvSpPr>
          <p:cNvPr id="12" name="Text 10"/>
          <p:cNvSpPr txBox="1"/>
          <p:nvPr/>
        </p:nvSpPr>
        <p:spPr>
          <a:xfrm>
            <a:off x="3831336"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0</a:t>
            </a:r>
            <a:endParaRPr lang="en-US" sz="1400" dirty="0"/>
          </a:p>
        </p:txBody>
      </p:sp>
      <p:sp>
        <p:nvSpPr>
          <p:cNvPr id="13" name="Text 11"/>
          <p:cNvSpPr txBox="1"/>
          <p:nvPr/>
        </p:nvSpPr>
        <p:spPr>
          <a:xfrm>
            <a:off x="3831336"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n=2</a:t>
            </a:r>
            <a:endParaRPr lang="en-US" sz="1000" dirty="0"/>
          </a:p>
        </p:txBody>
      </p:sp>
      <p:sp>
        <p:nvSpPr>
          <p:cNvPr id="14" name="Shape 12"/>
          <p:cNvSpPr/>
          <p:nvPr/>
        </p:nvSpPr>
        <p:spPr>
          <a:xfrm>
            <a:off x="4681728" y="2395728"/>
            <a:ext cx="777240" cy="548640"/>
          </a:xfrm>
          <a:prstGeom prst="rect">
            <a:avLst/>
          </a:prstGeom>
          <a:solidFill>
            <a:srgbClr val="E6F2FC"/>
          </a:solidFill>
          <a:ln w="9525">
            <a:solidFill>
              <a:srgbClr val="DADDE2"/>
            </a:solidFill>
            <a:prstDash val="solid"/>
          </a:ln>
        </p:spPr>
      </p:sp>
      <p:sp>
        <p:nvSpPr>
          <p:cNvPr id="15" name="Text 13"/>
          <p:cNvSpPr txBox="1"/>
          <p:nvPr/>
        </p:nvSpPr>
        <p:spPr>
          <a:xfrm>
            <a:off x="4681728"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1</a:t>
            </a:r>
            <a:endParaRPr lang="en-US" sz="1400" dirty="0"/>
          </a:p>
        </p:txBody>
      </p:sp>
      <p:sp>
        <p:nvSpPr>
          <p:cNvPr id="16" name="Text 14"/>
          <p:cNvSpPr txBox="1"/>
          <p:nvPr/>
        </p:nvSpPr>
        <p:spPr>
          <a:xfrm>
            <a:off x="4681728"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n=3</a:t>
            </a:r>
            <a:endParaRPr lang="en-US" sz="1000" dirty="0"/>
          </a:p>
        </p:txBody>
      </p:sp>
      <p:sp>
        <p:nvSpPr>
          <p:cNvPr id="17" name="Shape 15"/>
          <p:cNvSpPr/>
          <p:nvPr/>
        </p:nvSpPr>
        <p:spPr>
          <a:xfrm>
            <a:off x="5532120" y="2395728"/>
            <a:ext cx="777240" cy="548640"/>
          </a:xfrm>
          <a:prstGeom prst="rect">
            <a:avLst/>
          </a:prstGeom>
          <a:solidFill>
            <a:srgbClr val="FFFFFF"/>
          </a:solidFill>
          <a:ln w="9525">
            <a:solidFill>
              <a:srgbClr val="DADDE2"/>
            </a:solidFill>
            <a:prstDash val="solid"/>
          </a:ln>
        </p:spPr>
      </p:sp>
      <p:sp>
        <p:nvSpPr>
          <p:cNvPr id="18" name="Text 16"/>
          <p:cNvSpPr txBox="1"/>
          <p:nvPr/>
        </p:nvSpPr>
        <p:spPr>
          <a:xfrm>
            <a:off x="5532120"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2</a:t>
            </a:r>
            <a:endParaRPr lang="en-US" sz="1400" dirty="0"/>
          </a:p>
        </p:txBody>
      </p:sp>
      <p:sp>
        <p:nvSpPr>
          <p:cNvPr id="19" name="Text 17"/>
          <p:cNvSpPr txBox="1"/>
          <p:nvPr/>
        </p:nvSpPr>
        <p:spPr>
          <a:xfrm>
            <a:off x="5532120"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n=4</a:t>
            </a:r>
            <a:endParaRPr lang="en-US" sz="1000" dirty="0"/>
          </a:p>
        </p:txBody>
      </p:sp>
      <p:sp>
        <p:nvSpPr>
          <p:cNvPr id="20" name="Shape 18"/>
          <p:cNvSpPr/>
          <p:nvPr/>
        </p:nvSpPr>
        <p:spPr>
          <a:xfrm>
            <a:off x="6382512" y="2395728"/>
            <a:ext cx="777240" cy="548640"/>
          </a:xfrm>
          <a:prstGeom prst="rect">
            <a:avLst/>
          </a:prstGeom>
          <a:solidFill>
            <a:srgbClr val="FFFFFF"/>
          </a:solidFill>
          <a:ln w="9525">
            <a:solidFill>
              <a:srgbClr val="DADDE2"/>
            </a:solidFill>
            <a:prstDash val="solid"/>
          </a:ln>
        </p:spPr>
      </p:sp>
      <p:sp>
        <p:nvSpPr>
          <p:cNvPr id="21" name="Text 19"/>
          <p:cNvSpPr txBox="1"/>
          <p:nvPr/>
        </p:nvSpPr>
        <p:spPr>
          <a:xfrm>
            <a:off x="6382512"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3</a:t>
            </a:r>
            <a:endParaRPr lang="en-US" sz="1400" dirty="0"/>
          </a:p>
        </p:txBody>
      </p:sp>
      <p:sp>
        <p:nvSpPr>
          <p:cNvPr id="22" name="Text 20"/>
          <p:cNvSpPr txBox="1"/>
          <p:nvPr/>
        </p:nvSpPr>
        <p:spPr>
          <a:xfrm>
            <a:off x="638251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n=5</a:t>
            </a:r>
            <a:endParaRPr lang="en-US" sz="1000" dirty="0"/>
          </a:p>
        </p:txBody>
      </p:sp>
      <p:sp>
        <p:nvSpPr>
          <p:cNvPr id="23" name="Shape 21"/>
          <p:cNvSpPr/>
          <p:nvPr/>
        </p:nvSpPr>
        <p:spPr>
          <a:xfrm>
            <a:off x="7232904" y="2395728"/>
            <a:ext cx="777240" cy="548640"/>
          </a:xfrm>
          <a:prstGeom prst="rect">
            <a:avLst/>
          </a:prstGeom>
          <a:solidFill>
            <a:srgbClr val="FFFFFF"/>
          </a:solidFill>
          <a:ln w="9525">
            <a:solidFill>
              <a:srgbClr val="DADDE2"/>
            </a:solidFill>
            <a:prstDash val="solid"/>
          </a:ln>
        </p:spPr>
      </p:sp>
      <p:sp>
        <p:nvSpPr>
          <p:cNvPr id="24" name="Text 22"/>
          <p:cNvSpPr txBox="1"/>
          <p:nvPr/>
        </p:nvSpPr>
        <p:spPr>
          <a:xfrm>
            <a:off x="7232904"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2</a:t>
            </a:r>
            <a:endParaRPr lang="en-US" sz="1400" dirty="0"/>
          </a:p>
        </p:txBody>
      </p:sp>
      <p:sp>
        <p:nvSpPr>
          <p:cNvPr id="25" name="Text 23"/>
          <p:cNvSpPr txBox="1"/>
          <p:nvPr/>
        </p:nvSpPr>
        <p:spPr>
          <a:xfrm>
            <a:off x="7232904"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n=6</a:t>
            </a:r>
            <a:endParaRPr lang="en-US" sz="1000" dirty="0"/>
          </a:p>
        </p:txBody>
      </p:sp>
      <p:sp>
        <p:nvSpPr>
          <p:cNvPr id="26" name="Shape 24"/>
          <p:cNvSpPr/>
          <p:nvPr/>
        </p:nvSpPr>
        <p:spPr>
          <a:xfrm>
            <a:off x="8083296" y="2395728"/>
            <a:ext cx="777240" cy="548640"/>
          </a:xfrm>
          <a:prstGeom prst="rect">
            <a:avLst/>
          </a:prstGeom>
          <a:solidFill>
            <a:srgbClr val="FFF3D6"/>
          </a:solidFill>
          <a:ln w="9525">
            <a:solidFill>
              <a:srgbClr val="DADDE2"/>
            </a:solidFill>
            <a:prstDash val="solid"/>
          </a:ln>
        </p:spPr>
      </p:sp>
      <p:sp>
        <p:nvSpPr>
          <p:cNvPr id="27" name="Text 25"/>
          <p:cNvSpPr txBox="1"/>
          <p:nvPr/>
        </p:nvSpPr>
        <p:spPr>
          <a:xfrm>
            <a:off x="8083296" y="2395728"/>
            <a:ext cx="777240" cy="548640"/>
          </a:xfrm>
          <a:prstGeom prst="rect">
            <a:avLst/>
          </a:prstGeom>
          <a:noFill/>
          <a:ln/>
        </p:spPr>
        <p:txBody>
          <a:bodyPr wrap="square" lIns="0" tIns="0" rIns="0" bIns="0" rtlCol="0" anchor="ctr"/>
          <a:lstStyle/>
          <a:p>
            <a:pPr algn="ctr" indent="0" marL="0">
              <a:buNone/>
            </a:pPr>
            <a:r>
              <a:rPr lang="en-US" sz="1400" dirty="0">
                <a:solidFill>
                  <a:srgbClr val="B45309"/>
                </a:solidFill>
                <a:latin typeface="Century Gothic" pitchFamily="34" charset="0"/>
                <a:ea typeface="Century Gothic" pitchFamily="34" charset="-122"/>
                <a:cs typeface="Century Gothic" pitchFamily="34" charset="-120"/>
              </a:rPr>
              <a:t>0</a:t>
            </a:r>
            <a:endParaRPr lang="en-US" sz="1400" dirty="0"/>
          </a:p>
        </p:txBody>
      </p:sp>
      <p:sp>
        <p:nvSpPr>
          <p:cNvPr id="28" name="Text 26"/>
          <p:cNvSpPr txBox="1"/>
          <p:nvPr/>
        </p:nvSpPr>
        <p:spPr>
          <a:xfrm>
            <a:off x="8083296"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n=7</a:t>
            </a:r>
            <a:endParaRPr lang="en-US" sz="1000" dirty="0"/>
          </a:p>
        </p:txBody>
      </p:sp>
      <p:sp>
        <p:nvSpPr>
          <p:cNvPr id="29" name="Shape 27"/>
          <p:cNvSpPr/>
          <p:nvPr/>
        </p:nvSpPr>
        <p:spPr>
          <a:xfrm>
            <a:off x="8933688" y="2395728"/>
            <a:ext cx="777240" cy="548640"/>
          </a:xfrm>
          <a:prstGeom prst="rect">
            <a:avLst/>
          </a:prstGeom>
          <a:solidFill>
            <a:srgbClr val="FFFFFF"/>
          </a:solidFill>
          <a:ln w="9525">
            <a:solidFill>
              <a:srgbClr val="DADDE2"/>
            </a:solidFill>
            <a:prstDash val="solid"/>
          </a:ln>
        </p:spPr>
      </p:sp>
      <p:sp>
        <p:nvSpPr>
          <p:cNvPr id="30" name="Text 28"/>
          <p:cNvSpPr txBox="1"/>
          <p:nvPr/>
        </p:nvSpPr>
        <p:spPr>
          <a:xfrm>
            <a:off x="8933688"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1</a:t>
            </a:r>
            <a:endParaRPr lang="en-US" sz="1400" dirty="0"/>
          </a:p>
        </p:txBody>
      </p:sp>
      <p:sp>
        <p:nvSpPr>
          <p:cNvPr id="31" name="Text 29"/>
          <p:cNvSpPr txBox="1"/>
          <p:nvPr/>
        </p:nvSpPr>
        <p:spPr>
          <a:xfrm>
            <a:off x="8933688"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n=8</a:t>
            </a:r>
            <a:endParaRPr lang="en-US" sz="1000" dirty="0"/>
          </a:p>
        </p:txBody>
      </p:sp>
      <p:sp>
        <p:nvSpPr>
          <p:cNvPr id="32" name="Shape 30"/>
          <p:cNvSpPr/>
          <p:nvPr/>
        </p:nvSpPr>
        <p:spPr>
          <a:xfrm>
            <a:off x="9784080" y="2395728"/>
            <a:ext cx="777240" cy="548640"/>
          </a:xfrm>
          <a:prstGeom prst="rect">
            <a:avLst/>
          </a:prstGeom>
          <a:solidFill>
            <a:srgbClr val="FFFFFF"/>
          </a:solidFill>
          <a:ln w="9525">
            <a:solidFill>
              <a:srgbClr val="DADDE2"/>
            </a:solidFill>
            <a:prstDash val="solid"/>
          </a:ln>
        </p:spPr>
      </p:sp>
      <p:sp>
        <p:nvSpPr>
          <p:cNvPr id="33" name="Text 31"/>
          <p:cNvSpPr txBox="1"/>
          <p:nvPr/>
        </p:nvSpPr>
        <p:spPr>
          <a:xfrm>
            <a:off x="9784080"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0</a:t>
            </a:r>
            <a:endParaRPr lang="en-US" sz="1400" dirty="0"/>
          </a:p>
        </p:txBody>
      </p:sp>
      <p:sp>
        <p:nvSpPr>
          <p:cNvPr id="34" name="Text 32"/>
          <p:cNvSpPr txBox="1"/>
          <p:nvPr/>
        </p:nvSpPr>
        <p:spPr>
          <a:xfrm>
            <a:off x="9784080"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n=9</a:t>
            </a:r>
            <a:endParaRPr lang="en-US" sz="1000" dirty="0"/>
          </a:p>
        </p:txBody>
      </p:sp>
      <p:sp>
        <p:nvSpPr>
          <p:cNvPr id="35" name="Shape 33"/>
          <p:cNvSpPr/>
          <p:nvPr/>
        </p:nvSpPr>
        <p:spPr>
          <a:xfrm>
            <a:off x="10634472" y="2395728"/>
            <a:ext cx="777240" cy="548640"/>
          </a:xfrm>
          <a:prstGeom prst="rect">
            <a:avLst/>
          </a:prstGeom>
          <a:solidFill>
            <a:srgbClr val="FFFFFF"/>
          </a:solidFill>
          <a:ln w="9525">
            <a:solidFill>
              <a:srgbClr val="DADDE2"/>
            </a:solidFill>
            <a:prstDash val="solid"/>
          </a:ln>
        </p:spPr>
      </p:sp>
      <p:sp>
        <p:nvSpPr>
          <p:cNvPr id="36" name="Text 34"/>
          <p:cNvSpPr txBox="1"/>
          <p:nvPr/>
        </p:nvSpPr>
        <p:spPr>
          <a:xfrm>
            <a:off x="10634472"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1</a:t>
            </a:r>
            <a:endParaRPr lang="en-US" sz="1400" dirty="0"/>
          </a:p>
        </p:txBody>
      </p:sp>
      <p:sp>
        <p:nvSpPr>
          <p:cNvPr id="37" name="Text 35"/>
          <p:cNvSpPr txBox="1"/>
          <p:nvPr/>
        </p:nvSpPr>
        <p:spPr>
          <a:xfrm>
            <a:off x="1063447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n=10</a:t>
            </a:r>
            <a:endParaRPr lang="en-US" sz="1000" dirty="0"/>
          </a:p>
        </p:txBody>
      </p:sp>
      <p:sp>
        <p:nvSpPr>
          <p:cNvPr id="38" name="Shape 36"/>
          <p:cNvSpPr/>
          <p:nvPr/>
        </p:nvSpPr>
        <p:spPr>
          <a:xfrm>
            <a:off x="667512" y="3511296"/>
            <a:ext cx="10853928" cy="914400"/>
          </a:xfrm>
          <a:prstGeom prst="rect">
            <a:avLst/>
          </a:prstGeom>
          <a:solidFill>
            <a:srgbClr val="FAFAFA"/>
          </a:solidFill>
          <a:ln/>
        </p:spPr>
      </p:sp>
      <p:sp>
        <p:nvSpPr>
          <p:cNvPr id="39" name="Text 37"/>
          <p:cNvSpPr txBox="1"/>
          <p:nvPr/>
        </p:nvSpPr>
        <p:spPr>
          <a:xfrm>
            <a:off x="941832" y="3602736"/>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0 1 0 1 2 3 2 | 0 1 0 1 ...        periode 7        posisi KALAH: n mod 7 = 0 atau 2</a:t>
            </a:r>
            <a:endParaRPr lang="en-US" sz="1300" dirty="0"/>
          </a:p>
        </p:txBody>
      </p:sp>
      <p:sp>
        <p:nvSpPr>
          <p:cNvPr id="40" name="Text 38"/>
          <p:cNvSpPr txBox="1"/>
          <p:nvPr/>
        </p:nvSpPr>
        <p:spPr>
          <a:xfrm>
            <a:off x="941832" y="3950208"/>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Setelah periodenya ditemukan, n sebesar apa pun bisa dijawab dengan satu operasi modulo. Mencari periode seperti ini hampir selalu perlu pada permainan pengurangan.</a:t>
            </a:r>
            <a:endParaRPr lang="en-US" sz="1200" dirty="0"/>
          </a:p>
        </p:txBody>
      </p:sp>
      <p:sp>
        <p:nvSpPr>
          <p:cNvPr id="41" name="Shape 39"/>
          <p:cNvSpPr/>
          <p:nvPr/>
        </p:nvSpPr>
        <p:spPr>
          <a:xfrm>
            <a:off x="9692640" y="1737360"/>
            <a:ext cx="1828800" cy="384048"/>
          </a:xfrm>
          <a:prstGeom prst="rect">
            <a:avLst/>
          </a:prstGeom>
          <a:solidFill>
            <a:srgbClr val="F2F7FD"/>
          </a:solidFill>
          <a:ln/>
        </p:spPr>
      </p:sp>
      <p:sp>
        <p:nvSpPr>
          <p:cNvPr id="42" name="Text 40"/>
          <p:cNvSpPr txBox="1"/>
          <p:nvPr/>
        </p:nvSpPr>
        <p:spPr>
          <a:xfrm>
            <a:off x="9692640" y="1737360"/>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3 / 3</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03</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Memakainya</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Dari satu permainan menjadi gabungan</a:t>
            </a:r>
            <a:endParaRPr lang="en-US" sz="1350" dirty="0"/>
          </a:p>
        </p:txBody>
      </p:sp>
      <p:sp>
        <p:nvSpPr>
          <p:cNvPr id="5" name="Shape 3"/>
          <p:cNvSpPr/>
          <p:nvPr/>
        </p:nvSpPr>
        <p:spPr>
          <a:xfrm>
            <a:off x="5815584" y="4251960"/>
            <a:ext cx="548640" cy="45720"/>
          </a:xfrm>
          <a:prstGeom prst="rect">
            <a:avLst/>
          </a:prstGeom>
          <a:solidFill>
            <a:srgbClr val="5B8DE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Menghitung Grundy dengan DP</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Loop mex di baris 21 dan 22 adalah seluruh perhitungannya; sisanya DP maju biasa.</a:t>
            </a:r>
            <a:endParaRPr lang="en-US" sz="1300" dirty="0"/>
          </a:p>
        </p:txBody>
      </p:sp>
      <p:pic>
        <p:nvPicPr>
          <p:cNvPr id="4" name="Image 0" descr="/tmp/ppt/imgs/c14_16_113.png">    </p:cNvPr>
          <p:cNvPicPr>
            <a:picLocks noChangeAspect="1"/>
          </p:cNvPicPr>
          <p:nvPr/>
        </p:nvPicPr>
        <p:blipFill>
          <a:blip r:embed="rId1"/>
          <a:stretch>
            <a:fillRect/>
          </a:stretch>
        </p:blipFill>
        <p:spPr>
          <a:xfrm>
            <a:off x="2314894" y="1755648"/>
            <a:ext cx="3014596" cy="4187952"/>
          </a:xfrm>
          <a:prstGeom prst="rect">
            <a:avLst/>
          </a:prstGeom>
        </p:spPr>
      </p:pic>
      <p:sp>
        <p:nvSpPr>
          <p:cNvPr id="5" name="Shape 2"/>
          <p:cNvSpPr/>
          <p:nvPr/>
        </p:nvSpPr>
        <p:spPr>
          <a:xfrm>
            <a:off x="7178040" y="1801368"/>
            <a:ext cx="310896" cy="310896"/>
          </a:xfrm>
          <a:prstGeom prst="ellipse">
            <a:avLst/>
          </a:prstGeom>
          <a:solidFill>
            <a:srgbClr val="4FA8E8"/>
          </a:solidFill>
          <a:ln/>
        </p:spPr>
      </p:sp>
      <p:sp>
        <p:nvSpPr>
          <p:cNvPr id="6" name="Text 3"/>
          <p:cNvSpPr txBox="1"/>
          <p:nvPr/>
        </p:nvSpPr>
        <p:spPr>
          <a:xfrm>
            <a:off x="7178040" y="1801368"/>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1</a:t>
            </a:r>
            <a:endParaRPr lang="en-US" sz="1100" dirty="0"/>
          </a:p>
        </p:txBody>
      </p:sp>
      <p:sp>
        <p:nvSpPr>
          <p:cNvPr id="7" name="Text 4"/>
          <p:cNvSpPr txBox="1"/>
          <p:nvPr/>
        </p:nvSpPr>
        <p:spPr>
          <a:xfrm>
            <a:off x="7607808" y="1746504"/>
            <a:ext cx="3931920" cy="76443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Posisi tanpa langkah bernilai nol. Ini satu-satunya nilai dasar yang perlu diisi manual.</a:t>
            </a:r>
            <a:endParaRPr lang="en-US" sz="1200" dirty="0"/>
          </a:p>
        </p:txBody>
      </p:sp>
      <p:sp>
        <p:nvSpPr>
          <p:cNvPr id="8" name="Shape 5"/>
          <p:cNvSpPr/>
          <p:nvPr/>
        </p:nvSpPr>
        <p:spPr>
          <a:xfrm>
            <a:off x="7178040" y="2620670"/>
            <a:ext cx="310896" cy="310896"/>
          </a:xfrm>
          <a:prstGeom prst="ellipse">
            <a:avLst/>
          </a:prstGeom>
          <a:solidFill>
            <a:srgbClr val="3ECF9E"/>
          </a:solidFill>
          <a:ln/>
        </p:spPr>
      </p:sp>
      <p:sp>
        <p:nvSpPr>
          <p:cNvPr id="9" name="Text 6"/>
          <p:cNvSpPr txBox="1"/>
          <p:nvPr/>
        </p:nvSpPr>
        <p:spPr>
          <a:xfrm>
            <a:off x="7178040" y="2620670"/>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2</a:t>
            </a:r>
            <a:endParaRPr lang="en-US" sz="1100" dirty="0"/>
          </a:p>
        </p:txBody>
      </p:sp>
      <p:sp>
        <p:nvSpPr>
          <p:cNvPr id="10" name="Text 7"/>
          <p:cNvSpPr txBox="1"/>
          <p:nvPr/>
        </p:nvSpPr>
        <p:spPr>
          <a:xfrm>
            <a:off x="7607808" y="2565806"/>
            <a:ext cx="3931920" cy="76443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Himpunan capai berisi nilai grundy seluruh posisi yang bisa dicapai dalam satu langkah.</a:t>
            </a:r>
            <a:endParaRPr lang="en-US" sz="1200" dirty="0"/>
          </a:p>
        </p:txBody>
      </p:sp>
      <p:sp>
        <p:nvSpPr>
          <p:cNvPr id="11" name="Shape 8"/>
          <p:cNvSpPr/>
          <p:nvPr/>
        </p:nvSpPr>
        <p:spPr>
          <a:xfrm>
            <a:off x="7178040" y="3439973"/>
            <a:ext cx="310896" cy="310896"/>
          </a:xfrm>
          <a:prstGeom prst="ellipse">
            <a:avLst/>
          </a:prstGeom>
          <a:solidFill>
            <a:srgbClr val="F5A623"/>
          </a:solidFill>
          <a:ln/>
        </p:spPr>
      </p:sp>
      <p:sp>
        <p:nvSpPr>
          <p:cNvPr id="12" name="Text 9"/>
          <p:cNvSpPr txBox="1"/>
          <p:nvPr/>
        </p:nvSpPr>
        <p:spPr>
          <a:xfrm>
            <a:off x="7178040" y="3439973"/>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3</a:t>
            </a:r>
            <a:endParaRPr lang="en-US" sz="1100" dirty="0"/>
          </a:p>
        </p:txBody>
      </p:sp>
      <p:sp>
        <p:nvSpPr>
          <p:cNvPr id="13" name="Text 10"/>
          <p:cNvSpPr txBox="1"/>
          <p:nvPr/>
        </p:nvSpPr>
        <p:spPr>
          <a:xfrm>
            <a:off x="7607808" y="3385109"/>
            <a:ext cx="3931920" cy="76443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mex dicari dengan menaikkan m sampai menemukan bilangan yang tidak ada di himpunan itu.</a:t>
            </a:r>
            <a:endParaRPr lang="en-US" sz="1200" dirty="0"/>
          </a:p>
        </p:txBody>
      </p:sp>
      <p:sp>
        <p:nvSpPr>
          <p:cNvPr id="14" name="Shape 11"/>
          <p:cNvSpPr/>
          <p:nvPr/>
        </p:nvSpPr>
        <p:spPr>
          <a:xfrm>
            <a:off x="7178040" y="4259275"/>
            <a:ext cx="310896" cy="310896"/>
          </a:xfrm>
          <a:prstGeom prst="ellipse">
            <a:avLst/>
          </a:prstGeom>
          <a:solidFill>
            <a:srgbClr val="A78BFA"/>
          </a:solidFill>
          <a:ln/>
        </p:spPr>
      </p:sp>
      <p:sp>
        <p:nvSpPr>
          <p:cNvPr id="15" name="Text 12"/>
          <p:cNvSpPr txBox="1"/>
          <p:nvPr/>
        </p:nvSpPr>
        <p:spPr>
          <a:xfrm>
            <a:off x="7178040" y="4259275"/>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4</a:t>
            </a:r>
            <a:endParaRPr lang="en-US" sz="1100" dirty="0"/>
          </a:p>
        </p:txBody>
      </p:sp>
      <p:sp>
        <p:nvSpPr>
          <p:cNvPr id="16" name="Text 13"/>
          <p:cNvSpPr txBox="1"/>
          <p:nvPr/>
        </p:nvSpPr>
        <p:spPr>
          <a:xfrm>
            <a:off x="7607808" y="4204411"/>
            <a:ext cx="3931920" cy="76443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Untuk himpunan langkah berukuran k, mex tidak pernah melebihi k — jadi loopnya selalu pendek.</a:t>
            </a:r>
            <a:endParaRPr lang="en-US" sz="1200" dirty="0"/>
          </a:p>
        </p:txBody>
      </p:sp>
      <p:sp>
        <p:nvSpPr>
          <p:cNvPr id="17" name="Shape 14"/>
          <p:cNvSpPr/>
          <p:nvPr/>
        </p:nvSpPr>
        <p:spPr>
          <a:xfrm>
            <a:off x="7178040" y="5078578"/>
            <a:ext cx="310896" cy="310896"/>
          </a:xfrm>
          <a:prstGeom prst="ellipse">
            <a:avLst/>
          </a:prstGeom>
          <a:solidFill>
            <a:srgbClr val="EC6BA8"/>
          </a:solidFill>
          <a:ln/>
        </p:spPr>
      </p:sp>
      <p:sp>
        <p:nvSpPr>
          <p:cNvPr id="18" name="Text 15"/>
          <p:cNvSpPr txBox="1"/>
          <p:nvPr/>
        </p:nvSpPr>
        <p:spPr>
          <a:xfrm>
            <a:off x="7178040" y="5078578"/>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5</a:t>
            </a:r>
            <a:endParaRPr lang="en-US" sz="1100" dirty="0"/>
          </a:p>
        </p:txBody>
      </p:sp>
      <p:sp>
        <p:nvSpPr>
          <p:cNvPr id="19" name="Text 16"/>
          <p:cNvSpPr txBox="1"/>
          <p:nvPr/>
        </p:nvSpPr>
        <p:spPr>
          <a:xfrm>
            <a:off x="7607808" y="5023714"/>
            <a:ext cx="3931920" cy="76443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Mencari periode adalah langkah yang hampir selalu diperlukan: hitung beberapa ratus suku, cari polanya, lalu pakai modulo.</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Menggabungkan Beberapa Permainan</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Penjelasan kenapa XOR dan bukan penjumlahan ada di baris 15 sampai 18.</a:t>
            </a:r>
            <a:endParaRPr lang="en-US" sz="1300" dirty="0"/>
          </a:p>
        </p:txBody>
      </p:sp>
      <p:pic>
        <p:nvPicPr>
          <p:cNvPr id="4" name="Image 0" descr="/tmp/ppt/imgs/c14_17_114.png">    </p:cNvPr>
          <p:cNvPicPr>
            <a:picLocks noChangeAspect="1"/>
          </p:cNvPicPr>
          <p:nvPr/>
        </p:nvPicPr>
        <p:blipFill>
          <a:blip r:embed="rId1"/>
          <a:stretch>
            <a:fillRect/>
          </a:stretch>
        </p:blipFill>
        <p:spPr>
          <a:xfrm>
            <a:off x="1559618" y="1755648"/>
            <a:ext cx="4662307" cy="4233672"/>
          </a:xfrm>
          <a:prstGeom prst="rect">
            <a:avLst/>
          </a:prstGeom>
        </p:spPr>
      </p:pic>
      <p:sp>
        <p:nvSpPr>
          <p:cNvPr id="5" name="Shape 2"/>
          <p:cNvSpPr/>
          <p:nvPr/>
        </p:nvSpPr>
        <p:spPr>
          <a:xfrm>
            <a:off x="7571232" y="1755648"/>
            <a:ext cx="3950208" cy="4233672"/>
          </a:xfrm>
          <a:prstGeom prst="rect">
            <a:avLst/>
          </a:prstGeom>
          <a:solidFill>
            <a:srgbClr val="FAFAFA"/>
          </a:solidFill>
          <a:ln/>
        </p:spPr>
      </p:sp>
      <p:sp>
        <p:nvSpPr>
          <p:cNvPr id="6" name="Shape 3"/>
          <p:cNvSpPr/>
          <p:nvPr/>
        </p:nvSpPr>
        <p:spPr>
          <a:xfrm>
            <a:off x="7571232" y="1755648"/>
            <a:ext cx="3950208" cy="45720"/>
          </a:xfrm>
          <a:prstGeom prst="rect">
            <a:avLst/>
          </a:prstGeom>
          <a:solidFill>
            <a:srgbClr val="3ECF9E"/>
          </a:solidFill>
          <a:ln/>
        </p:spPr>
      </p:sp>
      <p:sp>
        <p:nvSpPr>
          <p:cNvPr id="7" name="Text 4"/>
          <p:cNvSpPr txBox="1"/>
          <p:nvPr/>
        </p:nvSpPr>
        <p:spPr>
          <a:xfrm>
            <a:off x="7845552" y="1956816"/>
            <a:ext cx="3401568" cy="274320"/>
          </a:xfrm>
          <a:prstGeom prst="rect">
            <a:avLst/>
          </a:prstGeom>
          <a:noFill/>
          <a:ln/>
        </p:spPr>
        <p:txBody>
          <a:bodyPr wrap="square" lIns="0" tIns="0" rIns="0" bIns="0" rtlCol="0" anchor="ctr"/>
          <a:lstStyle/>
          <a:p>
            <a:pPr indent="0" marL="0">
              <a:buNone/>
            </a:pPr>
            <a:r>
              <a:rPr lang="en-US" sz="1050" spc="300" kern="0" dirty="0">
                <a:solidFill>
                  <a:srgbClr val="3ECF9E"/>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359152"/>
            <a:ext cx="3401568" cy="950976"/>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Strategi menangnya sangat rapi: selalu kembalikan posisi ke keadaan XOR nol. Lawan terpaksa merusaknya lagi, dan karena permainannya berhingga ia pasti kehabisan langkah.</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Enam Varian yang Sering Muncul</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Varian terakhir penting untuk diingat: Sprague-Grundy tidak berlaku pada semua permainan.</a:t>
            </a:r>
            <a:endParaRPr lang="en-US" sz="1300" dirty="0"/>
          </a:p>
        </p:txBody>
      </p:sp>
      <p:pic>
        <p:nvPicPr>
          <p:cNvPr id="4" name="Image 0" descr="/tmp/ppt/imgs/c14_18_115.png">    </p:cNvPr>
          <p:cNvPicPr>
            <a:picLocks noChangeAspect="1"/>
          </p:cNvPicPr>
          <p:nvPr/>
        </p:nvPicPr>
        <p:blipFill>
          <a:blip r:embed="rId1"/>
          <a:stretch>
            <a:fillRect/>
          </a:stretch>
        </p:blipFill>
        <p:spPr>
          <a:xfrm>
            <a:off x="4062835" y="1755648"/>
            <a:ext cx="4063281" cy="4114800"/>
          </a:xfrm>
          <a:prstGeom prst="rect">
            <a:avLst/>
          </a:prstGeom>
        </p:spPr>
      </p:pic>
      <p:sp>
        <p:nvSpPr>
          <p:cNvPr id="5" name="Shape 2"/>
          <p:cNvSpPr/>
          <p:nvPr/>
        </p:nvSpPr>
        <p:spPr>
          <a:xfrm>
            <a:off x="667512" y="6071616"/>
            <a:ext cx="10853928" cy="548640"/>
          </a:xfrm>
          <a:prstGeom prst="rect">
            <a:avLst/>
          </a:prstGeom>
          <a:solidFill>
            <a:srgbClr val="FAFAFA"/>
          </a:solidFill>
          <a:ln/>
        </p:spPr>
      </p:sp>
      <p:sp>
        <p:nvSpPr>
          <p:cNvPr id="6" name="Shape 3"/>
          <p:cNvSpPr/>
          <p:nvPr/>
        </p:nvSpPr>
        <p:spPr>
          <a:xfrm>
            <a:off x="667512" y="6071616"/>
            <a:ext cx="45720" cy="548640"/>
          </a:xfrm>
          <a:prstGeom prst="rect">
            <a:avLst/>
          </a:prstGeom>
          <a:solidFill>
            <a:srgbClr val="F5A623"/>
          </a:solidFill>
          <a:ln/>
        </p:spPr>
      </p:sp>
      <p:sp>
        <p:nvSpPr>
          <p:cNvPr id="7" name="Text 4"/>
          <p:cNvSpPr txBox="1"/>
          <p:nvPr/>
        </p:nvSpPr>
        <p:spPr>
          <a:xfrm>
            <a:off x="960120" y="6071616"/>
            <a:ext cx="10268712" cy="548640"/>
          </a:xfrm>
          <a:prstGeom prst="rect">
            <a:avLst/>
          </a:prstGeom>
          <a:noFill/>
          <a:ln/>
        </p:spPr>
        <p:txBody>
          <a:bodyPr wrap="square" lIns="0" tIns="0" rIns="0" bIns="0" rtlCol="0" anchor="ctr"/>
          <a:lstStyle/>
          <a:p>
            <a:pPr indent="0" marL="0">
              <a:lnSpc>
                <a:spcPct val="120000"/>
              </a:lnSpc>
              <a:buNone/>
            </a:pPr>
            <a:r>
              <a:rPr lang="en-US" sz="1150" dirty="0">
                <a:solidFill>
                  <a:srgbClr val="2B2B2B"/>
                </a:solidFill>
                <a:latin typeface="Century Gothic" pitchFamily="34" charset="0"/>
                <a:ea typeface="Century Gothic" pitchFamily="34" charset="-122"/>
                <a:cs typeface="Century Gothic" pitchFamily="34" charset="-120"/>
              </a:rPr>
              <a:t>Misere Nim adalah jebakan klasik. Aturannya sama persis dengan Nim biasa KECUALI ketika semua tumpukan berukuran satu — dan justru kasus itulah yang muncul di uji kasus.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Jebakan yang Sering Terjadi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Empat kesalahan yang menyumbang hampir seluruh bug pada materi ini.</a:t>
            </a:r>
            <a:endParaRPr lang="en-US" sz="1300" dirty="0"/>
          </a:p>
        </p:txBody>
      </p:sp>
      <p:sp>
        <p:nvSpPr>
          <p:cNvPr id="4" name="Shape 2"/>
          <p:cNvSpPr/>
          <p:nvPr/>
        </p:nvSpPr>
        <p:spPr>
          <a:xfrm>
            <a:off x="667512" y="1892808"/>
            <a:ext cx="91440" cy="91440"/>
          </a:xfrm>
          <a:prstGeom prst="rect">
            <a:avLst/>
          </a:prstGeom>
          <a:solidFill>
            <a:srgbClr val="4FA8E8"/>
          </a:solidFill>
          <a:ln/>
        </p:spPr>
      </p:sp>
      <p:sp>
        <p:nvSpPr>
          <p:cNvPr id="5" name="Text 3"/>
          <p:cNvSpPr txBox="1"/>
          <p:nvPr/>
        </p:nvSpPr>
        <p:spPr>
          <a:xfrm>
            <a:off x="960120" y="1737360"/>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Memakai Sprague-Grundy pada permainan parsial</a:t>
            </a:r>
            <a:endParaRPr lang="en-US" sz="1500" dirty="0"/>
          </a:p>
        </p:txBody>
      </p:sp>
      <p:sp>
        <p:nvSpPr>
          <p:cNvPr id="6" name="Text 4"/>
          <p:cNvSpPr txBox="1"/>
          <p:nvPr/>
        </p:nvSpPr>
        <p:spPr>
          <a:xfrm>
            <a:off x="960120" y="208483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Teorinya hanya berlaku bila kedua pemain punya langkah yang sama. Bila langkahnya berbeda, pakai DP menang-kalah biasa.</a:t>
            </a:r>
            <a:endParaRPr lang="en-US" sz="1250" dirty="0"/>
          </a:p>
        </p:txBody>
      </p:sp>
      <p:sp>
        <p:nvSpPr>
          <p:cNvPr id="7" name="Shape 5"/>
          <p:cNvSpPr/>
          <p:nvPr/>
        </p:nvSpPr>
        <p:spPr>
          <a:xfrm>
            <a:off x="667512" y="2898648"/>
            <a:ext cx="91440" cy="91440"/>
          </a:xfrm>
          <a:prstGeom prst="rect">
            <a:avLst/>
          </a:prstGeom>
          <a:solidFill>
            <a:srgbClr val="3ECF9E"/>
          </a:solidFill>
          <a:ln/>
        </p:spPr>
      </p:sp>
      <p:sp>
        <p:nvSpPr>
          <p:cNvPr id="8" name="Text 6"/>
          <p:cNvSpPr txBox="1"/>
          <p:nvPr/>
        </p:nvSpPr>
        <p:spPr>
          <a:xfrm>
            <a:off x="960120" y="2743200"/>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Lupa aturan khusus Misere Nim</a:t>
            </a:r>
            <a:endParaRPr lang="en-US" sz="1500" dirty="0"/>
          </a:p>
        </p:txBody>
      </p:sp>
      <p:sp>
        <p:nvSpPr>
          <p:cNvPr id="9" name="Text 7"/>
          <p:cNvSpPr txBox="1"/>
          <p:nvPr/>
        </p:nvSpPr>
        <p:spPr>
          <a:xfrm>
            <a:off x="960120" y="309067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Ketika semua tumpukan berukuran satu, aturannya terbalik. Kasus itu hampir selalu ada di uji kasus soal Misere.</a:t>
            </a:r>
            <a:endParaRPr lang="en-US" sz="1250" dirty="0"/>
          </a:p>
        </p:txBody>
      </p:sp>
      <p:sp>
        <p:nvSpPr>
          <p:cNvPr id="10" name="Shape 8"/>
          <p:cNvSpPr/>
          <p:nvPr/>
        </p:nvSpPr>
        <p:spPr>
          <a:xfrm>
            <a:off x="667512" y="3904488"/>
            <a:ext cx="91440" cy="91440"/>
          </a:xfrm>
          <a:prstGeom prst="rect">
            <a:avLst/>
          </a:prstGeom>
          <a:solidFill>
            <a:srgbClr val="F5A623"/>
          </a:solidFill>
          <a:ln/>
        </p:spPr>
      </p:sp>
      <p:sp>
        <p:nvSpPr>
          <p:cNvPr id="11" name="Text 9"/>
          <p:cNvSpPr txBox="1"/>
          <p:nvPr/>
        </p:nvSpPr>
        <p:spPr>
          <a:xfrm>
            <a:off x="960120" y="3749040"/>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Menjumlahkan nilai grundy, bukan meng-XOR-kannya</a:t>
            </a:r>
            <a:endParaRPr lang="en-US" sz="1500" dirty="0"/>
          </a:p>
        </p:txBody>
      </p:sp>
      <p:sp>
        <p:nvSpPr>
          <p:cNvPr id="12" name="Text 10"/>
          <p:cNvSpPr txBox="1"/>
          <p:nvPr/>
        </p:nvSpPr>
        <p:spPr>
          <a:xfrm>
            <a:off x="960120" y="409651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Gabungan permainan bebas memakai XOR. Penjumlahan biasa memberi jawaban yang salah dan sering lolos contoh kecil.</a:t>
            </a:r>
            <a:endParaRPr lang="en-US" sz="1250" dirty="0"/>
          </a:p>
        </p:txBody>
      </p:sp>
      <p:sp>
        <p:nvSpPr>
          <p:cNvPr id="13" name="Shape 11"/>
          <p:cNvSpPr/>
          <p:nvPr/>
        </p:nvSpPr>
        <p:spPr>
          <a:xfrm>
            <a:off x="667512" y="4910328"/>
            <a:ext cx="91440" cy="91440"/>
          </a:xfrm>
          <a:prstGeom prst="rect">
            <a:avLst/>
          </a:prstGeom>
          <a:solidFill>
            <a:srgbClr val="A78BFA"/>
          </a:solidFill>
          <a:ln/>
        </p:spPr>
      </p:sp>
      <p:sp>
        <p:nvSpPr>
          <p:cNvPr id="14" name="Text 12"/>
          <p:cNvSpPr txBox="1"/>
          <p:nvPr/>
        </p:nvSpPr>
        <p:spPr>
          <a:xfrm>
            <a:off x="960120" y="475488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Tidak mencari periode untuk n besar</a:t>
            </a:r>
            <a:endParaRPr lang="en-US" sz="1500" dirty="0"/>
          </a:p>
        </p:txBody>
      </p:sp>
      <p:sp>
        <p:nvSpPr>
          <p:cNvPr id="15" name="Text 13"/>
          <p:cNvSpPr txBox="1"/>
          <p:nvPr/>
        </p:nvSpPr>
        <p:spPr>
          <a:xfrm>
            <a:off x="960120" y="510235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Nilai grundy hampir selalu periodik pada permainan pengurangan. Tanpa periode, n sampai sepuluh pangkat delapan belas mustahil dihitung.</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04</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Contoh Soal</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Dari pernyataan sampai kode lengkap</a:t>
            </a:r>
            <a:endParaRPr lang="en-US" sz="1350" dirty="0"/>
          </a:p>
        </p:txBody>
      </p:sp>
      <p:sp>
        <p:nvSpPr>
          <p:cNvPr id="5" name="Shape 3"/>
          <p:cNvSpPr/>
          <p:nvPr/>
        </p:nvSpPr>
        <p:spPr>
          <a:xfrm>
            <a:off x="5815584" y="4251960"/>
            <a:ext cx="548640" cy="45720"/>
          </a:xfrm>
          <a:prstGeom prst="rect">
            <a:avLst/>
          </a:prstGeom>
          <a:solidFill>
            <a:srgbClr val="EC6BA8"/>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Latihan Terbimbing</a:t>
            </a:r>
            <a:endParaRPr lang="en-US" sz="3000" dirty="0"/>
          </a:p>
        </p:txBody>
      </p:sp>
      <p:sp>
        <p:nvSpPr>
          <p:cNvPr id="3" name="Shape 1"/>
          <p:cNvSpPr/>
          <p:nvPr/>
        </p:nvSpPr>
        <p:spPr>
          <a:xfrm>
            <a:off x="667512" y="1280160"/>
            <a:ext cx="6035040" cy="4572000"/>
          </a:xfrm>
          <a:prstGeom prst="rect">
            <a:avLst/>
          </a:prstGeom>
          <a:solidFill>
            <a:srgbClr val="FAFAFA"/>
          </a:solidFill>
          <a:ln/>
        </p:spPr>
      </p:sp>
      <p:sp>
        <p:nvSpPr>
          <p:cNvPr id="4" name="Shape 2"/>
          <p:cNvSpPr/>
          <p:nvPr/>
        </p:nvSpPr>
        <p:spPr>
          <a:xfrm>
            <a:off x="667512" y="1280160"/>
            <a:ext cx="6035040" cy="45720"/>
          </a:xfrm>
          <a:prstGeom prst="rect">
            <a:avLst/>
          </a:prstGeom>
          <a:solidFill>
            <a:srgbClr val="F0736A"/>
          </a:solidFill>
          <a:ln/>
        </p:spPr>
      </p:sp>
      <p:sp>
        <p:nvSpPr>
          <p:cNvPr id="5" name="Text 3"/>
          <p:cNvSpPr txBox="1"/>
          <p:nvPr/>
        </p:nvSpPr>
        <p:spPr>
          <a:xfrm>
            <a:off x="923544" y="1463040"/>
            <a:ext cx="2743200" cy="274320"/>
          </a:xfrm>
          <a:prstGeom prst="rect">
            <a:avLst/>
          </a:prstGeom>
          <a:noFill/>
          <a:ln/>
        </p:spPr>
        <p:txBody>
          <a:bodyPr wrap="square" lIns="0" tIns="0" rIns="0" bIns="0" rtlCol="0" anchor="ctr"/>
          <a:lstStyle/>
          <a:p>
            <a:pPr indent="0" marL="0">
              <a:buNone/>
            </a:pPr>
            <a:r>
              <a:rPr lang="en-US" sz="1050" spc="300" kern="0" dirty="0">
                <a:solidFill>
                  <a:srgbClr val="F0736A"/>
                </a:solidFill>
                <a:latin typeface="Century Gothic" pitchFamily="34" charset="0"/>
                <a:ea typeface="Century Gothic" pitchFamily="34" charset="-122"/>
                <a:cs typeface="Century Gothic" pitchFamily="34" charset="-120"/>
              </a:rPr>
              <a:t>SOAL</a:t>
            </a:r>
            <a:endParaRPr lang="en-US" sz="1050" dirty="0"/>
          </a:p>
        </p:txBody>
      </p:sp>
      <p:sp>
        <p:nvSpPr>
          <p:cNvPr id="6" name="Text 4"/>
          <p:cNvSpPr txBox="1"/>
          <p:nvPr/>
        </p:nvSpPr>
        <p:spPr>
          <a:xfrm>
            <a:off x="923544" y="1737360"/>
            <a:ext cx="5486400" cy="365760"/>
          </a:xfrm>
          <a:prstGeom prst="rect">
            <a:avLst/>
          </a:prstGeom>
          <a:noFill/>
          <a:ln/>
        </p:spPr>
        <p:txBody>
          <a:bodyPr wrap="square" lIns="0" tIns="0" rIns="0" bIns="0" rtlCol="0" anchor="ctr"/>
          <a:lstStyle/>
          <a:p>
            <a:pPr indent="0" marL="0">
              <a:buNone/>
            </a:pPr>
            <a:r>
              <a:rPr lang="en-US" sz="1600" dirty="0">
                <a:solidFill>
                  <a:srgbClr val="1A1A1A"/>
                </a:solidFill>
                <a:latin typeface="Century Gothic" pitchFamily="34" charset="0"/>
                <a:ea typeface="Century Gothic" pitchFamily="34" charset="-122"/>
                <a:cs typeface="Century Gothic" pitchFamily="34" charset="-120"/>
              </a:rPr>
              <a:t>Nim dan Langkah Menangnya</a:t>
            </a:r>
            <a:endParaRPr lang="en-US" sz="1600" dirty="0"/>
          </a:p>
        </p:txBody>
      </p:sp>
      <p:sp>
        <p:nvSpPr>
          <p:cNvPr id="7" name="Text 5"/>
          <p:cNvSpPr txBox="1"/>
          <p:nvPr/>
        </p:nvSpPr>
        <p:spPr>
          <a:xfrm>
            <a:off x="923544" y="2194560"/>
            <a:ext cx="5486400" cy="2377440"/>
          </a:xfrm>
          <a:prstGeom prst="rect">
            <a:avLst/>
          </a:prstGeom>
          <a:noFill/>
          <a:ln/>
        </p:spPr>
        <p:txBody>
          <a:bodyPr wrap="square" lIns="0" tIns="0" rIns="0" bIns="0" rtlCol="0" anchor="ctr"/>
          <a:lstStyle/>
          <a:p>
            <a:pPr indent="0" marL="0">
              <a:lnSpc>
                <a:spcPct val="130000"/>
              </a:lnSpc>
              <a:buNone/>
            </a:pPr>
            <a:r>
              <a:rPr lang="en-US" sz="1300" dirty="0">
                <a:solidFill>
                  <a:srgbClr val="2B2B2B"/>
                </a:solidFill>
                <a:latin typeface="Century Gothic" pitchFamily="34" charset="0"/>
                <a:ea typeface="Century Gothic" pitchFamily="34" charset="-122"/>
                <a:cs typeface="Century Gothic" pitchFamily="34" charset="-120"/>
              </a:rPr>
              <a:t>Diberikan n tumpukan batu. Dua pemain bergantian mengambil berapa pun batu dari salah satu tumpukan, dan yang tidak bisa mengambil kalah. Tentukan apakah pemain pertama menang, dan bila ya keluarkan satu langkah menangnya berupa nomor tumpukan dan banyak batu yang diambil.</a:t>
            </a:r>
            <a:endParaRPr lang="en-US" sz="1300" dirty="0"/>
          </a:p>
        </p:txBody>
      </p:sp>
      <p:sp>
        <p:nvSpPr>
          <p:cNvPr id="8" name="Text 6"/>
          <p:cNvSpPr txBox="1"/>
          <p:nvPr/>
        </p:nvSpPr>
        <p:spPr>
          <a:xfrm>
            <a:off x="1014984" y="4846320"/>
            <a:ext cx="539496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1 &lt;= n &lt;= 100000</a:t>
            </a:r>
            <a:endParaRPr lang="en-US" sz="1200" dirty="0"/>
          </a:p>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1 &lt;= ukuran tumpukan &lt;= 10^18</a:t>
            </a:r>
            <a:endParaRPr lang="en-US" sz="1200" dirty="0"/>
          </a:p>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langkah menang mana pun diterima</a:t>
            </a:r>
            <a:endParaRPr lang="en-US" sz="1200" dirty="0"/>
          </a:p>
        </p:txBody>
      </p:sp>
      <p:pic>
        <p:nvPicPr>
          <p:cNvPr id="9" name="Image 0" descr="/tmp/ppt/imgs/c14_21_116.png">    </p:cNvPr>
          <p:cNvPicPr>
            <a:picLocks noChangeAspect="1"/>
          </p:cNvPicPr>
          <p:nvPr/>
        </p:nvPicPr>
        <p:blipFill>
          <a:blip r:embed="rId1"/>
          <a:stretch>
            <a:fillRect/>
          </a:stretch>
        </p:blipFill>
        <p:spPr>
          <a:xfrm>
            <a:off x="8244885" y="1280160"/>
            <a:ext cx="1981110" cy="4572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Pembahasan Lengkap</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Perhatikan baris 21: syarat (a[i] ^ X) &lt; a[i] menemukan tumpukan yang bisa dikecilkan.</a:t>
            </a:r>
            <a:endParaRPr lang="en-US" sz="1300" dirty="0"/>
          </a:p>
        </p:txBody>
      </p:sp>
      <p:pic>
        <p:nvPicPr>
          <p:cNvPr id="4" name="Image 0" descr="/tmp/ppt/imgs/c14_22_117.png">    </p:cNvPr>
          <p:cNvPicPr>
            <a:picLocks noChangeAspect="1"/>
          </p:cNvPicPr>
          <p:nvPr/>
        </p:nvPicPr>
        <p:blipFill>
          <a:blip r:embed="rId1"/>
          <a:stretch>
            <a:fillRect/>
          </a:stretch>
        </p:blipFill>
        <p:spPr>
          <a:xfrm>
            <a:off x="4517015" y="1755648"/>
            <a:ext cx="3154921" cy="4114800"/>
          </a:xfrm>
          <a:prstGeom prst="rect">
            <a:avLst/>
          </a:prstGeom>
        </p:spPr>
      </p:pic>
      <p:sp>
        <p:nvSpPr>
          <p:cNvPr id="5" name="Shape 2"/>
          <p:cNvSpPr/>
          <p:nvPr/>
        </p:nvSpPr>
        <p:spPr>
          <a:xfrm>
            <a:off x="667512" y="6071616"/>
            <a:ext cx="10853928" cy="548640"/>
          </a:xfrm>
          <a:prstGeom prst="rect">
            <a:avLst/>
          </a:prstGeom>
          <a:solidFill>
            <a:srgbClr val="FAFAFA"/>
          </a:solidFill>
          <a:ln/>
        </p:spPr>
      </p:sp>
      <p:sp>
        <p:nvSpPr>
          <p:cNvPr id="6" name="Shape 3"/>
          <p:cNvSpPr/>
          <p:nvPr/>
        </p:nvSpPr>
        <p:spPr>
          <a:xfrm>
            <a:off x="667512" y="6071616"/>
            <a:ext cx="45720" cy="548640"/>
          </a:xfrm>
          <a:prstGeom prst="rect">
            <a:avLst/>
          </a:prstGeom>
          <a:solidFill>
            <a:srgbClr val="F0736A"/>
          </a:solidFill>
          <a:ln/>
        </p:spPr>
      </p:sp>
      <p:sp>
        <p:nvSpPr>
          <p:cNvPr id="7" name="Text 4"/>
          <p:cNvSpPr txBox="1"/>
          <p:nvPr/>
        </p:nvSpPr>
        <p:spPr>
          <a:xfrm>
            <a:off x="960120" y="6071616"/>
            <a:ext cx="10268712" cy="548640"/>
          </a:xfrm>
          <a:prstGeom prst="rect">
            <a:avLst/>
          </a:prstGeom>
          <a:noFill/>
          <a:ln/>
        </p:spPr>
        <p:txBody>
          <a:bodyPr wrap="square" lIns="0" tIns="0" rIns="0" bIns="0" rtlCol="0" anchor="ctr"/>
          <a:lstStyle/>
          <a:p>
            <a:pPr indent="0" marL="0">
              <a:lnSpc>
                <a:spcPct val="120000"/>
              </a:lnSpc>
              <a:buNone/>
            </a:pPr>
            <a:r>
              <a:rPr lang="en-US" sz="1150" dirty="0">
                <a:solidFill>
                  <a:srgbClr val="2B2B2B"/>
                </a:solidFill>
                <a:latin typeface="Century Gothic" pitchFamily="34" charset="0"/>
                <a:ea typeface="Century Gothic" pitchFamily="34" charset="-122"/>
                <a:cs typeface="Century Gothic" pitchFamily="34" charset="-120"/>
              </a:rPr>
              <a:t>Kompleksitas O(n). Catatan di akhir kode penting sekali: menebak pola nilai grundy dari brute force adalah teknik yang sah dan sangat sering dipakai pada soal permainan.</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Latihan Mandiri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Dua soal pertama memakai Nim langsung; tiga berikutnya butuh menemukan nilai grundy-nya sendiri.</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7512" y="1755648"/>
          <a:ext cx="10853928" cy="914400"/>
        </p:xfrm>
        <a:graphic>
          <a:graphicData uri="http://schemas.openxmlformats.org/drawingml/2006/table">
            <a:tbl>
              <a:tblPr/>
              <a:tblGrid>
                <a:gridCol w="3383280"/>
                <a:gridCol w="4480560"/>
                <a:gridCol w="2990088"/>
              </a:tblGrid>
              <a:tr h="548640">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Soal</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Yang dilatih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Tingkat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Nim Game I</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Teorema Nim dasar</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Nim Game II</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Varian dengan batas pengambilan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Menengah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Stair Game</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Staircase Nim</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Menengah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Codeforces 87C</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Grundy pada pemecahan tumpukan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Sulit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Codeforces 305E</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Grundy dengan pola yang harus ditebak</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Sulit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Ringkasan</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Empat hal yang perlu terbawa dari materi ini.</a:t>
            </a:r>
            <a:endParaRPr lang="en-US" sz="1300" dirty="0"/>
          </a:p>
        </p:txBody>
      </p:sp>
      <p:sp>
        <p:nvSpPr>
          <p:cNvPr id="4" name="Shape 2"/>
          <p:cNvSpPr/>
          <p:nvPr/>
        </p:nvSpPr>
        <p:spPr>
          <a:xfrm>
            <a:off x="667512" y="1892808"/>
            <a:ext cx="91440" cy="91440"/>
          </a:xfrm>
          <a:prstGeom prst="rect">
            <a:avLst/>
          </a:prstGeom>
          <a:solidFill>
            <a:srgbClr val="4FA8E8"/>
          </a:solidFill>
          <a:ln/>
        </p:spPr>
      </p:sp>
      <p:sp>
        <p:nvSpPr>
          <p:cNvPr id="5" name="Text 3"/>
          <p:cNvSpPr txBox="1"/>
          <p:nvPr/>
        </p:nvSpPr>
        <p:spPr>
          <a:xfrm>
            <a:off x="960120" y="1737360"/>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Posisi kalah berarti semua langkah menuju posisi menang</a:t>
            </a:r>
            <a:endParaRPr lang="en-US" sz="1500" dirty="0"/>
          </a:p>
        </p:txBody>
      </p:sp>
      <p:sp>
        <p:nvSpPr>
          <p:cNvPr id="6" name="Text 4"/>
          <p:cNvSpPr txBox="1"/>
          <p:nvPr/>
        </p:nvSpPr>
        <p:spPr>
          <a:xfrm>
            <a:off x="960120" y="208483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Dari definisi itu, seluruh permainan bisa dihitung mundur dengan DP biasa. Posisi tanpa langkah selalu posisi kalah.</a:t>
            </a:r>
            <a:endParaRPr lang="en-US" sz="1250" dirty="0"/>
          </a:p>
        </p:txBody>
      </p:sp>
      <p:sp>
        <p:nvSpPr>
          <p:cNvPr id="7" name="Shape 5"/>
          <p:cNvSpPr/>
          <p:nvPr/>
        </p:nvSpPr>
        <p:spPr>
          <a:xfrm>
            <a:off x="667512" y="2898648"/>
            <a:ext cx="91440" cy="91440"/>
          </a:xfrm>
          <a:prstGeom prst="rect">
            <a:avLst/>
          </a:prstGeom>
          <a:solidFill>
            <a:srgbClr val="3ECF9E"/>
          </a:solidFill>
          <a:ln/>
        </p:spPr>
      </p:sp>
      <p:sp>
        <p:nvSpPr>
          <p:cNvPr id="8" name="Text 6"/>
          <p:cNvSpPr txBox="1"/>
          <p:nvPr/>
        </p:nvSpPr>
        <p:spPr>
          <a:xfrm>
            <a:off x="960120" y="2743200"/>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Nim selesai dengan satu XOR</a:t>
            </a:r>
            <a:endParaRPr lang="en-US" sz="1500" dirty="0"/>
          </a:p>
        </p:txBody>
      </p:sp>
      <p:sp>
        <p:nvSpPr>
          <p:cNvPr id="9" name="Text 7"/>
          <p:cNvSpPr txBox="1"/>
          <p:nvPr/>
        </p:nvSpPr>
        <p:spPr>
          <a:xfrm>
            <a:off x="960120" y="309067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XOR seluruh ukuran tumpukan bernilai nol berarti kalah. Langkah menangnya: cari tumpukan p dengan p xor X lebih kecil dari p.</a:t>
            </a:r>
            <a:endParaRPr lang="en-US" sz="1250" dirty="0"/>
          </a:p>
        </p:txBody>
      </p:sp>
      <p:sp>
        <p:nvSpPr>
          <p:cNvPr id="10" name="Shape 8"/>
          <p:cNvSpPr/>
          <p:nvPr/>
        </p:nvSpPr>
        <p:spPr>
          <a:xfrm>
            <a:off x="667512" y="3904488"/>
            <a:ext cx="91440" cy="91440"/>
          </a:xfrm>
          <a:prstGeom prst="rect">
            <a:avLst/>
          </a:prstGeom>
          <a:solidFill>
            <a:srgbClr val="F5A623"/>
          </a:solidFill>
          <a:ln/>
        </p:spPr>
      </p:sp>
      <p:sp>
        <p:nvSpPr>
          <p:cNvPr id="11" name="Text 9"/>
          <p:cNvSpPr txBox="1"/>
          <p:nvPr/>
        </p:nvSpPr>
        <p:spPr>
          <a:xfrm>
            <a:off x="960120" y="3749040"/>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Bilangan grundy adalah mex dari nilai tetangganya</a:t>
            </a:r>
            <a:endParaRPr lang="en-US" sz="1500" dirty="0"/>
          </a:p>
        </p:txBody>
      </p:sp>
      <p:sp>
        <p:nvSpPr>
          <p:cNvPr id="12" name="Text 10"/>
          <p:cNvSpPr txBox="1"/>
          <p:nvPr/>
        </p:nvSpPr>
        <p:spPr>
          <a:xfrm>
            <a:off x="960120" y="409651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Posisi mana pun setara dengan satu tumpukan Nim berukuran grundy-nya. Nilai nol berarti posisi kalah.</a:t>
            </a:r>
            <a:endParaRPr lang="en-US" sz="1250" dirty="0"/>
          </a:p>
        </p:txBody>
      </p:sp>
      <p:sp>
        <p:nvSpPr>
          <p:cNvPr id="13" name="Shape 11"/>
          <p:cNvSpPr/>
          <p:nvPr/>
        </p:nvSpPr>
        <p:spPr>
          <a:xfrm>
            <a:off x="667512" y="4910328"/>
            <a:ext cx="91440" cy="91440"/>
          </a:xfrm>
          <a:prstGeom prst="rect">
            <a:avLst/>
          </a:prstGeom>
          <a:solidFill>
            <a:srgbClr val="A78BFA"/>
          </a:solidFill>
          <a:ln/>
        </p:spPr>
      </p:sp>
      <p:sp>
        <p:nvSpPr>
          <p:cNvPr id="14" name="Text 12"/>
          <p:cNvSpPr txBox="1"/>
          <p:nvPr/>
        </p:nvSpPr>
        <p:spPr>
          <a:xfrm>
            <a:off x="960120" y="475488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Permainan gabungan memakai XOR nilai grundy</a:t>
            </a:r>
            <a:endParaRPr lang="en-US" sz="1500" dirty="0"/>
          </a:p>
        </p:txBody>
      </p:sp>
      <p:sp>
        <p:nvSpPr>
          <p:cNvPr id="15" name="Text 13"/>
          <p:cNvSpPr txBox="1"/>
          <p:nvPr/>
        </p:nvSpPr>
        <p:spPr>
          <a:xfrm>
            <a:off x="960120" y="510235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Bukan penjumlahan. Sifat x xor x = 0 itulah yang memodelkan strategi mencerminkan langkah lawan.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2026-09-03T02:51:29Z</dcterms:created>
  <dcterms:modified xsi:type="dcterms:W3CDTF">2026-09-03T02:51:29Z</dcterms:modified>
</cp:coreProperties>
</file>