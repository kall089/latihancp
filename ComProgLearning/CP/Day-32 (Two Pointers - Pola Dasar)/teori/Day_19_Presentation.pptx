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Two Pointers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Opposite · Same direction · 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O(n) elegan untuk array &amp; 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120640"/>
            <a:ext cx="155448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L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5120640"/>
            <a:ext cx="15544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521208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← 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5120640"/>
            <a:ext cx="155448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521208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merge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19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Konsep
Two Pointers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Intuisi &amp; 3 pola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Kapan O(n²) → O(n)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Pre-conditions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Pointer L,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Opposite
Direction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Two Sum sorted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Palindrome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Container water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Sorted required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Same
Direction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Slow +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Remove dup in-place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Substring problem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Sliding window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Merge &amp;
3-Pointers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Merge 2 sorted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Three Sum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Dutch flag 3-way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Tips &amp; pitfall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Konsep Two Pointers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Hindari O(n²) dengan dua index yang bergerak cerdas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Two Pointers?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2 pointer bergerak menuju target atau pola tertentu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212080" cy="2743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21208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04241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Konsep Inti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961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2 indeks (L dan R) menelusuri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Hindari nested loop O(n²)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Gerakkan pointer berdasar kondisi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Total kerja O(n) — setiap pointer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bergerak max n kali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521208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92277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3 Pola Utama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7997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• Opposite Direction (L→ ←R)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7258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• Same Direction (slow + fast)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96519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• Merge (i di A, j di 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005840"/>
            <a:ext cx="5943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🎯 Visual: Two Sum Sorted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1417320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Cari A[i]+A[j] = 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1828800"/>
            <a:ext cx="777240" cy="54864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15819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192755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828800"/>
            <a:ext cx="77724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5819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192755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0" y="1828800"/>
            <a:ext cx="77724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15819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192755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1828800"/>
            <a:ext cx="77724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5819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192755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1828800"/>
            <a:ext cx="77724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15819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192755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1828800"/>
            <a:ext cx="777240" cy="54864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0" y="15819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5248" y="1927555"/>
            <a:ext cx="74066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246888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58A6FF"/>
                </a:solidFill>
              </a:rPr>
              <a:t>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274320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</a:rPr>
              <a:t>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46888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FFC857"/>
                </a:solidFill>
              </a:rPr>
              <a:t>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274320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</a:rPr>
              <a:t>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3200400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🎬 Trace: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52160" y="3520440"/>
            <a:ext cx="5943600" cy="45720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3566160"/>
            <a:ext cx="1645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L=0,R=5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3566160"/>
            <a:ext cx="1645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1+9=10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356616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FOUND!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52160" y="429768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52160" y="4297680"/>
            <a:ext cx="274320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446227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Naif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80060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6B8A"/>
                </a:solidFill>
              </a:rPr>
              <a:t>O(n²)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78240" y="4297680"/>
            <a:ext cx="301752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78240" y="4297680"/>
            <a:ext cx="301752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4462272"/>
            <a:ext cx="2834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Two Pointers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4800600"/>
            <a:ext cx="2834639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O(n)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52160" y="5486400"/>
            <a:ext cx="594360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52160" y="5486400"/>
            <a:ext cx="91440" cy="6400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5577840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5596128"/>
            <a:ext cx="516636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PRE-CONDITION: opposite direction butuh sorted array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Opposite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L bergerak →, R bergerak ← — paling klasik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Two Sum Sorted — O(n)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42976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 "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"\n"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FOUND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else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</a:t>
            </a:r>
            <a:r>
              <a:rPr sz="1100">
                <a:solidFill>
                  <a:srgbClr val="6E7681"/>
                </a:solidFill>
                <a:latin typeface="Menlo"/>
              </a:rPr>
              <a:t>// sum kekecilan → naikkan L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else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</a:t>
            </a:r>
            <a:r>
              <a:rPr sz="1100">
                <a:solidFill>
                  <a:srgbClr val="6E7681"/>
                </a:solidFill>
                <a:latin typeface="Menlo"/>
              </a:rPr>
              <a:t>// sum kebesaran → turunkan R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"IMPOSSIBLE\n"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📊 Trace: T=7 pada [1,3,4,6,8,9]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508760"/>
            <a:ext cx="1152144" cy="42748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100584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L,R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508760"/>
            <a:ext cx="1426464" cy="42748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554480"/>
            <a:ext cx="128016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A[L],A[R]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08760"/>
            <a:ext cx="877824" cy="42748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54480"/>
            <a:ext cx="73152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0" y="1508760"/>
            <a:ext cx="1517904" cy="427482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1554480"/>
            <a:ext cx="137160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Aksi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981961"/>
            <a:ext cx="508406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055113"/>
            <a:ext cx="100584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0,5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055113"/>
            <a:ext cx="12801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1,9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055113"/>
            <a:ext cx="7315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055113"/>
            <a:ext cx="13716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R--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484881"/>
            <a:ext cx="508406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558033"/>
            <a:ext cx="100584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0,4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558033"/>
            <a:ext cx="12801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1,8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558033"/>
            <a:ext cx="7315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558033"/>
            <a:ext cx="13716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R--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987801"/>
            <a:ext cx="508406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060953"/>
            <a:ext cx="100584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0,3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60953"/>
            <a:ext cx="12801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1,6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060953"/>
            <a:ext cx="7315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060953"/>
            <a:ext cx="13716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FOUND!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657600"/>
            <a:ext cx="521208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365760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369417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🧠 Bukti Korektsi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415137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 &gt; T → A[R] tidak bisa pair dengan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44398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manapun di kanan L → R-- aman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73659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 &lt; T → A[L] tidak bisa pair dengan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502920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manapun di kiri R → L++ aman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23560"/>
            <a:ext cx="521208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5623560"/>
            <a:ext cx="914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5715000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6B8A"/>
                </a:solidFill>
              </a:rPr>
              <a:t>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733288"/>
            <a:ext cx="44348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Wajib SORTED untuk pola ini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Palindrome Check — Same Pattern, No Sort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bool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isPalindrome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false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true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Variasi: skip non-alphanumeric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isalnum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isalnum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tolower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tolower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false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L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🎬 Trace: 'racecar'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9848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676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377440"/>
            <a:ext cx="5212080" cy="45720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42316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L=0,R=6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242316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r==r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42316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OK 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2880360"/>
            <a:ext cx="5212080" cy="45720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292608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L=1,R=5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92608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a==a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292608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OK 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3383280"/>
            <a:ext cx="5212080" cy="45720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342900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L=2,R=4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42900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c==c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342900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OK 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3886200"/>
            <a:ext cx="5212080" cy="45720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393192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L=3,R=3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393192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stop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393192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PALINDROME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4526280"/>
            <a:ext cx="5212080" cy="164592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452628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48272" y="456285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Aplikasi Lain Opposite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4848" y="502005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Container with most water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84848" y="531266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Reverse string in-place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4848" y="560527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Trapping rain water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589788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Three sum (fix + two pointer)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Same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Slow + fast — overwrite in-place dengan O(1) memori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Remove Duplicates — Slow + Fast Pointer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4008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4008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61264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Remove duplicates dari sorted array, in-place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slow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fast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fast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fast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fast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slow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slow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slow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fast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newSize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slow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A[0..newSize-1] adalah unique elements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Trace: [1,1,2,2,3,4,4]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slow=0, fast=1: A[1]==A[0], skip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slow=0, fast=2: A[2]!=A[0], slow=1, A[1]=2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slow=1, fast=3: A[3]==A[1], skip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slow=1, fast=4: A[4]!=A[1], slow=2, A[2]=3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slow=2, fast=5: A[5]!=A[2], slow=3, A[3]=4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hasil: [1,2,3,4,...] newSize=4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00584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🎯 Visual: slow &amp;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50876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Initial: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911095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82880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1911095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911095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82880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1911095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182880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1911095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182880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8" y="1911095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81360" y="1828800"/>
            <a:ext cx="59436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0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99648" y="1911095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60604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</a:rPr>
              <a:t>After (slow=3, newSize=4):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2926080"/>
            <a:ext cx="59436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2679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30083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2926080"/>
            <a:ext cx="59436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2679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30083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2926080"/>
            <a:ext cx="59436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2679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30083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2926080"/>
            <a:ext cx="59436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2679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9408" y="30083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01200" y="2926080"/>
            <a:ext cx="594360" cy="45720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2679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19488" y="30083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_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41280" y="2926080"/>
            <a:ext cx="594360" cy="45720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41280" y="2679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9568" y="30083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_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81360" y="2926080"/>
            <a:ext cx="594360" cy="45720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1360" y="2679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99648" y="3008376"/>
            <a:ext cx="5577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_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880" y="3794760"/>
            <a:ext cx="4754880" cy="20116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40880" y="3794760"/>
            <a:ext cx="47548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05472" y="3831336"/>
            <a:ext cx="44805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Pola Slow+Fast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42048" y="4288536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fast: traversal seluruh array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42048" y="4581144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slow: posisi tulis berikutnya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42048" y="4873752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Ketika cocok kondisi → slow++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42048" y="5166360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Hemat memori O(1), no copy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6263640"/>
            <a:ext cx="11338560" cy="4114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6263640"/>
            <a:ext cx="91440" cy="41148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355079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" y="6373368"/>
            <a:ext cx="10561320" cy="1920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Pakai untuk: dedup, partition, move zero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Merge &amp; Three Pointers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Merge 2 sorted, Three Sum, Dutch national flag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Merge Two Sorted Arrays — i + j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03504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0350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76072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Merge A (size m) dan B (size n) → C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j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j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j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else</a:t>
            </a:r>
            <a:r>
              <a:rPr sz="1100">
                <a:solidFill>
                  <a:srgbClr val="C9D1D9"/>
                </a:solidFill>
                <a:latin typeface="Menlo"/>
              </a:rPr>
              <a:t>              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j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sisa A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j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j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sisa B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Kompleksitas: O(m + n) time, O(m+n)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00600"/>
            <a:ext cx="6035040" cy="16916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800600"/>
            <a:ext cx="60350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7" y="48463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19" y="48463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48463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74920"/>
            <a:ext cx="576072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THREE SUM ===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continue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skip dup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target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target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record (A[i], A[L], A[R])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else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target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else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0058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🎯 Visual Merge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5448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A: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155448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55448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155448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55448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B: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155448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155448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155448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88167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19456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</a:rPr>
              <a:t>↓ merge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60604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C: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260604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23591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6327" y="26883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6679" y="260604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23591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967" y="26883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20" y="260604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23591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3608" y="26883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23960" y="260604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23960" y="23591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42248" y="26883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72600" y="260604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2600" y="23591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90888" y="26883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21240" y="260604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21240" y="23591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39528" y="268833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3520440"/>
            <a:ext cx="512064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75120" y="3520440"/>
            <a:ext cx="512064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9712" y="3557016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Three Sum Strategy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76288" y="4014216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1. Sort array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76288" y="4306824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2. Fix A[i] dengan loop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76288" y="4599432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3. Two pointers di sisanya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76288" y="4892040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4. Skip duplikat (i&gt;0 cek)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76288" y="5184648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Total: O(n²)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75120" y="5943600"/>
            <a:ext cx="512064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75120" y="5943600"/>
            <a:ext cx="91440" cy="50292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603504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C9A0FF"/>
                </a:solidFill>
              </a:rPr>
              <a:t>🇳🇱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0920" y="6053328"/>
            <a:ext cx="434340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Dutch Flag: 3 pointer untuk partisi 3-way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Two Pointers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Lupa sort untuk opposite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Two Sum / 3Sum tanpa sort.
Wajib sorted dulu.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Loop condition L&lt;=R vs L&lt;R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Beda makna! Untuk pair butuh L&lt;R.
Untuk single pivot L&lt;=R.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Lupa skip duplikat di 3Sum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Output triplet duplicate.
Cek if i&gt;0 &amp;&amp; A[i]==A[i-1].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Overflow di 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A[L]+A[R] bisa overflow int.
Pakai long long untuk sum.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Index off-by-one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1-indexed vs 0-indexed.
Cek output format.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Stop kondisi salah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Slow+fast: fast&lt;n.
Merge: cek dua array selesai.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Two Pointers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OPPOSITE (sorted)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cond_match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6E7681"/>
                </a:solidFill>
                <a:latin typeface="Menlo"/>
              </a:rPr>
              <a:t>// proses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</a:t>
            </a:r>
            <a:r>
              <a:rPr sz="1050">
                <a:solidFill>
                  <a:srgbClr val="6E7681"/>
                </a:solidFill>
                <a:latin typeface="Menlo"/>
              </a:rPr>
              <a:t>// atau break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else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need_larger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else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PALINDROME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false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true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SAME DIRECTION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slow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fast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fast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fast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cond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slow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fast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newSize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slow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MERGE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else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Two Pointers: dari O(n²) ke O(n) dengan elegan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Konsep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2 pointer bergerak cerdas. Total kerja O(n) — setiap pointer max n langkah.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Opposite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L→ ←R. Wajib sorted. Two Sum, palindrome, container water.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Same 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Slow+fast. Tidak perlu sort. Remove dup, move zero, in-place.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Merge &amp; 3Sum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i+j untuk merge sorted. Three Sum: sort + fix + 2P. Dutch flag 3-way.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Lupa sort, off-by-one, lupa skip dup di 3Sum, overflow di sum.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19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