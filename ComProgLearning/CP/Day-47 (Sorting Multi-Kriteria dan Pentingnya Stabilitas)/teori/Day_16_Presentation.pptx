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57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-9144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286000" y="5029200"/>
            <a:ext cx="3657600" cy="36576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0"/>
            <a:ext cx="36576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57200"/>
            <a:ext cx="146304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438912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0" b="1" i="0">
                <a:solidFill>
                  <a:srgbClr val="58A6FF"/>
                </a:solidFill>
              </a:rPr>
              <a:t>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COMPETITIVE PROGRAMMING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6E7681"/>
                </a:solidFill>
              </a:rPr>
              <a:t>150 Day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64008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200" b="1" i="0">
                <a:solidFill>
                  <a:srgbClr val="F0F6FC"/>
                </a:solidFill>
              </a:rPr>
              <a:t>Custom Comparator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246120"/>
            <a:ext cx="45720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24612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42900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9D0D8"/>
                </a:solidFill>
              </a:rPr>
              <a:t>Strict weak ordering · Multi-criteria sort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13048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C9A0FF"/>
                </a:solidFill>
              </a:rPr>
              <a:t>Sort apa saja, sebebas-bebasnya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6126480"/>
            <a:ext cx="36576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621792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E7681"/>
                </a:solidFill>
              </a:rPr>
              <a:t>Modern Cobalt Theme · python-pptx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5120640"/>
            <a:ext cx="1554480" cy="4572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5212080"/>
            <a:ext cx="1554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operator&lt;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43800" y="5120640"/>
            <a:ext cx="1554480" cy="45720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5212080"/>
            <a:ext cx="1554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lambda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5120640"/>
            <a:ext cx="1554480" cy="45720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5212080"/>
            <a:ext cx="1554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Menlo"/>
              </a:rPr>
              <a:t>functor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Agenda — Day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Topik utama yang akan kita bahas hari 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8892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914400" cy="5486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Strict Weak
Ordering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242316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Irreflexivity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Asymmetry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Transitivity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Pakai &lt; bukan &lt;=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1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1" y="1234440"/>
            <a:ext cx="278892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1463040"/>
            <a:ext cx="914400" cy="5486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operator&lt; &amp;
Lambda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2971800"/>
            <a:ext cx="2423160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Override operator&lt;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Lambda inline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Capture [&amp;]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Multi-criteria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3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3" y="1234440"/>
            <a:ext cx="278892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1463040"/>
            <a:ext cx="914400" cy="5486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Functor &amp;
Container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5664" y="2971800"/>
            <a:ext cx="2423160" cy="36576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struct + operator()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priority_queue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set / 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Reusable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0576" y="1234440"/>
            <a:ext cx="278892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63455" y="1463040"/>
            <a:ext cx="914400" cy="54864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5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5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Pola CP
Klasik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3455" y="2971800"/>
            <a:ext cx="2423160" cy="36576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5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Index sort + iota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5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Negate trick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5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Sort by length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Stable vs unstable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Strict Weak Ordering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3 aturan wajib agar comparator C++ tidak crash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3 Aturan Strict Weak Ordering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15544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09728" cy="15544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3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1. Irreflexivity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3657600" cy="365760"/>
          </a:xfrm>
          <a:prstGeom prst="round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10512"/>
            <a:ext cx="35661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  <a:latin typeface="Menlo"/>
              </a:rPr>
              <a:t>comp(a, a) = 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3657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Tidak boleh: a &lt;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371600"/>
            <a:ext cx="676656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Selalu return false untuk
elemen yang sama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88920"/>
            <a:ext cx="11247120" cy="15544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88920"/>
            <a:ext cx="109728" cy="155448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260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FD97F"/>
                </a:solidFill>
              </a:rPr>
              <a:t>2. Asymmetry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29000"/>
            <a:ext cx="3657600" cy="365760"/>
          </a:xfrm>
          <a:prstGeom prst="round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502152"/>
            <a:ext cx="35661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  <a:latin typeface="Menlo"/>
              </a:rPr>
              <a:t>comp(a,b)=T → comp(b,a)=F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3657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Jika a&lt;b, maka b≠&lt;a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063239"/>
            <a:ext cx="676656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&lt; adalah satu arah,
tidak bisa 2 arah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80560"/>
            <a:ext cx="11247120" cy="15544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109728" cy="155448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3. Transitivity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20640"/>
            <a:ext cx="3657600" cy="365760"/>
          </a:xfrm>
          <a:prstGeom prst="round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193792"/>
            <a:ext cx="35661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  <a:latin typeface="Menlo"/>
              </a:rPr>
              <a:t>a&lt;b ∧ b&lt;c → a&lt;c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77840"/>
            <a:ext cx="36576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Urutan harus konsisten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754880"/>
            <a:ext cx="676656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Kalau melanggar:
undefined behavior!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263640"/>
            <a:ext cx="11247120" cy="50292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6263640"/>
            <a:ext cx="91440" cy="5029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6336792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⚠  JANGAN pakai a &lt;= b di comparator → langgar irreflexivity → CRASH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3FD97F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operator&lt; &amp; Lambda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Dua cara paling populer untuk custom sort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operator&lt; pada Struct — Cara Cleanest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943600" cy="50292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669280" cy="466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struct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Point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x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y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bool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operator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const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Point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o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const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x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!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o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C9D1D9"/>
                </a:solidFill>
                <a:latin typeface="Menlo"/>
              </a:rPr>
              <a:t>x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x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o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C9D1D9"/>
                </a:solidFill>
                <a:latin typeface="Menlo"/>
              </a:rPr>
              <a:t>x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</a:t>
            </a:r>
            <a:r>
              <a:rPr sz="1100">
                <a:solidFill>
                  <a:srgbClr val="6E7681"/>
                </a:solidFill>
                <a:latin typeface="Menlo"/>
              </a:rPr>
              <a:t>// primary: x asc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y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o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C9D1D9"/>
                </a:solidFill>
                <a:latin typeface="Menlo"/>
              </a:rPr>
              <a:t>y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            </a:t>
            </a:r>
            <a:r>
              <a:rPr sz="1100">
                <a:solidFill>
                  <a:srgbClr val="6E7681"/>
                </a:solidFill>
                <a:latin typeface="Menlo"/>
              </a:rPr>
              <a:t>// tiebreak:  y asc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Point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pts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  <a:r>
              <a:rPr sz="1100">
                <a:solidFill>
                  <a:srgbClr val="FFA657"/>
                </a:solidFill>
                <a:latin typeface="Menlo"/>
              </a:rPr>
              <a:t>3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FFA657"/>
                </a:solidFill>
                <a:latin typeface="Menlo"/>
              </a:rPr>
              <a:t>5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FFA657"/>
                </a:solidFill>
                <a:latin typeface="Menlo"/>
              </a:rPr>
              <a:t>2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  <a:r>
              <a:rPr sz="1100">
                <a:solidFill>
                  <a:srgbClr val="FFA657"/>
                </a:solidFill>
                <a:latin typeface="Menlo"/>
              </a:rPr>
              <a:t>3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79C0FF"/>
                </a:solidFill>
                <a:latin typeface="Menlo"/>
              </a:rPr>
              <a:t>sort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pts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begin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pts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end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Output: (1,2)(1,5)(3,0)(3,1)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Bonus: bekerja juga di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set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Point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priority_queue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Point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pq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map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Point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m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0058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🎯 Sort Result Visualization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508760"/>
            <a:ext cx="52120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FF6B8A"/>
                </a:solidFill>
              </a:rPr>
              <a:t>Before sort: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828800"/>
            <a:ext cx="123444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20240"/>
            <a:ext cx="12344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6B8A"/>
                </a:solidFill>
                <a:latin typeface="Menlo"/>
              </a:rPr>
              <a:t>(3,1)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1828800"/>
            <a:ext cx="123444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1920240"/>
            <a:ext cx="12344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6B8A"/>
                </a:solidFill>
                <a:latin typeface="Menlo"/>
              </a:rPr>
              <a:t>(1,5)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828800"/>
            <a:ext cx="123444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920240"/>
            <a:ext cx="12344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6B8A"/>
                </a:solidFill>
                <a:latin typeface="Menlo"/>
              </a:rPr>
              <a:t>(1,2)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61320" y="1828800"/>
            <a:ext cx="123444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61320" y="1920240"/>
            <a:ext cx="12344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FF6B8A"/>
                </a:solidFill>
                <a:latin typeface="Menlo"/>
              </a:rPr>
              <a:t>(3,0)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46888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</a:rPr>
              <a:t>↓ sort()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880360"/>
            <a:ext cx="52120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3FD97F"/>
                </a:solidFill>
              </a:rPr>
              <a:t>After sort: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3200400"/>
            <a:ext cx="123444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291840"/>
            <a:ext cx="12344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3FD97F"/>
                </a:solidFill>
                <a:latin typeface="Menlo"/>
              </a:rPr>
              <a:t>(1,2)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9560" y="3200400"/>
            <a:ext cx="123444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3291840"/>
            <a:ext cx="12344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3FD97F"/>
                </a:solidFill>
                <a:latin typeface="Menlo"/>
              </a:rPr>
              <a:t>(1,5)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3200400"/>
            <a:ext cx="123444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3291840"/>
            <a:ext cx="12344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3FD97F"/>
                </a:solidFill>
                <a:latin typeface="Menlo"/>
              </a:rPr>
              <a:t>(3,0)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61320" y="3200400"/>
            <a:ext cx="123444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61320" y="3291840"/>
            <a:ext cx="12344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3FD97F"/>
                </a:solidFill>
                <a:latin typeface="Menlo"/>
              </a:rPr>
              <a:t>(3,1)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4023360"/>
            <a:ext cx="5212080" cy="210312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0" y="4023360"/>
            <a:ext cx="521208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48272" y="4059936"/>
            <a:ext cx="49377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Kelebihan operator&lt;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4848" y="4517136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Otomatis bekerja di set, map, pq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4809744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Tidak perlu lambda di setiap 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4848" y="5102352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Self-documenting: lihat di struct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84848" y="5394960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Default sort tanpa argumen ke-3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Lambda Comparator — Concise &amp; Inline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6035040" cy="438912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60350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760720" cy="402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Sort by length</a:t>
            </a:r>
          </a:p>
          <a:p>
            <a:pPr algn="l"/>
            <a:r>
              <a:rPr sz="1100">
                <a:solidFill>
                  <a:srgbClr val="79C0FF"/>
                </a:solidFill>
                <a:latin typeface="Menlo"/>
              </a:rPr>
              <a:t>sort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v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begin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v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end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const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39D0D8"/>
                </a:solidFill>
                <a:latin typeface="Menlo"/>
              </a:rPr>
              <a:t>string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const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39D0D8"/>
                </a:solidFill>
                <a:latin typeface="Menlo"/>
              </a:rPr>
              <a:t>string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size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size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Multi-criteria 3-tingkat</a:t>
            </a:r>
          </a:p>
          <a:p>
            <a:pPr algn="l"/>
            <a:r>
              <a:rPr sz="1100">
                <a:solidFill>
                  <a:srgbClr val="79C0FF"/>
                </a:solidFill>
                <a:latin typeface="Menlo"/>
              </a:rPr>
              <a:t>sort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students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begin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students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end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const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Student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const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Student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C9D1D9"/>
                </a:solidFill>
                <a:latin typeface="Menlo"/>
              </a:rPr>
              <a:t>score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!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C9D1D9"/>
                </a:solidFill>
                <a:latin typeface="Menlo"/>
              </a:rPr>
              <a:t>score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C9D1D9"/>
                </a:solidFill>
                <a:latin typeface="Menlo"/>
              </a:rPr>
              <a:t>score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C9D1D9"/>
                </a:solidFill>
                <a:latin typeface="Menlo"/>
              </a:rPr>
              <a:t>score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</a:t>
            </a:r>
            <a:r>
              <a:rPr sz="1100">
                <a:solidFill>
                  <a:srgbClr val="6E7681"/>
                </a:solidFill>
                <a:latin typeface="Menlo"/>
              </a:rPr>
              <a:t>// score desc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C9D1D9"/>
                </a:solidFill>
                <a:latin typeface="Menlo"/>
              </a:rPr>
              <a:t>name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!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C9D1D9"/>
                </a:solidFill>
                <a:latin typeface="Menlo"/>
              </a:rPr>
              <a:t>name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C9D1D9"/>
                </a:solidFill>
                <a:latin typeface="Menlo"/>
              </a:rPr>
              <a:t>name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C9D1D9"/>
                </a:solidFill>
                <a:latin typeface="Menlo"/>
              </a:rPr>
              <a:t>name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6E7681"/>
                </a:solidFill>
                <a:latin typeface="Menlo"/>
              </a:rPr>
              <a:t>// name asc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C9D1D9"/>
                </a:solidFill>
                <a:latin typeface="Menlo"/>
              </a:rPr>
              <a:t>age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C9D1D9"/>
                </a:solidFill>
                <a:latin typeface="Menlo"/>
              </a:rPr>
              <a:t>age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         </a:t>
            </a:r>
            <a:r>
              <a:rPr sz="1100">
                <a:solidFill>
                  <a:srgbClr val="6E7681"/>
                </a:solidFill>
                <a:latin typeface="Menlo"/>
              </a:rPr>
              <a:t>// age asc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005840"/>
            <a:ext cx="5120640" cy="20116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1005840"/>
            <a:ext cx="51206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84848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49440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1403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1280160"/>
            <a:ext cx="4846320" cy="164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Capture variabel luar dengan [&amp;]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K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5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79C0FF"/>
                </a:solidFill>
                <a:latin typeface="Menlo"/>
              </a:rPr>
              <a:t>sort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v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begin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v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end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K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79C0FF"/>
                </a:solidFill>
                <a:latin typeface="Menlo"/>
              </a:rPr>
              <a:t>abs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K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79C0FF"/>
                </a:solidFill>
                <a:latin typeface="Menlo"/>
              </a:rPr>
              <a:t>abs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K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Sort by jarak ke 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154680"/>
            <a:ext cx="5120640" cy="22860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3154680"/>
            <a:ext cx="512064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9712" y="3191256"/>
            <a:ext cx="48463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Lambda Capture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3648456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[]   tanpa capture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3941064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[&amp;]  capture by reference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4233672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[=]  capture by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4526280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[&amp;K] hanya K by reference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532120"/>
            <a:ext cx="11247120" cy="91440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532120"/>
            <a:ext cx="11247120" cy="54864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62356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C9A0FF"/>
                </a:solidFill>
              </a:rPr>
              <a:t>🎯 Multi-Criteria Pattern: if (a.X != b.X) return a.X CMP b.X; 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Selalu pakai != untuk cek tie, lalu compare. Ini lebih readable &amp; mudah extend.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FFC857"/>
                </a:solidFill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Functor &amp; Container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struct dengan operator() — wajib untuk priority_queue/set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Functor — struct + operator()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603504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60350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76072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struct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Student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39D0D8"/>
                </a:solidFill>
                <a:latin typeface="Menlo"/>
              </a:rPr>
              <a:t>string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name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score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age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Functor: callable struct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struct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CompStudent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bool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operator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const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Student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        </a:t>
            </a:r>
            <a:r>
              <a:rPr sz="1050">
                <a:solidFill>
                  <a:srgbClr val="C9A0FF"/>
                </a:solidFill>
                <a:latin typeface="Menlo"/>
              </a:rPr>
              <a:t>const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Student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const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score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score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score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score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</a:t>
            </a:r>
            <a:r>
              <a:rPr sz="1050">
                <a:solidFill>
                  <a:srgbClr val="6E7681"/>
                </a:solidFill>
                <a:latin typeface="Menlo"/>
              </a:rPr>
              <a:t>// desc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name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name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79C0FF"/>
                </a:solidFill>
                <a:latin typeface="Menlo"/>
              </a:rPr>
              <a:t>sort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CompStudent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Bisa dipakai juga di: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priority_queue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Student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Student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   </a:t>
            </a:r>
            <a:r>
              <a:rPr sz="1050">
                <a:solidFill>
                  <a:srgbClr val="C9D1D9"/>
                </a:solidFill>
                <a:latin typeface="Menlo"/>
              </a:rPr>
              <a:t>CompStudent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pq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set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Student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CompStudent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005840"/>
            <a:ext cx="5120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Lambda vs Functor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554480"/>
            <a:ext cx="1517904" cy="38862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59" y="1600200"/>
            <a:ext cx="137160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Aspek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1746504" cy="38862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600200"/>
            <a:ext cx="160020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Lambda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1554480"/>
            <a:ext cx="1746504" cy="38862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04119" y="1600200"/>
            <a:ext cx="1600200" cy="29717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Functor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988819"/>
            <a:ext cx="508406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59" y="2061972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Sintaks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061972"/>
            <a:ext cx="1600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Pendek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4119" y="2061972"/>
            <a:ext cx="1600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Lebih panjang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2446020"/>
            <a:ext cx="508406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59" y="2519172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Reusable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519172"/>
            <a:ext cx="1600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Tidak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04119" y="2519172"/>
            <a:ext cx="1600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3FD97F"/>
                </a:solidFill>
              </a:rPr>
              <a:t>Ya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903220"/>
            <a:ext cx="508406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59" y="2976372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Pakai di pq/set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976372"/>
            <a:ext cx="1600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6B8A"/>
                </a:solidFill>
              </a:rPr>
              <a:t>Tidak (butuh tipe)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19" y="2976372"/>
            <a:ext cx="1600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3FD97F"/>
                </a:solidFill>
              </a:rPr>
              <a:t>Ya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3360420"/>
            <a:ext cx="5084064" cy="42062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59" y="3433572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433572"/>
            <a:ext cx="1600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Capture [&amp;]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19" y="3433572"/>
            <a:ext cx="1600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Member variabel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3817620"/>
            <a:ext cx="5084064" cy="42062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59" y="3890772"/>
            <a:ext cx="13716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Inline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890772"/>
            <a:ext cx="1600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3FD97F"/>
                </a:solidFill>
              </a:rPr>
              <a:t>Ya, ringkas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4119" y="3890772"/>
            <a:ext cx="1600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Tidak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4846320"/>
            <a:ext cx="5120640" cy="64008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75120" y="4846320"/>
            <a:ext cx="91440" cy="64008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4937759"/>
            <a:ext cx="457200" cy="45719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FFC857"/>
                </a:solidFill>
              </a:rPr>
              <a:t>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4956048"/>
            <a:ext cx="4343400" cy="42062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Container (set, pq, map) butuh TIPE → wajib functor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75120" y="5623560"/>
            <a:ext cx="5120640" cy="77724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675120" y="5623560"/>
            <a:ext cx="512064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39712" y="5660136"/>
            <a:ext cx="48463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Tip CP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76288" y="6117336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Default: lambda jika sekali pakai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76288" y="6409944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Pakai functor jika butuh di pq/set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76288" y="6702552"/>
            <a:ext cx="475487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operator&lt; paling clean kalau struct milik kita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priority_queue — Max vs Min Heap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612648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61264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85216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DEFAULT: MAX-HEAP ===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priority_queue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pq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pq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FFA657"/>
                </a:solidFill>
                <a:latin typeface="Menlo"/>
              </a:rPr>
              <a:t>3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pq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pq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push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FFA657"/>
                </a:solidFill>
                <a:latin typeface="Menlo"/>
              </a:rPr>
              <a:t>5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pq.top() = 5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MIN-HEAP (greater) ===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priority_queue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   </a:t>
            </a:r>
            <a:r>
              <a:rPr sz="1050">
                <a:solidFill>
                  <a:srgbClr val="39D0D8"/>
                </a:solidFill>
                <a:latin typeface="Menlo"/>
              </a:rPr>
              <a:t>greater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minPQ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minPQ.top() = elemen terkecil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CUSTOM: min-heap by deadline ===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struct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Task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39D0D8"/>
                </a:solidFill>
                <a:latin typeface="Menlo"/>
              </a:rPr>
              <a:t>string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name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deadline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struct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CompTask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bool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operator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const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Task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        </a:t>
            </a:r>
            <a:r>
              <a:rPr sz="1050">
                <a:solidFill>
                  <a:srgbClr val="C9A0FF"/>
                </a:solidFill>
                <a:latin typeface="Menlo"/>
              </a:rPr>
              <a:t>const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Task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const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deadline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deadline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6E7681"/>
                </a:solidFill>
                <a:latin typeface="Menlo"/>
              </a:rPr>
              <a:t>// ← min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priority_queue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Task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Task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   </a:t>
            </a:r>
            <a:r>
              <a:rPr sz="1050">
                <a:solidFill>
                  <a:srgbClr val="C9D1D9"/>
                </a:solidFill>
                <a:latin typeface="Menlo"/>
              </a:rPr>
              <a:t>CompTask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taskPQ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005840"/>
            <a:ext cx="50292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🧠 Logika priority_queue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1554480"/>
            <a:ext cx="5029200" cy="201168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66560" y="1554480"/>
            <a:ext cx="502920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31152" y="1591056"/>
            <a:ext cx="47548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Aturan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2048256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comp(a,b)=true → b di atas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2340864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Default: comp = less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2633472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→ max element di 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2926079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Untuk min-heap: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3218687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comp(a,b) = a &gt;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3511295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→ terkecil di top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3703320"/>
            <a:ext cx="502920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3703320"/>
            <a:ext cx="502920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31152" y="3739896"/>
            <a:ext cx="47548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Pola Umum CP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4197096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Min-heap: greater&lt;int&gt;()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4489704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Top-K terbesar → min-heap size 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4782312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Dijkstra → min-heap pair&lt;dist,v&gt;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5074920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Median → 2 heap (max+min)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0" y="5623560"/>
            <a:ext cx="502920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66560" y="5623560"/>
            <a:ext cx="914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5715000"/>
            <a:ext cx="45720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FF6B8A"/>
                </a:solidFill>
              </a:rPr>
              <a:t>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5733288"/>
            <a:ext cx="42519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Hati-hati: pq.top() READONLY, jangan modify!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C9A0FF"/>
                </a:solidFill>
              </a:rP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Pola CP Klasik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Index sort, negate trick, version comparator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Index Sort — Sort tapi simpan urutan asli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943600" cy="50292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669280" cy="466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  <a:r>
              <a:rPr sz="1100">
                <a:solidFill>
                  <a:srgbClr val="FFA657"/>
                </a:solidFill>
                <a:latin typeface="Menlo"/>
              </a:rPr>
              <a:t>30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10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50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20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40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idx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size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79C0FF"/>
                </a:solidFill>
                <a:latin typeface="Menlo"/>
              </a:rPr>
              <a:t>iota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idx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begin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idx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end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idx = {0, 1, 2, 3, 4}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Sort indices BY value of A</a:t>
            </a:r>
          </a:p>
          <a:p>
            <a:pPr algn="l"/>
            <a:r>
              <a:rPr sz="1100">
                <a:solidFill>
                  <a:srgbClr val="79C0FF"/>
                </a:solidFill>
                <a:latin typeface="Menlo"/>
              </a:rPr>
              <a:t>sort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idx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begin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idx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end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j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j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idx sekarang = {1, 3, 0, 4, 2}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A[idx[0]] = 10 (terkecil)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A[idx[1]] = 20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A[idx[k]] = elemen ke-k terkecil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0058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🎯 Visual Index Sort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554480"/>
            <a:ext cx="548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Menlo"/>
              </a:rPr>
              <a:t>A =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554480"/>
            <a:ext cx="54864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30759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7" y="1636776"/>
            <a:ext cx="512063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1554480"/>
            <a:ext cx="54864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130759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7" y="1636776"/>
            <a:ext cx="512063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554480"/>
            <a:ext cx="54864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30759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1636776"/>
            <a:ext cx="512063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50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1554480"/>
            <a:ext cx="54864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130759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3688" y="1636776"/>
            <a:ext cx="512063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20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1554480"/>
            <a:ext cx="548640" cy="45720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130759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1636776"/>
            <a:ext cx="512063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194560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FFC857"/>
                </a:solidFill>
              </a:rPr>
              <a:t>↓ idx sort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606040"/>
            <a:ext cx="5486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  <a:latin typeface="Menlo"/>
              </a:rPr>
              <a:t>idx =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0" y="2606040"/>
            <a:ext cx="548640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235915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0607" y="2688336"/>
            <a:ext cx="512063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26679" y="2606040"/>
            <a:ext cx="548640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26679" y="235915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44967" y="2688336"/>
            <a:ext cx="512063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2606040"/>
            <a:ext cx="548640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235915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9327" y="2688336"/>
            <a:ext cx="512063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400" y="2606040"/>
            <a:ext cx="548640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15400" y="235915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3688" y="2688336"/>
            <a:ext cx="512063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9760" y="2606040"/>
            <a:ext cx="548640" cy="457200"/>
          </a:xfrm>
          <a:prstGeom prst="roundRect">
            <a:avLst/>
          </a:prstGeom>
          <a:solidFill>
            <a:srgbClr val="FFC857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0" y="2359152"/>
            <a:ext cx="5486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28048" y="2688336"/>
            <a:ext cx="512063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0" y="3520440"/>
            <a:ext cx="5212080" cy="210312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3680" y="3520440"/>
            <a:ext cx="521208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48272" y="3557016"/>
            <a:ext cx="49377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Mengapa berguna?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84848" y="4014216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Tahu rank tiap elemen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84848" y="4306824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Akses elemen sorted tanpa
  ubah array asli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84848" y="4599432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Multi-array sort konsisten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84848" y="4892040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Output urutan original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5760720"/>
            <a:ext cx="5212080" cy="64008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583680" y="5760720"/>
            <a:ext cx="91440" cy="64008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0" y="5852159"/>
            <a:ext cx="457200" cy="45719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FD97F"/>
                </a:solidFill>
              </a:rPr>
              <a:t>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9480" y="5870448"/>
            <a:ext cx="4434840" cy="42062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Pola: iota + sort + lambda — 3 baris jadi index sort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Negate Trick &amp; Stable Sort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852160" cy="36576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85216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577840" cy="3291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Negate trick — sort multi-criteria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dengan default &lt;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struct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Item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score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39D0D8"/>
                </a:solidFill>
                <a:latin typeface="Menlo"/>
              </a:rPr>
              <a:t>string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name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rank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Sort: score DESC, name ASC, rank ASC</a:t>
            </a:r>
          </a:p>
          <a:p>
            <a:pPr algn="l"/>
            <a:r>
              <a:rPr sz="1100">
                <a:solidFill>
                  <a:srgbClr val="39D0D8"/>
                </a:solidFill>
                <a:latin typeface="Menlo"/>
              </a:rPr>
              <a:t>vector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39D0D8"/>
                </a:solidFill>
                <a:latin typeface="Menlo"/>
              </a:rPr>
              <a:t>tuple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39D0D8"/>
                </a:solidFill>
                <a:latin typeface="Menlo"/>
              </a:rPr>
              <a:t>string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v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for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auto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: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items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v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push_back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it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C9D1D9"/>
                </a:solidFill>
                <a:latin typeface="Menlo"/>
              </a:rPr>
              <a:t>score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C9D1D9"/>
                </a:solidFill>
                <a:latin typeface="Menlo"/>
              </a:rPr>
              <a:t>name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it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C9D1D9"/>
                </a:solidFill>
                <a:latin typeface="Menlo"/>
              </a:rPr>
              <a:t>rank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79C0FF"/>
                </a:solidFill>
                <a:latin typeface="Menlo"/>
              </a:rPr>
              <a:t>sort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v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begin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v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end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Negate score → DESC otomatis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00600"/>
            <a:ext cx="5852160" cy="15544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800600"/>
            <a:ext cx="585216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7" y="484632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19" y="484632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484632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074920"/>
            <a:ext cx="5577840" cy="11887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stable_sort — pertahankan urutan relatif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untuk elemen yang equal</a:t>
            </a:r>
          </a:p>
          <a:p>
            <a:pPr algn="l"/>
            <a:r>
              <a:rPr sz="1100">
                <a:solidFill>
                  <a:srgbClr val="79C0FF"/>
                </a:solidFill>
                <a:latin typeface="Menlo"/>
              </a:rPr>
              <a:t>stable_sort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v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begin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v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79C0FF"/>
                </a:solidFill>
                <a:latin typeface="Menlo"/>
              </a:rPr>
              <a:t>end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[</a:t>
            </a:r>
            <a:r>
              <a:rPr sz="1100">
                <a:solidFill>
                  <a:srgbClr val="C9D1D9"/>
                </a:solidFill>
                <a:latin typeface="Menlo"/>
              </a:rPr>
              <a:t>]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auto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,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auto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return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a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C9D1D9"/>
                </a:solidFill>
                <a:latin typeface="Menlo"/>
              </a:rPr>
              <a:t>score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b</a:t>
            </a:r>
            <a:r>
              <a:rPr sz="1100">
                <a:solidFill>
                  <a:srgbClr val="C9D1D9"/>
                </a:solidFill>
                <a:latin typeface="Menlo"/>
              </a:rPr>
              <a:t>.</a:t>
            </a:r>
            <a:r>
              <a:rPr sz="1100">
                <a:solidFill>
                  <a:srgbClr val="C9D1D9"/>
                </a:solidFill>
                <a:latin typeface="Menlo"/>
              </a:rPr>
              <a:t>score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Kalau dua score sama, urutan input tetap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005840"/>
            <a:ext cx="53035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🔄 stable_sort vs sort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554480"/>
            <a:ext cx="1700784" cy="427482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1600200"/>
            <a:ext cx="1554480" cy="33604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Algoritma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554480"/>
            <a:ext cx="1700784" cy="427482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600200"/>
            <a:ext cx="1554480" cy="33604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60" y="1554480"/>
            <a:ext cx="1700784" cy="427482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1600200"/>
            <a:ext cx="1554480" cy="33604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</a:rPr>
              <a:t>Stable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2027681"/>
            <a:ext cx="5175503" cy="46634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79" y="2100834"/>
            <a:ext cx="155448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sort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100834"/>
            <a:ext cx="155448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O(n log 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100834"/>
            <a:ext cx="155448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Tidak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2530602"/>
            <a:ext cx="5175503" cy="46634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79" y="2603754"/>
            <a:ext cx="155448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FD97F"/>
                </a:solidFill>
              </a:rPr>
              <a:t>stable_sort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603754"/>
            <a:ext cx="155448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</a:rPr>
              <a:t>O(n log² 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2603754"/>
            <a:ext cx="155448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3FD97F"/>
                </a:solidFill>
              </a:rPr>
              <a:t>Ya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2834640"/>
            <a:ext cx="5303520" cy="18288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92240" y="2834640"/>
            <a:ext cx="530352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56831" y="2871216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Kapan Pakai Stable?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3407" y="3328416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Multi-pass sort (sort N kali)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93407" y="3621024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Hindari stable: 1 sort lambda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3407" y="3913632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multi-criteria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7" y="4206240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Pakai stable saat kriteria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3407" y="4498848"/>
            <a:ext cx="4937759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hierarki tidak bisa di-1-call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92240" y="4846320"/>
            <a:ext cx="5303520" cy="64008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92240" y="4846320"/>
            <a:ext cx="91440" cy="64008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4937759"/>
            <a:ext cx="457200" cy="45719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FFC857"/>
                </a:solidFill>
              </a:rPr>
              <a:t>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4956048"/>
            <a:ext cx="4526280" cy="42062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Pakai sort + lambda multi-criteria &gt; multiple stable_sort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Common Mistakes — Comparator Pitfalls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1. Pakai &lt;= bukan &lt;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Langgar irreflexivity → UB.
Gunakan &lt; (strict) saja.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2. Tidak transitif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Misal: comp by 'mood'.
Hasil sort tidak konsisten.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3. Lambda di set/map/pq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Tidak bisa langsung.
Pakai functor atau decltype.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4. Lupa const di operator&lt;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set butuh const → compile error.
operator&lt;(...) const wajib.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5. priority_queue logika balik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comp(a,b)=true → b di atas a.
Untuk min: a &gt; b (kebalikan).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6. Capture lifetime issue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Capture by ref [&amp;] saat objek
sudah dihancurkan → UB.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Cheatsheet — Comparator Templates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66928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6692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39496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OPERATOR&lt; ===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struct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Point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y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bool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operator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const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Point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o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const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79C0FF"/>
                </a:solidFill>
                <a:latin typeface="Menlo"/>
              </a:rPr>
              <a:t>tie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y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79C0FF"/>
                </a:solidFill>
                <a:latin typeface="Menlo"/>
              </a:rPr>
              <a:t>tie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o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o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y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LAMBDA ===</a:t>
            </a:r>
          </a:p>
          <a:p>
            <a:pPr algn="l"/>
            <a:r>
              <a:rPr sz="1050">
                <a:solidFill>
                  <a:srgbClr val="79C0FF"/>
                </a:solidFill>
                <a:latin typeface="Menlo"/>
              </a:rPr>
              <a:t>sort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auto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auto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score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score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MULTI-CRITERIA ===</a:t>
            </a:r>
          </a:p>
          <a:p>
            <a:pPr algn="l"/>
            <a:r>
              <a:rPr sz="1050">
                <a:solidFill>
                  <a:srgbClr val="79C0FF"/>
                </a:solidFill>
                <a:latin typeface="Menlo"/>
              </a:rPr>
              <a:t>sort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v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auto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auto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y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!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y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y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y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z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z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4864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5683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80160"/>
            <a:ext cx="521208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FUNCTOR (untuk pq, set) ===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struct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Cmp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bool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operator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const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T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            </a:t>
            </a:r>
            <a:r>
              <a:rPr sz="1050">
                <a:solidFill>
                  <a:srgbClr val="C9A0FF"/>
                </a:solidFill>
                <a:latin typeface="Menlo"/>
              </a:rPr>
              <a:t>const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T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const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score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b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score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6E7681"/>
                </a:solidFill>
                <a:latin typeface="Menlo"/>
              </a:rPr>
              <a:t>// min-heap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priority_queue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T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Cmp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pq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set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T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Cmp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INDEX SORT ===</a:t>
            </a:r>
          </a:p>
          <a:p>
            <a:pPr algn="l"/>
            <a:r>
              <a:rPr sz="1050">
                <a:solidFill>
                  <a:srgbClr val="39D0D8"/>
                </a:solidFill>
                <a:latin typeface="Menlo"/>
              </a:rPr>
              <a:t>vector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idx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79C0FF"/>
                </a:solidFill>
                <a:latin typeface="Menlo"/>
              </a:rPr>
              <a:t>iota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idx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idx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79C0FF"/>
                </a:solidFill>
                <a:latin typeface="Menlo"/>
              </a:rPr>
              <a:t>sort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idx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begin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idx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79C0FF"/>
                </a:solidFill>
                <a:latin typeface="Menlo"/>
              </a:rPr>
              <a:t>end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,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j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A0FF"/>
                </a:solidFill>
                <a:latin typeface="Menlo"/>
              </a:rPr>
              <a:t>return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A</a:t>
            </a:r>
            <a:r>
              <a:rPr sz="1050">
                <a:solidFill>
                  <a:srgbClr val="C9D1D9"/>
                </a:solidFill>
                <a:latin typeface="Menlo"/>
              </a:rPr>
              <a:t>[</a:t>
            </a:r>
            <a:r>
              <a:rPr sz="1050">
                <a:solidFill>
                  <a:srgbClr val="C9D1D9"/>
                </a:solidFill>
                <a:latin typeface="Menlo"/>
              </a:rPr>
              <a:t>j</a:t>
            </a:r>
            <a:r>
              <a:rPr sz="1050">
                <a:solidFill>
                  <a:srgbClr val="C9D1D9"/>
                </a:solidFill>
                <a:latin typeface="Menlo"/>
              </a:rPr>
              <a:t>]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0"/>
            <a:ext cx="1828800" cy="18288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65760"/>
            <a:ext cx="5029200" cy="6400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</a:rPr>
              <a:t>🎯 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Custom Comparator: sort apapun, sebebas-bebasnya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0972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6916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91640"/>
            <a:ext cx="9144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Strict Weak Ordering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031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3 aturan: irreflexive, asymmetric, transitive. Pakai &lt; bukan &lt;=.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060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06040"/>
            <a:ext cx="91440" cy="7772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974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FD97F"/>
                </a:solidFill>
              </a:rPr>
              <a:t>operator&lt; &amp; Lambda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175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operator&lt; paling clean. Lambda untuk inline. Multi-criteria pakai if !=.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04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20440"/>
            <a:ext cx="91440" cy="7772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118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Functor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319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struct + operator(). Wajib untuk priority_queue, set, map. Reusable.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34840"/>
            <a:ext cx="91440" cy="7772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C9A0FF"/>
                </a:solidFill>
              </a:rPr>
              <a:t>Pola CP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Index sort dengan iota+lambda. Negate trick untuk desc multi-criteria.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492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49240"/>
            <a:ext cx="91440" cy="7772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406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6B8A"/>
                </a:solidFill>
              </a:rPr>
              <a:t>Pitfall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607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&lt;= ke comparator → UB. Lambda tidak bisa langsung di pq/set tanpa decltype.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92240"/>
            <a:ext cx="109728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Day 16 | Competitive Programming · 150 Day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