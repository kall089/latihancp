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937760" y="0"/>
            <a:ext cx="457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-9144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286000" y="5029200"/>
            <a:ext cx="3657600" cy="36576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0"/>
            <a:ext cx="36576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457200"/>
            <a:ext cx="1463040" cy="4114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502920"/>
            <a:ext cx="14630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4389120" cy="23774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0" b="1" i="0">
                <a:solidFill>
                  <a:srgbClr val="58A6FF"/>
                </a:solidFill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65760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657600"/>
            <a:ext cx="1371600" cy="73152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8B949E"/>
                </a:solidFill>
              </a:rPr>
              <a:t>COMPETITIVE PROGRAMMING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6E7681"/>
                </a:solidFill>
              </a:rPr>
              <a:t>150 Day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03120"/>
            <a:ext cx="6400800" cy="1280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200" b="1" i="0">
                <a:solidFill>
                  <a:srgbClr val="F0F6FC"/>
                </a:solidFill>
              </a:rPr>
              <a:t>Bitmask Enumeration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3246120"/>
            <a:ext cx="457200" cy="7315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246120"/>
            <a:ext cx="3657600" cy="73152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3429000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39D0D8"/>
                </a:solidFill>
              </a:rPr>
              <a:t>Set as integer  ·  Bitwise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813048"/>
            <a:ext cx="6400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0" i="0">
                <a:solidFill>
                  <a:srgbClr val="C9A0FF"/>
                </a:solidFill>
              </a:rPr>
              <a:t>Iterasi semua 2ⁿ subset dengan elegan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6126480"/>
            <a:ext cx="365760" cy="457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6217920"/>
            <a:ext cx="6400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 i="1">
                <a:solidFill>
                  <a:srgbClr val="6E7681"/>
                </a:solidFill>
              </a:rPr>
              <a:t>Modern Cobalt Theme · python-pptx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5120640"/>
            <a:ext cx="1554480" cy="45720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1010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635240" y="5120640"/>
            <a:ext cx="1554480" cy="45720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3524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0101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5120640"/>
            <a:ext cx="1554480" cy="45720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5212080"/>
            <a:ext cx="15544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  <a:latin typeface="Menlo"/>
              </a:rPr>
              <a:t>1111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Agenda — Day 13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12471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1">
                <a:solidFill>
                  <a:srgbClr val="8B949E"/>
                </a:solidFill>
              </a:rPr>
              <a:t>Topik utama yang akan kita bahas hari 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8892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914400" cy="54864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Konsep
Bitmask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971800"/>
            <a:ext cx="242316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Set as integer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Mapping bit ↔ elemen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Kapan pakai bitmask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Batas n ≤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64991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64991" y="1234440"/>
            <a:ext cx="278892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47872" y="1463040"/>
            <a:ext cx="914400" cy="548640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Bitwise
Operators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47872" y="2971800"/>
            <a:ext cx="2423160" cy="36576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47872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AND, OR, XOR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Shift &lt;&lt; &gt;&gt;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Cek/set/clear/toggle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popcount, ctz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2783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72783" y="1234440"/>
            <a:ext cx="278892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5664" y="1463040"/>
            <a:ext cx="914400" cy="548640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55664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Subset
Enumeration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55664" y="2971800"/>
            <a:ext cx="2423160" cy="36576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55664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Iterasi 2ⁿ subset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55664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Subset sum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Submask enum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5664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Pola O(3ⁿ)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80576" y="1234440"/>
            <a:ext cx="2788920" cy="52120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80576" y="1234440"/>
            <a:ext cx="278892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63455" y="1463040"/>
            <a:ext cx="914400" cy="54864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63455" y="1508760"/>
            <a:ext cx="91440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200" b="1" i="0">
                <a:solidFill>
                  <a:srgbClr val="0D1117"/>
                </a:solidFill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63455" y="2194560"/>
            <a:ext cx="242316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 i="0">
                <a:solidFill>
                  <a:srgbClr val="F0F6FC"/>
                </a:solidFill>
              </a:rPr>
              <a:t>Aplikasi
CP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363455" y="2971800"/>
            <a:ext cx="2423160" cy="36576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63455" y="31089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Travelling Salesman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63455" y="35661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Bitmask DP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63455" y="40233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Hamiltonian path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480560"/>
            <a:ext cx="24231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▸  Tips &amp; pitfall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58A6FF"/>
                </a:solidFill>
              </a:rPr>
              <a:t>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Konsep Bitmask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Set elemen direpresentasikan sebagai integer biner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Set as Integer — Mapping Bit ↔ Elemen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029200" cy="27432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02920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4241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Konsep Dasar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9961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Setiap bit = 1 elemen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79222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bit i aktif → elemen i 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8483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bit i = 0 → elemen i TIDAK 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77440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int 32-bit → maks 32 elemen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670048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long long → maks 64 elemen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5029200" cy="22860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86200"/>
            <a:ext cx="50292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922776"/>
            <a:ext cx="47548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Keunggulan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79976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Operasi set O(1) — cepat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672584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Kompak: n elemen di 1 integer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965192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Iterasi semua subset O(2ⁿ)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257800"/>
            <a:ext cx="46634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Mudah hash sebagai 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005840"/>
            <a:ext cx="5943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🎯 Contoh: 4 elemen {A, B, C, D}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1554480"/>
            <a:ext cx="1188720" cy="36576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Bit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1554480"/>
            <a:ext cx="1188720" cy="36576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Bit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1554480"/>
            <a:ext cx="1188720" cy="36576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Bit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554480"/>
            <a:ext cx="1188720" cy="365760"/>
          </a:xfrm>
          <a:prstGeom prst="round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84080" y="162763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Bit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199339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99339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199339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1993392"/>
            <a:ext cx="11887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1" i="0">
                <a:solidFill>
                  <a:srgbClr val="58A6FF"/>
                </a:solidFill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0" y="2423160"/>
            <a:ext cx="576072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468879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C9A0FF"/>
                </a:solidFill>
                <a:latin typeface="Menlo"/>
              </a:rPr>
              <a:t>0000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2468879"/>
            <a:ext cx="1097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Menlo"/>
              </a:rPr>
              <a:t> =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2468879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{} (kosong)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0" y="2926080"/>
            <a:ext cx="576072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97180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58A6FF"/>
                </a:solidFill>
                <a:latin typeface="Menlo"/>
              </a:rPr>
              <a:t>0001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2971800"/>
            <a:ext cx="1097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Menlo"/>
              </a:rPr>
              <a:t> = 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79" y="2971800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{A}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0" y="3429000"/>
            <a:ext cx="576072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3474720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  <a:latin typeface="Menlo"/>
              </a:rPr>
              <a:t>0101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3474720"/>
            <a:ext cx="1097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Menlo"/>
              </a:rPr>
              <a:t> = 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79" y="3474720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{A, C}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43600" y="3931920"/>
            <a:ext cx="576072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977639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  <a:latin typeface="Menlo"/>
              </a:rPr>
              <a:t>1011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3977639"/>
            <a:ext cx="1097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Menlo"/>
              </a:rPr>
              <a:t> = 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83879" y="3977639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{A, B, D}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943600" y="4434840"/>
            <a:ext cx="5760720" cy="41148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80760" y="4480559"/>
            <a:ext cx="91440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  <a:latin typeface="Menlo"/>
              </a:rPr>
              <a:t>1111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4480559"/>
            <a:ext cx="109728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Menlo"/>
              </a:rPr>
              <a:t> = 15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4480559"/>
            <a:ext cx="35204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 i="0">
                <a:solidFill>
                  <a:srgbClr val="F0F6FC"/>
                </a:solidFill>
              </a:rPr>
              <a:t>{A, B, C, D}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720" y="5074920"/>
            <a:ext cx="5943600" cy="59436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760720" y="5074920"/>
            <a:ext cx="91440" cy="5943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943600" y="5166359"/>
            <a:ext cx="4572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FFC857"/>
                </a:solidFill>
              </a:rPr>
              <a:t>⚠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5184648"/>
            <a:ext cx="5166360" cy="37490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n ≤ 20 → 1M kombinasi (aman). n &gt; 25 → TLE!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3FD97F"/>
                </a:solidFill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Bitwise 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AND, OR, XOR, shift — dasar manipulasi bit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Operator Bitwise — 5 Esensial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577840" cy="38404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42416"/>
            <a:ext cx="731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Menlo"/>
              </a:rPr>
              <a:t>&amp;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078992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D1117"/>
                </a:solidFill>
              </a:rPr>
              <a:t>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Hasil 1 jika KEDUA bit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920240"/>
            <a:ext cx="5212080" cy="7772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20240"/>
            <a:ext cx="52120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49807" y="1965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399" y="1965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1" y="1965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194560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1010 &amp; 1100 = 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346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58A6FF"/>
                </a:solidFill>
              </a:rPr>
              <a:t>🎯 Cek bit aktif, intersect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00584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005840"/>
            <a:ext cx="5577840" cy="384048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042416"/>
            <a:ext cx="731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Menlo"/>
              </a:rPr>
              <a:t>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078992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D1117"/>
                </a:solidFill>
              </a:rPr>
              <a:t>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50876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Hasil 1 jika SALAH SATU bit 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920240"/>
            <a:ext cx="5212080" cy="7772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1920240"/>
            <a:ext cx="52120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1965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675120" y="1965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39712" y="1965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194560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1010 | 0100 = 1110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8346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3FD97F"/>
                </a:solidFill>
              </a:rPr>
              <a:t>🎯 Set bit, union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70332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703320"/>
            <a:ext cx="557784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3739896"/>
            <a:ext cx="731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Menlo"/>
              </a:rPr>
              <a:t>^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3776472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D1117"/>
                </a:solidFill>
              </a:rPr>
              <a:t>XOR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2062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Hasil 1 jika BERBEDA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4617720"/>
            <a:ext cx="5212080" cy="7772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617720"/>
            <a:ext cx="52120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49807" y="466344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4399" y="466344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78991" y="466344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4892040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1010 ^ 1100 = 0110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553212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FFC857"/>
                </a:solidFill>
              </a:rPr>
              <a:t>🎯 Toggle bit, find unique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3703320"/>
            <a:ext cx="5577840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3703320"/>
            <a:ext cx="5577840" cy="384048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3739896"/>
            <a:ext cx="7315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800" b="1" i="0">
                <a:solidFill>
                  <a:srgbClr val="0D1117"/>
                </a:solidFill>
                <a:latin typeface="Menlo"/>
              </a:rPr>
              <a:t>&lt;&lt;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776472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0D1117"/>
                </a:solidFill>
              </a:rPr>
              <a:t>Shift Left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2062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0" i="0">
                <a:solidFill>
                  <a:srgbClr val="C9D1D9"/>
                </a:solidFill>
              </a:rPr>
              <a:t>Geser kiri = kalikan 2^k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617720"/>
            <a:ext cx="5212080" cy="77724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00800" y="4617720"/>
            <a:ext cx="52120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510528" y="466344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75120" y="466344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839712" y="466344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4892040"/>
            <a:ext cx="49377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C9D1D9"/>
                </a:solidFill>
                <a:latin typeface="Menlo"/>
              </a:rPr>
              <a:t>0001 &lt;&lt; 3 = 1000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53212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C9A0FF"/>
                </a:solidFill>
              </a:rPr>
              <a:t>🎯 Buat mask: 1 &lt;&lt; 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Operasi Bitmask Umum — Cek/Set/Clear/Toggle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03504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03504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76072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CEK bit ke-i aktif?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bool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isSet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alternatif: (mask &amp; (1 &lt;&lt; i)) != 0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SET bit ke-i jadi 1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CLEAR bit ke-i jadi 0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~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TOGGLE bit ke-i (flip)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^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HITUNG bit aktif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__builtin_popcount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</a:t>
            </a:r>
            <a:r>
              <a:rPr sz="1050">
                <a:solidFill>
                  <a:srgbClr val="6E7681"/>
                </a:solidFill>
                <a:latin typeface="Menlo"/>
              </a:rPr>
              <a:t>// int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cnt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__builtin_popcountll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</a:t>
            </a:r>
            <a:r>
              <a:rPr sz="1050">
                <a:solidFill>
                  <a:srgbClr val="6E7681"/>
                </a:solidFill>
                <a:latin typeface="Menlo"/>
              </a:rPr>
              <a:t>// ll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LOWEST set bit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low_val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low_idx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__builtin_ctz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HAPUS lowest set bit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🎬 Visual: mask = 1010 (= 10)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694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1554480"/>
            <a:ext cx="640080" cy="502920"/>
          </a:xfrm>
          <a:prstGeom prst="roundRect">
            <a:avLst/>
          </a:prstGeom>
          <a:solidFill>
            <a:srgbClr val="58A6FF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0D1117"/>
                </a:solidFill>
              </a:rPr>
              <a:t>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1080" y="1554480"/>
            <a:ext cx="640080" cy="502920"/>
          </a:xfrm>
          <a:prstGeom prst="roundRect">
            <a:avLst/>
          </a:prstGeom>
          <a:solidFill>
            <a:srgbClr val="1F293C"/>
          </a:solidFill>
          <a:ln w="63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41080" y="1307592"/>
            <a:ext cx="6400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9367" y="1645005"/>
            <a:ext cx="603503" cy="3520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400" b="1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19456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bit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19456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bit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219456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bit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2194560"/>
            <a:ext cx="6400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0" i="0">
                <a:solidFill>
                  <a:srgbClr val="6E7681"/>
                </a:solidFill>
              </a:rPr>
              <a:t>bit 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743200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2788920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58A6FF"/>
                </a:solidFill>
              </a:rPr>
              <a:t>Set bit 0 (|=1)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788920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1010 | 0001 = 1011 (11)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0" y="3346704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392424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FF6B8A"/>
                </a:solidFill>
              </a:rPr>
              <a:t>Clear bit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3392424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1010 &amp; 0111 = 0010 (2)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950208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995928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FFC857"/>
                </a:solidFill>
              </a:rPr>
              <a:t>Toggle bit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995928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1010 ^ 0010 = 1000 (8)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553712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599432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3FD97F"/>
                </a:solidFill>
              </a:rPr>
              <a:t>popcount(1010)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599432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= 2 (jumlah bit 1)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0" y="5157216"/>
            <a:ext cx="5212080" cy="502920"/>
          </a:xfrm>
          <a:prstGeom prst="roundRect">
            <a:avLst/>
          </a:prstGeom>
          <a:solidFill>
            <a:srgbClr val="171F2E"/>
          </a:solidFill>
          <a:ln w="635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5202936"/>
            <a:ext cx="21945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 i="0">
                <a:solidFill>
                  <a:srgbClr val="C9A0FF"/>
                </a:solidFill>
              </a:rPr>
              <a:t>ctz(1010)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202936"/>
            <a:ext cx="278892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  <a:latin typeface="Menlo"/>
              </a:rPr>
              <a:t>= 1 (trailing zero)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FFC857"/>
                </a:solidFill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Subset Enumeration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Iterasi 2ⁿ subset &amp; submask iteration O(3ⁿ)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Iterasi Semua Subset O(2ⁿ)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85216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85216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57784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3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"{"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n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+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</a:t>
            </a:r>
            <a:r>
              <a:rPr sz="1100">
                <a:solidFill>
                  <a:srgbClr val="C9A0FF"/>
                </a:solidFill>
                <a:latin typeface="Menlo"/>
              </a:rPr>
              <a:t>if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    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i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 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79C0FF"/>
                </a:solidFill>
                <a:latin typeface="Menlo"/>
              </a:rPr>
              <a:t>cout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&lt;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C857"/>
                </a:solidFill>
                <a:latin typeface="Menlo"/>
              </a:rPr>
              <a:t>"}\n"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Total: 2^n iterasi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Pemrosesan O(n) per subset → O(n · 2^n)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00584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</a:rPr>
              <a:t>📊 Trace n=3 — semua 8 subset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554480"/>
            <a:ext cx="1335024" cy="310896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00200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mask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554480"/>
            <a:ext cx="1517904" cy="310896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1600200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biner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19" y="1554480"/>
            <a:ext cx="2249424" cy="310896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59" y="1600200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subset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911095"/>
            <a:ext cx="5175504" cy="32918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198424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198424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59" y="198424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{}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276856"/>
            <a:ext cx="5175504" cy="32918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79" y="235000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35000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001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35000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{0}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642615"/>
            <a:ext cx="5175504" cy="32918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79" y="271576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271576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010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59" y="271576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{1}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92240" y="3008376"/>
            <a:ext cx="5175504" cy="32918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79" y="308152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308152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011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59" y="308152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{0,1}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374136"/>
            <a:ext cx="5175504" cy="32918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79" y="344728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344728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59" y="344728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{2}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92240" y="3739896"/>
            <a:ext cx="5175504" cy="32918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79" y="381304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381304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59" y="381304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{0,2}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105656"/>
            <a:ext cx="5175504" cy="32918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79" y="417880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17880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59" y="417880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{1,2}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471416"/>
            <a:ext cx="5175504" cy="32918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79" y="4544568"/>
            <a:ext cx="11887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4544568"/>
            <a:ext cx="137160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111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09759" y="4544568"/>
            <a:ext cx="210312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{0,1,2}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937760"/>
            <a:ext cx="11247120" cy="14630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937760"/>
            <a:ext cx="1124712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5029200"/>
            <a:ext cx="54864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3FD97F"/>
                </a:solidFill>
              </a:rPr>
              <a:t>🎯 Contoh Aplikasi: Subset Sum O(n · 2ⁿ)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349240"/>
            <a:ext cx="10972800" cy="96012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0080" y="5349240"/>
            <a:ext cx="109728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49807" y="53949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14399" y="53949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8991" y="53949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5623559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for (int mask = 0; mask &lt; (1&lt;&lt;n); mask++) 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long long sum = 0;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for (int i = 0; i &lt; n; i++)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if ((mask &gt;&gt; i) &amp; 1) sum += a[i];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if (sum == K) { found = true; break; }   // ada subset dengan sum = K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Submask Iteration — O(3ⁿ) Trick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943600" cy="36576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9436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669280" cy="3291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Iterasi semua submask dari mask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for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&gt;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0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sub adalah subset dari mask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proses sub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Termasuk submask 0: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int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A0FF"/>
                </a:solidFill>
                <a:latin typeface="Menlo"/>
              </a:rPr>
              <a:t>do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6E7681"/>
                </a:solidFill>
                <a:latin typeface="Menlo"/>
              </a:rPr>
              <a:t>// proses sub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    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-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FFA657"/>
                </a:solidFill>
                <a:latin typeface="Menlo"/>
              </a:rPr>
              <a:t>1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&amp;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solidFill>
                  <a:srgbClr val="C9D1D9"/>
                </a:solidFill>
                <a:latin typeface="Menlo"/>
              </a:rPr>
              <a:t>}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A0FF"/>
                </a:solidFill>
                <a:latin typeface="Menlo"/>
              </a:rPr>
              <a:t>while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(</a:t>
            </a:r>
            <a:r>
              <a:rPr sz="1100">
                <a:solidFill>
                  <a:srgbClr val="C9D1D9"/>
                </a:solidFill>
                <a:latin typeface="Menlo"/>
              </a:rPr>
              <a:t>sub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!</a:t>
            </a:r>
            <a:r>
              <a:rPr sz="1100">
                <a:solidFill>
                  <a:srgbClr val="C9D1D9"/>
                </a:solidFill>
                <a:latin typeface="Menlo"/>
              </a:rPr>
              <a:t>=</a:t>
            </a:r>
            <a:r>
              <a:rPr sz="1100">
                <a:solidFill>
                  <a:srgbClr val="C9D1D9"/>
                </a:solidFill>
                <a:latin typeface="Menlo"/>
              </a:rPr>
              <a:t> </a:t>
            </a:r>
            <a:r>
              <a:rPr sz="1100">
                <a:solidFill>
                  <a:srgbClr val="C9D1D9"/>
                </a:solidFill>
                <a:latin typeface="Menlo"/>
              </a:rPr>
              <a:t>mask</a:t>
            </a:r>
            <a:r>
              <a:rPr sz="1100">
                <a:solidFill>
                  <a:srgbClr val="C9D1D9"/>
                </a:solidFill>
                <a:latin typeface="Menlo"/>
              </a:rPr>
              <a:t>)</a:t>
            </a:r>
            <a:r>
              <a:rPr sz="11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100">
                <a:latin typeface="Menlo"/>
              </a:rPr>
              <a:t> </a:t>
            </a:r>
          </a:p>
          <a:p>
            <a:pPr algn="l"/>
            <a:r>
              <a:rPr sz="1100">
                <a:solidFill>
                  <a:srgbClr val="6E7681"/>
                </a:solidFill>
                <a:latin typeface="Menlo"/>
              </a:rPr>
              <a:t>// Total: untuk semua mask + submask = 3^n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005840"/>
            <a:ext cx="5212080" cy="246888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005840"/>
            <a:ext cx="521208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1042416"/>
            <a:ext cx="49377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🧮 Mengapa O(3ⁿ)?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499616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Setiap elemen punya 3 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792224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- Tidak di mask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084832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- Di mask, di sub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2377440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  - Di mask, tidak di sub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4848" y="2670048"/>
            <a:ext cx="48463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• Total: 3 × 3 × ... × 3 = 3ⁿ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657600"/>
            <a:ext cx="521208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📊 Kompleksitas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4069080"/>
            <a:ext cx="877824" cy="34975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114800"/>
            <a:ext cx="73152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4069080"/>
            <a:ext cx="1975104" cy="349758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19" y="4114800"/>
            <a:ext cx="182880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2ⁿ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59" y="4069080"/>
            <a:ext cx="2249424" cy="34975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9" y="4114800"/>
            <a:ext cx="210312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3ⁿ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464558"/>
            <a:ext cx="5175504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537710"/>
            <a:ext cx="7315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537710"/>
            <a:ext cx="1828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1,024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199" y="4537710"/>
            <a:ext cx="21031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59,049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876038"/>
            <a:ext cx="5175504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949190"/>
            <a:ext cx="7315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19" y="4949190"/>
            <a:ext cx="1828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32,768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199" y="4949190"/>
            <a:ext cx="21031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14M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5287518"/>
            <a:ext cx="5175504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5360670"/>
            <a:ext cx="7315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5360670"/>
            <a:ext cx="18288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199" y="5360670"/>
            <a:ext cx="21031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3.5B (TLE)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4846320"/>
            <a:ext cx="5943600" cy="64008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4846320"/>
            <a:ext cx="91440" cy="64008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4937759"/>
            <a:ext cx="457200" cy="45719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4956048"/>
            <a:ext cx="5166360" cy="42062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Submask enum berguna untuk SOS DP, partition DP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577840"/>
            <a:ext cx="5943600" cy="914400"/>
          </a:xfrm>
          <a:prstGeom prst="roundRect">
            <a:avLst/>
          </a:prstGeom>
          <a:solidFill>
            <a:srgbClr val="171F2E"/>
          </a:solidFill>
          <a:ln w="1524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577840"/>
            <a:ext cx="5943600" cy="384048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" y="5614416"/>
            <a:ext cx="5669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0D1117"/>
                </a:solidFill>
              </a:rPr>
              <a:t>💡 Tips Implementation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071616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sub = (sub-1) &amp; mask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64224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→ next submask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656832"/>
            <a:ext cx="557784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C9D1D9"/>
                </a:solidFill>
              </a:rPr>
              <a:t>Berhenti saat sub = 0 lalu break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111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457200"/>
            <a:ext cx="1828800" cy="18288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338560" y="1920240"/>
            <a:ext cx="731520" cy="731520"/>
          </a:xfrm>
          <a:prstGeom prst="ellipse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29800" y="2514600"/>
            <a:ext cx="457200" cy="45720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08208" y="566928"/>
            <a:ext cx="329184" cy="329184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81360" y="5394960"/>
            <a:ext cx="1097280" cy="1097280"/>
          </a:xfrm>
          <a:prstGeom prst="ellipse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6080760"/>
            <a:ext cx="640080" cy="640080"/>
          </a:xfrm>
          <a:prstGeom prst="ellipse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463040"/>
            <a:ext cx="1371600" cy="36576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508760"/>
            <a:ext cx="13716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 i="0">
                <a:solidFill>
                  <a:srgbClr val="0D1117"/>
                </a:solidFill>
              </a:rPr>
              <a:t>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011680"/>
            <a:ext cx="4572000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8000" b="1" i="0">
                <a:solidFill>
                  <a:srgbClr val="C9A0FF"/>
                </a:solidFill>
              </a:rPr>
              <a:t>04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297680"/>
            <a:ext cx="457200" cy="914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63040" y="4297680"/>
            <a:ext cx="4572000" cy="9144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34840"/>
            <a:ext cx="1005840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4400" b="1" i="0">
                <a:solidFill>
                  <a:srgbClr val="F0F6FC"/>
                </a:solidFill>
              </a:rPr>
              <a:t>Aplikasi CP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058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1">
                <a:solidFill>
                  <a:srgbClr val="8B949E"/>
                </a:solidFill>
              </a:rPr>
              <a:t>Bitmask DP, TSP, Hamiltonian — bitmask shines untuk n ≤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Travelling Salesman Problem (TSP) Bitmask DP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6858000" cy="502920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68580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6583680" cy="46634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dp[mask][i] = min cost untuk visit semua kota di mask,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              berakhir di kota i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const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INF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e9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dp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MAXN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MAXN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MAXN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MAXN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tsp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mask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mask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6E7681"/>
                </a:solidFill>
                <a:latin typeface="Menlo"/>
              </a:rPr>
              <a:t>// back to start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dp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mask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!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-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dp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mask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latin typeface="Menlo"/>
              </a:rPr>
              <a:t> 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INF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for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A0FF"/>
                </a:solidFill>
                <a:latin typeface="Menlo"/>
              </a:rPr>
              <a:t>int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FFA657"/>
                </a:solidFill>
                <a:latin typeface="Menlo"/>
              </a:rPr>
              <a:t>0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n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A0FF"/>
                </a:solidFill>
                <a:latin typeface="Menlo"/>
              </a:rPr>
              <a:t>if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mask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&amp;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A0FF"/>
                </a:solidFill>
                <a:latin typeface="Menlo"/>
              </a:rPr>
              <a:t>continue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  <a:r>
              <a:rPr sz="1000">
                <a:solidFill>
                  <a:srgbClr val="C9D1D9"/>
                </a:solidFill>
                <a:latin typeface="Menlo"/>
              </a:rPr>
              <a:t>          </a:t>
            </a:r>
            <a:r>
              <a:rPr sz="1000">
                <a:solidFill>
                  <a:srgbClr val="6E7681"/>
                </a:solidFill>
                <a:latin typeface="Menlo"/>
              </a:rPr>
              <a:t>// already visited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   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79C0FF"/>
                </a:solidFill>
                <a:latin typeface="Menlo"/>
              </a:rPr>
              <a:t>min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dist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+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tsp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C9D1D9"/>
                </a:solidFill>
                <a:latin typeface="Menlo"/>
              </a:rPr>
              <a:t>mask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|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(</a:t>
            </a:r>
            <a:r>
              <a:rPr sz="1000">
                <a:solidFill>
                  <a:srgbClr val="FFA657"/>
                </a:solidFill>
                <a:latin typeface="Menlo"/>
              </a:rPr>
              <a:t>1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&lt;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,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j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)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    </a:t>
            </a:r>
            <a:r>
              <a:rPr sz="1000">
                <a:solidFill>
                  <a:srgbClr val="C9A0FF"/>
                </a:solidFill>
                <a:latin typeface="Menlo"/>
              </a:rPr>
              <a:t>return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dp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mask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[</a:t>
            </a:r>
            <a:r>
              <a:rPr sz="1000">
                <a:solidFill>
                  <a:srgbClr val="C9D1D9"/>
                </a:solidFill>
                <a:latin typeface="Menlo"/>
              </a:rPr>
              <a:t>i</a:t>
            </a:r>
            <a:r>
              <a:rPr sz="1000">
                <a:solidFill>
                  <a:srgbClr val="C9D1D9"/>
                </a:solidFill>
                <a:latin typeface="Menlo"/>
              </a:rPr>
              <a:t>]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=</a:t>
            </a:r>
            <a:r>
              <a:rPr sz="1000">
                <a:solidFill>
                  <a:srgbClr val="C9D1D9"/>
                </a:solidFill>
                <a:latin typeface="Menlo"/>
              </a:rPr>
              <a:t> </a:t>
            </a:r>
            <a:r>
              <a:rPr sz="1000">
                <a:solidFill>
                  <a:srgbClr val="C9D1D9"/>
                </a:solidFill>
                <a:latin typeface="Menlo"/>
              </a:rPr>
              <a:t>ans</a:t>
            </a:r>
            <a:r>
              <a:rPr sz="100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0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00">
                <a:solidFill>
                  <a:srgbClr val="6E7681"/>
                </a:solidFill>
                <a:latin typeface="Menlo"/>
              </a:rPr>
              <a:t>// Panggil: tsp(1, 0) → mulai di kota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005840"/>
            <a:ext cx="420624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 i="0">
                <a:solidFill>
                  <a:srgbClr val="FFC857"/>
                </a:solidFill>
              </a:rPr>
              <a:t>📊 Kompleksitas TSP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554480"/>
            <a:ext cx="4206240" cy="10058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554480"/>
            <a:ext cx="420624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719072"/>
            <a:ext cx="402335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057400"/>
            <a:ext cx="4023359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58A6FF"/>
                </a:solidFill>
              </a:rPr>
              <a:t>O(n² · 2ⁿ)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2697480"/>
            <a:ext cx="4206240" cy="100584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89520" y="2697480"/>
            <a:ext cx="4206240" cy="54864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2862072"/>
            <a:ext cx="4023359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8B949E"/>
                </a:solidFill>
              </a:rPr>
              <a:t>Space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200400"/>
            <a:ext cx="4023359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3FD97F"/>
                </a:solidFill>
              </a:rPr>
              <a:t>O(n · 2ⁿ)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840480"/>
            <a:ext cx="786384" cy="34975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3886200"/>
            <a:ext cx="64008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840480"/>
            <a:ext cx="1517904" cy="349758"/>
          </a:xfrm>
          <a:prstGeom prst="round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3886200"/>
            <a:ext cx="137160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Ops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966960" y="3840480"/>
            <a:ext cx="1792224" cy="349758"/>
          </a:xfrm>
          <a:prstGeom prst="round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3886200"/>
            <a:ext cx="1645920" cy="258317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 i="0">
                <a:solidFill>
                  <a:srgbClr val="0D1117"/>
                </a:solidFill>
              </a:rPr>
              <a:t>Status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89520" y="4235958"/>
            <a:ext cx="4169663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0" y="4309110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309110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10K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30911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Aman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0" y="4647438"/>
            <a:ext cx="4169663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0" y="4720590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720590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500K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72059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Aman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0" y="5058918"/>
            <a:ext cx="4169663" cy="374904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132070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0F6FC"/>
                </a:solidFill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5132070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5M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13207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0F6FC"/>
                </a:solidFill>
              </a:rPr>
              <a:t>Aman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89520" y="5470398"/>
            <a:ext cx="4169663" cy="374904"/>
          </a:xfrm>
          <a:prstGeom prst="rect">
            <a:avLst/>
          </a:prstGeom>
          <a:solidFill>
            <a:srgbClr val="1F2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5543550"/>
            <a:ext cx="64008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 i="0">
                <a:solidFill>
                  <a:srgbClr val="FFC857"/>
                </a:solidFill>
              </a:rPr>
              <a:t>22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5543550"/>
            <a:ext cx="137160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90M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543550"/>
            <a:ext cx="1645920" cy="2651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FFC857"/>
                </a:solidFill>
              </a:rPr>
              <a:t>Borderline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5852160"/>
            <a:ext cx="4206240" cy="5486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589520" y="5852160"/>
            <a:ext cx="91440" cy="5486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5943600"/>
            <a:ext cx="457200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600" b="0" i="0">
                <a:solidFill>
                  <a:srgbClr val="3FD97F"/>
                </a:solidFill>
              </a:rPr>
              <a:t>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75320" y="5961888"/>
            <a:ext cx="3428999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0" i="0">
                <a:solidFill>
                  <a:srgbClr val="F0F6FC"/>
                </a:solidFill>
              </a:rPr>
              <a:t>Bitmask DP shine: n ≤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Common Mistakes — Bitmask Pitfalls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1. 1 &lt;&lt; i untuk i ≥ 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Overflow di int!
Pakai 1LL &lt;&lt; i untuk long long.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749039" cy="7315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6B8A"/>
                </a:solidFill>
              </a:rPr>
              <a:t>2. Lupa precedence operator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(mask &amp; 1&lt;&lt;i) != 0 SALAH.
Pakai ((mask&gt;&gt;i)&amp;1) yang aman.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00584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18872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3. Loop sampai (1&lt;&lt;n) saja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4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Iterasi 0..2^n-1.
for mask = 0; mask &lt; (1&lt;&lt;n); 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4. Dimensi dp[1&lt;&lt;n][n]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Untuk n=20: 1M × 20 × 4B = 80MB.
Hati-hati MLE!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5. Submask loop salah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sub = (sub-1) &amp; mask, BUKAN sub--.
Berhenti saat sub == 0 jika sudah proses.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703320"/>
            <a:ext cx="3749039" cy="2468880"/>
          </a:xfrm>
          <a:prstGeom prst="roundRect">
            <a:avLst/>
          </a:prstGeom>
          <a:solidFill>
            <a:srgbClr val="171F2E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703320"/>
            <a:ext cx="3749039" cy="73152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3886200"/>
            <a:ext cx="35204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 i="0">
                <a:solidFill>
                  <a:srgbClr val="FFC857"/>
                </a:solidFill>
              </a:rPr>
              <a:t>6. __builtin_popcount untuk 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389120"/>
            <a:ext cx="352044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popcount → 32-bit saja.
Pakai popcountll untuk long long.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7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400" b="1" i="0">
                <a:solidFill>
                  <a:srgbClr val="F0F6FC"/>
                </a:solidFill>
              </a:rPr>
              <a:t>Cheatsheet — Bitmask Quick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13232"/>
            <a:ext cx="36576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" y="713232"/>
            <a:ext cx="10835640" cy="54864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566928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566928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66927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19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80160"/>
            <a:ext cx="539496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OPERATIONS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   </a:t>
            </a:r>
            <a:r>
              <a:rPr sz="1050">
                <a:solidFill>
                  <a:srgbClr val="6E7681"/>
                </a:solidFill>
                <a:latin typeface="Menlo"/>
              </a:rPr>
              <a:t>// cek bit i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|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   </a:t>
            </a:r>
            <a:r>
              <a:rPr sz="1050">
                <a:solidFill>
                  <a:srgbClr val="6E7681"/>
                </a:solidFill>
                <a:latin typeface="Menlo"/>
              </a:rPr>
              <a:t>// set bit i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~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clear bit i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^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   </a:t>
            </a:r>
            <a:r>
              <a:rPr sz="1050">
                <a:solidFill>
                  <a:srgbClr val="6E7681"/>
                </a:solidFill>
                <a:latin typeface="Menlo"/>
              </a:rPr>
              <a:t>// toggle bit i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BUILTIN ===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__builtin_popcount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count 1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__builtin_popcountll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6E7681"/>
                </a:solidFill>
                <a:latin typeface="Menlo"/>
              </a:rPr>
              <a:t>// ll version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__builtin_ctz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       </a:t>
            </a:r>
            <a:r>
              <a:rPr sz="1050">
                <a:solidFill>
                  <a:srgbClr val="6E7681"/>
                </a:solidFill>
                <a:latin typeface="Menlo"/>
              </a:rPr>
              <a:t>// trailing zeros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__builtin_clz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x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        </a:t>
            </a:r>
            <a:r>
              <a:rPr sz="1050">
                <a:solidFill>
                  <a:srgbClr val="6E7681"/>
                </a:solidFill>
                <a:latin typeface="Menlo"/>
              </a:rPr>
              <a:t>// leading zeros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LOWEST BIT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low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idx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__builtin_ctz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mask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6E7681"/>
                </a:solidFill>
                <a:latin typeface="Menlo"/>
              </a:rPr>
              <a:t>// clear lowest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005840"/>
            <a:ext cx="5486400" cy="5212080"/>
          </a:xfrm>
          <a:prstGeom prst="roundRect">
            <a:avLst/>
          </a:prstGeom>
          <a:solidFill>
            <a:srgbClr val="050910"/>
          </a:solidFill>
          <a:ln w="12700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005840"/>
            <a:ext cx="5486400" cy="201168"/>
          </a:xfrm>
          <a:prstGeom prst="rect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27648" y="1051560"/>
            <a:ext cx="109728" cy="109728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1051560"/>
            <a:ext cx="109728" cy="109728"/>
          </a:xfrm>
          <a:prstGeom prst="ellipse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56832" y="1051560"/>
            <a:ext cx="109728" cy="109728"/>
          </a:xfrm>
          <a:prstGeom prst="ellipse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212080" cy="4846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ENUM SEMUA SUBSET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+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    </a:t>
            </a:r>
            <a:r>
              <a:rPr sz="1050">
                <a:solidFill>
                  <a:srgbClr val="C9A0FF"/>
                </a:solidFill>
                <a:latin typeface="Menlo"/>
              </a:rPr>
              <a:t>if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i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  <a:r>
              <a:rPr sz="1050">
                <a:solidFill>
                  <a:srgbClr val="C9D1D9"/>
                </a:solidFill>
                <a:latin typeface="Menlo"/>
              </a:rPr>
              <a:t>.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ENUM SUBMASK O(3^n)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for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&gt;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C9D1D9"/>
                </a:solidFill>
                <a:latin typeface="Menlo"/>
              </a:rPr>
              <a:t>s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&amp;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m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{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    </a:t>
            </a:r>
            <a:r>
              <a:rPr sz="1050">
                <a:solidFill>
                  <a:srgbClr val="6E7681"/>
                </a:solidFill>
                <a:latin typeface="Menlo"/>
              </a:rPr>
              <a:t>// s adalah submask dari m</a:t>
            </a:r>
          </a:p>
          <a:p>
            <a:pPr algn="l"/>
            <a:r>
              <a:rPr sz="1050">
                <a:solidFill>
                  <a:srgbClr val="C9D1D9"/>
                </a:solidFill>
                <a:latin typeface="Menlo"/>
              </a:rPr>
              <a:t>}</a:t>
            </a:r>
          </a:p>
          <a:p>
            <a:pPr algn="l"/>
            <a:r>
              <a:rPr sz="1050">
                <a:latin typeface="Menlo"/>
              </a:rPr>
              <a:t> </a:t>
            </a:r>
          </a:p>
          <a:p>
            <a:pPr algn="l"/>
            <a:r>
              <a:rPr sz="1050">
                <a:solidFill>
                  <a:srgbClr val="6E7681"/>
                </a:solidFill>
                <a:latin typeface="Menlo"/>
              </a:rPr>
              <a:t>// === ALL ELEMENTS ===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full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(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&lt;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n</a:t>
            </a:r>
            <a:r>
              <a:rPr sz="1050">
                <a:solidFill>
                  <a:srgbClr val="C9D1D9"/>
                </a:solidFill>
                <a:latin typeface="Menlo"/>
              </a:rPr>
              <a:t>)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-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1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</a:t>
            </a:r>
            <a:r>
              <a:rPr sz="1050">
                <a:solidFill>
                  <a:srgbClr val="6E7681"/>
                </a:solidFill>
                <a:latin typeface="Menlo"/>
              </a:rPr>
              <a:t>// 11...1</a:t>
            </a:r>
          </a:p>
          <a:p>
            <a:pPr algn="l"/>
            <a:r>
              <a:rPr sz="1050">
                <a:solidFill>
                  <a:srgbClr val="C9A0FF"/>
                </a:solidFill>
                <a:latin typeface="Menlo"/>
              </a:rPr>
              <a:t>int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79C0FF"/>
                </a:solidFill>
                <a:latin typeface="Menlo"/>
              </a:rPr>
              <a:t>empty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C9D1D9"/>
                </a:solidFill>
                <a:latin typeface="Menlo"/>
              </a:rPr>
              <a:t>=</a:t>
            </a:r>
            <a:r>
              <a:rPr sz="1050">
                <a:solidFill>
                  <a:srgbClr val="C9D1D9"/>
                </a:solidFill>
                <a:latin typeface="Menlo"/>
              </a:rPr>
              <a:t> </a:t>
            </a:r>
            <a:r>
              <a:rPr sz="1050">
                <a:solidFill>
                  <a:srgbClr val="FFA657"/>
                </a:solidFill>
                <a:latin typeface="Menlo"/>
              </a:rPr>
              <a:t>0</a:t>
            </a:r>
            <a:r>
              <a:rPr sz="1050">
                <a:solidFill>
                  <a:srgbClr val="C9D1D9"/>
                </a:solidFill>
                <a:latin typeface="Menlo"/>
              </a:rPr>
              <a:t>;</a:t>
            </a:r>
            <a:r>
              <a:rPr sz="1050">
                <a:solidFill>
                  <a:srgbClr val="C9D1D9"/>
                </a:solidFill>
                <a:latin typeface="Menlo"/>
              </a:rPr>
              <a:t>            </a:t>
            </a:r>
            <a:r>
              <a:rPr sz="1050">
                <a:solidFill>
                  <a:srgbClr val="6E7681"/>
                </a:solidFill>
                <a:latin typeface="Menlo"/>
              </a:rPr>
              <a:t>// 00...0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54864" cy="6858000"/>
          </a:xfrm>
          <a:prstGeom prst="rect">
            <a:avLst/>
          </a:prstGeom>
          <a:solidFill>
            <a:srgbClr val="39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0" y="0"/>
            <a:ext cx="1828800" cy="18288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4572000"/>
            <a:ext cx="2743200" cy="2743200"/>
          </a:xfrm>
          <a:prstGeom prst="ellipse">
            <a:avLst/>
          </a:prstGeom>
          <a:solidFill>
            <a:srgbClr val="171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365760"/>
            <a:ext cx="502920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50292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2400" b="1" i="0">
                <a:solidFill>
                  <a:srgbClr val="0D1117"/>
                </a:solidFill>
              </a:rPr>
              <a:t>🎯 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0" i="1">
                <a:solidFill>
                  <a:srgbClr val="8B949E"/>
                </a:solidFill>
              </a:rPr>
              <a:t>Bitmask: representasi set elegan &amp; operasi O(1)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17320"/>
            <a:ext cx="1097280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6916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691640"/>
            <a:ext cx="91440" cy="77724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7830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</a:rPr>
              <a:t>Konsep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1031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Set sebagai integer. Bit i = elemen i. Maks n=20 untuk int, 60 untuk 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6060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3FD9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06040"/>
            <a:ext cx="91440" cy="777240"/>
          </a:xfrm>
          <a:prstGeom prst="rect">
            <a:avLst/>
          </a:prstGeom>
          <a:solidFill>
            <a:srgbClr val="3FD9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6974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3FD97F"/>
                </a:solidFill>
              </a:rPr>
              <a:t>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0175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AND/OR/XOR/shift. Cek/set/clear/toggle bit. popcount untuk hitung 1.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5204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C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520440"/>
            <a:ext cx="91440" cy="777240"/>
          </a:xfrm>
          <a:prstGeom prst="rect">
            <a:avLst/>
          </a:prstGeom>
          <a:solidFill>
            <a:srgbClr val="FFC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611880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C857"/>
                </a:solidFill>
              </a:rPr>
              <a:t>Subset Enum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9319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for mask=0..2ⁿ. Submask O(3ⁿ): sub=(sub-1)&amp;mask. Berhenti di 0.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348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C9A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91440" cy="777240"/>
          </a:xfrm>
          <a:prstGeom prst="rect">
            <a:avLst/>
          </a:prstGeom>
          <a:solidFill>
            <a:srgbClr val="C9A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5262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C9A0FF"/>
                </a:solidFill>
              </a:rPr>
              <a:t>Aplikasi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8463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TSP bitmask DP O(n²·2ⁿ). SOS DP, Hamiltonian path. Shine untuk n≤20.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349240"/>
            <a:ext cx="10972800" cy="777240"/>
          </a:xfrm>
          <a:prstGeom prst="roundRect">
            <a:avLst/>
          </a:prstGeom>
          <a:solidFill>
            <a:srgbClr val="171F2E"/>
          </a:solidFill>
          <a:ln w="9525">
            <a:solidFill>
              <a:srgbClr val="FF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7772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440679"/>
            <a:ext cx="36576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 i="0">
                <a:solidFill>
                  <a:srgbClr val="FF6B8A"/>
                </a:solidFill>
              </a:rPr>
              <a:t>Pitfall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60720"/>
            <a:ext cx="10058400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 i="0">
                <a:solidFill>
                  <a:srgbClr val="C9D1D9"/>
                </a:solidFill>
              </a:rPr>
              <a:t>1&lt;&lt;i untuk i≥32 overflow. Pakai 1LL. popcountll untuk ll. Hati-hati precedence.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6492240"/>
            <a:ext cx="10972800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56539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 i="0">
                <a:solidFill>
                  <a:srgbClr val="6E7681"/>
                </a:solidFill>
              </a:rPr>
              <a:t>Day 13 | Competitive Programming · 150 Day Roadmap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