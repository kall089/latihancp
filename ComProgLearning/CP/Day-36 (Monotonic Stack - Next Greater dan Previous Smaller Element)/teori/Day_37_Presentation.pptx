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Monotonic Stack Advanced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Kontribusi · Greedy · RPN · Ramp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Tingkat lanjut: pola elegan untuk soal sulit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120640"/>
            <a:ext cx="13258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Σ contrib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9480" y="5120640"/>
            <a:ext cx="13258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RPN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5120640"/>
            <a:ext cx="132588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Greedy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5120640"/>
            <a:ext cx="1325880" cy="45720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5212080"/>
            <a:ext cx="13258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37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Kontribusi
Elemen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Sum subarray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left &amp; right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Hindari double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O(n) kontribusi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Greedy
Monotonic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Remove K digits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Increasing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Pop saat lebih kecil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Hapus leading 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Car Fleet &amp;
RPN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Time per car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Sort + stack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RPN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Postfix evaluation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Longest
Valid Paren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Stack of indices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Sentinel -1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Length = i - top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Maximum width 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Kontribusi Elemen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Hitung berapa subarray menjadikan A[i] sebagai minimum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Sum of Subarray Minimums — Konsep Kontribusi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Setiap elemen kontribusi = A[i] × (subarray dengan min = A[i])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 i="0">
                <a:solidFill>
                  <a:srgbClr val="FFC857"/>
                </a:solidFill>
              </a:rPr>
              <a:t>🎯 Untuk A[i], temukan boundary kiri &amp; kanan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1051560" cy="64008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7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7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73567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7160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8988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8716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6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444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7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0720" y="1691640"/>
            <a:ext cx="1051560" cy="64008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79007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79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55279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3567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52560" y="1691640"/>
            <a:ext cx="1051560" cy="64008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1444752"/>
            <a:ext cx="1051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0848" y="1806854"/>
            <a:ext cx="1014983" cy="448055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2404872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i=4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2606040"/>
            <a:ext cx="113385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  <a:latin typeface="Menlo"/>
              </a:rPr>
              <a:t>📍 A[4] = 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3246120"/>
            <a:ext cx="566928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3246120"/>
            <a:ext cx="566928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" y="3282696"/>
            <a:ext cx="5394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Kiri: cari prev smaller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3739896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A[3]=1 &lt; A[4]=5 → batas kiri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4032504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left[4] = 4-3 =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" y="4325112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ada 1 elemen 'milik' A[4] di kiri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26480" y="3246120"/>
            <a:ext cx="5669280" cy="13716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26480" y="3246120"/>
            <a:ext cx="566928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91072" y="3282696"/>
            <a:ext cx="5394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Kanan: cari next smaller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7648" y="3739896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A[6]=2 &lt; A[4]=5 → batas kanan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7648" y="4032504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right[4] = 6-4 =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4325112"/>
            <a:ext cx="5303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ada 2 elemen 'milik' A[4] di kanan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200" y="4754880"/>
            <a:ext cx="11338560" cy="1554480"/>
          </a:xfrm>
          <a:prstGeom prst="roundRect">
            <a:avLst/>
          </a:prstGeom>
          <a:solidFill>
            <a:srgbClr val="171F2E"/>
          </a:solidFill>
          <a:ln w="190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57200" y="4754880"/>
            <a:ext cx="1133856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484632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FC857"/>
                </a:solidFill>
              </a:rPr>
              <a:t>🧮 Kontribusi A[4] = A[4] × left[4] × right[4]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257800"/>
            <a:ext cx="113385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3FD97F"/>
                </a:solidFill>
                <a:latin typeface="Menlo"/>
              </a:rPr>
              <a:t>= 5 × 1 × 2 = 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852160"/>
            <a:ext cx="113385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</a:rPr>
              <a:t>Artinya: ada 1×2 = 2 subarray yang minimum-nya A[4]=5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6400800"/>
            <a:ext cx="11338560" cy="3657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200" y="6400800"/>
            <a:ext cx="9144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0080" y="6492240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58A6FF"/>
                </a:solidFill>
              </a:rPr>
              <a:t>🎯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43000" y="6510528"/>
            <a:ext cx="1056132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Total = Σ A[i] × left[i] × right[i] untuk semua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Sum of Subarray Min — Algoritma 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8580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8580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65836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>
                <a:solidFill>
                  <a:srgbClr val="C9A0FF"/>
                </a:solidFill>
                <a:latin typeface="Menlo"/>
              </a:rPr>
              <a:t>const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MOD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1</a:t>
            </a:r>
            <a:r>
              <a:rPr sz="950">
                <a:solidFill>
                  <a:srgbClr val="C9D1D9"/>
                </a:solidFill>
                <a:latin typeface="Menlo"/>
              </a:rPr>
              <a:t>e9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+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7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39D0D8"/>
                </a:solidFill>
                <a:latin typeface="Menlo"/>
              </a:rPr>
              <a:t>ll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sumSubarrayMins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39D0D8"/>
                </a:solidFill>
                <a:latin typeface="Menlo"/>
              </a:rPr>
              <a:t>vector</a:t>
            </a:r>
            <a:r>
              <a:rPr sz="950">
                <a:solidFill>
                  <a:srgbClr val="C9D1D9"/>
                </a:solidFill>
                <a:latin typeface="Menlo"/>
              </a:rPr>
              <a:t>&lt;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&amp;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n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size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39D0D8"/>
                </a:solidFill>
                <a:latin typeface="Menlo"/>
              </a:rPr>
              <a:t>vector</a:t>
            </a:r>
            <a:r>
              <a:rPr sz="950">
                <a:solidFill>
                  <a:srgbClr val="C9D1D9"/>
                </a:solidFill>
                <a:latin typeface="Menlo"/>
              </a:rPr>
              <a:t>&lt;</a:t>
            </a:r>
            <a:r>
              <a:rPr sz="950">
                <a:solidFill>
                  <a:srgbClr val="39D0D8"/>
                </a:solidFill>
                <a:latin typeface="Menlo"/>
              </a:rPr>
              <a:t>ll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left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n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,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right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n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39D0D8"/>
                </a:solidFill>
                <a:latin typeface="Menlo"/>
              </a:rPr>
              <a:t>stack</a:t>
            </a:r>
            <a:r>
              <a:rPr sz="950">
                <a:solidFill>
                  <a:srgbClr val="C9D1D9"/>
                </a:solidFill>
                <a:latin typeface="Menlo"/>
              </a:rPr>
              <a:t>&lt;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6E7681"/>
                </a:solidFill>
                <a:latin typeface="Menlo"/>
              </a:rPr>
              <a:t>// left[i]: panjang range A[i] adalah min dari kiri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A0FF"/>
                </a:solidFill>
                <a:latin typeface="Menlo"/>
              </a:rPr>
              <a:t>for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0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&lt;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n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+</a:t>
            </a:r>
            <a:r>
              <a:rPr sz="950">
                <a:solidFill>
                  <a:srgbClr val="C9D1D9"/>
                </a:solidFill>
                <a:latin typeface="Menlo"/>
              </a:rPr>
              <a:t>+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</a:t>
            </a:r>
            <a:r>
              <a:rPr sz="950">
                <a:solidFill>
                  <a:srgbClr val="C9A0FF"/>
                </a:solidFill>
                <a:latin typeface="Menlo"/>
              </a:rPr>
              <a:t>while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!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empty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&amp;</a:t>
            </a:r>
            <a:r>
              <a:rPr sz="950">
                <a:solidFill>
                  <a:srgbClr val="C9D1D9"/>
                </a:solidFill>
                <a:latin typeface="Menlo"/>
              </a:rPr>
              <a:t>&amp;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top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pop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</a:t>
            </a:r>
            <a:r>
              <a:rPr sz="950">
                <a:solidFill>
                  <a:srgbClr val="C9D1D9"/>
                </a:solidFill>
                <a:latin typeface="Menlo"/>
              </a:rPr>
              <a:t>left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empty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?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+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1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: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top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push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A0FF"/>
                </a:solidFill>
                <a:latin typeface="Menlo"/>
              </a:rPr>
              <a:t>while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!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empty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pop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latin typeface="Menlo"/>
              </a:rPr>
              <a:t> 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6E7681"/>
                </a:solidFill>
                <a:latin typeface="Menlo"/>
              </a:rPr>
              <a:t>// right[i]: ke kanan (strict &gt; untuk hindari dup)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A0FF"/>
                </a:solidFill>
                <a:latin typeface="Menlo"/>
              </a:rPr>
              <a:t>for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n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FFA657"/>
                </a:solidFill>
                <a:latin typeface="Menlo"/>
              </a:rPr>
              <a:t>1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0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</a:t>
            </a:r>
            <a:r>
              <a:rPr sz="950">
                <a:solidFill>
                  <a:srgbClr val="C9A0FF"/>
                </a:solidFill>
                <a:latin typeface="Menlo"/>
              </a:rPr>
              <a:t>while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!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empty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&amp;</a:t>
            </a:r>
            <a:r>
              <a:rPr sz="950">
                <a:solidFill>
                  <a:srgbClr val="C9D1D9"/>
                </a:solidFill>
                <a:latin typeface="Menlo"/>
              </a:rPr>
              <a:t>&amp;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top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&gt;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pop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</a:t>
            </a:r>
            <a:r>
              <a:rPr sz="950">
                <a:solidFill>
                  <a:srgbClr val="C9D1D9"/>
                </a:solidFill>
                <a:latin typeface="Menlo"/>
              </a:rPr>
              <a:t>right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empty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?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n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: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top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-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</a:t>
            </a:r>
            <a:r>
              <a:rPr sz="950">
                <a:solidFill>
                  <a:srgbClr val="C9D1D9"/>
                </a:solidFill>
                <a:latin typeface="Menlo"/>
              </a:rPr>
              <a:t>st</a:t>
            </a:r>
            <a:r>
              <a:rPr sz="950">
                <a:solidFill>
                  <a:srgbClr val="C9D1D9"/>
                </a:solidFill>
                <a:latin typeface="Menlo"/>
              </a:rPr>
              <a:t>.</a:t>
            </a:r>
            <a:r>
              <a:rPr sz="950">
                <a:solidFill>
                  <a:srgbClr val="79C0FF"/>
                </a:solidFill>
                <a:latin typeface="Menlo"/>
              </a:rPr>
              <a:t>push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39D0D8"/>
                </a:solidFill>
                <a:latin typeface="Menlo"/>
              </a:rPr>
              <a:t>ll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ans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0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A0FF"/>
                </a:solidFill>
                <a:latin typeface="Menlo"/>
              </a:rPr>
              <a:t>for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A0FF"/>
                </a:solidFill>
                <a:latin typeface="Menlo"/>
              </a:rPr>
              <a:t>int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FFA657"/>
                </a:solidFill>
                <a:latin typeface="Menlo"/>
              </a:rPr>
              <a:t>0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&lt;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n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+</a:t>
            </a:r>
            <a:r>
              <a:rPr sz="950">
                <a:solidFill>
                  <a:srgbClr val="C9D1D9"/>
                </a:solidFill>
                <a:latin typeface="Menlo"/>
              </a:rPr>
              <a:t>+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    </a:t>
            </a:r>
            <a:r>
              <a:rPr sz="950">
                <a:solidFill>
                  <a:srgbClr val="C9D1D9"/>
                </a:solidFill>
                <a:latin typeface="Menlo"/>
              </a:rPr>
              <a:t>ans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=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C9D1D9"/>
                </a:solidFill>
                <a:latin typeface="Menlo"/>
              </a:rPr>
              <a:t>ans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+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(</a:t>
            </a:r>
            <a:r>
              <a:rPr sz="950">
                <a:solidFill>
                  <a:srgbClr val="39D0D8"/>
                </a:solidFill>
                <a:latin typeface="Menlo"/>
              </a:rPr>
              <a:t>ll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A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*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left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%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MOD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*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right</a:t>
            </a:r>
            <a:r>
              <a:rPr sz="950">
                <a:solidFill>
                  <a:srgbClr val="C9D1D9"/>
                </a:solidFill>
                <a:latin typeface="Menlo"/>
              </a:rPr>
              <a:t>[</a:t>
            </a:r>
            <a:r>
              <a:rPr sz="950">
                <a:solidFill>
                  <a:srgbClr val="C9D1D9"/>
                </a:solidFill>
                <a:latin typeface="Menlo"/>
              </a:rPr>
              <a:t>i</a:t>
            </a:r>
            <a:r>
              <a:rPr sz="950">
                <a:solidFill>
                  <a:srgbClr val="C9D1D9"/>
                </a:solidFill>
                <a:latin typeface="Menlo"/>
              </a:rPr>
              <a:t>]</a:t>
            </a:r>
            <a:r>
              <a:rPr sz="950">
                <a:solidFill>
                  <a:srgbClr val="C9D1D9"/>
                </a:solidFill>
                <a:latin typeface="Menlo"/>
              </a:rPr>
              <a:t>)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%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MOD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    </a:t>
            </a:r>
            <a:r>
              <a:rPr sz="950">
                <a:solidFill>
                  <a:srgbClr val="C9A0FF"/>
                </a:solidFill>
                <a:latin typeface="Menlo"/>
              </a:rPr>
              <a:t>return</a:t>
            </a:r>
            <a:r>
              <a:rPr sz="950">
                <a:solidFill>
                  <a:srgbClr val="C9D1D9"/>
                </a:solidFill>
                <a:latin typeface="Menlo"/>
              </a:rPr>
              <a:t> </a:t>
            </a:r>
            <a:r>
              <a:rPr sz="950">
                <a:solidFill>
                  <a:srgbClr val="C9D1D9"/>
                </a:solidFill>
                <a:latin typeface="Menlo"/>
              </a:rPr>
              <a:t>ans</a:t>
            </a:r>
            <a:r>
              <a:rPr sz="9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9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05840"/>
            <a:ext cx="42976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🎬 Trace: A = [3, 1, 2, 4]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08760"/>
            <a:ext cx="91440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2618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599285"/>
            <a:ext cx="87782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49640" y="1508760"/>
            <a:ext cx="91440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2618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1599285"/>
            <a:ext cx="87782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508760"/>
            <a:ext cx="91440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2618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1599285"/>
            <a:ext cx="87782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1508760"/>
            <a:ext cx="91440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1261872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88168" y="1599285"/>
            <a:ext cx="877824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286000"/>
            <a:ext cx="87782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2331720"/>
            <a:ext cx="7315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A[i]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286000"/>
            <a:ext cx="96926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331720"/>
            <a:ext cx="82296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left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9760" y="2286000"/>
            <a:ext cx="96926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331720"/>
            <a:ext cx="82296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right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2286000"/>
            <a:ext cx="1335024" cy="38862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07040" y="2331720"/>
            <a:ext cx="118872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kontrib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2720339"/>
            <a:ext cx="42611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2793491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7934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7934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2793491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3177539"/>
            <a:ext cx="42611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3250691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2506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32506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3250691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0" y="3634739"/>
            <a:ext cx="426110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0" y="3707891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7078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7078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3707891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4091939"/>
            <a:ext cx="426110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4165091"/>
            <a:ext cx="7315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1650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4165091"/>
            <a:ext cx="82296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4165091"/>
            <a:ext cx="11887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589520" y="4754880"/>
            <a:ext cx="429768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89520" y="475488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484632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4864608"/>
            <a:ext cx="35204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Total = 3+6+4+4 = 17 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89520" y="5440680"/>
            <a:ext cx="4297680" cy="10972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89520" y="5440680"/>
            <a:ext cx="42976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54112" y="5477256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Trick anti double count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90688" y="5934456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Kiri: pop saat ≥ (allow ==)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90688" y="6227064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Kanan: pop saat &gt; (strict)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90688" y="6519672"/>
            <a:ext cx="39319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Duplikat dihitung 1×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Greedy Monotonic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Remove K Digits — pop saat ada chance lebih kecil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Remove K Digits — Greedy dengan Increasing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Goal: hapus k digit untuk dapat angka terkecil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594360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280160"/>
            <a:ext cx="566928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string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removeKdigits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string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num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string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</a:t>
            </a:r>
            <a:r>
              <a:rPr sz="1050">
                <a:solidFill>
                  <a:srgbClr val="6E7681"/>
                </a:solidFill>
                <a:latin typeface="Menlo"/>
              </a:rPr>
              <a:t>// pakai string sebagai stack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char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num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Pop digit besar di kiri saat ada digit kecil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c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k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pop_back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</a:t>
            </a:r>
            <a:r>
              <a:rPr sz="1050">
                <a:solidFill>
                  <a:srgbClr val="6E7681"/>
                </a:solidFill>
                <a:latin typeface="Menlo"/>
              </a:rPr>
              <a:t>// sisa: trim belakang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start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while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start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start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FFC857"/>
                </a:solidFill>
                <a:latin typeface="Menlo"/>
              </a:rPr>
              <a:t>'0'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start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substr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start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🎬 Trace: num = '1432219', k =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554480"/>
            <a:ext cx="5212080" cy="438912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75120" y="1609344"/>
            <a:ext cx="457200" cy="329184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4592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'1'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64592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Menlo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645920"/>
            <a:ext cx="2240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push (k=3)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057400"/>
            <a:ext cx="5212080" cy="438912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2112264"/>
            <a:ext cx="457200" cy="329184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1488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'4'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14884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Menlo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148840"/>
            <a:ext cx="2240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push (k=3)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2560320"/>
            <a:ext cx="5212080" cy="438912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675120" y="2615184"/>
            <a:ext cx="457200" cy="329184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65176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'3'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65176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  <a:latin typeface="Menlo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651760"/>
            <a:ext cx="2240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pop 4 (k=2)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3063240"/>
            <a:ext cx="5212080" cy="438912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5120" y="3118104"/>
            <a:ext cx="457200" cy="329184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15468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'2'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15468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  <a:latin typeface="Menlo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154680"/>
            <a:ext cx="2240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pop 3 (k=1)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566160"/>
            <a:ext cx="5212080" cy="438912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675120" y="3621024"/>
            <a:ext cx="457200" cy="329184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365760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'2'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65760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Menlo"/>
              </a:rPr>
              <a:t>122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657600"/>
            <a:ext cx="2240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push (k=1)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069080"/>
            <a:ext cx="5212080" cy="438912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675120" y="4123944"/>
            <a:ext cx="457200" cy="329184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16052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'1'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416052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  <a:latin typeface="Menlo"/>
              </a:rPr>
              <a:t>121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160520"/>
            <a:ext cx="2240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pop 2 (k=0)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0" y="4572000"/>
            <a:ext cx="5212080" cy="438912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675120" y="4626864"/>
            <a:ext cx="457200" cy="329184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663440"/>
            <a:ext cx="45720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'9'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663440"/>
            <a:ext cx="2194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  <a:latin typeface="Menlo"/>
              </a:rPr>
              <a:t>1219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4663440"/>
            <a:ext cx="22402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push (k=0)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83680" y="5074920"/>
            <a:ext cx="521208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3680" y="5074920"/>
            <a:ext cx="91440" cy="50292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5166359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5184648"/>
            <a:ext cx="443484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Result: '1219' (terkecil yang mungkin) 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715000"/>
            <a:ext cx="5212080" cy="8686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0" y="571500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48272" y="575157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🧠 Intuisi Greedy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84848" y="620877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Increasing stack = digit naik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4848" y="650138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Pop digit besar saat ada lebih kecil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84848" y="679399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'14' jadi '13' lebih kecil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84848" y="708660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Sisa k → trim dari belakang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Car Fleet &amp; RPN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Stack untuk simulasi &amp; evaluasi ekspresi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Car Fleet — Visualisasi Sort +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n mobil menuju target — hitung jumlah fleet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9424"/>
            <a:ext cx="10058400" cy="4572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2103120"/>
            <a:ext cx="365760" cy="36576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61320" y="2103120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0" i="0">
                <a:solidFill>
                  <a:srgbClr val="0D1117"/>
                </a:solidFill>
              </a:rPr>
              <a:t>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251460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3FD97F"/>
                </a:solidFill>
              </a:rPr>
              <a:t>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67800" y="1828800"/>
            <a:ext cx="457200" cy="36576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7800" y="19019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4920" y="23774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FC857"/>
                </a:solidFill>
              </a:rPr>
              <a:t>sp=2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70720" y="2011680"/>
            <a:ext cx="274320" cy="0"/>
          </a:xfrm>
          <a:prstGeom prst="line">
            <a:avLst/>
          </a:prstGeom>
          <a:ln w="12700">
            <a:solidFill>
              <a:srgbClr val="FFC8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91399" y="1828800"/>
            <a:ext cx="457200" cy="36576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1399" y="19019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8519" y="23774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58A6FF"/>
                </a:solidFill>
              </a:rPr>
              <a:t>sp=4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94320" y="2011680"/>
            <a:ext cx="274319" cy="0"/>
          </a:xfrm>
          <a:prstGeom prst="line">
            <a:avLst/>
          </a:prstGeom>
          <a:ln w="1270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1828800"/>
            <a:ext cx="457200" cy="36576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9019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3774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FF6B8A"/>
                </a:solidFill>
              </a:rPr>
              <a:t>sp=1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2011680"/>
            <a:ext cx="274320" cy="0"/>
          </a:xfrm>
          <a:prstGeom prst="line">
            <a:avLst/>
          </a:prstGeom>
          <a:ln w="12700">
            <a:solidFill>
              <a:srgbClr val="FF6B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76800" y="1828800"/>
            <a:ext cx="457200" cy="36576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6800" y="19019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3920" y="23774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C9A0FF"/>
                </a:solidFill>
              </a:rPr>
              <a:t>sp=1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79720" y="2011680"/>
            <a:ext cx="274320" cy="0"/>
          </a:xfrm>
          <a:prstGeom prst="line">
            <a:avLst/>
          </a:prstGeom>
          <a:ln w="12700">
            <a:solidFill>
              <a:srgbClr val="C9A0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200400" y="1828800"/>
            <a:ext cx="457200" cy="36576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1901952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2377440"/>
            <a:ext cx="8229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3FD97F"/>
                </a:solidFill>
              </a:rPr>
              <a:t>sp=3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03320" y="2011680"/>
            <a:ext cx="274319" cy="0"/>
          </a:xfrm>
          <a:prstGeom prst="line">
            <a:avLst/>
          </a:prstGeom>
          <a:ln w="1270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2926080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C857"/>
                </a:solidFill>
              </a:rPr>
              <a:t>Hitung waktu tempuh (target=12)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91840"/>
            <a:ext cx="1335024" cy="31089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337560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Car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3291840"/>
            <a:ext cx="1243584" cy="310896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3337560"/>
            <a:ext cx="10972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0" y="3291840"/>
            <a:ext cx="1335024" cy="310896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3337560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speed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3291840"/>
            <a:ext cx="1335024" cy="310896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337560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648456"/>
            <a:ext cx="5358384" cy="32918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721607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3721607"/>
            <a:ext cx="10972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3721607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721607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014215"/>
            <a:ext cx="5358384" cy="32918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08736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A6FF"/>
                </a:solidFill>
              </a:rPr>
              <a:t>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087368"/>
            <a:ext cx="10972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408736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08736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379976"/>
            <a:ext cx="5358384" cy="32918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45312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6B8A"/>
                </a:solidFill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4453128"/>
            <a:ext cx="10972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445312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445312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12.0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745736"/>
            <a:ext cx="5358384" cy="32918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81888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A0FF"/>
                </a:solidFill>
              </a:rPr>
              <a:t>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20240" y="4818888"/>
            <a:ext cx="10972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0" y="481888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481888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7.0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111496"/>
            <a:ext cx="5358384" cy="32918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518464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5184648"/>
            <a:ext cx="10972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18464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518464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3.0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400800" y="3291840"/>
            <a:ext cx="5486400" cy="219456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400800" y="3291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510528" y="3337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675120" y="3337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9712" y="3337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37960" y="3566160"/>
            <a:ext cx="5212080" cy="1828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Sort by position DESC (terdepan dulu)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cars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greater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stack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double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pos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: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cars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</a:t>
            </a:r>
            <a:r>
              <a:rPr sz="1050">
                <a:solidFill>
                  <a:srgbClr val="6E7681"/>
                </a:solidFill>
                <a:latin typeface="Menlo"/>
              </a:rPr>
              <a:t>// fleet baru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else: gabung fleet di depan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623560"/>
            <a:ext cx="11338560" cy="9144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5623560"/>
            <a:ext cx="11338560" cy="54864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5715000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FFC857"/>
                </a:solidFill>
                <a:latin typeface="Menlo"/>
              </a:rPr>
              <a:t>🚗 Sorted (pos desc): A(t=1) → B(t=1) → D(t=7) → E(t=3) → C(t=12)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5989320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  <a:latin typeface="Menlo"/>
              </a:rPr>
              <a:t>Stack: A push, B≤A skip, D push, E≤D skip, C push → 3 FLEET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263640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</a:rPr>
              <a:t>Result: 3 fleet (A+B), (D+E), (C)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RPN (Reverse Polish Notation) — Stack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45720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evalRPN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tokens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39D0D8"/>
                </a:solidFill>
                <a:latin typeface="Menlo"/>
              </a:rPr>
              <a:t>stack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auto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tokens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"+"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"-"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"*"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|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"/"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39D0D8"/>
                </a:solidFill>
                <a:latin typeface="Menlo"/>
              </a:rPr>
              <a:t>ll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    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"+"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"-"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FFC857"/>
                </a:solidFill>
                <a:latin typeface="Menlo"/>
              </a:rPr>
              <a:t>"*"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*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/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else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79C0FF"/>
                </a:solidFill>
                <a:latin typeface="Menlo"/>
              </a:rPr>
              <a:t>stoll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t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top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Menlo"/>
              </a:rPr>
              <a:t>🎬 ['2','1','+','3','*']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7772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'2'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60020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1">
                <a:solidFill>
                  <a:srgbClr val="58A6FF"/>
                </a:solidFill>
              </a:rPr>
              <a:t>push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194560"/>
            <a:ext cx="64008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212848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33104" y="2450591"/>
            <a:ext cx="71323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691639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[2]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23160"/>
            <a:ext cx="7772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'1'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468879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1">
                <a:solidFill>
                  <a:srgbClr val="58A6FF"/>
                </a:solidFill>
              </a:rPr>
              <a:t>push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9680" y="3063239"/>
            <a:ext cx="64008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3081527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2770632"/>
            <a:ext cx="64008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2788920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33104" y="3319272"/>
            <a:ext cx="71323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560320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[2,1]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291839"/>
            <a:ext cx="77724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383279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'+'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337559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1">
                <a:solidFill>
                  <a:srgbClr val="3FD97F"/>
                </a:solidFill>
              </a:rPr>
              <a:t>2+1=3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3931920"/>
            <a:ext cx="640080" cy="25603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3950207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33104" y="4187952"/>
            <a:ext cx="71323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3428999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  <a:latin typeface="Menlo"/>
              </a:rPr>
              <a:t>[3]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160520"/>
            <a:ext cx="77724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251959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'3'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20624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1">
                <a:solidFill>
                  <a:srgbClr val="58A6FF"/>
                </a:solidFill>
              </a:rPr>
              <a:t>push 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4800600"/>
            <a:ext cx="64008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4818888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4507992"/>
            <a:ext cx="640080" cy="25603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4526279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33104" y="5056632"/>
            <a:ext cx="71323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4297680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Menlo"/>
              </a:rPr>
              <a:t>[3,3]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029200"/>
            <a:ext cx="77724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120640"/>
            <a:ext cx="7772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Menlo"/>
              </a:rPr>
              <a:t>'*'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507492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1">
                <a:solidFill>
                  <a:srgbClr val="3FD97F"/>
                </a:solidFill>
              </a:rPr>
              <a:t>3×3=9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5669280"/>
            <a:ext cx="640080" cy="25603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0" y="5687568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Menlo"/>
              </a:rP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33104" y="5925312"/>
            <a:ext cx="713232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0" y="5166360"/>
            <a:ext cx="2103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  <a:latin typeface="Menlo"/>
              </a:rPr>
              <a:t>[9]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5852160"/>
            <a:ext cx="5486400" cy="50292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5852160"/>
            <a:ext cx="91440" cy="50292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5943600"/>
            <a:ext cx="4572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5961888"/>
            <a:ext cx="4709160" cy="2834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Result: 9 (= (2+1) × 3)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760720"/>
            <a:ext cx="585216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760720"/>
            <a:ext cx="914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852159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6B8A"/>
                </a:solidFill>
              </a:rPr>
              <a:t>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5870448"/>
            <a:ext cx="50749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⚠ Order: b di-pop pertama → 'a OP b' (bukan 'b OP a')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Longest Valid Parentheses &amp; Width 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Stack of indices dengan sentinel — pola elegan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Longest Valid Parentheses — Sentinel Trick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longestValidParentheses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39D0D8"/>
                </a:solidFill>
                <a:latin typeface="Menlo"/>
              </a:rPr>
              <a:t>string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stack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SENTINEL: baseline awal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size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C857"/>
                </a:solidFill>
                <a:latin typeface="Menlo"/>
              </a:rPr>
              <a:t>'('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else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6E7681"/>
                </a:solidFill>
                <a:latin typeface="Menlo"/>
              </a:rPr>
              <a:t>// baseline baru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else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max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top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ans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Menlo"/>
              </a:rPr>
              <a:t>🎬 s = ')()())'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554480"/>
            <a:ext cx="6400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28016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1554480"/>
            <a:ext cx="6400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3216" y="16459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(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128016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554480"/>
            <a:ext cx="6400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16459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128016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1554480"/>
            <a:ext cx="6400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96528" y="16459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(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28016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3184" y="1554480"/>
            <a:ext cx="6400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16459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128016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1554480"/>
            <a:ext cx="6400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1645920"/>
            <a:ext cx="640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1280160"/>
            <a:ext cx="640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286000"/>
            <a:ext cx="1243584" cy="3264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331720"/>
            <a:ext cx="109728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Step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2286000"/>
            <a:ext cx="1792224" cy="3264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2331720"/>
            <a:ext cx="164592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Aksi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2286000"/>
            <a:ext cx="1152144" cy="3264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331720"/>
            <a:ext cx="100584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Stack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881360" y="2286000"/>
            <a:ext cx="786384" cy="3264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0" y="2331720"/>
            <a:ext cx="640080" cy="235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1" i="0">
                <a:solidFill>
                  <a:srgbClr val="0D1117"/>
                </a:solidFill>
              </a:rPr>
              <a:t>ans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2658160"/>
            <a:ext cx="508406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2731312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C9A0FF"/>
                </a:solidFill>
              </a:rPr>
              <a:t>init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731312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2731312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[-1]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2731312"/>
            <a:ext cx="640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3042208"/>
            <a:ext cx="508406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115360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i=0 ')'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115360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pop -1, push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3115360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[0]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3115360"/>
            <a:ext cx="640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426256"/>
            <a:ext cx="508406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3499408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i=1 '('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499408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push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84080" y="3499408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[0,1]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3499408"/>
            <a:ext cx="640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3810304"/>
            <a:ext cx="508406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3883456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3FD97F"/>
                </a:solidFill>
              </a:rPr>
              <a:t>i=2 ')'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883456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3FD97F"/>
                </a:solidFill>
              </a:rPr>
              <a:t>pop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84080" y="3883456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3FD97F"/>
                </a:solidFill>
              </a:rPr>
              <a:t>[0]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3883456"/>
            <a:ext cx="640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3FD97F"/>
                </a:solidFill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0" y="4194352"/>
            <a:ext cx="508406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75120" y="4267504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i=3 '('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4267504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push 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267504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[0,3]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0" y="4267504"/>
            <a:ext cx="640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0" y="4578400"/>
            <a:ext cx="5084064" cy="347472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4651552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3FD97F"/>
                </a:solidFill>
              </a:rPr>
              <a:t>i=4 ')'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4651552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3FD97F"/>
                </a:solidFill>
              </a:rPr>
              <a:t>pop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4651552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3FD97F"/>
                </a:solidFill>
              </a:rPr>
              <a:t>[0]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0" y="4651552"/>
            <a:ext cx="640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3FD97F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4962448"/>
            <a:ext cx="5084064" cy="347472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75120" y="5035600"/>
            <a:ext cx="10972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 i="0">
                <a:solidFill>
                  <a:srgbClr val="F0F6FC"/>
                </a:solidFill>
              </a:rPr>
              <a:t>i=5 ')'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55279" y="5035600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pop 0, push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5035600"/>
            <a:ext cx="10058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[5]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5035600"/>
            <a:ext cx="64008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83680" y="5349240"/>
            <a:ext cx="5212080" cy="128016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83680" y="5349240"/>
            <a:ext cx="521208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20840" y="544068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3FD97F"/>
                </a:solidFill>
              </a:rPr>
              <a:t>🔑 Sentinel -1 sebagai baseline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  <a:latin typeface="Menlo"/>
              </a:rPr>
              <a:t>Length = i - st.top()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20840" y="6080760"/>
            <a:ext cx="5029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1">
                <a:solidFill>
                  <a:srgbClr val="C9D1D9"/>
                </a:solidFill>
              </a:rPr>
              <a:t>Tanpa sentinel: rumus jadi off-by-one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57200" y="6263640"/>
            <a:ext cx="5943600" cy="3657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6355079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🎯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" y="6373368"/>
            <a:ext cx="516636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Result: 4 (substring '()()')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Maximum Width Ramp — Two-Pass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029200" cy="20116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0292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42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Definisi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Ramp = pasangan (i, j) dengan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i &lt; j  AND  A[i] ≤ A[j]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Width = j -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77440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Cari width terbesar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5029200" cy="32918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50292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7" y="320040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19" y="320040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320040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4754880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maxWidthRamp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39D0D8"/>
                </a:solidFill>
                <a:latin typeface="Menlo"/>
              </a:rPr>
              <a:t>vector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size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Pass 1: build mono decreasing stack of indices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6E7681"/>
                </a:solidFill>
                <a:latin typeface="Menlo"/>
              </a:rPr>
              <a:t>// Pass 2: scan dari kanan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max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005840"/>
            <a:ext cx="60350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  <a:latin typeface="Menlo"/>
              </a:rPr>
              <a:t>🎯 A = [6, 0, 8, 2, 1, 5]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55448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130759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7" y="165323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1554480"/>
            <a:ext cx="960120" cy="54864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30759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165323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55448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30759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0688" y="165323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155448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130759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96528" y="165323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1554480"/>
            <a:ext cx="960120" cy="54864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30759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165323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89920" y="1554480"/>
            <a:ext cx="960120" cy="54864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130759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08208" y="1653235"/>
            <a:ext cx="923544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17920" y="2331720"/>
            <a:ext cx="5029200" cy="0"/>
          </a:xfrm>
          <a:prstGeom prst="line">
            <a:avLst/>
          </a:prstGeom>
          <a:ln w="25400">
            <a:solidFill>
              <a:srgbClr val="3FD97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60720" y="233172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58A6FF"/>
                </a:solidFill>
              </a:rPr>
              <a:t>↑ i=1 (A=0)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2331720"/>
            <a:ext cx="10058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FFC857"/>
                </a:solidFill>
              </a:rPr>
              <a:t>↑ j=5 (A=5)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2834640"/>
            <a:ext cx="6035040" cy="150876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720" y="2834640"/>
            <a:ext cx="60350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25312" y="2871216"/>
            <a:ext cx="57607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Hasil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3328416"/>
            <a:ext cx="56692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A[1]=0 ≤ A[5]=5 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1888" y="3621024"/>
            <a:ext cx="56692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Width = 5 - 1 =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3913632"/>
            <a:ext cx="56692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Maksimum width ramp = 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60720" y="4526280"/>
            <a:ext cx="603504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60720" y="4526280"/>
            <a:ext cx="60350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25312" y="4562856"/>
            <a:ext cx="57607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💡 Logic Two-Pass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61888" y="5020056"/>
            <a:ext cx="56692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Pass 1: stack monoton turun (kandidat i)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1888" y="5312664"/>
            <a:ext cx="56692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Pass 2: dari kanan, untuk setiap 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61888" y="5605272"/>
            <a:ext cx="56692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pop semua i yang valid → catat width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1888" y="5897880"/>
            <a:ext cx="56692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Setiap elemen: max 2× operasi → O(n)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Advanced Stack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Double counting di kontribusi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Pakai mix &lt; dan ≤ untuk hindari
duplikat menjadi double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RPN: order operand 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b dipop pertama, a kedua.
a - b BUKAN b - a!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Lupa sentinel 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Longest valid paren: tanpa sentinel
rumus i-top off-by-one.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Remove K: lupa trim sisa 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Setelah loop, masih ada k &gt; 0?
pop_back k kali dari belakang.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Leading zero tidak dihapus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'0123' → '123', tapi '0' tetap '0'.
Cek size &gt; 1 sebelum trim.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Car Fleet sort arah salah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Sort DESC by pos (terdepan dulu).
Kalau ASC, logic terbalik.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Advanced Stack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KONTRIBUSI (sum min) ===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left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?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right: pakai &gt; strict (mirror)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REMOVE K DIGITS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string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char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num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c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while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k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pop_back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RPN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auto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: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tokens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isOp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39D0D8"/>
                </a:solidFill>
                <a:latin typeface="Menlo"/>
              </a:rPr>
              <a:t>ll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apply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b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79C0FF"/>
                </a:solidFill>
                <a:latin typeface="Menlo"/>
              </a:rPr>
              <a:t>stoll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t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=== LONGEST VALID PAREN ===</a:t>
            </a:r>
          </a:p>
          <a:p>
            <a:pPr algn="l"/>
            <a:r>
              <a:rPr sz="1000">
                <a:solidFill>
                  <a:srgbClr val="39D0D8"/>
                </a:solidFill>
                <a:latin typeface="Menlo"/>
              </a:rPr>
              <a:t>stack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&gt;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FFC857"/>
                </a:solidFill>
                <a:latin typeface="Menlo"/>
              </a:rPr>
              <a:t>'('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empty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push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else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max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st</a:t>
            </a:r>
            <a:r>
              <a:rPr sz="1000">
                <a:solidFill>
                  <a:srgbClr val="C9D1D9"/>
                </a:solidFill>
                <a:latin typeface="Menlo"/>
              </a:rPr>
              <a:t>.</a:t>
            </a:r>
            <a:r>
              <a:rPr sz="1000">
                <a:solidFill>
                  <a:srgbClr val="79C0FF"/>
                </a:solidFill>
                <a:latin typeface="Menlo"/>
              </a:rPr>
              <a:t>top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Monotonic Stack Advanced — pola elegan untuk soal sulit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Kontribusi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A[i] × left × right. Mix &lt;/≤ untuk hindari double count.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Greedy Mono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Remove K digits: increasing stack. Pop saat ada peluang lebih kecil.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Car Fleet &amp; RPN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Sort + stack untuk simulasi. RPN: postfix evaluation langsung.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Longest Valid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Stack of indices + sentinel -1. Length = i - top.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RPN order operand. Sentinel wajib. Kontribusi: hindari double count.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37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