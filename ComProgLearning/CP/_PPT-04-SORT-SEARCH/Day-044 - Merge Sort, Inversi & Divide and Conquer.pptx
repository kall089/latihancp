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Merge Sort, Inversi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&amp; Divide and Conquer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Pecah, taklukkan, gabungkan — dan informasi yang muncul gratis saat menggabung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Sorting · Day 44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44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Divide and conquer: pecah, selesaikan, lalu gabungkan.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Panitia membagi tumpukan formulir ke dua orang. Masing-masing merapikan bagiannya, lalu keduanya menggabungkan sambil membandingkan satu per satu.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Merge sort: belah dua, urutkan masing-masing secara rekursif, lalu gabungkan dua bagian terurut.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Saat menggabungkan, kalau formulir dari tumpukan kanan diambil lebih dulu, berarti ia mendahului SEMUA sisa formulir kiri.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kali elemen kanan diambil, ia membentuk inversi dengan semua sisa elemen kiri — hitung sekaligus.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Membelah tumpukan berulang kali sampai tinggal satu lembar: butuh sekitar log n kali pembelahan.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Kedalaman rekursinya log n, dan tiap lapis memproses n elemen. Totalnya O(n log n).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menggabungkan dua tumpukan butuh waktu jauh lebih lama daripada mengurutkannya, membelah justru merugikan.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Master theorem: biaya penggabungan menentukan apakah pembelahan menguntungkan atau tidak.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inversi adalah contoh sempurna: informasi yang dicari muncul GRATIS saat menggabungkan, tanpa loop tambahan.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Divide and conquer memecah masalah, menyelesaikan tiap bagian, lalu menggabungkannya — dan sering informasi berharga muncul gratis saat menggabung.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langkah yang selalu sama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Pecah menjadi bagian lebih kecil, selesaikan secara rekursif, lalu gabungkan. Yang membedakan tiap algoritma hanyalah cara penggabungannya.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Biaya penggabungan menentukan kompleksitas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penggabungan O(n), totalnya O(n log n). Bila O(1), totalnya O(n). Master theorem hanyalah cara membaca perbandingan itu.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Merge sort adalah contoh paling bersih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Belah dua, urutkan masing-masing, lalu gabungkan dengan dua penunjuk. O(n log n) terjamin dan stabil.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Inversi terhitung tanpa biaya tambahan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Saat elemen kanan diambil lebih dulu, ia lebih kecil daripada seluruh sisa elemen kiri — sehingga jumlahnya langsung ditambahkan tanpa loop baru.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Kenali dari masalah yang bisa dipecah menjadi bagian yang bentuknya sama.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bisa dibelah menjadi bagian lebih kecil dengan bentuk yang sama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inversi, atau pasangan yang memenuhi syarat urutan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Butuh pengurutan yang STABIL dan terjamin O(n log n)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geometri seperti pasangan titik terdekat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Penggabungannya lebih mahal daripada menyelesaikan langsung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Bagian-bagiannya saling bergantung sehingga tidak bisa diselesaikan terpisah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std::sort sudah cukup dan kamu tidak butuh informasi sampingan apa pun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Tanda &lt;= pada perbandingan penggabungan menjaga stabilitas. Menggantinya dengan &lt; menghilangkan sifat itu tanpa mengubah kebenaran urutannya.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 (Day 57)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Two pointers (Day 32)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Analisis kompleksitas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Fenwick tree (Day 170)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Merge sort tree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Divide &amp; conquer DP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Merge Sort, Inversi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&amp; Divide and Conquer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Pecah, taklukkan, gabungkan — dan hitung inversi sekaligus.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inversi bisa juga dengan Fenwick tree pada Day 170. Membandingkan kedua pendekatannya sangat membantu memahami keduanya.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Umum Divide and Conquer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Master Theorem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Merge Sort Langkah demi Langkah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Inversi Gratis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Penggabungan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Sifat Merge Sort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Lain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Umum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langkah yang selalu sama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 Divide and Conquer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Kerangkanya selalu tiga langkah. Yang membedakan tiap algoritma hanyalah cara menggabungkannya.</a:t>
            </a:r>
            <a:endParaRPr lang="en-US" sz="1300" dirty="0"/>
          </a:p>
        </p:txBody>
      </p:sp>
      <p:pic>
        <p:nvPicPr>
          <p:cNvPr id="4" name="Image 0" descr="/tmp/ppt/imgs/c61_8_4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8332" y="1755648"/>
            <a:ext cx="4444881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baris terakhir adalah kunci memilih pendekatan: kalau penggabungannya mahal, membelah justru tidak menguntungkan.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Master Theorem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Daripada menghafal tiga kasusnya, jalankan rekurensnya dan bandingkan dengan tebakan bentuk tertutupnya.</a:t>
            </a:r>
            <a:endParaRPr lang="en-US" sz="1300" dirty="0"/>
          </a:p>
        </p:txBody>
      </p:sp>
      <p:pic>
        <p:nvPicPr>
          <p:cNvPr id="4" name="Image 0" descr="/tmp/ppt/imgs/c61_9_4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1246" y="1755648"/>
            <a:ext cx="3799051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Merge sort (a=2, b=2, d=1) jatuh tepat di kasus setimbang, sehingga hasilnya O(n log n). Binary search (a=1, b=2, d=0) juga setimbang, dan menghasilkan O(log n).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630168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502152"/>
            <a:ext cx="318211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Bandingkan log basis b dari a dengan d — itu seluruh isi teoremanya.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199382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071366"/>
            <a:ext cx="318211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Lebih besar: biaya didominasi daun. Lebih kecil: didominasi akar.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768596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640580"/>
            <a:ext cx="318211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Sama besar: setiap tingkat berbiaya sama, muncul faktor log n.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37810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09794"/>
            <a:ext cx="318211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ragu, gambar pohon rekursinya dan jumlahkan per tingkat.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Melihat Pembelahannya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645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cnt = 13 barang identik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67512" y="2057400"/>
            <a:ext cx="886968" cy="603504"/>
          </a:xfrm>
          <a:prstGeom prst="rect">
            <a:avLst/>
          </a:prstGeom>
          <a:solidFill>
            <a:srgbClr val="EAF4F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7512" y="2057400"/>
            <a:ext cx="8869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700784" y="2057400"/>
            <a:ext cx="1389888" cy="603504"/>
          </a:xfrm>
          <a:prstGeom prst="rect">
            <a:avLst/>
          </a:prstGeom>
          <a:solidFill>
            <a:srgbClr val="EAFB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700784" y="2057400"/>
            <a:ext cx="1389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36976" y="2057400"/>
            <a:ext cx="2395728" cy="603504"/>
          </a:xfrm>
          <a:prstGeom prst="rect">
            <a:avLst/>
          </a:prstGeom>
          <a:solidFill>
            <a:srgbClr val="FFF7E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236976" y="2057400"/>
            <a:ext cx="23957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779008" y="2057400"/>
            <a:ext cx="3401568" cy="603504"/>
          </a:xfrm>
          <a:prstGeom prst="rect">
            <a:avLst/>
          </a:prstGeom>
          <a:solidFill>
            <a:srgbClr val="F3EEF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779008" y="2057400"/>
            <a:ext cx="3401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418320" y="2148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+ 2 + 4 + 6 = 13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2971800"/>
            <a:ext cx="10853928" cy="4572"/>
          </a:xfrm>
          <a:prstGeom prst="rect">
            <a:avLst/>
          </a:prstGeom>
          <a:solidFill>
            <a:srgbClr val="E3E3E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7512" y="302666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ambil 0 barang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867912" y="302666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7512" y="3392424"/>
            <a:ext cx="10853928" cy="4572"/>
          </a:xfrm>
          <a:prstGeom prst="rect">
            <a:avLst/>
          </a:prstGeom>
          <a:solidFill>
            <a:srgbClr val="E3E3E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7512" y="344728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ambil 5 barang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867912" y="344728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+ 4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67512" y="3813048"/>
            <a:ext cx="10853928" cy="4572"/>
          </a:xfrm>
          <a:prstGeom prst="rect">
            <a:avLst/>
          </a:prstGeom>
          <a:solidFill>
            <a:srgbClr val="E3E3E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7512" y="386791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ambil 9 barang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867912" y="386791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+ 2 + 6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67512" y="4233672"/>
            <a:ext cx="10853928" cy="4572"/>
          </a:xfrm>
          <a:prstGeom prst="rect">
            <a:avLst/>
          </a:prstGeom>
          <a:solidFill>
            <a:srgbClr val="E3E3E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7512" y="428853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ambil 13 barang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867912" y="428853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+ 2 + 4 + 6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67512" y="480060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jumlah 0..13 bisa dibentuk dari empat potongan itu. Jadi cnt barang cukup diwakili O(log cnt) “barang gabungan”, lalu perlakukan sebagai 0/1 knapsack biasa.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Merge Sort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paling bersih dari pola itu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Merge Sort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Bagian pecah dan takluk hanya empat baris. Sisanya adalah penggabungan dua bagian terurut.</a:t>
            </a:r>
            <a:endParaRPr lang="en-US" sz="1300" dirty="0"/>
          </a:p>
        </p:txBody>
      </p:sp>
      <p:pic>
        <p:nvPicPr>
          <p:cNvPr id="4" name="Image 0" descr="/tmp/ppt/imgs/c61_12_4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7596" y="1755648"/>
            <a:ext cx="4589193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case: satu elemen sudah pasti terurut, jadi langsung kembali.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48412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484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429256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 bagian diurutkan lebih dulu secara rekursif. Setelah dua baris ini, kiri dan kanan sudah terurut.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166872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166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112008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Penggabungan memakai dua penunjuk yang berjalan maju bersamaan — persis two pointers dari Day 32.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3849624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3849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794760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Ambil yang lebih kecil. Tanda &lt;= (bukan &lt;) inilah yang menjaga stabilitas urutan elemen kembar.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4532376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4532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4477512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salah satu bagian habis, sisa bagian lain langsung disalin — pasti sudah terurut.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178040" y="5215128"/>
            <a:ext cx="310896" cy="310896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178040" y="5215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07808" y="516026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Salin kembali ke array asli. Alokasi vector sementara inilah harga memori O(n) merge sort.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2b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Penggabungan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Menggabungkan dua bagian terurut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Dua Bagian Sudah Terurut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rekursi selesai, bagian kiri dan kanan masing-masing sudah terurut sendiri.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764792" y="2395728"/>
            <a:ext cx="114300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64792" y="2395728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764792" y="30358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kiri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80944" y="2395728"/>
            <a:ext cx="114300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80944" y="2395728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80944" y="30358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kiri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97096" y="2395728"/>
            <a:ext cx="114300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97096" y="2395728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197096" y="30358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kiri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13248" y="2395728"/>
            <a:ext cx="114300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13248" y="2395728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13248" y="30358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kanan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29400" y="2395728"/>
            <a:ext cx="1143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29400" y="2395728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30358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kanan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kiri = [2, 3, 8]      kanan = [1, 6]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bahwa kedua bagian sudah terurut, tetapi gabungannya belum. Tugas penggabungan adalah menyatukannya sambil menjaga urutan.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Elemen Kanan Diambil Duluan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1 dari bagian kanan lebih kecil dari 2. Karena ia mendahului tiga elemen kiri, terhitung tiga inversi sekaligus.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7889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633472"/>
            <a:ext cx="114300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633472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27355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63824" y="2633472"/>
            <a:ext cx="114300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63824" y="2633472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163824" y="327355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79976" y="2633472"/>
            <a:ext cx="114300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79976" y="2633472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379976" y="327355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96128" y="2633472"/>
            <a:ext cx="114300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596128" y="2633472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596128" y="327355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12280" y="2633472"/>
            <a:ext cx="114300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12280" y="2633472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812280" y="327355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7512" y="376732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41832" y="385876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ambil 1 dari kanan  -&gt;  inv += 3   (sisa kiri: 2, 3, 8)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41832" y="420624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Inilah inti trik penghitungan inversi. Karena bagian kiri sudah terurut, kita tahu SEMUA sisanya lebih besar dari 1 — tanpa memeriksanya satu per satu.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Selesai Menggabung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Sisa penggabungan berjalan biasa. Nilai 6 diambil setelah 2 dan 3, sehingga menambah satu inversi lagi.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1143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63824" y="2395728"/>
            <a:ext cx="1143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63824" y="2395728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163824" y="30358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79976" y="2395728"/>
            <a:ext cx="1143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79976" y="2395728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379976" y="30358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96128" y="2395728"/>
            <a:ext cx="114300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596128" y="2395728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596128" y="30358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12280" y="2395728"/>
            <a:ext cx="1143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12280" y="2395728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812280" y="30358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ambil 6 setelah 2 dan 3  -&gt;  inv += 1  (sisa kiri: 8)      total 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Sisa inversi dihitung pada tingkat rekursi lain. Setiap pasangan terhitung tepat sekali, yaitu di tingkat tempat keduanya berpisah.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Inversi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baris tambahan di dalam penggabungan. Tidak ada loop baru, sehingga kompleksitasnya tidak berubah.</a:t>
            </a:r>
            <a:endParaRPr lang="en-US" sz="1300" dirty="0"/>
          </a:p>
        </p:txBody>
      </p:sp>
      <p:pic>
        <p:nvPicPr>
          <p:cNvPr id="4" name="Image 0" descr="/tmp/ppt/imgs/c61_17_4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5301" y="1755648"/>
            <a:ext cx="5090943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 contoh paling bersih dari prinsip divide and conquer: informasi yang dicari muncul sebagai efek samping penggabungan, bukan sebagai pekerjaan tambahan.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Sifat &amp; Aplikasi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merge sort lebih tepat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Sifat Merge Sort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Sifat yang paling sering dipakai adalah kestabilan. Kode ini membandingkan hasil stable_sort dengan sort biasa pada data berkunci kembar.</a:t>
            </a:r>
            <a:endParaRPr lang="en-US" sz="1300" dirty="0"/>
          </a:p>
        </p:txBody>
      </p:sp>
      <p:pic>
        <p:nvPicPr>
          <p:cNvPr id="4" name="Image 0" descr="/tmp/ppt/imgs/c61_19_4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6482" y="1993392"/>
            <a:ext cx="4668580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stable_sort menjaga urutan asli untuk kunci yang sama — b sebelum d, lalu a, c, e. sort biasa tidak menjaminnya. Merge sort stabil secara alami; itulah salah satu alasan ia masih dipakai.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4082796"/>
            <a:ext cx="82296" cy="8229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954780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Stabil: unsur berkunci sama tetap dalam urutan semula.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538853"/>
            <a:ext cx="82296" cy="8229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410837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sifatnya: stabil, O(n log n) selalu, butuh memori tambahan O(n),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994910"/>
            <a:ext cx="82296" cy="8229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866894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dan bisa dipakai untuk data yang tidak muat di memori (external sort).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450967"/>
            <a:ext cx="82296" cy="8229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322951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Kestabilan penting saat mengurutkan berlapis dengan beberapa kunci.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Enam Aplikasi Lain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tersering: menghitung inversi. Merge sort menghitungnya gratis, sambil mengurutkan.</a:t>
            </a:r>
            <a:endParaRPr lang="en-US" sz="1300" dirty="0"/>
          </a:p>
        </p:txBody>
      </p:sp>
      <p:pic>
        <p:nvPicPr>
          <p:cNvPr id="4" name="Image 0" descr="/tmp/ppt/imgs/c61_20_4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0580" y="1755648"/>
            <a:ext cx="3280384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11 adalah seluruh tambahannya: saat unsur kanan diambil lebih dulu, ia melompati semua sisa unsur kiri — dan tiap lompatan itu satu inversi.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630168"/>
            <a:ext cx="82296" cy="82296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502152"/>
            <a:ext cx="318211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Inversi = pasangan (i,j) dengan i &lt; j tetapi a[i] &gt; a[j].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199382"/>
            <a:ext cx="82296" cy="82296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071366"/>
            <a:ext cx="318211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Barisan terbalik sempurna punya n(n-1)/2 inversi — di sini 10.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768596"/>
            <a:ext cx="82296" cy="82296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640580"/>
            <a:ext cx="318211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Enam aplikasi: inversi, pasangan titik terdekat, D&amp;C optimization,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37810"/>
            <a:ext cx="82296" cy="82296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09794"/>
            <a:ext cx="318211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quickselect, closest pair, dan menghitung pasangan berselisih tertentu.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Membandingkan Algoritma Pengurutan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kontes, std::sort hampir selalu cukup. Tabel ini untuk memahami kapan yang lain lebih tepat.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286000"/>
                <a:gridCol w="2286000"/>
                <a:gridCol w="353872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Algoritma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Waktu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Memori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Catatan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Merge sort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 log n) selalu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Stabil, tanpa kasus terburuk. Dipakai stable_sort.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Quicksort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 log n) rata-rata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O(log 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 tempat dan cepat, tetapi bisa turun ke O(n²).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Heapsort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 log n) selalu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O(1)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 tempat dan terjamin, tetapi tidak ramah cache.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std::sort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 log n) selalu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O(log 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Introsort: quicksort yang beralih ke heapsort bila dalam.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Counting sort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 + k)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O(k)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Hanya untuk nilai bilangan bulat kecil.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Inversi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barisan n bilangan. Hitung banyaknya pasangan indeks (i, j) dengan i &lt; j tetapi a[i] &gt; a[j].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a[i] &lt;= 10^9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jawabannya bisa mencapai n(n-1)/2</a:t>
            </a:r>
            <a:endParaRPr lang="en-US" sz="1200" dirty="0"/>
          </a:p>
        </p:txBody>
      </p:sp>
      <p:pic>
        <p:nvPicPr>
          <p:cNvPr id="9" name="Image 0" descr="/tmp/ppt/imgs/c61_23_4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6979" y="1280160"/>
            <a:ext cx="255692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satu baris yang membedakannya dari merge sort biasa: penambahan pada baris 25.</a:t>
            </a:r>
            <a:endParaRPr lang="en-US" sz="1300" dirty="0"/>
          </a:p>
        </p:txBody>
      </p:sp>
      <p:pic>
        <p:nvPicPr>
          <p:cNvPr id="4" name="Image 0" descr="/tmp/ppt/imgs/c61_24_4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8203" y="1755648"/>
            <a:ext cx="2685137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 log n). Jawabannya bisa mencapai 2 x 10^10, jadi long long wajib. Bandingkan dengan cara Fenwick tree pada Day 170 — hasilnya sama, pendekatannya berbeda.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soal pertama adalah inversi langsung; tiga berikutnya memakai divide and conquer lain.</a:t>
            </a:r>
            <a:endParaRPr lang="en-US" sz="13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Inversion Count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Merge sort dengan penghitungan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LeetCode 493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Reverse pairs — varian inversi dengan syarat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351B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Inversi dengan pertukaran terbatas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Nearest Smaller Values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Bandingkan dengan monotonic stack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Closest Pair of Points (klasik)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Divide and conquer pada bidang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Biaya penggabungan menentukan segalanya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Membelah selalu murah; yang mahal adalah menyatukan. Master theorem hanyalah cara membaca perbandingan itu.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Informasi bisa muncul gratis saat menggabung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Inversi dihitung tanpa loop tambahan, karena kedua bagian sudah terurut. Pola ini muncul lagi pada merge sort tree.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Stabilitas ditentukan satu tanda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Tanda &lt;= pada perbandingan menjaga urutan elemen kembar. Menggantinya dengan &lt; menghilangkan stabilitas.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Divide and conquer jauh lebih luas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search, fast power, closest pair, Karatsuba, dan optimasi DP semuanya memakai pola tiga langkah yang sama.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2026-09-05T08:51:34Z</dcterms:created>
  <dcterms:modified xsi:type="dcterms:W3CDTF">2026-09-05T08:51:34Z</dcterms:modified>
</cp:coreProperties>
</file>