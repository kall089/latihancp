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57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017520" y="-914400"/>
            <a:ext cx="2743200" cy="27432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286000" y="5029200"/>
            <a:ext cx="3657600" cy="36576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0"/>
            <a:ext cx="36576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457200"/>
            <a:ext cx="1463040" cy="4114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02920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80160"/>
            <a:ext cx="4389120" cy="2377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0" b="1" i="0">
                <a:solidFill>
                  <a:srgbClr val="58A6FF"/>
                </a:solidFill>
              </a:rPr>
              <a:t>57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57600"/>
            <a:ext cx="36576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1371600" cy="73152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COMPETITIVE PROGRAMMING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6E7681"/>
                </a:solidFill>
              </a:rPr>
              <a:t>150 Day 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103120"/>
            <a:ext cx="6400800" cy="1280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200" b="1" i="0">
                <a:solidFill>
                  <a:srgbClr val="F0F6FC"/>
                </a:solidFill>
              </a:rPr>
              <a:t>Graph Representation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246120"/>
            <a:ext cx="457200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3246120"/>
            <a:ext cx="36576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3429000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39D0D8"/>
                </a:solidFill>
              </a:rPr>
              <a:t>3 cara: Adjacency List · Matrix · Edge 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813048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C9A0FF"/>
                </a:solidFill>
              </a:rPr>
              <a:t>Pilih sesuai sparsity &amp; operasi yang dibutuhkan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6126480"/>
            <a:ext cx="365760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6217920"/>
            <a:ext cx="6400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E7681"/>
                </a:solidFill>
              </a:rPr>
              <a:t>Modern Cobalt Theme · python-pptx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5120640"/>
            <a:ext cx="1691640" cy="45720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0" y="5212080"/>
            <a:ext cx="1691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Adj List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5120640"/>
            <a:ext cx="1691640" cy="45720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35240" y="5212080"/>
            <a:ext cx="1691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Adj Matrix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18320" y="5120640"/>
            <a:ext cx="1691640" cy="45720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5212080"/>
            <a:ext cx="1691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Edge List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Agenda — Day 57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Topik utama yang akan kita bahas hari ini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78892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914400" cy="54864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Konsep
Graph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71800"/>
            <a:ext cx="242316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V &amp; 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Directed vs Undirected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Weighted vs Unweighted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Tree, DAG, dense, sparse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4991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1" y="1234440"/>
            <a:ext cx="2788920" cy="914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47872" y="1463040"/>
            <a:ext cx="914400" cy="54864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Adjacency
List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7872" y="2971800"/>
            <a:ext cx="2423160" cy="36576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7872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vector&lt;vector&lt;int&gt;&gt;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Pair (v, w)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7872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O(V+E) memori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7872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Default CP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2783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72783" y="1234440"/>
            <a:ext cx="2788920" cy="914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55664" y="1463040"/>
            <a:ext cx="914400" cy="54864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Adjacency
Matrix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55664" y="2971800"/>
            <a:ext cx="2423160" cy="36576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matrix V×V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O(1) cek edge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O(V²) memori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5664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Untuk dense graph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0576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80576" y="1234440"/>
            <a:ext cx="2788920" cy="914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363455" y="1463040"/>
            <a:ext cx="914400" cy="548640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63455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63455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Edge List &amp;
Properti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63455" y="2971800"/>
            <a:ext cx="2423160" cy="36576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63455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Sort by weight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63455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Untuk Kruskal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63455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Degree, in/out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63455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Pilih representasi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58A6FF"/>
                </a:solidFill>
              </a:rPr>
              <a:t>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Konsep 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G = (V, E) — vertices dan edges, fondasi semua algoritma graph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Apa itu Graph? — Visualisasi V &amp; 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Kumpulan node (V) yang terhubung oleh edge (E)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943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</a:rPr>
              <a:t>🔵 4 Jenis Graph Umum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1. Undirected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52728" y="2194560"/>
            <a:ext cx="694944" cy="0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40391" y="2401561"/>
            <a:ext cx="325257" cy="500397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734751" y="2401561"/>
            <a:ext cx="325257" cy="500397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758952" y="1947672"/>
            <a:ext cx="493776" cy="49377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071115"/>
            <a:ext cx="493776" cy="246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A</a:t>
            </a:r>
          </a:p>
        </p:txBody>
      </p:sp>
      <p:sp>
        <p:nvSpPr>
          <p:cNvPr id="13" name="Oval 12"/>
          <p:cNvSpPr/>
          <p:nvPr/>
        </p:nvSpPr>
        <p:spPr>
          <a:xfrm>
            <a:off x="1947672" y="1947672"/>
            <a:ext cx="493776" cy="49377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47672" y="2071115"/>
            <a:ext cx="493776" cy="246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B</a:t>
            </a:r>
          </a:p>
        </p:txBody>
      </p:sp>
      <p:sp>
        <p:nvSpPr>
          <p:cNvPr id="15" name="Oval 14"/>
          <p:cNvSpPr/>
          <p:nvPr/>
        </p:nvSpPr>
        <p:spPr>
          <a:xfrm>
            <a:off x="1353312" y="2862072"/>
            <a:ext cx="493776" cy="49377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53312" y="2985515"/>
            <a:ext cx="493776" cy="246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1508760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3FD97F"/>
                </a:solidFill>
              </a:rPr>
              <a:t>2. Directed</a:t>
            </a:r>
          </a:p>
        </p:txBody>
      </p:sp>
      <p:sp>
        <p:nvSpPr>
          <p:cNvPr id="18" name="Oval 17"/>
          <p:cNvSpPr/>
          <p:nvPr/>
        </p:nvSpPr>
        <p:spPr>
          <a:xfrm>
            <a:off x="3776472" y="1947672"/>
            <a:ext cx="493776" cy="493776"/>
          </a:xfrm>
          <a:prstGeom prst="ellipse">
            <a:avLst/>
          </a:prstGeom>
          <a:solidFill>
            <a:srgbClr val="3FD97F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76472" y="2071115"/>
            <a:ext cx="493776" cy="246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4965192" y="1947672"/>
            <a:ext cx="493776" cy="493776"/>
          </a:xfrm>
          <a:prstGeom prst="ellipse">
            <a:avLst/>
          </a:prstGeom>
          <a:solidFill>
            <a:srgbClr val="3FD97F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65192" y="2071115"/>
            <a:ext cx="493776" cy="246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B</a:t>
            </a:r>
          </a:p>
        </p:txBody>
      </p:sp>
      <p:sp>
        <p:nvSpPr>
          <p:cNvPr id="22" name="Oval 21"/>
          <p:cNvSpPr/>
          <p:nvPr/>
        </p:nvSpPr>
        <p:spPr>
          <a:xfrm>
            <a:off x="4370831" y="2862072"/>
            <a:ext cx="493776" cy="493776"/>
          </a:xfrm>
          <a:prstGeom prst="ellipse">
            <a:avLst/>
          </a:prstGeom>
          <a:solidFill>
            <a:srgbClr val="3FD97F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70831" y="2985515"/>
            <a:ext cx="493776" cy="246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C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270248" y="2194560"/>
            <a:ext cx="694944" cy="0"/>
          </a:xfrm>
          <a:prstGeom prst="line">
            <a:avLst/>
          </a:prstGeom>
          <a:ln w="22225">
            <a:solidFill>
              <a:srgbClr val="3FD9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4752271" y="2401561"/>
            <a:ext cx="325257" cy="500397"/>
          </a:xfrm>
          <a:prstGeom prst="line">
            <a:avLst/>
          </a:prstGeom>
          <a:ln w="22225">
            <a:solidFill>
              <a:srgbClr val="3FD9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3657600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FC857"/>
                </a:solidFill>
              </a:rPr>
              <a:t>3. Weighted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252728" y="4434840"/>
            <a:ext cx="694944" cy="0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435608" y="4325112"/>
            <a:ext cx="329184" cy="219456"/>
          </a:xfrm>
          <a:prstGeom prst="roundRect">
            <a:avLst/>
          </a:prstGeom>
          <a:solidFill>
            <a:srgbClr val="0D1117"/>
          </a:solidFill>
          <a:ln w="635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35608" y="4343400"/>
            <a:ext cx="329184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8B949E"/>
                </a:solidFill>
              </a:rPr>
              <a:t>5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140391" y="4641841"/>
            <a:ext cx="325257" cy="500397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138428" y="4782312"/>
            <a:ext cx="329184" cy="219456"/>
          </a:xfrm>
          <a:prstGeom prst="roundRect">
            <a:avLst/>
          </a:prstGeom>
          <a:solidFill>
            <a:srgbClr val="0D1117"/>
          </a:solidFill>
          <a:ln w="635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38428" y="4800600"/>
            <a:ext cx="329184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8B949E"/>
                </a:solidFill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1734751" y="4641841"/>
            <a:ext cx="325257" cy="500397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732788" y="4782312"/>
            <a:ext cx="329184" cy="219456"/>
          </a:xfrm>
          <a:prstGeom prst="roundRect">
            <a:avLst/>
          </a:prstGeom>
          <a:solidFill>
            <a:srgbClr val="0D1117"/>
          </a:solidFill>
          <a:ln w="635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32788" y="4800600"/>
            <a:ext cx="329184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8B949E"/>
                </a:solidFill>
              </a:rPr>
              <a:t>2</a:t>
            </a:r>
          </a:p>
        </p:txBody>
      </p:sp>
      <p:sp>
        <p:nvSpPr>
          <p:cNvPr id="36" name="Oval 35"/>
          <p:cNvSpPr/>
          <p:nvPr/>
        </p:nvSpPr>
        <p:spPr>
          <a:xfrm>
            <a:off x="758952" y="4187952"/>
            <a:ext cx="493776" cy="493776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8952" y="4311396"/>
            <a:ext cx="493776" cy="246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A</a:t>
            </a:r>
          </a:p>
        </p:txBody>
      </p:sp>
      <p:sp>
        <p:nvSpPr>
          <p:cNvPr id="38" name="Oval 37"/>
          <p:cNvSpPr/>
          <p:nvPr/>
        </p:nvSpPr>
        <p:spPr>
          <a:xfrm>
            <a:off x="1947672" y="4187952"/>
            <a:ext cx="493776" cy="493776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47672" y="4311396"/>
            <a:ext cx="493776" cy="246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B</a:t>
            </a:r>
          </a:p>
        </p:txBody>
      </p:sp>
      <p:sp>
        <p:nvSpPr>
          <p:cNvPr id="40" name="Oval 39"/>
          <p:cNvSpPr/>
          <p:nvPr/>
        </p:nvSpPr>
        <p:spPr>
          <a:xfrm>
            <a:off x="1353312" y="5102352"/>
            <a:ext cx="493776" cy="493776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53312" y="5225796"/>
            <a:ext cx="493776" cy="246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3657600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C9A0FF"/>
                </a:solidFill>
              </a:rPr>
              <a:t>4. DAG</a:t>
            </a:r>
          </a:p>
        </p:txBody>
      </p:sp>
      <p:sp>
        <p:nvSpPr>
          <p:cNvPr id="43" name="Oval 42"/>
          <p:cNvSpPr/>
          <p:nvPr/>
        </p:nvSpPr>
        <p:spPr>
          <a:xfrm>
            <a:off x="3776472" y="4187952"/>
            <a:ext cx="493776" cy="493776"/>
          </a:xfrm>
          <a:prstGeom prst="ellipse">
            <a:avLst/>
          </a:prstGeom>
          <a:solidFill>
            <a:srgbClr val="C9A0FF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76472" y="4311396"/>
            <a:ext cx="493776" cy="246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A</a:t>
            </a:r>
          </a:p>
        </p:txBody>
      </p:sp>
      <p:sp>
        <p:nvSpPr>
          <p:cNvPr id="45" name="Oval 44"/>
          <p:cNvSpPr/>
          <p:nvPr/>
        </p:nvSpPr>
        <p:spPr>
          <a:xfrm>
            <a:off x="4965192" y="4187952"/>
            <a:ext cx="493776" cy="493776"/>
          </a:xfrm>
          <a:prstGeom prst="ellipse">
            <a:avLst/>
          </a:prstGeom>
          <a:solidFill>
            <a:srgbClr val="C9A0FF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65192" y="4311396"/>
            <a:ext cx="493776" cy="246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B</a:t>
            </a:r>
          </a:p>
        </p:txBody>
      </p:sp>
      <p:sp>
        <p:nvSpPr>
          <p:cNvPr id="47" name="Oval 46"/>
          <p:cNvSpPr/>
          <p:nvPr/>
        </p:nvSpPr>
        <p:spPr>
          <a:xfrm>
            <a:off x="4370831" y="5102352"/>
            <a:ext cx="493776" cy="493776"/>
          </a:xfrm>
          <a:prstGeom prst="ellipse">
            <a:avLst/>
          </a:prstGeom>
          <a:solidFill>
            <a:srgbClr val="C9A0FF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70831" y="5225796"/>
            <a:ext cx="493776" cy="246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C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270248" y="4434840"/>
            <a:ext cx="694944" cy="0"/>
          </a:xfrm>
          <a:prstGeom prst="line">
            <a:avLst/>
          </a:prstGeom>
          <a:ln w="22225">
            <a:solidFill>
              <a:srgbClr val="C9A0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157911" y="4641841"/>
            <a:ext cx="325257" cy="500397"/>
          </a:xfrm>
          <a:prstGeom prst="line">
            <a:avLst/>
          </a:prstGeom>
          <a:ln w="22225">
            <a:solidFill>
              <a:srgbClr val="C9A0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4752271" y="4641841"/>
            <a:ext cx="325257" cy="500397"/>
          </a:xfrm>
          <a:prstGeom prst="line">
            <a:avLst/>
          </a:prstGeom>
          <a:ln w="22225">
            <a:solidFill>
              <a:srgbClr val="C9A0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583680" y="1005840"/>
            <a:ext cx="5212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</a:rPr>
              <a:t>📚 Terminologi Penting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83680" y="1554480"/>
            <a:ext cx="1792224" cy="38862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75120" y="1600200"/>
            <a:ext cx="1645920" cy="2971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Istilah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412480" y="1554480"/>
            <a:ext cx="3346704" cy="38862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03919" y="1600200"/>
            <a:ext cx="3200400" cy="2971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Makna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0" y="1988819"/>
            <a:ext cx="5175504" cy="42062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2061972"/>
            <a:ext cx="16459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</a:rPr>
              <a:t>V (Vertex)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03919" y="2061972"/>
            <a:ext cx="32004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Node / titik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83680" y="2446020"/>
            <a:ext cx="5175504" cy="42062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75120" y="2519172"/>
            <a:ext cx="16459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FD97F"/>
                </a:solidFill>
              </a:rPr>
              <a:t>E (Edge)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03919" y="2519172"/>
            <a:ext cx="32004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Sambungan antar V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83680" y="2903220"/>
            <a:ext cx="5175504" cy="42062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976372"/>
            <a:ext cx="16459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C857"/>
                </a:solidFill>
              </a:rPr>
              <a:t>Degree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03919" y="2976372"/>
            <a:ext cx="32004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Jumlah tetangga V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83680" y="3360420"/>
            <a:ext cx="5175504" cy="42062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75120" y="3433572"/>
            <a:ext cx="16459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A0FF"/>
                </a:solidFill>
              </a:rPr>
              <a:t>Path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03919" y="3433572"/>
            <a:ext cx="32004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Jalur antar V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0" y="3817620"/>
            <a:ext cx="5175504" cy="42062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90772"/>
            <a:ext cx="16459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6B8A"/>
                </a:solidFill>
              </a:rPr>
              <a:t>Cycle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03919" y="3890772"/>
            <a:ext cx="32004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Path balik ke awal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83680" y="4274820"/>
            <a:ext cx="5175504" cy="42062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75120" y="4347972"/>
            <a:ext cx="16459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</a:rPr>
              <a:t>Connected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03919" y="4347972"/>
            <a:ext cx="32004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Bisa dijangkau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583680" y="4572000"/>
            <a:ext cx="5212080" cy="178308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83680" y="4572000"/>
            <a:ext cx="521208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748272" y="4608576"/>
            <a:ext cx="49377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💡 Sparsity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784848" y="5065776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Sparse: E ≪ V² (umum di CP)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784848" y="5358384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Dense: E ≈ V² (jarang di CP)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784848" y="5650992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Tree: E = V-1 (special)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784848" y="5943600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Complete: E = V(V-1)/2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3FD97F"/>
                </a:solidFill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Adjacency 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Default representation untuk CP — O(V+E) memori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Adjacency List — Konsep &amp; Visualisasi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Tiap node menyimpan daftar tetangganya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</a:rPr>
              <a:t>🕸️ Graph (undirected, weighted)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37360" y="2560320"/>
            <a:ext cx="2011679" cy="0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578608" y="2450591"/>
            <a:ext cx="329184" cy="219456"/>
          </a:xfrm>
          <a:prstGeom prst="roundRect">
            <a:avLst/>
          </a:prstGeom>
          <a:solidFill>
            <a:srgbClr val="0D1117"/>
          </a:solidFill>
          <a:ln w="635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78608" y="2468879"/>
            <a:ext cx="329184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8B949E"/>
                </a:solidFill>
              </a:rPr>
              <a:t>3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71600" y="2926079"/>
            <a:ext cx="0" cy="1280161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207008" y="3456432"/>
            <a:ext cx="329184" cy="219456"/>
          </a:xfrm>
          <a:prstGeom prst="roundRect">
            <a:avLst/>
          </a:prstGeom>
          <a:solidFill>
            <a:srgbClr val="0D1117"/>
          </a:solidFill>
          <a:ln w="635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3474720"/>
            <a:ext cx="329184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8B949E"/>
                </a:solidFill>
              </a:rPr>
              <a:t>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14800" y="2926079"/>
            <a:ext cx="0" cy="1280161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950208" y="3456432"/>
            <a:ext cx="329184" cy="219456"/>
          </a:xfrm>
          <a:prstGeom prst="roundRect">
            <a:avLst/>
          </a:prstGeom>
          <a:solidFill>
            <a:srgbClr val="0D1117"/>
          </a:solidFill>
          <a:ln w="635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50208" y="3474720"/>
            <a:ext cx="329184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8B949E"/>
                </a:solidFill>
              </a:rPr>
              <a:t>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37360" y="4572000"/>
            <a:ext cx="2011679" cy="0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578608" y="4462272"/>
            <a:ext cx="329184" cy="219456"/>
          </a:xfrm>
          <a:prstGeom prst="roundRect">
            <a:avLst/>
          </a:prstGeom>
          <a:solidFill>
            <a:srgbClr val="0D1117"/>
          </a:solidFill>
          <a:ln w="635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78608" y="4480560"/>
            <a:ext cx="329184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8B949E"/>
                </a:solidFill>
              </a:rPr>
              <a:t>1</a:t>
            </a:r>
          </a:p>
        </p:txBody>
      </p:sp>
      <p:sp>
        <p:nvSpPr>
          <p:cNvPr id="19" name="Oval 18"/>
          <p:cNvSpPr/>
          <p:nvPr/>
        </p:nvSpPr>
        <p:spPr>
          <a:xfrm>
            <a:off x="1005840" y="2194560"/>
            <a:ext cx="731520" cy="73152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2377439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21" name="Oval 20"/>
          <p:cNvSpPr/>
          <p:nvPr/>
        </p:nvSpPr>
        <p:spPr>
          <a:xfrm>
            <a:off x="3749039" y="2194560"/>
            <a:ext cx="731520" cy="73152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39" y="2377439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23" name="Oval 22"/>
          <p:cNvSpPr/>
          <p:nvPr/>
        </p:nvSpPr>
        <p:spPr>
          <a:xfrm>
            <a:off x="1005840" y="4206240"/>
            <a:ext cx="731520" cy="73152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38912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25" name="Oval 24"/>
          <p:cNvSpPr/>
          <p:nvPr/>
        </p:nvSpPr>
        <p:spPr>
          <a:xfrm>
            <a:off x="3749039" y="4206240"/>
            <a:ext cx="731520" cy="73152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9039" y="438912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005840"/>
            <a:ext cx="53949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📋 Adjacency List Visual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1554480"/>
            <a:ext cx="640080" cy="50292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1645920"/>
            <a:ext cx="640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  <a:latin typeface="Menlo"/>
              </a:rPr>
              <a:t>1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86600" y="1805940"/>
            <a:ext cx="228600" cy="0"/>
          </a:xfrm>
          <a:prstGeom prst="line">
            <a:avLst/>
          </a:prstGeom>
          <a:ln w="19050">
            <a:solidFill>
              <a:srgbClr val="58A6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60920" y="1554480"/>
            <a:ext cx="1371600" cy="50292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60920" y="1691639"/>
            <a:ext cx="13716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58A6FF"/>
                </a:solidFill>
                <a:latin typeface="Menlo"/>
              </a:rPr>
              <a:t>(2,3)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778240" y="1805940"/>
            <a:ext cx="137160" cy="0"/>
          </a:xfrm>
          <a:prstGeom prst="line">
            <a:avLst/>
          </a:prstGeom>
          <a:ln w="12700">
            <a:solidFill>
              <a:srgbClr val="58A6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915400" y="1554480"/>
            <a:ext cx="1371600" cy="50292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15400" y="1691639"/>
            <a:ext cx="13716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58A6FF"/>
                </a:solidFill>
                <a:latin typeface="Menlo"/>
              </a:rPr>
              <a:t>(3,5)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2267712"/>
            <a:ext cx="640080" cy="50292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2359152"/>
            <a:ext cx="640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  <a:latin typeface="Menlo"/>
              </a:rPr>
              <a:t>2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086600" y="2519172"/>
            <a:ext cx="228600" cy="0"/>
          </a:xfrm>
          <a:prstGeom prst="line">
            <a:avLst/>
          </a:prstGeom>
          <a:ln w="19050">
            <a:solidFill>
              <a:srgbClr val="58A6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360920" y="2267712"/>
            <a:ext cx="1371600" cy="50292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60920" y="2404872"/>
            <a:ext cx="13716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58A6FF"/>
                </a:solidFill>
                <a:latin typeface="Menlo"/>
              </a:rPr>
              <a:t>(1,3)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778240" y="2519172"/>
            <a:ext cx="137160" cy="0"/>
          </a:xfrm>
          <a:prstGeom prst="line">
            <a:avLst/>
          </a:prstGeom>
          <a:ln w="12700">
            <a:solidFill>
              <a:srgbClr val="58A6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915400" y="2267712"/>
            <a:ext cx="1371600" cy="50292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15400" y="2404872"/>
            <a:ext cx="13716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58A6FF"/>
                </a:solidFill>
                <a:latin typeface="Menlo"/>
              </a:rPr>
              <a:t>(4,2)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2980944"/>
            <a:ext cx="640080" cy="50292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3072384"/>
            <a:ext cx="640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  <a:latin typeface="Menlo"/>
              </a:rPr>
              <a:t>3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086600" y="3232403"/>
            <a:ext cx="228600" cy="0"/>
          </a:xfrm>
          <a:prstGeom prst="line">
            <a:avLst/>
          </a:prstGeom>
          <a:ln w="19050">
            <a:solidFill>
              <a:srgbClr val="58A6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7360920" y="2980944"/>
            <a:ext cx="1371600" cy="50292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60920" y="3118103"/>
            <a:ext cx="13716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58A6FF"/>
                </a:solidFill>
                <a:latin typeface="Menlo"/>
              </a:rPr>
              <a:t>(1,5)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778240" y="3232403"/>
            <a:ext cx="137160" cy="0"/>
          </a:xfrm>
          <a:prstGeom prst="line">
            <a:avLst/>
          </a:prstGeom>
          <a:ln w="12700">
            <a:solidFill>
              <a:srgbClr val="58A6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8915400" y="2980944"/>
            <a:ext cx="1371600" cy="50292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15400" y="3118103"/>
            <a:ext cx="13716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58A6FF"/>
                </a:solidFill>
                <a:latin typeface="Menlo"/>
              </a:rPr>
              <a:t>(4,1)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0" y="3694176"/>
            <a:ext cx="640080" cy="50292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3785615"/>
            <a:ext cx="640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  <a:latin typeface="Menlo"/>
              </a:rPr>
              <a:t>4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086600" y="3945636"/>
            <a:ext cx="228600" cy="0"/>
          </a:xfrm>
          <a:prstGeom prst="line">
            <a:avLst/>
          </a:prstGeom>
          <a:ln w="19050">
            <a:solidFill>
              <a:srgbClr val="58A6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7360920" y="3694176"/>
            <a:ext cx="1371600" cy="50292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60920" y="3831336"/>
            <a:ext cx="13716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58A6FF"/>
                </a:solidFill>
                <a:latin typeface="Menlo"/>
              </a:rPr>
              <a:t>(2,2)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8778240" y="3945636"/>
            <a:ext cx="137160" cy="0"/>
          </a:xfrm>
          <a:prstGeom prst="line">
            <a:avLst/>
          </a:prstGeom>
          <a:ln w="12700">
            <a:solidFill>
              <a:srgbClr val="58A6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8915400" y="3694176"/>
            <a:ext cx="1371600" cy="50292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915400" y="3831336"/>
            <a:ext cx="13716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58A6FF"/>
                </a:solidFill>
                <a:latin typeface="Menlo"/>
              </a:rPr>
              <a:t>(3,1)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5394960"/>
            <a:ext cx="11338560" cy="118872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57200" y="5394960"/>
            <a:ext cx="1133856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66927" y="544068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31519" y="544068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96112" y="544068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4360" y="56692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vector&lt;vector&lt;pair&lt;int,int&gt;&gt;&gt; adj(n + 1);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adj[u].push_back({v, w});  adj[v].push_back({u, w});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for (auto [v, w] : adj[u])  // iterasi tetangga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Adjacency List — Kompleksitas &amp; Kapan Pakai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163824" cy="427482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3017520" cy="33604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Operasi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097280"/>
            <a:ext cx="2706624" cy="427482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39" y="1143000"/>
            <a:ext cx="2560320" cy="33604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Kompleksitas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70482"/>
            <a:ext cx="5907024" cy="46634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43634"/>
            <a:ext cx="301752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</a:rPr>
              <a:t>Tambah 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643634"/>
            <a:ext cx="256032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O(1) amortized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73402"/>
            <a:ext cx="5907024" cy="46634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146554"/>
            <a:ext cx="301752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C857"/>
                </a:solidFill>
              </a:rPr>
              <a:t>Cek edge(u,v)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146554"/>
            <a:ext cx="256032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O(degree(u))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76322"/>
            <a:ext cx="5907024" cy="46634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649474"/>
            <a:ext cx="301752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FD97F"/>
                </a:solidFill>
              </a:rPr>
              <a:t>Iterasi tetangga 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649474"/>
            <a:ext cx="256032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O(degree(u))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079242"/>
            <a:ext cx="5907024" cy="46634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152394"/>
            <a:ext cx="301752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A0FF"/>
                </a:solidFill>
              </a:rPr>
              <a:t>Iterasi semua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3152394"/>
            <a:ext cx="256032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O(V + 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582162"/>
            <a:ext cx="5907024" cy="46634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655314"/>
            <a:ext cx="301752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6B8A"/>
                </a:solidFill>
              </a:rPr>
              <a:t>Memori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3655314"/>
            <a:ext cx="256032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O(V + 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572000"/>
            <a:ext cx="5943600" cy="192024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572000"/>
            <a:ext cx="5943600" cy="3840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4608576"/>
            <a:ext cx="56692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✓ Kapan Pakai?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065776"/>
            <a:ext cx="55778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FD97F"/>
                </a:solidFill>
              </a:rPr>
              <a:t>Graph sparse (E ≪ V²)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358384"/>
            <a:ext cx="55778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FD97F"/>
                </a:solidFill>
              </a:rPr>
              <a:t>V besar (sampai 10⁵+)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650992"/>
            <a:ext cx="55778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FD97F"/>
                </a:solidFill>
              </a:rPr>
              <a:t>BFS, DFS, Dijkstra,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943600"/>
            <a:ext cx="55778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FD97F"/>
                </a:solidFill>
              </a:rPr>
              <a:t>  Bellman-Ford, dll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1097280"/>
            <a:ext cx="5212080" cy="54864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0" y="1097280"/>
            <a:ext cx="521208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693408" y="114300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858000" y="114300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22592" y="114300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0840" y="1371600"/>
            <a:ext cx="4937760" cy="5120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UNWEIGHTED, UNDIRECTED ===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adj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n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m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u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79C0FF"/>
                </a:solidFill>
                <a:latin typeface="Menlo"/>
              </a:rPr>
              <a:t>cin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u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adj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u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push_back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adj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push_back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u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WEIGHTED, UNDIRECTED ===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39D0D8"/>
                </a:solidFill>
                <a:latin typeface="Menlo"/>
              </a:rPr>
              <a:t>pair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adj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n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m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u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w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79C0FF"/>
                </a:solidFill>
                <a:latin typeface="Menlo"/>
              </a:rPr>
              <a:t>cin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u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w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adj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u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push_back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w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adj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push_back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  <a:r>
              <a:rPr sz="1000">
                <a:solidFill>
                  <a:srgbClr val="C9D1D9"/>
                </a:solidFill>
                <a:latin typeface="Menlo"/>
              </a:rPr>
              <a:t>u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w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ITERASI TETANGGA ===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auto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w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: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adj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u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6E7681"/>
                </a:solidFill>
                <a:latin typeface="Menlo"/>
              </a:rPr>
              <a:t>// proses edge u→v dengan berat w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FFC857"/>
                </a:solidFill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Adjacency Matrix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Matrix V×V — O(1) cek edge, tapi O(V²) memori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Adjacency Matrix — Konsep &amp; Visualisasi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matrix[u][v] = weight (atau 0/INF jika tidak ada)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</a:rPr>
              <a:t>🕸️ Graph (directed)</a:t>
            </a:r>
          </a:p>
        </p:txBody>
      </p:sp>
      <p:sp>
        <p:nvSpPr>
          <p:cNvPr id="7" name="Oval 6"/>
          <p:cNvSpPr/>
          <p:nvPr/>
        </p:nvSpPr>
        <p:spPr>
          <a:xfrm>
            <a:off x="1005840" y="2011680"/>
            <a:ext cx="731520" cy="73152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3749039" y="2011680"/>
            <a:ext cx="731520" cy="73152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219456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3657600"/>
            <a:ext cx="731520" cy="73152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4048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3749039" y="3657600"/>
            <a:ext cx="731520" cy="73152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384048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</a:rP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737360" y="2377440"/>
            <a:ext cx="2011679" cy="0"/>
          </a:xfrm>
          <a:prstGeom prst="line">
            <a:avLst/>
          </a:prstGeom>
          <a:ln w="22225">
            <a:solidFill>
              <a:srgbClr val="8B94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371600" y="2743200"/>
            <a:ext cx="0" cy="914400"/>
          </a:xfrm>
          <a:prstGeom prst="line">
            <a:avLst/>
          </a:prstGeom>
          <a:ln w="22225">
            <a:solidFill>
              <a:srgbClr val="8B94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114800" y="2743200"/>
            <a:ext cx="0" cy="914400"/>
          </a:xfrm>
          <a:prstGeom prst="line">
            <a:avLst/>
          </a:prstGeom>
          <a:ln w="22225">
            <a:solidFill>
              <a:srgbClr val="8B94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737360" y="4023360"/>
            <a:ext cx="2011679" cy="0"/>
          </a:xfrm>
          <a:prstGeom prst="line">
            <a:avLst/>
          </a:prstGeom>
          <a:ln w="22225">
            <a:solidFill>
              <a:srgbClr val="8B94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57200" y="4846320"/>
            <a:ext cx="5486400" cy="50292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846320"/>
            <a:ext cx="91440" cy="50292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937759"/>
            <a:ext cx="457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FFC857"/>
                </a:solidFill>
              </a:rPr>
              <a:t>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956048"/>
            <a:ext cx="4709160" cy="2834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Edges: 1→2, 1→3, 2→4, 3→4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005840"/>
            <a:ext cx="5486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📊 Adjacency Matrix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1554480"/>
            <a:ext cx="731520" cy="731520"/>
          </a:xfrm>
          <a:prstGeom prst="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1737360"/>
            <a:ext cx="731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FC857"/>
                </a:solidFill>
                <a:latin typeface="Menlo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0" y="1554480"/>
            <a:ext cx="731520" cy="731520"/>
          </a:xfrm>
          <a:prstGeom prst="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0" y="1737360"/>
            <a:ext cx="731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FC857"/>
                </a:solidFill>
                <a:latin typeface="Menlo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1554480"/>
            <a:ext cx="731520" cy="731520"/>
          </a:xfrm>
          <a:prstGeom prst="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1737360"/>
            <a:ext cx="731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FC857"/>
                </a:solidFill>
                <a:latin typeface="Menlo"/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52560" y="1554480"/>
            <a:ext cx="731520" cy="731520"/>
          </a:xfrm>
          <a:prstGeom prst="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0" y="1737360"/>
            <a:ext cx="731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FC857"/>
                </a:solidFill>
                <a:latin typeface="Menlo"/>
              </a:rP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84080" y="1554480"/>
            <a:ext cx="731520" cy="731520"/>
          </a:xfrm>
          <a:prstGeom prst="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80" y="1737360"/>
            <a:ext cx="731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FC857"/>
                </a:solidFill>
                <a:latin typeface="Menlo"/>
              </a:rP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2286000"/>
            <a:ext cx="731520" cy="731520"/>
          </a:xfrm>
          <a:prstGeom prst="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2468880"/>
            <a:ext cx="731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FC857"/>
                </a:solidFill>
                <a:latin typeface="Menlo"/>
              </a:rP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0" y="2286000"/>
            <a:ext cx="731520" cy="731520"/>
          </a:xfrm>
          <a:prstGeom prst="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89520" y="2468880"/>
            <a:ext cx="731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6E7681"/>
                </a:solidFill>
                <a:latin typeface="Menlo"/>
              </a:rPr>
              <a:t>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21040" y="2286000"/>
            <a:ext cx="731520" cy="731520"/>
          </a:xfrm>
          <a:prstGeom prst="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2468880"/>
            <a:ext cx="731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  <a:latin typeface="Menlo"/>
              </a:rP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52560" y="2286000"/>
            <a:ext cx="731520" cy="731520"/>
          </a:xfrm>
          <a:prstGeom prst="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52560" y="2468880"/>
            <a:ext cx="731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  <a:latin typeface="Menlo"/>
              </a:rP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84080" y="2286000"/>
            <a:ext cx="731520" cy="731520"/>
          </a:xfrm>
          <a:prstGeom prst="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84080" y="2468880"/>
            <a:ext cx="731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6E7681"/>
                </a:solidFill>
                <a:latin typeface="Menlo"/>
              </a:rPr>
              <a:t>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0" y="3017520"/>
            <a:ext cx="731520" cy="731520"/>
          </a:xfrm>
          <a:prstGeom prst="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0" y="3200400"/>
            <a:ext cx="731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FC857"/>
                </a:solidFill>
                <a:latin typeface="Menlo"/>
              </a:rPr>
              <a:t>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89520" y="3017520"/>
            <a:ext cx="731520" cy="731520"/>
          </a:xfrm>
          <a:prstGeom prst="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89520" y="3200400"/>
            <a:ext cx="731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6E7681"/>
                </a:solidFill>
                <a:latin typeface="Menlo"/>
              </a:rPr>
              <a:t>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21040" y="3017520"/>
            <a:ext cx="731520" cy="731520"/>
          </a:xfrm>
          <a:prstGeom prst="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21040" y="3200400"/>
            <a:ext cx="731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6E7681"/>
                </a:solidFill>
                <a:latin typeface="Menlo"/>
              </a:rPr>
              <a:t>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52560" y="3017520"/>
            <a:ext cx="731520" cy="731520"/>
          </a:xfrm>
          <a:prstGeom prst="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52560" y="3200400"/>
            <a:ext cx="731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6E7681"/>
                </a:solidFill>
                <a:latin typeface="Menlo"/>
              </a:rPr>
              <a:t>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784080" y="3017520"/>
            <a:ext cx="731520" cy="731520"/>
          </a:xfrm>
          <a:prstGeom prst="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84080" y="3200400"/>
            <a:ext cx="731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  <a:latin typeface="Menlo"/>
              </a:rPr>
              <a:t>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58000" y="3749040"/>
            <a:ext cx="731520" cy="731520"/>
          </a:xfrm>
          <a:prstGeom prst="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00" y="3931920"/>
            <a:ext cx="731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FC857"/>
                </a:solidFill>
                <a:latin typeface="Menlo"/>
              </a:rPr>
              <a:t>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89520" y="3749040"/>
            <a:ext cx="731520" cy="731520"/>
          </a:xfrm>
          <a:prstGeom prst="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89520" y="3931920"/>
            <a:ext cx="731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6E7681"/>
                </a:solidFill>
                <a:latin typeface="Menlo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21040" y="3749040"/>
            <a:ext cx="731520" cy="731520"/>
          </a:xfrm>
          <a:prstGeom prst="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21040" y="3931920"/>
            <a:ext cx="731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6E7681"/>
                </a:solidFill>
                <a:latin typeface="Menlo"/>
              </a:rPr>
              <a:t>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052560" y="3749040"/>
            <a:ext cx="731520" cy="731520"/>
          </a:xfrm>
          <a:prstGeom prst="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52560" y="3931920"/>
            <a:ext cx="731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6E7681"/>
                </a:solidFill>
                <a:latin typeface="Menlo"/>
              </a:rPr>
              <a:t>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784080" y="3749040"/>
            <a:ext cx="731520" cy="731520"/>
          </a:xfrm>
          <a:prstGeom prst="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84080" y="3931920"/>
            <a:ext cx="731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  <a:latin typeface="Menlo"/>
              </a:rPr>
              <a:t>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858000" y="4480560"/>
            <a:ext cx="731520" cy="731520"/>
          </a:xfrm>
          <a:prstGeom prst="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58000" y="4663440"/>
            <a:ext cx="731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FC857"/>
                </a:solidFill>
                <a:latin typeface="Menlo"/>
              </a:rPr>
              <a:t>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89520" y="4480560"/>
            <a:ext cx="731520" cy="731520"/>
          </a:xfrm>
          <a:prstGeom prst="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89520" y="4663440"/>
            <a:ext cx="731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6E7681"/>
                </a:solidFill>
                <a:latin typeface="Menlo"/>
              </a:rPr>
              <a:t>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21040" y="4480560"/>
            <a:ext cx="731520" cy="731520"/>
          </a:xfrm>
          <a:prstGeom prst="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21040" y="4663440"/>
            <a:ext cx="731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6E7681"/>
                </a:solidFill>
                <a:latin typeface="Menlo"/>
              </a:rPr>
              <a:t>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052560" y="4480560"/>
            <a:ext cx="731520" cy="731520"/>
          </a:xfrm>
          <a:prstGeom prst="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052560" y="4663440"/>
            <a:ext cx="731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6E7681"/>
                </a:solidFill>
                <a:latin typeface="Menlo"/>
              </a:rPr>
              <a:t>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784080" y="4480560"/>
            <a:ext cx="731520" cy="731520"/>
          </a:xfrm>
          <a:prstGeom prst="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784080" y="4663440"/>
            <a:ext cx="731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6E7681"/>
                </a:solidFill>
                <a:latin typeface="Menlo"/>
              </a:rPr>
              <a:t>0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217920" y="5532120"/>
            <a:ext cx="5486400" cy="45720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17920" y="5532120"/>
            <a:ext cx="91440" cy="45720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00800" y="5623559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3FD97F"/>
                </a:solidFill>
              </a:rPr>
              <a:t>🎯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03720" y="5641848"/>
            <a:ext cx="470916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mat[u][v] = 1 jika ada edge u→v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57200" y="5486400"/>
            <a:ext cx="5669280" cy="10972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57200" y="5486400"/>
            <a:ext cx="566928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66927" y="553212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731519" y="553212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96112" y="553212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94360" y="5760720"/>
            <a:ext cx="539496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vector&lt;vector&lt;int&gt;&gt; mat(n+1, vector&lt;int&gt;(n+1, 0));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mat[u][v] = 1;   // (atau weight jika weighted)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if (mat[u][v]) {/* ada edge */}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Adjacency Matrix — Pros, Cons, Kapan Pakai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669280" cy="22860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669280" cy="3840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133856"/>
            <a:ext cx="53949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✓ Pros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91055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FD97F"/>
                </a:solidFill>
              </a:rPr>
              <a:t>Tambah edge: O(1)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83663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FD97F"/>
                </a:solidFill>
              </a:rPr>
              <a:t>Cek edge(u,v): O(1) 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76271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FD97F"/>
                </a:solidFill>
              </a:rPr>
              <a:t>Sederhana, tidak tricky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468879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FD97F"/>
                </a:solidFill>
              </a:rPr>
              <a:t>Cocok untuk Floyd-Warshall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097280"/>
            <a:ext cx="5486400" cy="22860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097280"/>
            <a:ext cx="5486400" cy="38404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1133856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✗ Cons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1591055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6B8A"/>
                </a:solidFill>
              </a:rPr>
              <a:t>Memori O(V²) — boros!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1883663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6B8A"/>
                </a:solidFill>
              </a:rPr>
              <a:t>Iterasi tetangga: O(V)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7" y="2176271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6B8A"/>
                </a:solidFill>
              </a:rPr>
              <a:t>V=10⁵ → MLE 10¹⁰ bytes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7" y="2468879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6B8A"/>
                </a:solidFill>
              </a:rPr>
              <a:t>Tidak efektif untuk sparse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520440"/>
            <a:ext cx="11338560" cy="22860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520440"/>
            <a:ext cx="11338560" cy="54864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61188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C857"/>
                </a:solidFill>
              </a:rPr>
              <a:t>🎯 Kapan Pakai Adjacency Matrix?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02336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FD97F"/>
                </a:solidFill>
                <a:latin typeface="Menlo"/>
              </a:rPr>
              <a:t>✓ Graph dense — E ≈ V² (graph hampir complete)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38912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FD97F"/>
                </a:solidFill>
                <a:latin typeface="Menlo"/>
              </a:rPr>
              <a:t>✓ V kecil — V ≤ 1000 (memori 4 MB OK)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75488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FD97F"/>
                </a:solidFill>
                <a:latin typeface="Menlo"/>
              </a:rPr>
              <a:t>✓ Algoritma Floyd-Warshall: O(V³) all-pairs SP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064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FD97F"/>
                </a:solidFill>
                <a:latin typeface="Menlo"/>
              </a:rPr>
              <a:t>✓ Sering query 'apakah ada edge u→v?'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48640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FF6B8A"/>
                </a:solidFill>
                <a:latin typeface="Menlo"/>
              </a:rPr>
              <a:t>✗ JANGAN jika V &gt; 5000 atau graph sparse — pakai adj list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35040"/>
            <a:ext cx="3657600" cy="640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6035040"/>
            <a:ext cx="3657600" cy="54864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199631"/>
            <a:ext cx="34747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V=100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37959"/>
            <a:ext cx="3474720" cy="457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3FD97F"/>
                </a:solidFill>
              </a:rPr>
              <a:t>40 KB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6035040"/>
            <a:ext cx="3657600" cy="640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97680" y="6035040"/>
            <a:ext cx="3657600" cy="54864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6199631"/>
            <a:ext cx="34747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V=1000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6537959"/>
            <a:ext cx="3474720" cy="457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FFC857"/>
                </a:solidFill>
              </a:rPr>
              <a:t>4 MB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6035040"/>
            <a:ext cx="3657600" cy="640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38160" y="6035040"/>
            <a:ext cx="3657600" cy="54864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6199631"/>
            <a:ext cx="34747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V=10⁵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6537959"/>
            <a:ext cx="3474720" cy="457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FF6B8A"/>
                </a:solidFill>
              </a:rPr>
              <a:t>40 GB 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C9A0FF"/>
                </a:solidFill>
              </a:rPr>
              <a:t>04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Edge List &amp; Properti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Edge List untuk Kruskal &amp; Bellman-Ford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Edge List — Visualisasi &amp; Sort by Weight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Simpan semua edge sebagai array tuple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</a:rPr>
              <a:t>🕸️ Graph (undirected, weighted)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37360" y="2377440"/>
            <a:ext cx="2011679" cy="0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578608" y="2267712"/>
            <a:ext cx="329184" cy="219456"/>
          </a:xfrm>
          <a:prstGeom prst="roundRect">
            <a:avLst/>
          </a:prstGeom>
          <a:solidFill>
            <a:srgbClr val="0D1117"/>
          </a:solidFill>
          <a:ln w="635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78608" y="2286000"/>
            <a:ext cx="329184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8B949E"/>
                </a:solidFill>
              </a:rPr>
              <a:t>3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71600" y="2743200"/>
            <a:ext cx="0" cy="914400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207008" y="3090672"/>
            <a:ext cx="329184" cy="219456"/>
          </a:xfrm>
          <a:prstGeom prst="roundRect">
            <a:avLst/>
          </a:prstGeom>
          <a:solidFill>
            <a:srgbClr val="0D1117"/>
          </a:solidFill>
          <a:ln w="635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3108960"/>
            <a:ext cx="329184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8B949E"/>
                </a:solidFill>
              </a:rPr>
              <a:t>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14800" y="2743200"/>
            <a:ext cx="0" cy="914400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950208" y="3090672"/>
            <a:ext cx="329184" cy="219456"/>
          </a:xfrm>
          <a:prstGeom prst="roundRect">
            <a:avLst/>
          </a:prstGeom>
          <a:solidFill>
            <a:srgbClr val="0D1117"/>
          </a:solidFill>
          <a:ln w="635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50208" y="3108960"/>
            <a:ext cx="329184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8B949E"/>
                </a:solidFill>
              </a:rPr>
              <a:t>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37360" y="4023360"/>
            <a:ext cx="2011679" cy="0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578608" y="3913632"/>
            <a:ext cx="329184" cy="219456"/>
          </a:xfrm>
          <a:prstGeom prst="roundRect">
            <a:avLst/>
          </a:prstGeom>
          <a:solidFill>
            <a:srgbClr val="0D1117"/>
          </a:solidFill>
          <a:ln w="635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78608" y="3931920"/>
            <a:ext cx="329184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8B949E"/>
                </a:solidFill>
              </a:rPr>
              <a:t>1</a:t>
            </a:r>
          </a:p>
        </p:txBody>
      </p:sp>
      <p:sp>
        <p:nvSpPr>
          <p:cNvPr id="19" name="Oval 18"/>
          <p:cNvSpPr/>
          <p:nvPr/>
        </p:nvSpPr>
        <p:spPr>
          <a:xfrm>
            <a:off x="1005840" y="2011680"/>
            <a:ext cx="731520" cy="731520"/>
          </a:xfrm>
          <a:prstGeom prst="ellipse">
            <a:avLst/>
          </a:prstGeom>
          <a:solidFill>
            <a:srgbClr val="C9A0FF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219456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21" name="Oval 20"/>
          <p:cNvSpPr/>
          <p:nvPr/>
        </p:nvSpPr>
        <p:spPr>
          <a:xfrm>
            <a:off x="3749039" y="2011680"/>
            <a:ext cx="731520" cy="731520"/>
          </a:xfrm>
          <a:prstGeom prst="ellipse">
            <a:avLst/>
          </a:prstGeom>
          <a:solidFill>
            <a:srgbClr val="C9A0FF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39" y="219456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23" name="Oval 22"/>
          <p:cNvSpPr/>
          <p:nvPr/>
        </p:nvSpPr>
        <p:spPr>
          <a:xfrm>
            <a:off x="1005840" y="3657600"/>
            <a:ext cx="731520" cy="731520"/>
          </a:xfrm>
          <a:prstGeom prst="ellipse">
            <a:avLst/>
          </a:prstGeom>
          <a:solidFill>
            <a:srgbClr val="C9A0FF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384048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25" name="Oval 24"/>
          <p:cNvSpPr/>
          <p:nvPr/>
        </p:nvSpPr>
        <p:spPr>
          <a:xfrm>
            <a:off x="3749039" y="3657600"/>
            <a:ext cx="731520" cy="731520"/>
          </a:xfrm>
          <a:prstGeom prst="ellipse">
            <a:avLst/>
          </a:prstGeom>
          <a:solidFill>
            <a:srgbClr val="C9A0FF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9039" y="384048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1005840"/>
            <a:ext cx="5486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📋 Edge List Format: (w, u, v)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1508760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F6B8A"/>
                </a:solidFill>
              </a:rPr>
              <a:t>Sebelum sort: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1874519"/>
            <a:ext cx="5486400" cy="329184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1911095"/>
            <a:ext cx="5486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F6B8A"/>
                </a:solidFill>
                <a:latin typeface="Menlo"/>
              </a:rPr>
              <a:t>(3, 1, 2)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2258568"/>
            <a:ext cx="5486400" cy="329184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2295144"/>
            <a:ext cx="5486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F6B8A"/>
                </a:solidFill>
                <a:latin typeface="Menlo"/>
              </a:rPr>
              <a:t>(5, 1, 3)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2642615"/>
            <a:ext cx="5486400" cy="329184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2679191"/>
            <a:ext cx="5486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F6B8A"/>
                </a:solidFill>
                <a:latin typeface="Menlo"/>
              </a:rPr>
              <a:t>(2, 2, 4)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3026663"/>
            <a:ext cx="5486400" cy="329184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3063239"/>
            <a:ext cx="5486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F6B8A"/>
                </a:solidFill>
                <a:latin typeface="Menlo"/>
              </a:rPr>
              <a:t>(1, 3, 4)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961120" y="3566160"/>
            <a:ext cx="0" cy="320040"/>
          </a:xfrm>
          <a:prstGeom prst="line">
            <a:avLst/>
          </a:prstGeom>
          <a:ln w="25400">
            <a:solidFill>
              <a:srgbClr val="3FD9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772400" y="3657600"/>
            <a:ext cx="2286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1">
                <a:solidFill>
                  <a:srgbClr val="3FD97F"/>
                </a:solidFill>
              </a:rPr>
              <a:t>sort by weight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4023360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3FD97F"/>
                </a:solidFill>
              </a:rPr>
              <a:t>Setelah sort: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4389120"/>
            <a:ext cx="5486400" cy="329184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0" y="4425696"/>
            <a:ext cx="5486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3FD97F"/>
                </a:solidFill>
                <a:latin typeface="Menlo"/>
              </a:rPr>
              <a:t>(1, 3, 4)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4773168"/>
            <a:ext cx="5486400" cy="329184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4809744"/>
            <a:ext cx="5486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3FD97F"/>
                </a:solidFill>
                <a:latin typeface="Menlo"/>
              </a:rPr>
              <a:t>(2, 2, 4)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5157216"/>
            <a:ext cx="5486400" cy="329184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5193792"/>
            <a:ext cx="5486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3FD97F"/>
                </a:solidFill>
                <a:latin typeface="Menlo"/>
              </a:rPr>
              <a:t>(3, 1, 2)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5541264"/>
            <a:ext cx="5486400" cy="329184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0" y="5577840"/>
            <a:ext cx="5486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3FD97F"/>
                </a:solidFill>
                <a:latin typeface="Menlo"/>
              </a:rPr>
              <a:t>(5, 1, 3)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6035040"/>
            <a:ext cx="5486400" cy="45720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17920" y="6035040"/>
            <a:ext cx="91440" cy="45720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6126479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3FD97F"/>
                </a:solidFill>
              </a:rPr>
              <a:t>🎯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03720" y="6144768"/>
            <a:ext cx="470916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Sort = ready untuk Kruskal MST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4983480"/>
            <a:ext cx="5486400" cy="13716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7200" y="4983480"/>
            <a:ext cx="54864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66927" y="502920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31519" y="502920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96112" y="502920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360" y="5257800"/>
            <a:ext cx="52120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vector&lt;tuple&lt;int,int,int&gt;&gt; edges;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edges.push_back({w, u, v});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sort(edges.begin(), edges.end());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🎯 Pilih Representasi: Decision Guide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2706624" cy="38862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560320" cy="2971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Operasi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097280"/>
            <a:ext cx="2798064" cy="38862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143000"/>
            <a:ext cx="2651760" cy="2971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Adj List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097280"/>
            <a:ext cx="2798064" cy="38862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79" y="1143000"/>
            <a:ext cx="2651760" cy="2971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Adj Matrix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1097280"/>
            <a:ext cx="2798064" cy="388620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19" y="1143000"/>
            <a:ext cx="2651760" cy="2971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Edge List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31620"/>
            <a:ext cx="11210544" cy="42062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604772"/>
            <a:ext cx="25603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</a:rPr>
              <a:t>Tambah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604772"/>
            <a:ext cx="26517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O(1)*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79" y="1604772"/>
            <a:ext cx="26517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19" y="1604772"/>
            <a:ext cx="26517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988819"/>
            <a:ext cx="11210544" cy="42062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061972"/>
            <a:ext cx="25603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C857"/>
                </a:solidFill>
              </a:rPr>
              <a:t>Cek edge(u,v)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061972"/>
            <a:ext cx="26517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O(deg)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79" y="2061972"/>
            <a:ext cx="26517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O(1) 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2061972"/>
            <a:ext cx="26517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446020"/>
            <a:ext cx="11210544" cy="42062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519172"/>
            <a:ext cx="25603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FD97F"/>
                </a:solidFill>
              </a:rPr>
              <a:t>Iter tetangga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2519172"/>
            <a:ext cx="26517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O(deg) 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79" y="2519172"/>
            <a:ext cx="26517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O(V)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19" y="2519172"/>
            <a:ext cx="26517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903220"/>
            <a:ext cx="11210544" cy="42062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2976372"/>
            <a:ext cx="25603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A0FF"/>
                </a:solidFill>
              </a:rPr>
              <a:t>Iter semua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2976372"/>
            <a:ext cx="26517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O(V+E) 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79" y="2976372"/>
            <a:ext cx="26517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O(V²)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19" y="2976372"/>
            <a:ext cx="26517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360420"/>
            <a:ext cx="11210544" cy="42062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433572"/>
            <a:ext cx="25603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6B8A"/>
                </a:solidFill>
              </a:rPr>
              <a:t>Memori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3433572"/>
            <a:ext cx="26517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O(V+E) 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79" y="3433572"/>
            <a:ext cx="26517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O(V²)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19" y="3433572"/>
            <a:ext cx="26517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069080"/>
            <a:ext cx="113385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FC857"/>
                </a:solidFill>
              </a:rPr>
              <a:t>🚀 Rekomendasi per Algoritma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526280"/>
            <a:ext cx="3657600" cy="77724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4526280"/>
            <a:ext cx="3657600" cy="54864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645152"/>
            <a:ext cx="32918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3FD97F"/>
                </a:solidFill>
              </a:rPr>
              <a:t>BFS / DFS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4937760"/>
            <a:ext cx="32918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  <a:latin typeface="Menlo"/>
              </a:rPr>
              <a:t>Adj List ✓✓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97680" y="4526280"/>
            <a:ext cx="3657600" cy="77724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97680" y="4526280"/>
            <a:ext cx="3657600" cy="54864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80560" y="4645152"/>
            <a:ext cx="32918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3FD97F"/>
                </a:solidFill>
              </a:rPr>
              <a:t>Dijkstra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4937760"/>
            <a:ext cx="32918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  <a:latin typeface="Menlo"/>
              </a:rPr>
              <a:t>Adj List ✓✓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38160" y="4526280"/>
            <a:ext cx="3657600" cy="77724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138160" y="4526280"/>
            <a:ext cx="3657600" cy="54864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21040" y="4645152"/>
            <a:ext cx="32918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FC857"/>
                </a:solidFill>
              </a:rPr>
              <a:t>Floyd-Warshall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4937760"/>
            <a:ext cx="32918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  <a:latin typeface="Menlo"/>
              </a:rPr>
              <a:t>Adj Matrix ✓✓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394960"/>
            <a:ext cx="3657600" cy="77724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7200" y="5394960"/>
            <a:ext cx="3657600" cy="54864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5513832"/>
            <a:ext cx="32918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C9A0FF"/>
                </a:solidFill>
              </a:rPr>
              <a:t>Kruskal MST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5806440"/>
            <a:ext cx="32918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  <a:latin typeface="Menlo"/>
              </a:rPr>
              <a:t>Edge List ✓✓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297680" y="5394960"/>
            <a:ext cx="3657600" cy="77724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97680" y="5394960"/>
            <a:ext cx="3657600" cy="54864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80560" y="5513832"/>
            <a:ext cx="32918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C9A0FF"/>
                </a:solidFill>
              </a:rPr>
              <a:t>Bellman-Ford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80560" y="5806440"/>
            <a:ext cx="32918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  <a:latin typeface="Menlo"/>
              </a:rPr>
              <a:t>Edge List ✓✓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138160" y="5394960"/>
            <a:ext cx="3657600" cy="77724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138160" y="5394960"/>
            <a:ext cx="3657600" cy="54864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21040" y="5513832"/>
            <a:ext cx="32918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3FD97F"/>
                </a:solidFill>
              </a:rPr>
              <a:t>Topological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21040" y="5806440"/>
            <a:ext cx="32918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  <a:latin typeface="Menlo"/>
              </a:rPr>
              <a:t>Adj List ✓✓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Common Mistakes — Graph Pitfalls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749039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1. Adj matrix V=10⁵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Memori 10¹⁰ bytes = MLE!
Graph besar wajib adj list.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005840"/>
            <a:ext cx="3749039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18872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2. Lupa edge balik undirected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69164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adj[u].push(v); → wajib
adj[v].push(u); juga.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0584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18872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3. 0-indexed vs 1-indexed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69164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Cek input format!
Vector size n+1 untuk 1-indexed.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4. Tipe data weight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8912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Weight bisa &gt; 10⁹ → pakai ll.
Dijkstra dist juga ll.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88620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5. Self-loop &amp; multi-edge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38912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Beberapa soal allow, beberapa tidak.
Baca constraint dengan teliti.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88620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6. Adj list untuk Floyd-Warshall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38912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Floyd butuh O(V³) iterasi V×V.
Adj matrix lebih natural.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Cheatsheet — 3 Representations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669280" cy="52120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66928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394960" cy="4846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ADJACENCY LIST ===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Default untuk CP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39D0D8"/>
                </a:solidFill>
                <a:latin typeface="Menlo"/>
              </a:rPr>
              <a:t>pair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adj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n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adj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u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push_back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w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adj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push_back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  <a:r>
              <a:rPr sz="1000">
                <a:solidFill>
                  <a:srgbClr val="C9D1D9"/>
                </a:solidFill>
                <a:latin typeface="Menlo"/>
              </a:rPr>
              <a:t>u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w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auto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w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: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adj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u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6E7681"/>
                </a:solidFill>
                <a:latin typeface="Menlo"/>
              </a:rPr>
              <a:t>// proses edge u→v dengan w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Memori: O(V + E)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Operasi tetangga: O(degree)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ADJACENCY MATRIX ===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mat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n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n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mat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u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w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</a:t>
            </a:r>
            <a:r>
              <a:rPr sz="1000">
                <a:solidFill>
                  <a:srgbClr val="C9D1D9"/>
                </a:solidFill>
                <a:latin typeface="Menlo"/>
              </a:rPr>
              <a:t>mat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u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w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mat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u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6E7681"/>
                </a:solidFill>
                <a:latin typeface="Menlo"/>
              </a:rPr>
              <a:t>// O(1) cek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Memori: O(V²) — V ≤ 1000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5486400" cy="52120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05840"/>
            <a:ext cx="54864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27648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92240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5683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280160"/>
            <a:ext cx="5212080" cy="4846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EDGE LIST ===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Untuk Kruskal MST, Bellman-Ford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39D0D8"/>
                </a:solidFill>
                <a:latin typeface="Menlo"/>
              </a:rPr>
              <a:t>tuple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edges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edges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push_back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  <a:r>
              <a:rPr sz="1000">
                <a:solidFill>
                  <a:srgbClr val="C9D1D9"/>
                </a:solidFill>
                <a:latin typeface="Menlo"/>
              </a:rPr>
              <a:t>w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u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79C0FF"/>
                </a:solidFill>
                <a:latin typeface="Menlo"/>
              </a:rPr>
              <a:t>sort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edges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begin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edges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end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auto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w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u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: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edges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6E7681"/>
                </a:solidFill>
                <a:latin typeface="Menlo"/>
              </a:rPr>
              <a:t>// proses dalam urutan weight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DECISION GUIDE ===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Sparse + V besar  → Adj List (default)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Dense atau V&lt;1k   → Adj Matrix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Kruskal MST       → Edge List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Bellman-Ford      → Edge List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COMMON STRUCT ===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struct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Edge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u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w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Edge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edges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54864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0"/>
            <a:ext cx="1828800" cy="18288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4572000"/>
            <a:ext cx="2743200" cy="27432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365760"/>
            <a:ext cx="5029200" cy="6400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50292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0D1117"/>
                </a:solidFill>
              </a:rPr>
              <a:t>🎯 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</a:rPr>
              <a:t>Graph Representation — pilih sesuai sparsity &amp; operasi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1097280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6916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691640"/>
            <a:ext cx="91440" cy="7772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Adj 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1031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Default CP. O(V+E) memori. Cocok untuk BFS/DFS/Dijkstra.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060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606040"/>
            <a:ext cx="91440" cy="7772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69748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3FD97F"/>
                </a:solidFill>
              </a:rPr>
              <a:t>Adj Matrix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0175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V×V matrix. O(1) cek edge. Cocok dense graph &amp; Floyd-Warshall.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5204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520440"/>
            <a:ext cx="91440" cy="7772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61188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C857"/>
                </a:solidFill>
              </a:rPr>
              <a:t>Edge 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9319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Sort by weight ready. Untuk Kruskal MST &amp; Bellman-Ford.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348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434840"/>
            <a:ext cx="91440" cy="7772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526279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C9A0FF"/>
                </a:solidFill>
              </a:rPr>
              <a:t>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8463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Sparse → adj list. Dense+V&lt;1k → matrix. MST → edge list.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492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349240"/>
            <a:ext cx="91440" cy="7772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440679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6B8A"/>
                </a:solidFill>
              </a:rPr>
              <a:t>Pitfall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607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Adj matrix V=10⁵ MLE. Lupa edge balik undirected. Tipe weight ll.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492240"/>
            <a:ext cx="109728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56539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6E7681"/>
                </a:solidFill>
              </a:rPr>
              <a:t>Day 57 | Competitive Programming · 150 Day Roadmap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