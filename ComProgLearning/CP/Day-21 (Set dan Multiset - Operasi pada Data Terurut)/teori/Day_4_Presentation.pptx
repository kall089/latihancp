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STL Containers 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Set  ·  Map  ·  Multiset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Unordered (Hash) Variants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20640"/>
            <a:ext cx="128016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120640"/>
            <a:ext cx="128016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5120640"/>
            <a:ext cx="128016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multiset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5120640"/>
            <a:ext cx="128016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hash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Set &amp;
Multiset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Unique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Auto-sorted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lower/upper_bound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O(log n) 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Map
(Ordered)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Key→Value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Auto-sorted by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Frequency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O(log n) lookup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Unordered
Variants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Hash-based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O(1) average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No ordering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Worst case O(n)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Tradeoff &amp;
Pattern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Ordered vs Hash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When to 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lower_bound trick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Common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Decision Tree — Container Mana yang Dipakai?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Flowchart cepat untuk pilih container di 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0"/>
            <a:ext cx="393192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097280"/>
            <a:ext cx="3931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Butuh simpan data dengan KEY?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</a:rPr>
              <a:t>YES (key → value)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</a:rPr>
              <a:t>NO (hanya value)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45720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</a:rPr>
              <a:t>Butuh urut by key?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219456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YES →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880360"/>
            <a:ext cx="219456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944368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NO → unordered_map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194560"/>
            <a:ext cx="45720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2860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C857"/>
                </a:solidFill>
              </a:rPr>
              <a:t>Boleh duplikat?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83464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NO duplikat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3108960"/>
            <a:ext cx="201168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172968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urut → 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611880"/>
            <a:ext cx="201168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675887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tdk → unordered_set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3464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YES duplikat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108960"/>
            <a:ext cx="20116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172968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→ multiset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34840"/>
            <a:ext cx="11247120" cy="21945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1124712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Pattern Soal → 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▸ Hitung distinct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5257800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93776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▸ Cari ≥ X (predecessor)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257800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set + lower_bound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493776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▸ Frequency 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5257800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map / unordered_map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▸ Cek exists O(1)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6035040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unordered_set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71500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▸ Sorted + delete arbitrary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6035040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multiset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9" y="5715000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▸ Top-K dynamic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6035040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multiset / pq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Set &amp; Multiset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Koleksi terurut — set unique, multiset boleh duplikat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Set?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Koleksi nilai unik yang otomatis terurut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30352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035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Properti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Semua elemen UNIK (no duplicates)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Otomatis tersorted (ascending default)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Berbasis Red-Black Tree (balanced BST)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Insert/erase/find → O(log 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Iterasi memberikan urutan terurut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set&lt;int&gt; s = {3, 1, 4, 1, 5, 9, 2, 6};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41732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Setelah masuk set: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783080"/>
            <a:ext cx="59436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536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18736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783080"/>
            <a:ext cx="59436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536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18736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1783080"/>
            <a:ext cx="59436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536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18736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783080"/>
            <a:ext cx="59436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1536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18736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1783080"/>
            <a:ext cx="59436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536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18736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783080"/>
            <a:ext cx="59436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1536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18736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1783080"/>
            <a:ext cx="59436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15361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7" y="18736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2316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3FD97F"/>
                </a:solidFill>
              </a:rPr>
              <a:t>↑ duplikat 1 hilang, otomatis ASC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92608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multiset&lt;int&gt; ms = {3, 1, 4, 1, 5};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3383280"/>
            <a:ext cx="59436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31363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34738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383280"/>
            <a:ext cx="59436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1363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34738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3760" y="3383280"/>
            <a:ext cx="59436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31363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42048" y="34738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3383280"/>
            <a:ext cx="59436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31363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34738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3383280"/>
            <a:ext cx="59436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313639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22208" y="3473805"/>
            <a:ext cx="55778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02336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FFC857"/>
                </a:solidFill>
              </a:rPr>
              <a:t>↑ multiset PERTAHANKAN duplikat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11480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114800"/>
            <a:ext cx="27432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27939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insert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61772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O(log n)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83280" y="411480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83280" y="4114800"/>
            <a:ext cx="27432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0" y="427939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find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461772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O(log n)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9360" y="411480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09360" y="4114800"/>
            <a:ext cx="274320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27939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erase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61772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C857"/>
                </a:solidFill>
              </a:rPr>
              <a:t>O(log n)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4114800"/>
            <a:ext cx="246888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4114800"/>
            <a:ext cx="2468880" cy="54864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0" y="4279392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iterate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4617720"/>
            <a:ext cx="228600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C9A0FF"/>
                </a:solidFill>
              </a:rPr>
              <a:t>O(n)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Set &amp; Multiset —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SET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set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insert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O(log n)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insert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ignored — duplicate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erase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erase by value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count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0 atau 1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find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6E7681"/>
                </a:solidFill>
                <a:latin typeface="Menlo"/>
              </a:rPr>
              <a:t>// ada?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"found"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AKSES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min element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rbegin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max element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ITERASI (sudah terurut)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57784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3620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530352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MULTISET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multiset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insert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insert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OK — duplikat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count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bisa &gt; 1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HATI-HATI: erase value MENGHAPUS SEMUA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erase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hapus semua 5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Untuk hapus 1 instance: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find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erase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LOWER/UPPER BOUND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lb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lower_bound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≥ 5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ub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upper_bound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&gt; 5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distance(lb, ub) = jumlah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lower_bound vs upper_bound — Trik Penting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Cari element ≥ X atau &gt; X dalam set/multiset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set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6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8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10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lower_bound(x): iterator ke element PERTAMA ≥ x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it1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lower_bound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*it1 = 6  (yang pertama ≥ 5)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upper_bound(x): iterator ke element PERTAMA &gt; x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it2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upper_bound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6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*it2 = 8  (yang pertama &gt; 6)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CARA CARI ELEMEN &lt; X (predecessor)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lower_bound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7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6E7681"/>
                </a:solidFill>
                <a:latin typeface="Menlo"/>
              </a:rPr>
              <a:t>// mundur 1 step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6E7681"/>
                </a:solidFill>
                <a:latin typeface="Menlo"/>
              </a:rPr>
              <a:t>// 6 = max yang &lt; 7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Visualisasi: s = {2,4,6,8,10}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16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5535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4630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1216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15535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4630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216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15535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4630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216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15535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46304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21615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155356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286000"/>
            <a:ext cx="53035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28600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395728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lower_bound(5) → 6  (pertama ≥ 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26080"/>
            <a:ext cx="53035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926080"/>
            <a:ext cx="91440" cy="5486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035808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upper_bound(6) → 8  (pertama &gt; 6)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566160"/>
            <a:ext cx="53035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566160"/>
            <a:ext cx="91440" cy="5486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675887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Predecessor 7 → 6  (mundur dari lower_bound)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297680"/>
            <a:ext cx="5303520" cy="19202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29768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3342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Kapan Pakai Apa?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479145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lower_bound = ≥ x  (≥)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508406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upper_bound = &gt; x  (strict)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537667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Untuk count(x): distance(lb, ub)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66928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Untuk &lt; x: --lower_bound(x)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Trace — Set Insert &amp; Multiset Erase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Visualisasi step-by-step + jebakan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Set Insert + lower_bound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32704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6304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State (sorted)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4630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92224"/>
            <a:ext cx="563270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4708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set&lt;int&gt; s;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84708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84708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57984"/>
            <a:ext cx="563270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1284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s.insert(5);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21284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{5}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21284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563270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786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s.insert(2);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57860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{2, 5}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57860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89504"/>
            <a:ext cx="563270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4436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s.insert(8);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29443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{2, 5, 8}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94436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55264"/>
            <a:ext cx="563270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1012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F6B8A"/>
                </a:solidFill>
                <a:latin typeface="Menlo"/>
              </a:rPr>
              <a:t>s.insert(5); 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331012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{2, 5, 8}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31012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21024"/>
            <a:ext cx="563270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675887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s.insert(1);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675887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{1, 2, 5, 8}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675887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86784"/>
            <a:ext cx="563270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04164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s.lower_bound(3);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04164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FC857"/>
                </a:solidFill>
                <a:latin typeface="Menlo"/>
              </a:rPr>
              <a:t>→ iter ke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04164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352544"/>
            <a:ext cx="563270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407407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s.upper_bound(5);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4407407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FC857"/>
                </a:solidFill>
                <a:latin typeface="Menlo"/>
              </a:rPr>
              <a:t>→ iter ke 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4407407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18304"/>
            <a:ext cx="563270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77316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s.erase(2);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47731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{1, 5, 8}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77316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138928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✗ duplikat ditolak  •  iter dipakai untuk navigasi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6B8A"/>
                </a:solidFill>
              </a:rPr>
              <a:t>⚠ Multiset Erase Trap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1417320"/>
            <a:ext cx="5815584" cy="3657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146304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1463040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State (sorted)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146304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Size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1792224"/>
            <a:ext cx="563270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1856231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multiset&lt;int&gt; ms;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1856231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1856231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2176272"/>
            <a:ext cx="563270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2240279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ms.insert(3);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2240279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{3}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2240279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2560320"/>
            <a:ext cx="563270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2624327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ms.insert(3);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80" y="2624327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{3, 3}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2624327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2944368"/>
            <a:ext cx="563270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3008375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ms.insert(3);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1080" y="3008375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{3, 3, 3}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3008375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3328415"/>
            <a:ext cx="563270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3392423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ms.insert(5);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1080" y="3392423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{3, 3, 3, 5}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3392423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3712464"/>
            <a:ext cx="5632704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46520" y="377647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  <a:latin typeface="Menlo"/>
              </a:rPr>
              <a:t>ms.erase(ms.find(3));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80" y="3776472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3FD97F"/>
                </a:solidFill>
                <a:latin typeface="Menlo"/>
              </a:rPr>
              <a:t>{3, 3, 5} 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47120" y="3776472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4096512"/>
            <a:ext cx="5632704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46520" y="416052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F6B8A"/>
                </a:solidFill>
                <a:latin typeface="Menlo"/>
              </a:rPr>
              <a:t>ms.erase(3); 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41080" y="4160520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F6B8A"/>
                </a:solidFill>
                <a:latin typeface="Menlo"/>
              </a:rPr>
              <a:t>{5}  HAPUS SEMUA!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47120" y="4160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  <a:latin typeface="Menlo"/>
              </a:rPr>
              <a:t>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0800" y="4983480"/>
            <a:ext cx="530352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00800" y="4983480"/>
            <a:ext cx="53035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65392" y="50200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⚠ Aturan Emas Multiset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01968" y="547725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erase(VALUE) → hapus SEMUA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1968" y="576986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erase(ITERATOR) → hapus 1 saja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1968" y="606247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Pakai: ms.erase(ms.find(x))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Map — Key→Value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Buku telepon: nama → nomor, otomatis terurut by 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Map — Key-Value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Berbasis Red-Black Tree, otomatis sorted by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4008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61264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DEKLARASI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map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string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map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string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id_to_name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INSERT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C857"/>
                </a:solidFill>
                <a:latin typeface="Menlo"/>
              </a:rPr>
              <a:t>"Alice"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123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</a:t>
            </a:r>
            <a:r>
              <a:rPr sz="1000">
                <a:solidFill>
                  <a:srgbClr val="6E7681"/>
                </a:solidFill>
                <a:latin typeface="Menlo"/>
              </a:rPr>
              <a:t>// operator[]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insert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C857"/>
                </a:solidFill>
                <a:latin typeface="Menlo"/>
              </a:rPr>
              <a:t>"Bob"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456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ACCESS (HATI-HATI!)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C857"/>
                </a:solidFill>
                <a:latin typeface="Menlo"/>
              </a:rPr>
              <a:t>"Alice"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123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C857"/>
                </a:solidFill>
                <a:latin typeface="Menlo"/>
              </a:rPr>
              <a:t>"Charlie"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0 (CREATE entry!)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CARA AMAN — pakai find: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find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C857"/>
                </a:solidFill>
                <a:latin typeface="Menlo"/>
              </a:rPr>
              <a:t>"Charlie"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it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79C0FF"/>
                </a:solidFill>
                <a:latin typeface="Menlo"/>
              </a:rPr>
              <a:t>second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"not found"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COUNT / ERASE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count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C857"/>
                </a:solidFill>
                <a:latin typeface="Menlo"/>
              </a:rPr>
              <a:t>"Alice"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</a:t>
            </a:r>
            <a:r>
              <a:rPr sz="1000">
                <a:solidFill>
                  <a:srgbClr val="6E7681"/>
                </a:solidFill>
                <a:latin typeface="Menlo"/>
              </a:rPr>
              <a:t>// 0 atau 1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erase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C857"/>
                </a:solidFill>
                <a:latin typeface="Menlo"/>
              </a:rPr>
              <a:t>"Alice"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ITERASI (urut by key)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phonebook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 "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00584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Map sebagai Tabel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463040"/>
            <a:ext cx="4572000" cy="36576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1463040"/>
            <a:ext cx="4572000" cy="41148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50876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50876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965960"/>
            <a:ext cx="4480560" cy="41148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029967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</a:rPr>
              <a:t>Alice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029967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FFC857"/>
                </a:solidFill>
              </a:rPr>
              <a:t>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487168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</a:rPr>
              <a:t>Bob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487168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FFC857"/>
                </a:solidFill>
              </a:rPr>
              <a:t>456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2880360"/>
            <a:ext cx="4480560" cy="41148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944368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F0F6FC"/>
                </a:solidFill>
              </a:rPr>
              <a:t>Charlie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944368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FFC857"/>
                </a:solidFill>
              </a:rPr>
              <a:t>789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5394960"/>
            <a:ext cx="4572000" cy="10972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5394960"/>
            <a:ext cx="457200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5431536"/>
            <a:ext cx="42976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⚠ Pitfall: operator[]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5888736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Akses key yang tidak ada → CREATE entry!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6181344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Map size bertambah secara diam-diam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6473952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Pakai .find() atau .count() untuk cek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Pattern: Frequency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Use case map paling sering di 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760720" cy="4572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7607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48640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FREQUENCY COUNT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9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6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map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Sekarang freq menyimpan: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{1:2, 2:1, 3:2, 4:1, 5:3, 6:1, 9:1}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CARI MOST FREQUENT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max_count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max_val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val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cnt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freq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max_count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max_count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cnt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max_val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val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Result: 5 muncul 3 kali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Visual: a = [3,1,4,1,5,9,2,6,5,3,5]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6400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627632"/>
            <a:ext cx="1097280" cy="2743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057400"/>
            <a:ext cx="6400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2130552"/>
            <a:ext cx="548640" cy="2743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1031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560320"/>
            <a:ext cx="6400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39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633472"/>
            <a:ext cx="1097280" cy="2743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606039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63240"/>
            <a:ext cx="6400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136392"/>
            <a:ext cx="548640" cy="2743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10896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566160"/>
            <a:ext cx="6400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8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3639312"/>
            <a:ext cx="1645919" cy="2743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361188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069080"/>
            <a:ext cx="6400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4142232"/>
            <a:ext cx="548640" cy="2743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11480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6400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1772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645152"/>
            <a:ext cx="548640" cy="2743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46177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029200"/>
            <a:ext cx="530352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502920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506577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Most Frequent → 5 (3×)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552297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Pattern ini muncul di 30% soal CP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8" y="581558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freq[x]++ dengan default 0 → berkat operator[]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610819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Untuk top-K most frequent: pakai priority_queue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Real-World Patterns — Soal Klasik CP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Two Sum, Concert Tickets, Registration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669280" cy="2697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66928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🎯 Two Sum  —  unordered_map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63040"/>
            <a:ext cx="5440680" cy="2194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63040"/>
            <a:ext cx="54406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15087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5087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1" y="15087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5166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Cari (i,j) dimana A[i]+A[j]==target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unordered_map&lt;int, int&gt; seen;  // value→idx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for (int i = 0; i &lt; n; i++)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int need = target - A[i];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if (seen.count(need))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cout &lt;&lt; seen[need] &lt;&lt; " " &lt;&lt; i;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return;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seen[A[i]] = i;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005840"/>
            <a:ext cx="5349240" cy="2697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005840"/>
            <a:ext cx="53492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060704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🎫 Concert Tickets  —  multiset + upper_bound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463040"/>
            <a:ext cx="5120640" cy="2194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463040"/>
            <a:ext cx="51206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01968" y="15087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59" y="15087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31152" y="15087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73736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multiset&lt;int&gt; tickets(prices.begin(), prices.end());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for (int budget : customers)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auto it = tickets.upper_bound(budget); // &gt; budget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if (it == tickets.begin())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cout &lt;&lt; -1;     // tidak ada tiket ≤ budget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} else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--it;           // mundur → termahal yang ≤ budget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cout &lt;&lt; *it;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tickets.erase(it);  // tiket terjual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5669280" cy="2697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566928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95344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📝 Registration System  —  map&lt;string, int&gt;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297680"/>
            <a:ext cx="5440680" cy="2194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297680"/>
            <a:ext cx="54406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4088" y="434340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43434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1" y="434340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572000"/>
            <a:ext cx="5166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map&lt;string, int&gt; names;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for (string&amp; name : registrations)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if (names.count(name))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cout &lt;&lt; name &lt;&lt; "_" &lt;&lt; names[name];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names[name]++;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} else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cout &lt;&lt; "OK";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names[name] = 1;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840480"/>
            <a:ext cx="5349240" cy="2697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3840480"/>
            <a:ext cx="534924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895344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🏆 Top-K Sliding  —  multiset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297680"/>
            <a:ext cx="5120640" cy="2194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4297680"/>
            <a:ext cx="51206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01968" y="434340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766559" y="43434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31152" y="434340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57200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multiset&lt;int&gt; top_k;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for (int x : stream)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top_k.insert(x);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if ((int)top_k.size() &gt; k)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top_k.erase(top_k.begin());  // hapus terkecil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top_k = K terbesar (dynamic)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Min: *top_k.begin(),  Max: *top_k.rbegin()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Unordered (Hash)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Hash-based: O(1) average tapi tidak terurut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Unordered Set &amp;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Hash table → lebih cepat tapi tanpa urutan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76072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7607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48640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SAMA API DENGAN ordered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unordered_set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us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insert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count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erase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unordered_map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string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um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um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C857"/>
                </a:solidFill>
                <a:latin typeface="Menlo"/>
              </a:rPr>
              <a:t>"Alice"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100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um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find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C857"/>
                </a:solidFill>
                <a:latin typeface="Menlo"/>
              </a:rPr>
              <a:t>"Bob"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BEDANYA ===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1. Tidak ada urutan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2. Tidak ada lower_bound/upper_bound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3. O(1) average, BUT O(n) worst case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4. Iterasi tidak terurut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COUNTER PATTERN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unordered_map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cnt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cnt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Lebih cepat dari map untuk lookup biasa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Ordered vs Unordered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2704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52704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set /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52704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unordered_*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74520"/>
            <a:ext cx="5303520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3852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C9A0FF"/>
                </a:solidFill>
              </a:rPr>
              <a:t>insert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93852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93852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 avg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5000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C9A0FF"/>
                </a:solidFill>
              </a:rPr>
              <a:t>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35000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35000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 avg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97480"/>
            <a:ext cx="5303520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6148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C9A0FF"/>
                </a:solidFill>
              </a:rPr>
              <a:t>erase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76148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76148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O(1) avg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17296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C9A0FF"/>
                </a:solidFill>
              </a:rPr>
              <a:t>worst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17296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17296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 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520440"/>
            <a:ext cx="5303520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58444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C9A0FF"/>
                </a:solidFill>
              </a:rPr>
              <a:t>sorted iter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58444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58444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99592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C9A0FF"/>
                </a:solidFill>
              </a:rPr>
              <a:t>lower_bound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399592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99592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126480"/>
            <a:ext cx="11247120" cy="5486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6126480"/>
            <a:ext cx="112471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6163056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⚠ Codeforces Anti-Hash Tests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620256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Codeforces punya test case yg sengaja jebak hash → O(n²)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912864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Solusi: pakai map saja, atau custom hash function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7205472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Aman: pakai map kalau worst case matter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Pattern Recognition — Container 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1638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30175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Situasi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05840"/>
            <a:ext cx="288950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051560"/>
            <a:ext cx="27432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05840"/>
            <a:ext cx="316382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051560"/>
            <a:ext cx="30175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005840"/>
            <a:ext cx="1609344" cy="38862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19" y="1051560"/>
            <a:ext cx="146304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Sulit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440180"/>
            <a:ext cx="109362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133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Hitung distinct elements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5133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5133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size() setelah insert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19" y="151333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Easy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97380"/>
            <a:ext cx="109362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9705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Cari ≥ X / predecessor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19705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set + lower_bound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705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197053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54580"/>
            <a:ext cx="109362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277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Frequency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4277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unordered_map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4277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freq[x]++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42773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Easy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11780"/>
            <a:ext cx="109362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8849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Frequency count + sort by freq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8849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map + vector 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8849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compare freq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88493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268980"/>
            <a:ext cx="109362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421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Cek elemen ada (cepat)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3421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unordered_set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3421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count()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334213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Easy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26180"/>
            <a:ext cx="109362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7993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Multiple instance + remove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7993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multiset + erase(it)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7993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erase(find(x))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19" y="379933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183380"/>
            <a:ext cx="109362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2565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Min/Max yang masih ada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42565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set / multiset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2565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*begin() / *rbegin()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19" y="425653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Medium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640580"/>
            <a:ext cx="109362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137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Codeforces / anti-hash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7137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map (TIDAK unordered)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7137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safer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19" y="471373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Pitfalls &amp; Cheatsheet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Hindari kesalahan umum, kuasai pola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operator[] di map =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map&lt;int,int&gt; m;
m[5]; → entry baru!
Pakai m.find(5) atau m.count(5).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multiset.erase(value) hapus SEMUA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ms.erase(5) → hapus semua 5
Untuk 1 instance: erase(find(x))
Atau: erase(lb) jika lb !=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Iterator invalidation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Hapus elemen di tengah iterasi → bug!
Gunakan: it = m.erase(it);
Atau collect dulu, hapus belakangan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unordered di Codeforces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Anti-hash test → TLE / O(n²)
Pakai map biasa, atau
Custom hash dengan random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Range-based loop modify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for (auto&amp; [k,v] : m) v++;     ✓
for (auto [k,v] : m) v++;       ✗ (copy)
Selalu pakai &amp; untuk modify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set&lt;vector&lt;int&gt;&gt; sort lambat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Comparison O(k) per ops → O(n·k·log n)
Pertimbangkan hash atau encoding
Jangan asal pakai set&lt;complex_type&gt;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42976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SET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set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insert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erase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count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0/1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find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SET + lower_bound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lower_bound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</a:t>
            </a:r>
            <a:r>
              <a:rPr sz="1050">
                <a:solidFill>
                  <a:srgbClr val="6E7681"/>
                </a:solidFill>
                <a:latin typeface="Menlo"/>
              </a:rPr>
              <a:t>// ≥ x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upper_bound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</a:t>
            </a:r>
            <a:r>
              <a:rPr sz="1050">
                <a:solidFill>
                  <a:srgbClr val="6E7681"/>
                </a:solidFill>
                <a:latin typeface="Menlo"/>
              </a:rPr>
              <a:t>// &gt; x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</a:t>
            </a:r>
            <a:r>
              <a:rPr sz="1050">
                <a:solidFill>
                  <a:srgbClr val="6E7681"/>
                </a:solidFill>
                <a:latin typeface="Menlo"/>
              </a:rPr>
              <a:t>// &lt; x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MULTISET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multiset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insert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erase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ms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find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6E7681"/>
                </a:solidFill>
                <a:latin typeface="Menlo"/>
              </a:rPr>
              <a:t>// 1 instance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count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bisa &gt;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577840" cy="42976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3620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5303520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MAP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map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39D0D8"/>
                </a:solidFill>
                <a:latin typeface="Menlo"/>
              </a:rPr>
              <a:t>string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FFC857"/>
                </a:solidFill>
                <a:latin typeface="Menlo"/>
              </a:rPr>
              <a:t>"Alice"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100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count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C857"/>
                </a:solidFill>
                <a:latin typeface="Menlo"/>
              </a:rPr>
              <a:t>"Alice"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find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C857"/>
                </a:solidFill>
                <a:latin typeface="Menlo"/>
              </a:rPr>
              <a:t>"Bob"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79C0FF"/>
                </a:solidFill>
                <a:latin typeface="Menlo"/>
              </a:rPr>
              <a:t>second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FREQUENCY COUNT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unordered_map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cnt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cnt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ITERATE (sorted untuk map)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Cf safe: pakai map, BUKAN unordered_map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47120" cy="11887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🌟 Aturan 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Codeforces: PILIH map &gt; unordered_map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89788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operator[] di map → create entry!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multiset.erase(it) hapus 1, erase(val) hapus SEMUA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2179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Set + lower_bound = predecessor query O(log 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Associative containers — backbone CP problems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Unique + sorted. lower/upper_bound O(log n). Ideal untuk distinct &amp; predecessor.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Key→Value sorted. Pattern frequency count, lookup. operator[] hati-hati!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Multiset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Sorted dengan duplikat. erase(find(x)) untuk 1 instance saja.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Unordered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O(1) avg via hash. Codeforces anti-hash → pilih map.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operator[] auto-create, multiset.erase(val) hapus semua, hash anti-test.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4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