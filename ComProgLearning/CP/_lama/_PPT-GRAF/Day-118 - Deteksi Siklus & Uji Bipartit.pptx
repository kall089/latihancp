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1371600"/>
            <a:ext cx="7680960" cy="2468880"/>
          </a:xfrm>
          <a:prstGeom prst="rect">
            <a:avLst/>
          </a:prstGeom>
          <a:noFill/>
          <a:ln/>
        </p:spPr>
        <p:txBody>
          <a:bodyPr wrap="square" lIns="0" tIns="0" rIns="0" bIns="0" rtlCol="0" anchor="ctr"/>
          <a:lstStyle/>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Deteksi Siklus &amp;</a:t>
            </a:r>
            <a:endParaRPr lang="en-US" sz="4200" dirty="0"/>
          </a:p>
          <a:p>
            <a:pPr indent="0" marL="0">
              <a:lnSpc>
                <a:spcPct val="116000"/>
              </a:lnSpc>
              <a:buNone/>
            </a:pPr>
            <a:r>
              <a:rPr lang="en-US" sz="4200" dirty="0">
                <a:solidFill>
                  <a:srgbClr val="1A1A1A"/>
                </a:solidFill>
                <a:latin typeface="Century Gothic" pitchFamily="34" charset="0"/>
                <a:ea typeface="Century Gothic" pitchFamily="34" charset="-122"/>
                <a:cs typeface="Century Gothic" pitchFamily="34" charset="-120"/>
              </a:rPr>
              <a:t>Uji Bipartit</a:t>
            </a:r>
            <a:endParaRPr lang="en-US" sz="4200" dirty="0"/>
          </a:p>
        </p:txBody>
      </p:sp>
      <p:sp>
        <p:nvSpPr>
          <p:cNvPr id="3" name="Text 1"/>
          <p:cNvSpPr txBox="1"/>
          <p:nvPr/>
        </p:nvSpPr>
        <p:spPr>
          <a:xfrm>
            <a:off x="667512" y="4023360"/>
            <a:ext cx="7680960" cy="457200"/>
          </a:xfrm>
          <a:prstGeom prst="rect">
            <a:avLst/>
          </a:prstGeom>
          <a:noFill/>
          <a:ln/>
        </p:spPr>
        <p:txBody>
          <a:bodyPr wrap="square" lIns="0" tIns="0" rIns="0" bIns="0" rtlCol="0" anchor="ctr"/>
          <a:lstStyle/>
          <a:p>
            <a:pPr indent="0" marL="0">
              <a:buNone/>
            </a:pPr>
            <a:r>
              <a:rPr lang="en-US" sz="1400" dirty="0">
                <a:solidFill>
                  <a:srgbClr val="7F7F7F"/>
                </a:solidFill>
                <a:latin typeface="Century Gothic" pitchFamily="34" charset="0"/>
                <a:ea typeface="Century Gothic" pitchFamily="34" charset="-122"/>
                <a:cs typeface="Century Gothic" pitchFamily="34" charset="-120"/>
              </a:rPr>
              <a:t>Dua pertanyaan pendek yang menjadi kunci banyak soal graf</a:t>
            </a:r>
            <a:endParaRPr lang="en-US" sz="1400" dirty="0"/>
          </a:p>
        </p:txBody>
      </p:sp>
      <p:sp>
        <p:nvSpPr>
          <p:cNvPr id="4" name="Text 2"/>
          <p:cNvSpPr txBox="1"/>
          <p:nvPr/>
        </p:nvSpPr>
        <p:spPr>
          <a:xfrm>
            <a:off x="667512" y="4645152"/>
            <a:ext cx="7315200" cy="365760"/>
          </a:xfrm>
          <a:prstGeom prst="rect">
            <a:avLst/>
          </a:prstGeom>
          <a:noFill/>
          <a:ln/>
        </p:spPr>
        <p:txBody>
          <a:bodyPr wrap="square" lIns="0" tIns="0" rIns="0" bIns="0" rtlCol="0" anchor="ctr"/>
          <a:lstStyle/>
          <a:p>
            <a:pPr indent="0" marL="0">
              <a:buNone/>
            </a:pPr>
            <a:r>
              <a:rPr lang="en-US" sz="1200" dirty="0">
                <a:solidFill>
                  <a:srgbClr val="4FA8E8"/>
                </a:solidFill>
                <a:latin typeface="Century Gothic" pitchFamily="34" charset="0"/>
                <a:ea typeface="Century Gothic" pitchFamily="34" charset="-122"/>
                <a:cs typeface="Century Gothic" pitchFamily="34" charset="-120"/>
              </a:rPr>
              <a:t>Graf · Day 118</a:t>
            </a:r>
            <a:endParaRPr lang="en-US" sz="1200" dirty="0"/>
          </a:p>
        </p:txBody>
      </p:sp>
      <p:sp>
        <p:nvSpPr>
          <p:cNvPr id="5" name="Shape 3"/>
          <p:cNvSpPr/>
          <p:nvPr/>
        </p:nvSpPr>
        <p:spPr>
          <a:xfrm>
            <a:off x="9235440" y="1371600"/>
            <a:ext cx="2286000" cy="2286000"/>
          </a:xfrm>
          <a:prstGeom prst="rect">
            <a:avLst/>
          </a:prstGeom>
          <a:solidFill>
            <a:srgbClr val="F2F7FD"/>
          </a:solidFill>
          <a:ln/>
        </p:spPr>
      </p:sp>
      <p:sp>
        <p:nvSpPr>
          <p:cNvPr id="6" name="Text 4"/>
          <p:cNvSpPr txBox="1"/>
          <p:nvPr/>
        </p:nvSpPr>
        <p:spPr>
          <a:xfrm>
            <a:off x="9235440" y="1371600"/>
            <a:ext cx="2286000" cy="2286000"/>
          </a:xfrm>
          <a:prstGeom prst="rect">
            <a:avLst/>
          </a:prstGeom>
          <a:noFill/>
          <a:ln/>
        </p:spPr>
        <p:txBody>
          <a:bodyPr wrap="square" lIns="0" tIns="0" rIns="0" bIns="0" rtlCol="0" anchor="ctr"/>
          <a:lstStyle/>
          <a:p>
            <a:pPr algn="ctr" indent="0" marL="0">
              <a:buNone/>
            </a:pPr>
            <a:r>
              <a:rPr lang="en-US" sz="5600" dirty="0">
                <a:solidFill>
                  <a:srgbClr val="4FA8E8"/>
                </a:solidFill>
                <a:latin typeface="Century Gothic" pitchFamily="34" charset="0"/>
                <a:ea typeface="Century Gothic" pitchFamily="34" charset="-122"/>
                <a:cs typeface="Century Gothic" pitchFamily="34" charset="-120"/>
              </a:rPr>
              <a:t>118</a:t>
            </a:r>
            <a:endParaRPr lang="en-US" sz="5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00</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Sebelum Mulai</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Materi ini tentang apa, dan kapan ia dipakai</a:t>
            </a:r>
            <a:endParaRPr lang="en-US" sz="1350" dirty="0"/>
          </a:p>
        </p:txBody>
      </p:sp>
      <p:sp>
        <p:nvSpPr>
          <p:cNvPr id="5" name="Shape 3"/>
          <p:cNvSpPr/>
          <p:nvPr/>
        </p:nvSpPr>
        <p:spPr>
          <a:xfrm>
            <a:off x="5815584" y="4251960"/>
            <a:ext cx="548640" cy="45720"/>
          </a:xfrm>
          <a:prstGeom prst="rect">
            <a:avLst/>
          </a:prstGeom>
          <a:solidFill>
            <a:srgbClr val="3ECF9E"/>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Materi Ini Tentang Apa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Dua pertanyaan pendek yang menjadi kunci banyak soal graf: apakah ada lingkaran, dan bisakah simpulnya dibagi menjadi dua kubu.</a:t>
            </a:r>
            <a:endParaRPr lang="en-US" sz="1300" dirty="0"/>
          </a:p>
        </p:txBody>
      </p:sp>
      <p:sp>
        <p:nvSpPr>
          <p:cNvPr id="4" name="Shape 2"/>
          <p:cNvSpPr/>
          <p:nvPr/>
        </p:nvSpPr>
        <p:spPr>
          <a:xfrm>
            <a:off x="667512" y="2130552"/>
            <a:ext cx="91440" cy="91440"/>
          </a:xfrm>
          <a:prstGeom prst="rect">
            <a:avLst/>
          </a:prstGeom>
          <a:solidFill>
            <a:srgbClr val="4FA8E8"/>
          </a:solidFill>
          <a:ln/>
        </p:spPr>
      </p:sp>
      <p:sp>
        <p:nvSpPr>
          <p:cNvPr id="5" name="Text 3"/>
          <p:cNvSpPr txBox="1"/>
          <p:nvPr/>
        </p:nvSpPr>
        <p:spPr>
          <a:xfrm>
            <a:off x="960120" y="1975104"/>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Siklus pada graf tak berarah</a:t>
            </a:r>
            <a:endParaRPr lang="en-US" sz="1500" dirty="0"/>
          </a:p>
        </p:txBody>
      </p:sp>
      <p:sp>
        <p:nvSpPr>
          <p:cNvPr id="6" name="Text 4"/>
          <p:cNvSpPr txBox="1"/>
          <p:nvPr/>
        </p:nvSpPr>
        <p:spPr>
          <a:xfrm>
            <a:off x="960120" y="2322576"/>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Bila sebuah sisi menghubungkan dua simpul yang sudah terhubung, sisi itu menutup lingkaran. DSU mendeteksinya dalam lima baris.</a:t>
            </a:r>
            <a:endParaRPr lang="en-US" sz="1250" dirty="0"/>
          </a:p>
        </p:txBody>
      </p:sp>
      <p:sp>
        <p:nvSpPr>
          <p:cNvPr id="7" name="Shape 5"/>
          <p:cNvSpPr/>
          <p:nvPr/>
        </p:nvSpPr>
        <p:spPr>
          <a:xfrm>
            <a:off x="667512" y="3129534"/>
            <a:ext cx="91440" cy="91440"/>
          </a:xfrm>
          <a:prstGeom prst="rect">
            <a:avLst/>
          </a:prstGeom>
          <a:solidFill>
            <a:srgbClr val="3ECF9E"/>
          </a:solidFill>
          <a:ln/>
        </p:spPr>
      </p:sp>
      <p:sp>
        <p:nvSpPr>
          <p:cNvPr id="8" name="Text 6"/>
          <p:cNvSpPr txBox="1"/>
          <p:nvPr/>
        </p:nvSpPr>
        <p:spPr>
          <a:xfrm>
            <a:off x="960120" y="2974086"/>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Siklus pada graf berarah lebih halus</a:t>
            </a:r>
            <a:endParaRPr lang="en-US" sz="1500" dirty="0"/>
          </a:p>
        </p:txBody>
      </p:sp>
      <p:sp>
        <p:nvSpPr>
          <p:cNvPr id="9" name="Text 7"/>
          <p:cNvSpPr txBox="1"/>
          <p:nvPr/>
        </p:nvSpPr>
        <p:spPr>
          <a:xfrm>
            <a:off x="960120" y="3321558"/>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Mengunjungi simpul yang sudah pernah dikunjungi belum tentu berarti siklus. Yang menandakan siklus adalah bertemu simpul yang MASIH berada di jalur rekursi sekarang.</a:t>
            </a:r>
            <a:endParaRPr lang="en-US" sz="1250" dirty="0"/>
          </a:p>
        </p:txBody>
      </p:sp>
      <p:sp>
        <p:nvSpPr>
          <p:cNvPr id="10" name="Shape 8"/>
          <p:cNvSpPr/>
          <p:nvPr/>
        </p:nvSpPr>
        <p:spPr>
          <a:xfrm>
            <a:off x="667512" y="4128516"/>
            <a:ext cx="91440" cy="91440"/>
          </a:xfrm>
          <a:prstGeom prst="rect">
            <a:avLst/>
          </a:prstGeom>
          <a:solidFill>
            <a:srgbClr val="F5A623"/>
          </a:solidFill>
          <a:ln/>
        </p:spPr>
      </p:sp>
      <p:sp>
        <p:nvSpPr>
          <p:cNvPr id="11" name="Text 9"/>
          <p:cNvSpPr txBox="1"/>
          <p:nvPr/>
        </p:nvSpPr>
        <p:spPr>
          <a:xfrm>
            <a:off x="960120" y="3973068"/>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Bipartit berarti dua warna cukup</a:t>
            </a:r>
            <a:endParaRPr lang="en-US" sz="1500" dirty="0"/>
          </a:p>
        </p:txBody>
      </p:sp>
      <p:sp>
        <p:nvSpPr>
          <p:cNvPr id="12" name="Text 10"/>
          <p:cNvSpPr txBox="1"/>
          <p:nvPr/>
        </p:nvSpPr>
        <p:spPr>
          <a:xfrm>
            <a:off x="960120" y="4320540"/>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Sebuah graf bipartit bila simpulnya bisa dibagi dua kubu sehingga setiap sisi menghubungkan kubu berbeda. Pemeriksaannya adalah BFS dengan dua warna.</a:t>
            </a:r>
            <a:endParaRPr lang="en-US" sz="1250" dirty="0"/>
          </a:p>
        </p:txBody>
      </p:sp>
      <p:sp>
        <p:nvSpPr>
          <p:cNvPr id="13" name="Shape 11"/>
          <p:cNvSpPr/>
          <p:nvPr/>
        </p:nvSpPr>
        <p:spPr>
          <a:xfrm>
            <a:off x="667512" y="5127498"/>
            <a:ext cx="91440" cy="91440"/>
          </a:xfrm>
          <a:prstGeom prst="rect">
            <a:avLst/>
          </a:prstGeom>
          <a:solidFill>
            <a:srgbClr val="A78BFA"/>
          </a:solidFill>
          <a:ln/>
        </p:spPr>
      </p:sp>
      <p:sp>
        <p:nvSpPr>
          <p:cNvPr id="14" name="Text 12"/>
          <p:cNvSpPr txBox="1"/>
          <p:nvPr/>
        </p:nvSpPr>
        <p:spPr>
          <a:xfrm>
            <a:off x="960120" y="497205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Keduanya sebenarnya satu materi</a:t>
            </a:r>
            <a:endParaRPr lang="en-US" sz="1500" dirty="0"/>
          </a:p>
        </p:txBody>
      </p:sp>
      <p:sp>
        <p:nvSpPr>
          <p:cNvPr id="15" name="Text 13"/>
          <p:cNvSpPr txBox="1"/>
          <p:nvPr/>
        </p:nvSpPr>
        <p:spPr>
          <a:xfrm>
            <a:off x="960120" y="5319522"/>
            <a:ext cx="10241280" cy="651510"/>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Sebuah graf bipartit bila dan hanya bila ia tidak punya siklus berpanjang ganjil. Uji bipartit yang gagal selalu menunjuk ke lingkaran ganjil.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Kapan Dipakai, Kapan Tidak</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Kenali dari kata "lingkaran", "saling bertentangan", atau "bagi menjadi dua kelompok".</a:t>
            </a:r>
            <a:endParaRPr lang="en-US" sz="1300" dirty="0"/>
          </a:p>
        </p:txBody>
      </p:sp>
      <p:sp>
        <p:nvSpPr>
          <p:cNvPr id="4" name="Shape 2"/>
          <p:cNvSpPr/>
          <p:nvPr/>
        </p:nvSpPr>
        <p:spPr>
          <a:xfrm>
            <a:off x="667512" y="1938528"/>
            <a:ext cx="5349240" cy="3840480"/>
          </a:xfrm>
          <a:prstGeom prst="rect">
            <a:avLst/>
          </a:prstGeom>
          <a:solidFill>
            <a:srgbClr val="FAFAFA"/>
          </a:solidFill>
          <a:ln/>
        </p:spPr>
      </p:sp>
      <p:sp>
        <p:nvSpPr>
          <p:cNvPr id="5" name="Shape 3"/>
          <p:cNvSpPr/>
          <p:nvPr/>
        </p:nvSpPr>
        <p:spPr>
          <a:xfrm>
            <a:off x="667512" y="1938528"/>
            <a:ext cx="5349240" cy="50292"/>
          </a:xfrm>
          <a:prstGeom prst="rect">
            <a:avLst/>
          </a:prstGeom>
          <a:solidFill>
            <a:srgbClr val="2FA97B"/>
          </a:solidFill>
          <a:ln/>
        </p:spPr>
      </p:sp>
      <p:sp>
        <p:nvSpPr>
          <p:cNvPr id="6" name="Text 4"/>
          <p:cNvSpPr txBox="1"/>
          <p:nvPr/>
        </p:nvSpPr>
        <p:spPr>
          <a:xfrm>
            <a:off x="941832" y="2157984"/>
            <a:ext cx="4800600" cy="347472"/>
          </a:xfrm>
          <a:prstGeom prst="rect">
            <a:avLst/>
          </a:prstGeom>
          <a:noFill/>
          <a:ln/>
        </p:spPr>
        <p:txBody>
          <a:bodyPr wrap="square" lIns="0" tIns="0" rIns="0" bIns="0" rtlCol="0" anchor="ctr"/>
          <a:lstStyle/>
          <a:p>
            <a:pPr indent="0" marL="0">
              <a:buNone/>
            </a:pPr>
            <a:r>
              <a:rPr lang="en-US" sz="1450" spc="100" kern="0" dirty="0">
                <a:solidFill>
                  <a:srgbClr val="2FA97B"/>
                </a:solidFill>
                <a:latin typeface="Century Gothic" pitchFamily="34" charset="0"/>
                <a:ea typeface="Century Gothic" pitchFamily="34" charset="-122"/>
                <a:cs typeface="Century Gothic" pitchFamily="34" charset="-120"/>
              </a:rPr>
              <a:t>PAKAI KETIKA</a:t>
            </a:r>
            <a:endParaRPr lang="en-US" sz="1450" dirty="0"/>
          </a:p>
        </p:txBody>
      </p:sp>
      <p:sp>
        <p:nvSpPr>
          <p:cNvPr id="7" name="Shape 5"/>
          <p:cNvSpPr/>
          <p:nvPr/>
        </p:nvSpPr>
        <p:spPr>
          <a:xfrm>
            <a:off x="941832" y="2734056"/>
            <a:ext cx="274320" cy="274320"/>
          </a:xfrm>
          <a:prstGeom prst="ellipse">
            <a:avLst/>
          </a:prstGeom>
          <a:solidFill>
            <a:srgbClr val="2FA97B"/>
          </a:solidFill>
          <a:ln/>
        </p:spPr>
      </p:sp>
      <p:sp>
        <p:nvSpPr>
          <p:cNvPr id="8" name="Text 6"/>
          <p:cNvSpPr txBox="1"/>
          <p:nvPr/>
        </p:nvSpPr>
        <p:spPr>
          <a:xfrm>
            <a:off x="941832" y="273405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9" name="Text 7"/>
          <p:cNvSpPr txBox="1"/>
          <p:nvPr/>
        </p:nvSpPr>
        <p:spPr>
          <a:xfrm>
            <a:off x="1353312" y="267004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Memeriksa apakah sebuah graf adalah pohon (terhubung dan tanpa siklus)</a:t>
            </a:r>
            <a:endParaRPr lang="en-US" sz="1250" dirty="0"/>
          </a:p>
        </p:txBody>
      </p:sp>
      <p:sp>
        <p:nvSpPr>
          <p:cNvPr id="10" name="Shape 8"/>
          <p:cNvSpPr/>
          <p:nvPr/>
        </p:nvSpPr>
        <p:spPr>
          <a:xfrm>
            <a:off x="941832" y="3483864"/>
            <a:ext cx="274320" cy="274320"/>
          </a:xfrm>
          <a:prstGeom prst="ellipse">
            <a:avLst/>
          </a:prstGeom>
          <a:solidFill>
            <a:srgbClr val="2FA97B"/>
          </a:solidFill>
          <a:ln/>
        </p:spPr>
      </p:sp>
      <p:sp>
        <p:nvSpPr>
          <p:cNvPr id="11" name="Text 9"/>
          <p:cNvSpPr txBox="1"/>
          <p:nvPr/>
        </p:nvSpPr>
        <p:spPr>
          <a:xfrm>
            <a:off x="941832" y="348386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2" name="Text 10"/>
          <p:cNvSpPr txBox="1"/>
          <p:nvPr/>
        </p:nvSpPr>
        <p:spPr>
          <a:xfrm>
            <a:off x="1353312" y="341985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Mendeteksi ketergantungan melingkar pada prasyarat atau penjadwalan</a:t>
            </a:r>
            <a:endParaRPr lang="en-US" sz="1250" dirty="0"/>
          </a:p>
        </p:txBody>
      </p:sp>
      <p:sp>
        <p:nvSpPr>
          <p:cNvPr id="13" name="Shape 11"/>
          <p:cNvSpPr/>
          <p:nvPr/>
        </p:nvSpPr>
        <p:spPr>
          <a:xfrm>
            <a:off x="941832" y="4233672"/>
            <a:ext cx="274320" cy="274320"/>
          </a:xfrm>
          <a:prstGeom prst="ellipse">
            <a:avLst/>
          </a:prstGeom>
          <a:solidFill>
            <a:srgbClr val="2FA97B"/>
          </a:solidFill>
          <a:ln/>
        </p:spPr>
      </p:sp>
      <p:sp>
        <p:nvSpPr>
          <p:cNvPr id="14" name="Text 12"/>
          <p:cNvSpPr txBox="1"/>
          <p:nvPr/>
        </p:nvSpPr>
        <p:spPr>
          <a:xfrm>
            <a:off x="941832" y="4233672"/>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5" name="Text 13"/>
          <p:cNvSpPr txBox="1"/>
          <p:nvPr/>
        </p:nvSpPr>
        <p:spPr>
          <a:xfrm>
            <a:off x="1353312" y="4169664"/>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Soal membagi menjadi dua tim dengan syarat musuh tidak boleh setim</a:t>
            </a:r>
            <a:endParaRPr lang="en-US" sz="1250" dirty="0"/>
          </a:p>
        </p:txBody>
      </p:sp>
      <p:sp>
        <p:nvSpPr>
          <p:cNvPr id="16" name="Shape 14"/>
          <p:cNvSpPr/>
          <p:nvPr/>
        </p:nvSpPr>
        <p:spPr>
          <a:xfrm>
            <a:off x="941832" y="4983480"/>
            <a:ext cx="274320" cy="274320"/>
          </a:xfrm>
          <a:prstGeom prst="ellipse">
            <a:avLst/>
          </a:prstGeom>
          <a:solidFill>
            <a:srgbClr val="2FA97B"/>
          </a:solidFill>
          <a:ln/>
        </p:spPr>
      </p:sp>
      <p:sp>
        <p:nvSpPr>
          <p:cNvPr id="17" name="Text 15"/>
          <p:cNvSpPr txBox="1"/>
          <p:nvPr/>
        </p:nvSpPr>
        <p:spPr>
          <a:xfrm>
            <a:off x="941832" y="4983480"/>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v</a:t>
            </a:r>
            <a:endParaRPr lang="en-US" sz="1100" dirty="0"/>
          </a:p>
        </p:txBody>
      </p:sp>
      <p:sp>
        <p:nvSpPr>
          <p:cNvPr id="18" name="Text 16"/>
          <p:cNvSpPr txBox="1"/>
          <p:nvPr/>
        </p:nvSpPr>
        <p:spPr>
          <a:xfrm>
            <a:off x="1353312" y="4919472"/>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Memeriksa konsistensi sekumpulan pernyataan berpasangan</a:t>
            </a:r>
            <a:endParaRPr lang="en-US" sz="1250" dirty="0"/>
          </a:p>
        </p:txBody>
      </p:sp>
      <p:sp>
        <p:nvSpPr>
          <p:cNvPr id="19" name="Shape 17"/>
          <p:cNvSpPr/>
          <p:nvPr/>
        </p:nvSpPr>
        <p:spPr>
          <a:xfrm>
            <a:off x="6336792" y="1938528"/>
            <a:ext cx="5349240" cy="3090672"/>
          </a:xfrm>
          <a:prstGeom prst="rect">
            <a:avLst/>
          </a:prstGeom>
          <a:solidFill>
            <a:srgbClr val="FAFAFA"/>
          </a:solidFill>
          <a:ln/>
        </p:spPr>
      </p:sp>
      <p:sp>
        <p:nvSpPr>
          <p:cNvPr id="20" name="Shape 18"/>
          <p:cNvSpPr/>
          <p:nvPr/>
        </p:nvSpPr>
        <p:spPr>
          <a:xfrm>
            <a:off x="6336792" y="1938528"/>
            <a:ext cx="5349240" cy="50292"/>
          </a:xfrm>
          <a:prstGeom prst="rect">
            <a:avLst/>
          </a:prstGeom>
          <a:solidFill>
            <a:srgbClr val="D9534F"/>
          </a:solidFill>
          <a:ln/>
        </p:spPr>
      </p:sp>
      <p:sp>
        <p:nvSpPr>
          <p:cNvPr id="21" name="Text 19"/>
          <p:cNvSpPr txBox="1"/>
          <p:nvPr/>
        </p:nvSpPr>
        <p:spPr>
          <a:xfrm>
            <a:off x="6611112" y="2157984"/>
            <a:ext cx="4800600" cy="347472"/>
          </a:xfrm>
          <a:prstGeom prst="rect">
            <a:avLst/>
          </a:prstGeom>
          <a:noFill/>
          <a:ln/>
        </p:spPr>
        <p:txBody>
          <a:bodyPr wrap="square" lIns="0" tIns="0" rIns="0" bIns="0" rtlCol="0" anchor="ctr"/>
          <a:lstStyle/>
          <a:p>
            <a:pPr indent="0" marL="0">
              <a:buNone/>
            </a:pPr>
            <a:r>
              <a:rPr lang="en-US" sz="1450" spc="100" kern="0" dirty="0">
                <a:solidFill>
                  <a:srgbClr val="D9534F"/>
                </a:solidFill>
                <a:latin typeface="Century Gothic" pitchFamily="34" charset="0"/>
                <a:ea typeface="Century Gothic" pitchFamily="34" charset="-122"/>
                <a:cs typeface="Century Gothic" pitchFamily="34" charset="-120"/>
              </a:rPr>
              <a:t>JANGAN PAKAI KETIKA</a:t>
            </a:r>
            <a:endParaRPr lang="en-US" sz="1450" dirty="0"/>
          </a:p>
        </p:txBody>
      </p:sp>
      <p:sp>
        <p:nvSpPr>
          <p:cNvPr id="22" name="Shape 20"/>
          <p:cNvSpPr/>
          <p:nvPr/>
        </p:nvSpPr>
        <p:spPr>
          <a:xfrm>
            <a:off x="6611112" y="2734056"/>
            <a:ext cx="274320" cy="274320"/>
          </a:xfrm>
          <a:prstGeom prst="ellipse">
            <a:avLst/>
          </a:prstGeom>
          <a:solidFill>
            <a:srgbClr val="D9534F"/>
          </a:solidFill>
          <a:ln/>
        </p:spPr>
      </p:sp>
      <p:sp>
        <p:nvSpPr>
          <p:cNvPr id="23" name="Text 21"/>
          <p:cNvSpPr txBox="1"/>
          <p:nvPr/>
        </p:nvSpPr>
        <p:spPr>
          <a:xfrm>
            <a:off x="6611112" y="2734056"/>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4" name="Text 22"/>
          <p:cNvSpPr txBox="1"/>
          <p:nvPr/>
        </p:nvSpPr>
        <p:spPr>
          <a:xfrm>
            <a:off x="7022592" y="2670048"/>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Perlu jumlah kelompok lebih dari dua — pewarnaan tiga warna adalah masalah yang jauh lebih sulit</a:t>
            </a:r>
            <a:endParaRPr lang="en-US" sz="1250" dirty="0"/>
          </a:p>
        </p:txBody>
      </p:sp>
      <p:sp>
        <p:nvSpPr>
          <p:cNvPr id="25" name="Shape 23"/>
          <p:cNvSpPr/>
          <p:nvPr/>
        </p:nvSpPr>
        <p:spPr>
          <a:xfrm>
            <a:off x="6611112" y="3483864"/>
            <a:ext cx="274320" cy="274320"/>
          </a:xfrm>
          <a:prstGeom prst="ellipse">
            <a:avLst/>
          </a:prstGeom>
          <a:solidFill>
            <a:srgbClr val="D9534F"/>
          </a:solidFill>
          <a:ln/>
        </p:spPr>
      </p:sp>
      <p:sp>
        <p:nvSpPr>
          <p:cNvPr id="26" name="Text 24"/>
          <p:cNvSpPr txBox="1"/>
          <p:nvPr/>
        </p:nvSpPr>
        <p:spPr>
          <a:xfrm>
            <a:off x="6611112" y="3483864"/>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27" name="Text 25"/>
          <p:cNvSpPr txBox="1"/>
          <p:nvPr/>
        </p:nvSpPr>
        <p:spPr>
          <a:xfrm>
            <a:off x="7022592" y="3419856"/>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Yang dicari adalah siklus terpendek, bukan sekadar ada atau tidak — pakai BFS per simpul</a:t>
            </a:r>
            <a:endParaRPr lang="en-US" sz="1250" dirty="0"/>
          </a:p>
        </p:txBody>
      </p:sp>
      <p:sp>
        <p:nvSpPr>
          <p:cNvPr id="28" name="Shape 26"/>
          <p:cNvSpPr/>
          <p:nvPr/>
        </p:nvSpPr>
        <p:spPr>
          <a:xfrm>
            <a:off x="6611112" y="4233672"/>
            <a:ext cx="274320" cy="274320"/>
          </a:xfrm>
          <a:prstGeom prst="ellipse">
            <a:avLst/>
          </a:prstGeom>
          <a:solidFill>
            <a:srgbClr val="D9534F"/>
          </a:solidFill>
          <a:ln/>
        </p:spPr>
      </p:sp>
      <p:sp>
        <p:nvSpPr>
          <p:cNvPr id="29" name="Text 27"/>
          <p:cNvSpPr txBox="1"/>
          <p:nvPr/>
        </p:nvSpPr>
        <p:spPr>
          <a:xfrm>
            <a:off x="6611112" y="4233672"/>
            <a:ext cx="274320" cy="274320"/>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x</a:t>
            </a:r>
            <a:endParaRPr lang="en-US" sz="1100" dirty="0"/>
          </a:p>
        </p:txBody>
      </p:sp>
      <p:sp>
        <p:nvSpPr>
          <p:cNvPr id="30" name="Text 28"/>
          <p:cNvSpPr txBox="1"/>
          <p:nvPr/>
        </p:nvSpPr>
        <p:spPr>
          <a:xfrm>
            <a:off x="7022592" y="4169664"/>
            <a:ext cx="4389120" cy="731520"/>
          </a:xfrm>
          <a:prstGeom prst="rect">
            <a:avLst/>
          </a:prstGeom>
          <a:noFill/>
          <a:ln/>
        </p:spPr>
        <p:txBody>
          <a:bodyPr wrap="square" lIns="0" tIns="0" rIns="0" bIns="0" rtlCol="0" anchor="ctr"/>
          <a:lstStyle/>
          <a:p>
            <a:pPr indent="0" marL="0">
              <a:lnSpc>
                <a:spcPct val="120000"/>
              </a:lnSpc>
              <a:buNone/>
            </a:pPr>
            <a:r>
              <a:rPr lang="en-US" sz="1250" dirty="0">
                <a:solidFill>
                  <a:srgbClr val="2B2B2B"/>
                </a:solidFill>
                <a:latin typeface="Century Gothic" pitchFamily="34" charset="0"/>
                <a:ea typeface="Century Gothic" pitchFamily="34" charset="-122"/>
                <a:cs typeface="Century Gothic" pitchFamily="34" charset="-120"/>
              </a:rPr>
              <a:t>Grafnya berarah dan yang diminta urutan topologis — pakai toposort</a:t>
            </a:r>
            <a:endParaRPr lang="en-US" sz="1250" dirty="0"/>
          </a:p>
        </p:txBody>
      </p:sp>
      <p:sp>
        <p:nvSpPr>
          <p:cNvPr id="31" name="Shape 29"/>
          <p:cNvSpPr/>
          <p:nvPr/>
        </p:nvSpPr>
        <p:spPr>
          <a:xfrm>
            <a:off x="667512" y="5870448"/>
            <a:ext cx="10853928" cy="658368"/>
          </a:xfrm>
          <a:prstGeom prst="rect">
            <a:avLst/>
          </a:prstGeom>
          <a:solidFill>
            <a:srgbClr val="F2F7FD"/>
          </a:solidFill>
          <a:ln/>
        </p:spPr>
      </p:sp>
      <p:sp>
        <p:nvSpPr>
          <p:cNvPr id="32" name="Text 30"/>
          <p:cNvSpPr txBox="1"/>
          <p:nvPr/>
        </p:nvSpPr>
        <p:spPr>
          <a:xfrm>
            <a:off x="941832" y="5870448"/>
            <a:ext cx="10332720" cy="658368"/>
          </a:xfrm>
          <a:prstGeom prst="rect">
            <a:avLst/>
          </a:prstGeom>
          <a:noFill/>
          <a:ln/>
        </p:spPr>
        <p:txBody>
          <a:bodyPr wrap="square" lIns="0" tIns="0" rIns="0" bIns="0" rtlCol="0" anchor="ctr"/>
          <a:lstStyle/>
          <a:p>
            <a:pPr indent="0" marL="0">
              <a:lnSpc>
                <a:spcPct val="120000"/>
              </a:lnSpc>
              <a:buNone/>
            </a:pPr>
            <a:r>
              <a:rPr lang="en-US" sz="1250" dirty="0">
                <a:solidFill>
                  <a:srgbClr val="1B6CA8"/>
                </a:solidFill>
                <a:latin typeface="Century Gothic" pitchFamily="34" charset="0"/>
                <a:ea typeface="Century Gothic" pitchFamily="34" charset="-122"/>
                <a:cs typeface="Century Gothic" pitchFamily="34" charset="-120"/>
              </a:rPr>
              <a:t>Fakta hemat waktu: graf tak berarah terhubung dengan n simpul adalah pohon jika dan hanya jika ia punya tepat n - 1 sisi.</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Posisi Materi Ini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Materi ini tidak berdiri sendiri. Di kiri adalah yang sebaiknya sudah kamu kuasai, di kanan adalah yang terbuka setelah materi ini selesai.</a:t>
            </a:r>
            <a:endParaRPr lang="en-US" sz="1300" dirty="0"/>
          </a:p>
        </p:txBody>
      </p:sp>
      <p:sp>
        <p:nvSpPr>
          <p:cNvPr id="4" name="Text 2"/>
          <p:cNvSpPr txBox="1"/>
          <p:nvPr/>
        </p:nvSpPr>
        <p:spPr>
          <a:xfrm>
            <a:off x="667512"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PRASYARAT</a:t>
            </a:r>
            <a:endParaRPr lang="en-US" sz="1100" dirty="0"/>
          </a:p>
        </p:txBody>
      </p:sp>
      <p:sp>
        <p:nvSpPr>
          <p:cNvPr id="5" name="Shape 3"/>
          <p:cNvSpPr/>
          <p:nvPr/>
        </p:nvSpPr>
        <p:spPr>
          <a:xfrm>
            <a:off x="667512" y="2313432"/>
            <a:ext cx="3200400" cy="676656"/>
          </a:xfrm>
          <a:prstGeom prst="rect">
            <a:avLst/>
          </a:prstGeom>
          <a:solidFill>
            <a:srgbClr val="FAFAFA"/>
          </a:solidFill>
          <a:ln/>
        </p:spPr>
      </p:sp>
      <p:sp>
        <p:nvSpPr>
          <p:cNvPr id="6" name="Shape 4"/>
          <p:cNvSpPr/>
          <p:nvPr/>
        </p:nvSpPr>
        <p:spPr>
          <a:xfrm>
            <a:off x="667512" y="2313432"/>
            <a:ext cx="54864" cy="676656"/>
          </a:xfrm>
          <a:prstGeom prst="rect">
            <a:avLst/>
          </a:prstGeom>
          <a:solidFill>
            <a:srgbClr val="A0A6AD"/>
          </a:solidFill>
          <a:ln/>
        </p:spPr>
      </p:sp>
      <p:sp>
        <p:nvSpPr>
          <p:cNvPr id="7" name="Text 5"/>
          <p:cNvSpPr txBox="1"/>
          <p:nvPr/>
        </p:nvSpPr>
        <p:spPr>
          <a:xfrm>
            <a:off x="905256"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DFS &amp; BFS (Day 113)</a:t>
            </a:r>
            <a:endParaRPr lang="en-US" sz="1200" dirty="0"/>
          </a:p>
        </p:txBody>
      </p:sp>
      <p:sp>
        <p:nvSpPr>
          <p:cNvPr id="8" name="Shape 6"/>
          <p:cNvSpPr/>
          <p:nvPr/>
        </p:nvSpPr>
        <p:spPr>
          <a:xfrm>
            <a:off x="667512" y="3136392"/>
            <a:ext cx="3200400" cy="676656"/>
          </a:xfrm>
          <a:prstGeom prst="rect">
            <a:avLst/>
          </a:prstGeom>
          <a:solidFill>
            <a:srgbClr val="FAFAFA"/>
          </a:solidFill>
          <a:ln/>
        </p:spPr>
      </p:sp>
      <p:sp>
        <p:nvSpPr>
          <p:cNvPr id="9" name="Shape 7"/>
          <p:cNvSpPr/>
          <p:nvPr/>
        </p:nvSpPr>
        <p:spPr>
          <a:xfrm>
            <a:off x="667512" y="3136392"/>
            <a:ext cx="54864" cy="676656"/>
          </a:xfrm>
          <a:prstGeom prst="rect">
            <a:avLst/>
          </a:prstGeom>
          <a:solidFill>
            <a:srgbClr val="A0A6AD"/>
          </a:solidFill>
          <a:ln/>
        </p:spPr>
      </p:sp>
      <p:sp>
        <p:nvSpPr>
          <p:cNvPr id="10" name="Text 8"/>
          <p:cNvSpPr txBox="1"/>
          <p:nvPr/>
        </p:nvSpPr>
        <p:spPr>
          <a:xfrm>
            <a:off x="905256"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DSU (Day 134)</a:t>
            </a:r>
            <a:endParaRPr lang="en-US" sz="1200" dirty="0"/>
          </a:p>
        </p:txBody>
      </p:sp>
      <p:sp>
        <p:nvSpPr>
          <p:cNvPr id="11" name="Text 9"/>
          <p:cNvSpPr txBox="1"/>
          <p:nvPr/>
        </p:nvSpPr>
        <p:spPr>
          <a:xfrm>
            <a:off x="8403336" y="2002536"/>
            <a:ext cx="3200400" cy="274320"/>
          </a:xfrm>
          <a:prstGeom prst="rect">
            <a:avLst/>
          </a:prstGeom>
          <a:noFill/>
          <a:ln/>
        </p:spPr>
        <p:txBody>
          <a:bodyPr wrap="square" lIns="0" tIns="0" rIns="0" bIns="0" rtlCol="0" anchor="ctr"/>
          <a:lstStyle/>
          <a:p>
            <a:pPr indent="0" marL="0">
              <a:buNone/>
            </a:pPr>
            <a:r>
              <a:rPr lang="en-US" sz="1100" spc="200" kern="0" dirty="0">
                <a:solidFill>
                  <a:srgbClr val="A0A6AD"/>
                </a:solidFill>
                <a:latin typeface="Century Gothic" pitchFamily="34" charset="0"/>
                <a:ea typeface="Century Gothic" pitchFamily="34" charset="-122"/>
                <a:cs typeface="Century Gothic" pitchFamily="34" charset="-120"/>
              </a:rPr>
              <a:t>SETELAH INI</a:t>
            </a:r>
            <a:endParaRPr lang="en-US" sz="1100" dirty="0"/>
          </a:p>
        </p:txBody>
      </p:sp>
      <p:sp>
        <p:nvSpPr>
          <p:cNvPr id="12" name="Shape 10"/>
          <p:cNvSpPr/>
          <p:nvPr/>
        </p:nvSpPr>
        <p:spPr>
          <a:xfrm>
            <a:off x="8403336" y="2313432"/>
            <a:ext cx="3200400" cy="676656"/>
          </a:xfrm>
          <a:prstGeom prst="rect">
            <a:avLst/>
          </a:prstGeom>
          <a:solidFill>
            <a:srgbClr val="FAFAFA"/>
          </a:solidFill>
          <a:ln/>
        </p:spPr>
      </p:sp>
      <p:sp>
        <p:nvSpPr>
          <p:cNvPr id="13" name="Shape 11"/>
          <p:cNvSpPr/>
          <p:nvPr/>
        </p:nvSpPr>
        <p:spPr>
          <a:xfrm>
            <a:off x="8403336" y="2313432"/>
            <a:ext cx="54864" cy="676656"/>
          </a:xfrm>
          <a:prstGeom prst="rect">
            <a:avLst/>
          </a:prstGeom>
          <a:solidFill>
            <a:srgbClr val="A78BFA"/>
          </a:solidFill>
          <a:ln/>
        </p:spPr>
      </p:sp>
      <p:sp>
        <p:nvSpPr>
          <p:cNvPr id="14" name="Text 12"/>
          <p:cNvSpPr txBox="1"/>
          <p:nvPr/>
        </p:nvSpPr>
        <p:spPr>
          <a:xfrm>
            <a:off x="8641080" y="231343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Topological sort</a:t>
            </a:r>
            <a:endParaRPr lang="en-US" sz="1200" dirty="0"/>
          </a:p>
        </p:txBody>
      </p:sp>
      <p:sp>
        <p:nvSpPr>
          <p:cNvPr id="15" name="Shape 13"/>
          <p:cNvSpPr/>
          <p:nvPr/>
        </p:nvSpPr>
        <p:spPr>
          <a:xfrm>
            <a:off x="8403336" y="3136392"/>
            <a:ext cx="3200400" cy="676656"/>
          </a:xfrm>
          <a:prstGeom prst="rect">
            <a:avLst/>
          </a:prstGeom>
          <a:solidFill>
            <a:srgbClr val="FAFAFA"/>
          </a:solidFill>
          <a:ln/>
        </p:spPr>
      </p:sp>
      <p:sp>
        <p:nvSpPr>
          <p:cNvPr id="16" name="Shape 14"/>
          <p:cNvSpPr/>
          <p:nvPr/>
        </p:nvSpPr>
        <p:spPr>
          <a:xfrm>
            <a:off x="8403336" y="3136392"/>
            <a:ext cx="54864" cy="676656"/>
          </a:xfrm>
          <a:prstGeom prst="rect">
            <a:avLst/>
          </a:prstGeom>
          <a:solidFill>
            <a:srgbClr val="A78BFA"/>
          </a:solidFill>
          <a:ln/>
        </p:spPr>
      </p:sp>
      <p:sp>
        <p:nvSpPr>
          <p:cNvPr id="17" name="Text 15"/>
          <p:cNvSpPr txBox="1"/>
          <p:nvPr/>
        </p:nvSpPr>
        <p:spPr>
          <a:xfrm>
            <a:off x="8641080" y="313639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Graf fungsional</a:t>
            </a:r>
            <a:endParaRPr lang="en-US" sz="1200" dirty="0"/>
          </a:p>
        </p:txBody>
      </p:sp>
      <p:sp>
        <p:nvSpPr>
          <p:cNvPr id="18" name="Shape 16"/>
          <p:cNvSpPr/>
          <p:nvPr/>
        </p:nvSpPr>
        <p:spPr>
          <a:xfrm>
            <a:off x="8403336" y="3959352"/>
            <a:ext cx="3200400" cy="676656"/>
          </a:xfrm>
          <a:prstGeom prst="rect">
            <a:avLst/>
          </a:prstGeom>
          <a:solidFill>
            <a:srgbClr val="FAFAFA"/>
          </a:solidFill>
          <a:ln/>
        </p:spPr>
      </p:sp>
      <p:sp>
        <p:nvSpPr>
          <p:cNvPr id="19" name="Shape 17"/>
          <p:cNvSpPr/>
          <p:nvPr/>
        </p:nvSpPr>
        <p:spPr>
          <a:xfrm>
            <a:off x="8403336" y="3959352"/>
            <a:ext cx="54864" cy="676656"/>
          </a:xfrm>
          <a:prstGeom prst="rect">
            <a:avLst/>
          </a:prstGeom>
          <a:solidFill>
            <a:srgbClr val="A78BFA"/>
          </a:solidFill>
          <a:ln/>
        </p:spPr>
      </p:sp>
      <p:sp>
        <p:nvSpPr>
          <p:cNvPr id="20" name="Text 18"/>
          <p:cNvSpPr txBox="1"/>
          <p:nvPr/>
        </p:nvSpPr>
        <p:spPr>
          <a:xfrm>
            <a:off x="8641080" y="3959352"/>
            <a:ext cx="2816352" cy="676656"/>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Matching bipartit</a:t>
            </a:r>
            <a:endParaRPr lang="en-US" sz="1200" dirty="0"/>
          </a:p>
        </p:txBody>
      </p:sp>
      <p:sp>
        <p:nvSpPr>
          <p:cNvPr id="21" name="Shape 19"/>
          <p:cNvSpPr/>
          <p:nvPr/>
        </p:nvSpPr>
        <p:spPr>
          <a:xfrm>
            <a:off x="4352544" y="2313432"/>
            <a:ext cx="3566160" cy="2322576"/>
          </a:xfrm>
          <a:prstGeom prst="rect">
            <a:avLst/>
          </a:prstGeom>
          <a:solidFill>
            <a:srgbClr val="F2F7FD"/>
          </a:solidFill>
          <a:ln/>
        </p:spPr>
      </p:sp>
      <p:sp>
        <p:nvSpPr>
          <p:cNvPr id="22" name="Shape 20"/>
          <p:cNvSpPr/>
          <p:nvPr/>
        </p:nvSpPr>
        <p:spPr>
          <a:xfrm>
            <a:off x="4352544" y="2313432"/>
            <a:ext cx="3566160" cy="54864"/>
          </a:xfrm>
          <a:prstGeom prst="rect">
            <a:avLst/>
          </a:prstGeom>
          <a:solidFill>
            <a:srgbClr val="4FA8E8"/>
          </a:solidFill>
          <a:ln/>
        </p:spPr>
      </p:sp>
      <p:sp>
        <p:nvSpPr>
          <p:cNvPr id="23" name="Text 21"/>
          <p:cNvSpPr txBox="1"/>
          <p:nvPr/>
        </p:nvSpPr>
        <p:spPr>
          <a:xfrm>
            <a:off x="4626864" y="2551176"/>
            <a:ext cx="3017520" cy="256032"/>
          </a:xfrm>
          <a:prstGeom prst="rect">
            <a:avLst/>
          </a:prstGeom>
          <a:noFill/>
          <a:ln/>
        </p:spPr>
        <p:txBody>
          <a:bodyPr wrap="square" lIns="0" tIns="0" rIns="0" bIns="0" rtlCol="0" anchor="ctr"/>
          <a:lstStyle/>
          <a:p>
            <a:pPr indent="0" marL="0">
              <a:buNone/>
            </a:pPr>
            <a:r>
              <a:rPr lang="en-US" sz="1050" spc="200" kern="0" dirty="0">
                <a:solidFill>
                  <a:srgbClr val="4FA8E8"/>
                </a:solidFill>
                <a:latin typeface="Century Gothic" pitchFamily="34" charset="0"/>
                <a:ea typeface="Century Gothic" pitchFamily="34" charset="-122"/>
                <a:cs typeface="Century Gothic" pitchFamily="34" charset="-120"/>
              </a:rPr>
              <a:t>MATERI INI</a:t>
            </a:r>
            <a:endParaRPr lang="en-US" sz="1050" dirty="0"/>
          </a:p>
        </p:txBody>
      </p:sp>
      <p:sp>
        <p:nvSpPr>
          <p:cNvPr id="24" name="Text 22"/>
          <p:cNvSpPr txBox="1"/>
          <p:nvPr/>
        </p:nvSpPr>
        <p:spPr>
          <a:xfrm>
            <a:off x="4626864" y="2880360"/>
            <a:ext cx="3017520" cy="914400"/>
          </a:xfrm>
          <a:prstGeom prst="rect">
            <a:avLst/>
          </a:prstGeom>
          <a:noFill/>
          <a:ln/>
        </p:spPr>
        <p:txBody>
          <a:bodyPr wrap="square" lIns="0" tIns="0" rIns="0" bIns="0" rtlCol="0" anchor="ctr"/>
          <a:lstStyle/>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Deteksi Siklus &amp;</a:t>
            </a:r>
            <a:endParaRPr lang="en-US" sz="2000" dirty="0"/>
          </a:p>
          <a:p>
            <a:pPr indent="0" marL="0">
              <a:lnSpc>
                <a:spcPct val="110000"/>
              </a:lnSpc>
              <a:buNone/>
            </a:pPr>
            <a:r>
              <a:rPr lang="en-US" sz="2000" dirty="0">
                <a:solidFill>
                  <a:srgbClr val="1A1A1A"/>
                </a:solidFill>
                <a:latin typeface="Century Gothic" pitchFamily="34" charset="0"/>
                <a:ea typeface="Century Gothic" pitchFamily="34" charset="-122"/>
                <a:cs typeface="Century Gothic" pitchFamily="34" charset="-120"/>
              </a:rPr>
              <a:t>Uji Bipartit</a:t>
            </a:r>
            <a:endParaRPr lang="en-US" sz="2000" dirty="0"/>
          </a:p>
        </p:txBody>
      </p:sp>
      <p:sp>
        <p:nvSpPr>
          <p:cNvPr id="25" name="Text 23"/>
          <p:cNvSpPr txBox="1"/>
          <p:nvPr/>
        </p:nvSpPr>
        <p:spPr>
          <a:xfrm>
            <a:off x="4626864" y="3941064"/>
            <a:ext cx="3017520" cy="640080"/>
          </a:xfrm>
          <a:prstGeom prst="rect">
            <a:avLst/>
          </a:prstGeom>
          <a:noFill/>
          <a:ln/>
        </p:spPr>
        <p:txBody>
          <a:bodyPr wrap="square" lIns="0" tIns="0" rIns="0" bIns="0" rtlCol="0" anchor="ctr"/>
          <a:lstStyle/>
          <a:p>
            <a:pPr indent="0" marL="0">
              <a:lnSpc>
                <a:spcPct val="125000"/>
              </a:lnSpc>
              <a:buNone/>
            </a:pPr>
            <a:r>
              <a:rPr lang="en-US" sz="1200" dirty="0">
                <a:solidFill>
                  <a:srgbClr val="7F7F7F"/>
                </a:solidFill>
                <a:latin typeface="Century Gothic" pitchFamily="34" charset="0"/>
                <a:ea typeface="Century Gothic" pitchFamily="34" charset="-122"/>
                <a:cs typeface="Century Gothic" pitchFamily="34" charset="-120"/>
              </a:rPr>
              <a:t>Dua pemeriksaan pendek yang sering menjadi bagian dari soal yang lebih besar.</a:t>
            </a:r>
            <a:endParaRPr lang="en-US" sz="1200" dirty="0"/>
          </a:p>
        </p:txBody>
      </p:sp>
      <p:sp>
        <p:nvSpPr>
          <p:cNvPr id="26" name="Shape 24"/>
          <p:cNvSpPr/>
          <p:nvPr/>
        </p:nvSpPr>
        <p:spPr>
          <a:xfrm>
            <a:off x="3941064" y="3456432"/>
            <a:ext cx="338328" cy="914"/>
          </a:xfrm>
          <a:prstGeom prst="line">
            <a:avLst/>
          </a:prstGeom>
          <a:noFill/>
          <a:ln w="19050">
            <a:solidFill>
              <a:srgbClr val="C8CDD4"/>
            </a:solidFill>
            <a:prstDash val="solid"/>
            <a:tailEnd type="triangle"/>
          </a:ln>
        </p:spPr>
      </p:sp>
      <p:sp>
        <p:nvSpPr>
          <p:cNvPr id="27" name="Shape 25"/>
          <p:cNvSpPr/>
          <p:nvPr/>
        </p:nvSpPr>
        <p:spPr>
          <a:xfrm>
            <a:off x="7991856" y="3456432"/>
            <a:ext cx="338328" cy="914"/>
          </a:xfrm>
          <a:prstGeom prst="line">
            <a:avLst/>
          </a:prstGeom>
          <a:noFill/>
          <a:ln w="19050">
            <a:solidFill>
              <a:srgbClr val="C8CDD4"/>
            </a:solidFill>
            <a:prstDash val="solid"/>
            <a:tailEnd type="triangle"/>
          </a:ln>
        </p:spPr>
      </p:sp>
      <p:sp>
        <p:nvSpPr>
          <p:cNvPr id="28" name="Shape 26"/>
          <p:cNvSpPr/>
          <p:nvPr/>
        </p:nvSpPr>
        <p:spPr>
          <a:xfrm>
            <a:off x="667512" y="5111496"/>
            <a:ext cx="10853928" cy="822960"/>
          </a:xfrm>
          <a:prstGeom prst="rect">
            <a:avLst/>
          </a:prstGeom>
          <a:solidFill>
            <a:srgbClr val="FAFAFA"/>
          </a:solidFill>
          <a:ln/>
        </p:spPr>
      </p:sp>
      <p:sp>
        <p:nvSpPr>
          <p:cNvPr id="29" name="Text 27"/>
          <p:cNvSpPr txBox="1"/>
          <p:nvPr/>
        </p:nvSpPr>
        <p:spPr>
          <a:xfrm>
            <a:off x="941832" y="5111496"/>
            <a:ext cx="10332720" cy="822960"/>
          </a:xfrm>
          <a:prstGeom prst="rect">
            <a:avLst/>
          </a:prstGeom>
          <a:noFill/>
          <a:ln/>
        </p:spPr>
        <p:txBody>
          <a:bodyPr wrap="square" lIns="0" tIns="0" rIns="0" bIns="0" rtlCol="0" anchor="ctr"/>
          <a:lstStyle/>
          <a:p>
            <a:pPr indent="0" marL="0">
              <a:lnSpc>
                <a:spcPct val="125000"/>
              </a:lnSpc>
              <a:buNone/>
            </a:pPr>
            <a:r>
              <a:rPr lang="en-US" sz="1200" dirty="0">
                <a:solidFill>
                  <a:srgbClr val="2B2B2B"/>
                </a:solidFill>
                <a:latin typeface="Century Gothic" pitchFamily="34" charset="0"/>
                <a:ea typeface="Century Gothic" pitchFamily="34" charset="-122"/>
                <a:cs typeface="Century Gothic" pitchFamily="34" charset="-120"/>
              </a:rPr>
              <a:t>Deteksi siklus berarah adalah setengah dari topological sort. Bila kamu sudah memahami pewarnaan tiga warna, toposort dengan DFS akan terasa akrab.</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Agenda</a:t>
            </a:r>
            <a:endParaRPr lang="en-US" sz="3000" dirty="0"/>
          </a:p>
        </p:txBody>
      </p:sp>
      <p:sp>
        <p:nvSpPr>
          <p:cNvPr id="3" name="Text 1"/>
          <p:cNvSpPr txBox="1"/>
          <p:nvPr/>
        </p:nvSpPr>
        <p:spPr>
          <a:xfrm>
            <a:off x="667512" y="1280160"/>
            <a:ext cx="5120640" cy="457200"/>
          </a:xfrm>
          <a:prstGeom prst="rect">
            <a:avLst/>
          </a:prstGeom>
          <a:noFill/>
          <a:ln/>
        </p:spPr>
        <p:txBody>
          <a:bodyPr wrap="square" lIns="0" tIns="0" rIns="0" bIns="0" rtlCol="0" anchor="ctr"/>
          <a:lstStyle/>
          <a:p>
            <a:pPr indent="0" marL="0">
              <a:buNone/>
            </a:pPr>
            <a:r>
              <a:rPr lang="en-US" sz="1600" dirty="0">
                <a:solidFill>
                  <a:srgbClr val="4FA8E8"/>
                </a:solidFill>
                <a:latin typeface="Century Gothic" pitchFamily="34" charset="0"/>
                <a:ea typeface="Century Gothic" pitchFamily="34" charset="-122"/>
                <a:cs typeface="Century Gothic" pitchFamily="34" charset="-120"/>
              </a:rPr>
              <a:t>01   </a:t>
            </a:r>
            <a:pPr indent="0" marL="0">
              <a:buNone/>
            </a:pPr>
            <a:r>
              <a:rPr lang="en-US" sz="1600" dirty="0">
                <a:solidFill>
                  <a:srgbClr val="2B2B2B"/>
                </a:solidFill>
                <a:latin typeface="Century Gothic" pitchFamily="34" charset="0"/>
                <a:ea typeface="Century Gothic" pitchFamily="34" charset="-122"/>
                <a:cs typeface="Century Gothic" pitchFamily="34" charset="-120"/>
              </a:rPr>
              <a:t>Siklus pada Graf Tak Berarah</a:t>
            </a:r>
            <a:endParaRPr lang="en-US" sz="1600" dirty="0"/>
          </a:p>
        </p:txBody>
      </p:sp>
      <p:sp>
        <p:nvSpPr>
          <p:cNvPr id="4" name="Text 2"/>
          <p:cNvSpPr txBox="1"/>
          <p:nvPr/>
        </p:nvSpPr>
        <p:spPr>
          <a:xfrm>
            <a:off x="667512" y="1956816"/>
            <a:ext cx="5120640" cy="457200"/>
          </a:xfrm>
          <a:prstGeom prst="rect">
            <a:avLst/>
          </a:prstGeom>
          <a:noFill/>
          <a:ln/>
        </p:spPr>
        <p:txBody>
          <a:bodyPr wrap="square" lIns="0" tIns="0" rIns="0" bIns="0" rtlCol="0" anchor="ctr"/>
          <a:lstStyle/>
          <a:p>
            <a:pPr indent="0" marL="0">
              <a:buNone/>
            </a:pPr>
            <a:r>
              <a:rPr lang="en-US" sz="1600" dirty="0">
                <a:solidFill>
                  <a:srgbClr val="3ECF9E"/>
                </a:solidFill>
                <a:latin typeface="Century Gothic" pitchFamily="34" charset="0"/>
                <a:ea typeface="Century Gothic" pitchFamily="34" charset="-122"/>
                <a:cs typeface="Century Gothic" pitchFamily="34" charset="-120"/>
              </a:rPr>
              <a:t>02   </a:t>
            </a:r>
            <a:pPr indent="0" marL="0">
              <a:buNone/>
            </a:pPr>
            <a:r>
              <a:rPr lang="en-US" sz="1600" dirty="0">
                <a:solidFill>
                  <a:srgbClr val="2B2B2B"/>
                </a:solidFill>
                <a:latin typeface="Century Gothic" pitchFamily="34" charset="0"/>
                <a:ea typeface="Century Gothic" pitchFamily="34" charset="-122"/>
                <a:cs typeface="Century Gothic" pitchFamily="34" charset="-120"/>
              </a:rPr>
              <a:t>Cara DSU yang Lebih Pendek</a:t>
            </a:r>
            <a:endParaRPr lang="en-US" sz="1600" dirty="0"/>
          </a:p>
        </p:txBody>
      </p:sp>
      <p:sp>
        <p:nvSpPr>
          <p:cNvPr id="5" name="Text 3"/>
          <p:cNvSpPr txBox="1"/>
          <p:nvPr/>
        </p:nvSpPr>
        <p:spPr>
          <a:xfrm>
            <a:off x="667512" y="2633472"/>
            <a:ext cx="5120640" cy="457200"/>
          </a:xfrm>
          <a:prstGeom prst="rect">
            <a:avLst/>
          </a:prstGeom>
          <a:noFill/>
          <a:ln/>
        </p:spPr>
        <p:txBody>
          <a:bodyPr wrap="square" lIns="0" tIns="0" rIns="0" bIns="0" rtlCol="0" anchor="ctr"/>
          <a:lstStyle/>
          <a:p>
            <a:pPr indent="0" marL="0">
              <a:buNone/>
            </a:pPr>
            <a:r>
              <a:rPr lang="en-US" sz="1600" dirty="0">
                <a:solidFill>
                  <a:srgbClr val="F5A623"/>
                </a:solidFill>
                <a:latin typeface="Century Gothic" pitchFamily="34" charset="0"/>
                <a:ea typeface="Century Gothic" pitchFamily="34" charset="-122"/>
                <a:cs typeface="Century Gothic" pitchFamily="34" charset="-120"/>
              </a:rPr>
              <a:t>03   </a:t>
            </a:r>
            <a:pPr indent="0" marL="0">
              <a:buNone/>
            </a:pPr>
            <a:r>
              <a:rPr lang="en-US" sz="1600" dirty="0">
                <a:solidFill>
                  <a:srgbClr val="2B2B2B"/>
                </a:solidFill>
                <a:latin typeface="Century Gothic" pitchFamily="34" charset="0"/>
                <a:ea typeface="Century Gothic" pitchFamily="34" charset="-122"/>
                <a:cs typeface="Century Gothic" pitchFamily="34" charset="-120"/>
              </a:rPr>
              <a:t>Siklus pada Graf Berarah</a:t>
            </a:r>
            <a:endParaRPr lang="en-US" sz="1600" dirty="0"/>
          </a:p>
        </p:txBody>
      </p:sp>
      <p:sp>
        <p:nvSpPr>
          <p:cNvPr id="6" name="Text 4"/>
          <p:cNvSpPr txBox="1"/>
          <p:nvPr/>
        </p:nvSpPr>
        <p:spPr>
          <a:xfrm>
            <a:off x="667512" y="3310128"/>
            <a:ext cx="5120640" cy="457200"/>
          </a:xfrm>
          <a:prstGeom prst="rect">
            <a:avLst/>
          </a:prstGeom>
          <a:noFill/>
          <a:ln/>
        </p:spPr>
        <p:txBody>
          <a:bodyPr wrap="square" lIns="0" tIns="0" rIns="0" bIns="0" rtlCol="0" anchor="ctr"/>
          <a:lstStyle/>
          <a:p>
            <a:pPr indent="0" marL="0">
              <a:buNone/>
            </a:pPr>
            <a:r>
              <a:rPr lang="en-US" sz="1600" dirty="0">
                <a:solidFill>
                  <a:srgbClr val="A78BFA"/>
                </a:solidFill>
                <a:latin typeface="Century Gothic" pitchFamily="34" charset="0"/>
                <a:ea typeface="Century Gothic" pitchFamily="34" charset="-122"/>
                <a:cs typeface="Century Gothic" pitchFamily="34" charset="-120"/>
              </a:rPr>
              <a:t>04   </a:t>
            </a:r>
            <a:pPr indent="0" marL="0">
              <a:buNone/>
            </a:pPr>
            <a:r>
              <a:rPr lang="en-US" sz="1600" dirty="0">
                <a:solidFill>
                  <a:srgbClr val="2B2B2B"/>
                </a:solidFill>
                <a:latin typeface="Century Gothic" pitchFamily="34" charset="0"/>
                <a:ea typeface="Century Gothic" pitchFamily="34" charset="-122"/>
                <a:cs typeface="Century Gothic" pitchFamily="34" charset="-120"/>
              </a:rPr>
              <a:t>Pewarnaan Tiga Warna</a:t>
            </a:r>
            <a:endParaRPr lang="en-US" sz="1600" dirty="0"/>
          </a:p>
        </p:txBody>
      </p:sp>
      <p:sp>
        <p:nvSpPr>
          <p:cNvPr id="7" name="Text 5"/>
          <p:cNvSpPr txBox="1"/>
          <p:nvPr/>
        </p:nvSpPr>
        <p:spPr>
          <a:xfrm>
            <a:off x="6062472" y="1280160"/>
            <a:ext cx="5120640" cy="457200"/>
          </a:xfrm>
          <a:prstGeom prst="rect">
            <a:avLst/>
          </a:prstGeom>
          <a:noFill/>
          <a:ln/>
        </p:spPr>
        <p:txBody>
          <a:bodyPr wrap="square" lIns="0" tIns="0" rIns="0" bIns="0" rtlCol="0" anchor="ctr"/>
          <a:lstStyle/>
          <a:p>
            <a:pPr indent="0" marL="0">
              <a:buNone/>
            </a:pPr>
            <a:r>
              <a:rPr lang="en-US" sz="1600" dirty="0">
                <a:solidFill>
                  <a:srgbClr val="EC6BA8"/>
                </a:solidFill>
                <a:latin typeface="Century Gothic" pitchFamily="34" charset="0"/>
                <a:ea typeface="Century Gothic" pitchFamily="34" charset="-122"/>
                <a:cs typeface="Century Gothic" pitchFamily="34" charset="-120"/>
              </a:rPr>
              <a:t>05   </a:t>
            </a:r>
            <a:pPr indent="0" marL="0">
              <a:buNone/>
            </a:pPr>
            <a:r>
              <a:rPr lang="en-US" sz="1600" dirty="0">
                <a:solidFill>
                  <a:srgbClr val="2B2B2B"/>
                </a:solidFill>
                <a:latin typeface="Century Gothic" pitchFamily="34" charset="0"/>
                <a:ea typeface="Century Gothic" pitchFamily="34" charset="-122"/>
                <a:cs typeface="Century Gothic" pitchFamily="34" charset="-120"/>
              </a:rPr>
              <a:t>Uji Bipartit dengan BFS</a:t>
            </a:r>
            <a:endParaRPr lang="en-US" sz="1600" dirty="0"/>
          </a:p>
        </p:txBody>
      </p:sp>
      <p:sp>
        <p:nvSpPr>
          <p:cNvPr id="8" name="Text 6"/>
          <p:cNvSpPr txBox="1"/>
          <p:nvPr/>
        </p:nvSpPr>
        <p:spPr>
          <a:xfrm>
            <a:off x="6062472" y="1956816"/>
            <a:ext cx="5120640" cy="457200"/>
          </a:xfrm>
          <a:prstGeom prst="rect">
            <a:avLst/>
          </a:prstGeom>
          <a:noFill/>
          <a:ln/>
        </p:spPr>
        <p:txBody>
          <a:bodyPr wrap="square" lIns="0" tIns="0" rIns="0" bIns="0" rtlCol="0" anchor="ctr"/>
          <a:lstStyle/>
          <a:p>
            <a:pPr indent="0" marL="0">
              <a:buNone/>
            </a:pPr>
            <a:r>
              <a:rPr lang="en-US" sz="1600" dirty="0">
                <a:solidFill>
                  <a:srgbClr val="4ECDC4"/>
                </a:solidFill>
                <a:latin typeface="Century Gothic" pitchFamily="34" charset="0"/>
                <a:ea typeface="Century Gothic" pitchFamily="34" charset="-122"/>
                <a:cs typeface="Century Gothic" pitchFamily="34" charset="-120"/>
              </a:rPr>
              <a:t>06   </a:t>
            </a:r>
            <a:pPr indent="0" marL="0">
              <a:buNone/>
            </a:pPr>
            <a:r>
              <a:rPr lang="en-US" sz="1600" dirty="0">
                <a:solidFill>
                  <a:srgbClr val="2B2B2B"/>
                </a:solidFill>
                <a:latin typeface="Century Gothic" pitchFamily="34" charset="0"/>
                <a:ea typeface="Century Gothic" pitchFamily="34" charset="-122"/>
                <a:cs typeface="Century Gothic" pitchFamily="34" charset="-120"/>
              </a:rPr>
              <a:t>Bipartit = Tanpa Siklus Ganjil</a:t>
            </a:r>
            <a:endParaRPr lang="en-US" sz="1600" dirty="0"/>
          </a:p>
        </p:txBody>
      </p:sp>
      <p:sp>
        <p:nvSpPr>
          <p:cNvPr id="9" name="Text 7"/>
          <p:cNvSpPr txBox="1"/>
          <p:nvPr/>
        </p:nvSpPr>
        <p:spPr>
          <a:xfrm>
            <a:off x="6062472" y="2633472"/>
            <a:ext cx="5120640" cy="457200"/>
          </a:xfrm>
          <a:prstGeom prst="rect">
            <a:avLst/>
          </a:prstGeom>
          <a:noFill/>
          <a:ln/>
        </p:spPr>
        <p:txBody>
          <a:bodyPr wrap="square" lIns="0" tIns="0" rIns="0" bIns="0" rtlCol="0" anchor="ctr"/>
          <a:lstStyle/>
          <a:p>
            <a:pPr indent="0" marL="0">
              <a:buNone/>
            </a:pPr>
            <a:r>
              <a:rPr lang="en-US" sz="1600" dirty="0">
                <a:solidFill>
                  <a:srgbClr val="F0736A"/>
                </a:solidFill>
                <a:latin typeface="Century Gothic" pitchFamily="34" charset="0"/>
                <a:ea typeface="Century Gothic" pitchFamily="34" charset="-122"/>
                <a:cs typeface="Century Gothic" pitchFamily="34" charset="-120"/>
              </a:rPr>
              <a:t>07   </a:t>
            </a:r>
            <a:pPr indent="0" marL="0">
              <a:buNone/>
            </a:pPr>
            <a:r>
              <a:rPr lang="en-US" sz="1600" dirty="0">
                <a:solidFill>
                  <a:srgbClr val="2B2B2B"/>
                </a:solidFill>
                <a:latin typeface="Century Gothic" pitchFamily="34" charset="0"/>
                <a:ea typeface="Century Gothic" pitchFamily="34" charset="-122"/>
                <a:cs typeface="Century Gothic" pitchFamily="34" charset="-120"/>
              </a:rPr>
              <a:t>Contoh Soal &amp; Pembahasan</a:t>
            </a:r>
            <a:endParaRPr lang="en-US" sz="1600" dirty="0"/>
          </a:p>
        </p:txBody>
      </p:sp>
      <p:sp>
        <p:nvSpPr>
          <p:cNvPr id="10" name="Text 8"/>
          <p:cNvSpPr txBox="1"/>
          <p:nvPr/>
        </p:nvSpPr>
        <p:spPr>
          <a:xfrm>
            <a:off x="6062472" y="3310128"/>
            <a:ext cx="5120640" cy="457200"/>
          </a:xfrm>
          <a:prstGeom prst="rect">
            <a:avLst/>
          </a:prstGeom>
          <a:noFill/>
          <a:ln/>
        </p:spPr>
        <p:txBody>
          <a:bodyPr wrap="square" lIns="0" tIns="0" rIns="0" bIns="0" rtlCol="0" anchor="ctr"/>
          <a:lstStyle/>
          <a:p>
            <a:pPr indent="0" marL="0">
              <a:buNone/>
            </a:pPr>
            <a:r>
              <a:rPr lang="en-US" sz="1600" dirty="0">
                <a:solidFill>
                  <a:srgbClr val="5B8DEF"/>
                </a:solidFill>
                <a:latin typeface="Century Gothic" pitchFamily="34" charset="0"/>
                <a:ea typeface="Century Gothic" pitchFamily="34" charset="-122"/>
                <a:cs typeface="Century Gothic" pitchFamily="34" charset="-120"/>
              </a:rPr>
              <a:t>08   </a:t>
            </a:r>
            <a:pPr indent="0" marL="0">
              <a:buNone/>
            </a:pPr>
            <a:r>
              <a:rPr lang="en-US" sz="1600" dirty="0">
                <a:solidFill>
                  <a:srgbClr val="2B2B2B"/>
                </a:solidFill>
                <a:latin typeface="Century Gothic" pitchFamily="34" charset="0"/>
                <a:ea typeface="Century Gothic" pitchFamily="34" charset="-122"/>
                <a:cs typeface="Century Gothic" pitchFamily="34" charset="-120"/>
              </a:rPr>
              <a:t>Latihan Mandiri</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01</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Siklus pada Graf Tak Berarah</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Dua cara, keduanya pendek</a:t>
            </a:r>
            <a:endParaRPr lang="en-US" sz="1350" dirty="0"/>
          </a:p>
        </p:txBody>
      </p:sp>
      <p:sp>
        <p:nvSpPr>
          <p:cNvPr id="5" name="Shape 3"/>
          <p:cNvSpPr/>
          <p:nvPr/>
        </p:nvSpPr>
        <p:spPr>
          <a:xfrm>
            <a:off x="5815584" y="4251960"/>
            <a:ext cx="548640" cy="45720"/>
          </a:xfrm>
          <a:prstGeom prst="rect">
            <a:avLst/>
          </a:prstGeom>
          <a:solidFill>
            <a:srgbClr val="F0736A"/>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Cara DFS</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Aturannya satu kalimat: bila bertemu simpul yang sudah dikunjungi dan bukan ayah langsung, berarti ada siklus.</a:t>
            </a:r>
            <a:endParaRPr lang="en-US" sz="1300" dirty="0"/>
          </a:p>
        </p:txBody>
      </p:sp>
      <p:pic>
        <p:nvPicPr>
          <p:cNvPr id="4" name="Image 0" descr="/tmp/ppt/imgs/c1_7_8.png">    </p:cNvPr>
          <p:cNvPicPr>
            <a:picLocks noChangeAspect="1"/>
          </p:cNvPicPr>
          <p:nvPr/>
        </p:nvPicPr>
        <p:blipFill>
          <a:blip r:embed="rId1"/>
          <a:stretch>
            <a:fillRect/>
          </a:stretch>
        </p:blipFill>
        <p:spPr>
          <a:xfrm>
            <a:off x="4387075" y="1993392"/>
            <a:ext cx="3414802" cy="3081528"/>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Perhatikan peringatan di bawah. Bila soal memperbolehkan sisi ganda antara dua simpul yang sama, pemeriksaan v == ayah akan melewatkan siklus sepanjang dua sisi.</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Cara DSU</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Bila kamu sudah punya DSU dari Day 134, deteksi siklus hanya lima baris. Ini pilihan tercepat saat kontes.</a:t>
            </a:r>
            <a:endParaRPr lang="en-US" sz="1300" dirty="0"/>
          </a:p>
        </p:txBody>
      </p:sp>
      <p:pic>
        <p:nvPicPr>
          <p:cNvPr id="4" name="Image 0" descr="/tmp/ppt/imgs/c1_8_9.png">    </p:cNvPr>
          <p:cNvPicPr>
            <a:picLocks noChangeAspect="1"/>
          </p:cNvPicPr>
          <p:nvPr/>
        </p:nvPicPr>
        <p:blipFill>
          <a:blip r:embed="rId1"/>
          <a:stretch>
            <a:fillRect/>
          </a:stretch>
        </p:blipFill>
        <p:spPr>
          <a:xfrm>
            <a:off x="3906116" y="1993392"/>
            <a:ext cx="4376720" cy="3081528"/>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Fakta n-1 sisi sangat berguna. Bila soal menyebut "graf terhubung dengan n simpul dan n sisi", kamu langsung tahu ada tepat satu siklus di dalamnya.</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Melihat Perbedaannya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Graf kiri adalah pohon dan tidak punya siklus. Graf kanan menambah satu sisi saja dan langsung membentuk lingkaran.</a:t>
            </a:r>
            <a:endParaRPr lang="en-US" sz="1300" dirty="0"/>
          </a:p>
        </p:txBody>
      </p:sp>
      <p:sp>
        <p:nvSpPr>
          <p:cNvPr id="4" name="Shape 2"/>
          <p:cNvSpPr/>
          <p:nvPr/>
        </p:nvSpPr>
        <p:spPr>
          <a:xfrm flipV="1">
            <a:off x="923816" y="2823083"/>
            <a:ext cx="346928" cy="809499"/>
          </a:xfrm>
          <a:prstGeom prst="line">
            <a:avLst/>
          </a:prstGeom>
          <a:noFill/>
          <a:ln w="12700">
            <a:solidFill>
              <a:srgbClr val="C8CDD4"/>
            </a:solidFill>
            <a:prstDash val="solid"/>
            <a:headEnd type="none"/>
            <a:tailEnd type="none"/>
          </a:ln>
        </p:spPr>
      </p:sp>
      <p:sp>
        <p:nvSpPr>
          <p:cNvPr id="5" name="Shape 3"/>
          <p:cNvSpPr/>
          <p:nvPr/>
        </p:nvSpPr>
        <p:spPr>
          <a:xfrm>
            <a:off x="1472456" y="2823083"/>
            <a:ext cx="346928" cy="809499"/>
          </a:xfrm>
          <a:prstGeom prst="line">
            <a:avLst/>
          </a:prstGeom>
          <a:noFill/>
          <a:ln w="12700">
            <a:solidFill>
              <a:srgbClr val="C8CDD4"/>
            </a:solidFill>
            <a:prstDash val="solid"/>
            <a:headEnd type="none"/>
            <a:tailEnd type="none"/>
          </a:ln>
        </p:spPr>
      </p:sp>
      <p:sp>
        <p:nvSpPr>
          <p:cNvPr id="6" name="Shape 4"/>
          <p:cNvSpPr/>
          <p:nvPr/>
        </p:nvSpPr>
        <p:spPr>
          <a:xfrm flipV="1">
            <a:off x="1920240" y="4123944"/>
            <a:ext cx="0" cy="676656"/>
          </a:xfrm>
          <a:prstGeom prst="line">
            <a:avLst/>
          </a:prstGeom>
          <a:noFill/>
          <a:ln w="12700">
            <a:solidFill>
              <a:srgbClr val="C8CDD4"/>
            </a:solidFill>
            <a:prstDash val="solid"/>
            <a:headEnd type="none"/>
            <a:tailEnd type="none"/>
          </a:ln>
        </p:spPr>
      </p:sp>
      <p:sp>
        <p:nvSpPr>
          <p:cNvPr id="7" name="Shape 5"/>
          <p:cNvSpPr/>
          <p:nvPr/>
        </p:nvSpPr>
        <p:spPr>
          <a:xfrm flipV="1">
            <a:off x="4581416" y="2823083"/>
            <a:ext cx="346928" cy="809499"/>
          </a:xfrm>
          <a:prstGeom prst="line">
            <a:avLst/>
          </a:prstGeom>
          <a:noFill/>
          <a:ln w="12700">
            <a:solidFill>
              <a:srgbClr val="F0736A"/>
            </a:solidFill>
            <a:prstDash val="solid"/>
            <a:headEnd type="none"/>
            <a:tailEnd type="none"/>
          </a:ln>
        </p:spPr>
      </p:sp>
      <p:sp>
        <p:nvSpPr>
          <p:cNvPr id="8" name="Shape 6"/>
          <p:cNvSpPr/>
          <p:nvPr/>
        </p:nvSpPr>
        <p:spPr>
          <a:xfrm>
            <a:off x="5130056" y="2823083"/>
            <a:ext cx="346928" cy="809499"/>
          </a:xfrm>
          <a:prstGeom prst="line">
            <a:avLst/>
          </a:prstGeom>
          <a:noFill/>
          <a:ln w="12700">
            <a:solidFill>
              <a:srgbClr val="F0736A"/>
            </a:solidFill>
            <a:prstDash val="solid"/>
            <a:headEnd type="none"/>
            <a:tailEnd type="none"/>
          </a:ln>
        </p:spPr>
      </p:sp>
      <p:sp>
        <p:nvSpPr>
          <p:cNvPr id="9" name="Shape 7"/>
          <p:cNvSpPr/>
          <p:nvPr/>
        </p:nvSpPr>
        <p:spPr>
          <a:xfrm flipV="1">
            <a:off x="5577840" y="4123944"/>
            <a:ext cx="0" cy="676656"/>
          </a:xfrm>
          <a:prstGeom prst="line">
            <a:avLst/>
          </a:prstGeom>
          <a:noFill/>
          <a:ln w="12700">
            <a:solidFill>
              <a:srgbClr val="F0736A"/>
            </a:solidFill>
            <a:prstDash val="solid"/>
            <a:headEnd type="none"/>
            <a:tailEnd type="none"/>
          </a:ln>
        </p:spPr>
      </p:sp>
      <p:sp>
        <p:nvSpPr>
          <p:cNvPr id="10" name="Shape 8"/>
          <p:cNvSpPr/>
          <p:nvPr/>
        </p:nvSpPr>
        <p:spPr>
          <a:xfrm>
            <a:off x="4654221" y="4056045"/>
            <a:ext cx="749957" cy="812454"/>
          </a:xfrm>
          <a:prstGeom prst="line">
            <a:avLst/>
          </a:prstGeom>
          <a:noFill/>
          <a:ln w="12700">
            <a:solidFill>
              <a:srgbClr val="F0736A"/>
            </a:solidFill>
            <a:prstDash val="solid"/>
            <a:headEnd type="none"/>
            <a:tailEnd type="none"/>
          </a:ln>
        </p:spPr>
      </p:sp>
      <p:sp>
        <p:nvSpPr>
          <p:cNvPr id="11" name="Shape 9"/>
          <p:cNvSpPr/>
          <p:nvPr/>
        </p:nvSpPr>
        <p:spPr>
          <a:xfrm>
            <a:off x="1115568" y="2331720"/>
            <a:ext cx="512064" cy="512064"/>
          </a:xfrm>
          <a:prstGeom prst="ellipse">
            <a:avLst/>
          </a:prstGeom>
          <a:solidFill>
            <a:srgbClr val="EAF4FD"/>
          </a:solidFill>
          <a:ln w="9525">
            <a:solidFill>
              <a:srgbClr val="D5DAE1"/>
            </a:solidFill>
            <a:prstDash val="solid"/>
          </a:ln>
        </p:spPr>
      </p:sp>
      <p:sp>
        <p:nvSpPr>
          <p:cNvPr id="12" name="Text 10"/>
          <p:cNvSpPr txBox="1"/>
          <p:nvPr/>
        </p:nvSpPr>
        <p:spPr>
          <a:xfrm>
            <a:off x="1115568" y="233172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1</a:t>
            </a:r>
            <a:endParaRPr lang="en-US" sz="1200" dirty="0"/>
          </a:p>
        </p:txBody>
      </p:sp>
      <p:sp>
        <p:nvSpPr>
          <p:cNvPr id="13" name="Shape 11"/>
          <p:cNvSpPr/>
          <p:nvPr/>
        </p:nvSpPr>
        <p:spPr>
          <a:xfrm>
            <a:off x="566928" y="3611880"/>
            <a:ext cx="512064" cy="512064"/>
          </a:xfrm>
          <a:prstGeom prst="ellipse">
            <a:avLst/>
          </a:prstGeom>
          <a:solidFill>
            <a:srgbClr val="EAF4FD"/>
          </a:solidFill>
          <a:ln w="9525">
            <a:solidFill>
              <a:srgbClr val="D5DAE1"/>
            </a:solidFill>
            <a:prstDash val="solid"/>
          </a:ln>
        </p:spPr>
      </p:sp>
      <p:sp>
        <p:nvSpPr>
          <p:cNvPr id="14" name="Text 12"/>
          <p:cNvSpPr txBox="1"/>
          <p:nvPr/>
        </p:nvSpPr>
        <p:spPr>
          <a:xfrm>
            <a:off x="566928" y="361188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a:t>
            </a:r>
            <a:endParaRPr lang="en-US" sz="1200" dirty="0"/>
          </a:p>
        </p:txBody>
      </p:sp>
      <p:sp>
        <p:nvSpPr>
          <p:cNvPr id="15" name="Shape 13"/>
          <p:cNvSpPr/>
          <p:nvPr/>
        </p:nvSpPr>
        <p:spPr>
          <a:xfrm>
            <a:off x="1664208" y="3611880"/>
            <a:ext cx="512064" cy="512064"/>
          </a:xfrm>
          <a:prstGeom prst="ellipse">
            <a:avLst/>
          </a:prstGeom>
          <a:solidFill>
            <a:srgbClr val="EAF4FD"/>
          </a:solidFill>
          <a:ln w="9525">
            <a:solidFill>
              <a:srgbClr val="D5DAE1"/>
            </a:solidFill>
            <a:prstDash val="solid"/>
          </a:ln>
        </p:spPr>
      </p:sp>
      <p:sp>
        <p:nvSpPr>
          <p:cNvPr id="16" name="Text 14"/>
          <p:cNvSpPr txBox="1"/>
          <p:nvPr/>
        </p:nvSpPr>
        <p:spPr>
          <a:xfrm>
            <a:off x="1664208" y="361188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3</a:t>
            </a:r>
            <a:endParaRPr lang="en-US" sz="1200" dirty="0"/>
          </a:p>
        </p:txBody>
      </p:sp>
      <p:sp>
        <p:nvSpPr>
          <p:cNvPr id="17" name="Shape 15"/>
          <p:cNvSpPr/>
          <p:nvPr/>
        </p:nvSpPr>
        <p:spPr>
          <a:xfrm>
            <a:off x="1664208" y="4800600"/>
            <a:ext cx="512064" cy="512064"/>
          </a:xfrm>
          <a:prstGeom prst="ellipse">
            <a:avLst/>
          </a:prstGeom>
          <a:solidFill>
            <a:srgbClr val="EAF4FD"/>
          </a:solidFill>
          <a:ln w="9525">
            <a:solidFill>
              <a:srgbClr val="D5DAE1"/>
            </a:solidFill>
            <a:prstDash val="solid"/>
          </a:ln>
        </p:spPr>
      </p:sp>
      <p:sp>
        <p:nvSpPr>
          <p:cNvPr id="18" name="Text 16"/>
          <p:cNvSpPr txBox="1"/>
          <p:nvPr/>
        </p:nvSpPr>
        <p:spPr>
          <a:xfrm>
            <a:off x="1664208" y="480060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4</a:t>
            </a:r>
            <a:endParaRPr lang="en-US" sz="1200" dirty="0"/>
          </a:p>
        </p:txBody>
      </p:sp>
      <p:sp>
        <p:nvSpPr>
          <p:cNvPr id="19" name="Shape 17"/>
          <p:cNvSpPr/>
          <p:nvPr/>
        </p:nvSpPr>
        <p:spPr>
          <a:xfrm>
            <a:off x="4773168" y="2331720"/>
            <a:ext cx="512064" cy="512064"/>
          </a:xfrm>
          <a:prstGeom prst="ellipse">
            <a:avLst/>
          </a:prstGeom>
          <a:solidFill>
            <a:srgbClr val="EAF4FD"/>
          </a:solidFill>
          <a:ln w="9525">
            <a:solidFill>
              <a:srgbClr val="D5DAE1"/>
            </a:solidFill>
            <a:prstDash val="solid"/>
          </a:ln>
        </p:spPr>
      </p:sp>
      <p:sp>
        <p:nvSpPr>
          <p:cNvPr id="20" name="Text 18"/>
          <p:cNvSpPr txBox="1"/>
          <p:nvPr/>
        </p:nvSpPr>
        <p:spPr>
          <a:xfrm>
            <a:off x="4773168" y="233172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5</a:t>
            </a:r>
            <a:endParaRPr lang="en-US" sz="1200" dirty="0"/>
          </a:p>
        </p:txBody>
      </p:sp>
      <p:sp>
        <p:nvSpPr>
          <p:cNvPr id="21" name="Shape 19"/>
          <p:cNvSpPr/>
          <p:nvPr/>
        </p:nvSpPr>
        <p:spPr>
          <a:xfrm>
            <a:off x="4224528" y="3611880"/>
            <a:ext cx="512064" cy="512064"/>
          </a:xfrm>
          <a:prstGeom prst="ellipse">
            <a:avLst/>
          </a:prstGeom>
          <a:solidFill>
            <a:srgbClr val="EAF4FD"/>
          </a:solidFill>
          <a:ln w="9525">
            <a:solidFill>
              <a:srgbClr val="D5DAE1"/>
            </a:solidFill>
            <a:prstDash val="solid"/>
          </a:ln>
        </p:spPr>
      </p:sp>
      <p:sp>
        <p:nvSpPr>
          <p:cNvPr id="22" name="Text 20"/>
          <p:cNvSpPr txBox="1"/>
          <p:nvPr/>
        </p:nvSpPr>
        <p:spPr>
          <a:xfrm>
            <a:off x="4224528" y="361188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6</a:t>
            </a:r>
            <a:endParaRPr lang="en-US" sz="1200" dirty="0"/>
          </a:p>
        </p:txBody>
      </p:sp>
      <p:sp>
        <p:nvSpPr>
          <p:cNvPr id="23" name="Shape 21"/>
          <p:cNvSpPr/>
          <p:nvPr/>
        </p:nvSpPr>
        <p:spPr>
          <a:xfrm>
            <a:off x="5321808" y="3611880"/>
            <a:ext cx="512064" cy="512064"/>
          </a:xfrm>
          <a:prstGeom prst="ellipse">
            <a:avLst/>
          </a:prstGeom>
          <a:solidFill>
            <a:srgbClr val="EAF4FD"/>
          </a:solidFill>
          <a:ln w="9525">
            <a:solidFill>
              <a:srgbClr val="D5DAE1"/>
            </a:solidFill>
            <a:prstDash val="solid"/>
          </a:ln>
        </p:spPr>
      </p:sp>
      <p:sp>
        <p:nvSpPr>
          <p:cNvPr id="24" name="Text 22"/>
          <p:cNvSpPr txBox="1"/>
          <p:nvPr/>
        </p:nvSpPr>
        <p:spPr>
          <a:xfrm>
            <a:off x="5321808" y="361188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7</a:t>
            </a:r>
            <a:endParaRPr lang="en-US" sz="1200" dirty="0"/>
          </a:p>
        </p:txBody>
      </p:sp>
      <p:sp>
        <p:nvSpPr>
          <p:cNvPr id="25" name="Shape 23"/>
          <p:cNvSpPr/>
          <p:nvPr/>
        </p:nvSpPr>
        <p:spPr>
          <a:xfrm>
            <a:off x="5321808" y="4800600"/>
            <a:ext cx="512064" cy="512064"/>
          </a:xfrm>
          <a:prstGeom prst="ellipse">
            <a:avLst/>
          </a:prstGeom>
          <a:solidFill>
            <a:srgbClr val="EAF4FD"/>
          </a:solidFill>
          <a:ln w="9525">
            <a:solidFill>
              <a:srgbClr val="D5DAE1"/>
            </a:solidFill>
            <a:prstDash val="solid"/>
          </a:ln>
        </p:spPr>
      </p:sp>
      <p:sp>
        <p:nvSpPr>
          <p:cNvPr id="26" name="Text 24"/>
          <p:cNvSpPr txBox="1"/>
          <p:nvPr/>
        </p:nvSpPr>
        <p:spPr>
          <a:xfrm>
            <a:off x="5321808" y="480060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8</a:t>
            </a:r>
            <a:endParaRPr lang="en-US" sz="1200" dirty="0"/>
          </a:p>
        </p:txBody>
      </p:sp>
      <p:sp>
        <p:nvSpPr>
          <p:cNvPr id="27" name="Shape 25"/>
          <p:cNvSpPr/>
          <p:nvPr/>
        </p:nvSpPr>
        <p:spPr>
          <a:xfrm>
            <a:off x="6949440" y="2587752"/>
            <a:ext cx="4572000" cy="3054096"/>
          </a:xfrm>
          <a:prstGeom prst="rect">
            <a:avLst/>
          </a:prstGeom>
          <a:solidFill>
            <a:srgbClr val="FAFAFA"/>
          </a:solidFill>
          <a:ln/>
        </p:spPr>
      </p:sp>
      <p:sp>
        <p:nvSpPr>
          <p:cNvPr id="28" name="Text 26"/>
          <p:cNvSpPr txBox="1"/>
          <p:nvPr/>
        </p:nvSpPr>
        <p:spPr>
          <a:xfrm>
            <a:off x="7178040" y="2770632"/>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Kiri  : 4 simpul, 3 sisi</a:t>
            </a:r>
            <a:endParaRPr lang="en-US" sz="1200" dirty="0"/>
          </a:p>
        </p:txBody>
      </p:sp>
      <p:sp>
        <p:nvSpPr>
          <p:cNvPr id="29" name="Text 27"/>
          <p:cNvSpPr txBox="1"/>
          <p:nvPr/>
        </p:nvSpPr>
        <p:spPr>
          <a:xfrm>
            <a:off x="7178040" y="3154680"/>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3 = 4 - 1  -&gt;  POHON</a:t>
            </a:r>
            <a:endParaRPr lang="en-US" sz="1200" dirty="0"/>
          </a:p>
        </p:txBody>
      </p:sp>
      <p:sp>
        <p:nvSpPr>
          <p:cNvPr id="30" name="Text 28"/>
          <p:cNvSpPr txBox="1"/>
          <p:nvPr/>
        </p:nvSpPr>
        <p:spPr>
          <a:xfrm>
            <a:off x="7178040" y="3538728"/>
            <a:ext cx="4206240" cy="347472"/>
          </a:xfrm>
          <a:prstGeom prst="rect">
            <a:avLst/>
          </a:prstGeom>
          <a:noFill/>
          <a:ln/>
        </p:spPr>
        <p:txBody>
          <a:bodyPr wrap="square" lIns="0" tIns="0" rIns="0" bIns="0" rtlCol="0" anchor="ctr"/>
          <a:lstStyle/>
          <a:p>
            <a:pPr indent="0" marL="0">
              <a:buNone/>
            </a:pPr>
            <a:endParaRPr lang="en-US" sz="1200" dirty="0"/>
          </a:p>
        </p:txBody>
      </p:sp>
      <p:sp>
        <p:nvSpPr>
          <p:cNvPr id="31" name="Text 29"/>
          <p:cNvSpPr txBox="1"/>
          <p:nvPr/>
        </p:nvSpPr>
        <p:spPr>
          <a:xfrm>
            <a:off x="7178040" y="3922776"/>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Kanan : 4 simpul, 4 sisi</a:t>
            </a:r>
            <a:endParaRPr lang="en-US" sz="1200" dirty="0"/>
          </a:p>
        </p:txBody>
      </p:sp>
      <p:sp>
        <p:nvSpPr>
          <p:cNvPr id="32" name="Text 30"/>
          <p:cNvSpPr txBox="1"/>
          <p:nvPr/>
        </p:nvSpPr>
        <p:spPr>
          <a:xfrm>
            <a:off x="7178040" y="4306824"/>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4 &gt; 4 - 1  -&gt;  ADA SIKLUS</a:t>
            </a:r>
            <a:endParaRPr lang="en-US" sz="1200" dirty="0"/>
          </a:p>
        </p:txBody>
      </p:sp>
      <p:sp>
        <p:nvSpPr>
          <p:cNvPr id="33" name="Text 31"/>
          <p:cNvSpPr txBox="1"/>
          <p:nvPr/>
        </p:nvSpPr>
        <p:spPr>
          <a:xfrm>
            <a:off x="7178040" y="4690872"/>
            <a:ext cx="4206240" cy="347472"/>
          </a:xfrm>
          <a:prstGeom prst="rect">
            <a:avLst/>
          </a:prstGeom>
          <a:noFill/>
          <a:ln/>
        </p:spPr>
        <p:txBody>
          <a:bodyPr wrap="square" lIns="0" tIns="0" rIns="0" bIns="0" rtlCol="0" anchor="ctr"/>
          <a:lstStyle/>
          <a:p>
            <a:pPr indent="0" marL="0">
              <a:buNone/>
            </a:pPr>
            <a:endParaRPr lang="en-US" sz="1200" dirty="0"/>
          </a:p>
        </p:txBody>
      </p:sp>
      <p:sp>
        <p:nvSpPr>
          <p:cNvPr id="34" name="Text 32"/>
          <p:cNvSpPr txBox="1"/>
          <p:nvPr/>
        </p:nvSpPr>
        <p:spPr>
          <a:xfrm>
            <a:off x="7178040" y="5074920"/>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siklus: 5 - 6 - 8 - 7 - 5</a:t>
            </a:r>
            <a:endParaRPr lang="en-US" sz="1200" dirty="0"/>
          </a:p>
        </p:txBody>
      </p:sp>
      <p:sp>
        <p:nvSpPr>
          <p:cNvPr id="35" name="Shape 33"/>
          <p:cNvSpPr/>
          <p:nvPr/>
        </p:nvSpPr>
        <p:spPr>
          <a:xfrm>
            <a:off x="667512" y="5916168"/>
            <a:ext cx="10853928" cy="914400"/>
          </a:xfrm>
          <a:prstGeom prst="rect">
            <a:avLst/>
          </a:prstGeom>
          <a:solidFill>
            <a:srgbClr val="FAFAFA"/>
          </a:solidFill>
          <a:ln/>
        </p:spPr>
      </p:sp>
      <p:sp>
        <p:nvSpPr>
          <p:cNvPr id="36" name="Text 34"/>
          <p:cNvSpPr txBox="1"/>
          <p:nvPr/>
        </p:nvSpPr>
        <p:spPr>
          <a:xfrm>
            <a:off x="941832" y="6007608"/>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graf tak berarah terhubung adalah pohon  &lt;=&gt;  tepat n - 1 sisi</a:t>
            </a:r>
            <a:endParaRPr lang="en-US" sz="1300" dirty="0"/>
          </a:p>
        </p:txBody>
      </p:sp>
      <p:sp>
        <p:nvSpPr>
          <p:cNvPr id="37" name="Text 35"/>
          <p:cNvSpPr txBox="1"/>
          <p:nvPr/>
        </p:nvSpPr>
        <p:spPr>
          <a:xfrm>
            <a:off x="941832" y="6355080"/>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Pemeriksaan jumlah sisi hanya berlaku bila grafnya terhubung. Pada graf yang terpecah, gunakan DSU atau DFS.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02</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Siklus pada Graf Berarah</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Aturannya berbeda dan lebih halus</a:t>
            </a:r>
            <a:endParaRPr lang="en-US" sz="1350" dirty="0"/>
          </a:p>
        </p:txBody>
      </p:sp>
      <p:sp>
        <p:nvSpPr>
          <p:cNvPr id="5" name="Shape 3"/>
          <p:cNvSpPr/>
          <p:nvPr/>
        </p:nvSpPr>
        <p:spPr>
          <a:xfrm>
            <a:off x="5815584" y="4251960"/>
            <a:ext cx="548640" cy="45720"/>
          </a:xfrm>
          <a:prstGeom prst="rect">
            <a:avLst/>
          </a:prstGeom>
          <a:solidFill>
            <a:srgbClr val="F5A623"/>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Kenapa lihat[] Biasa Tidak Cukup</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Baca contoh berikut perlahan. Kesalahan ini sangat sering terjadi dan sulit ditemukan lewat pengujian acak.</a:t>
            </a:r>
            <a:endParaRPr lang="en-US" sz="1300" dirty="0"/>
          </a:p>
        </p:txBody>
      </p:sp>
      <p:pic>
        <p:nvPicPr>
          <p:cNvPr id="4" name="Image 0" descr="/tmp/ppt/imgs/c1_11_10.png">    </p:cNvPr>
          <p:cNvPicPr>
            <a:picLocks noChangeAspect="1"/>
          </p:cNvPicPr>
          <p:nvPr/>
        </p:nvPicPr>
        <p:blipFill>
          <a:blip r:embed="rId1"/>
          <a:stretch>
            <a:fillRect/>
          </a:stretch>
        </p:blipFill>
        <p:spPr>
          <a:xfrm>
            <a:off x="3816976" y="1993392"/>
            <a:ext cx="4555000" cy="3081528"/>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Pada graf berarah, mengunjungi ulang sebuah simpul itu wajar — asalkan simpul tersebut sudah selesai diproses. Yang berbahaya hanyalah bertemu simpul yang masih berada di jalur rekursi sekarang.</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Pewarnaan Tiga Warna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Solusinya adalah membedakan "sedang diproses" dari "sudah selesai". Tiga warna sudah cukup.</a:t>
            </a:r>
            <a:endParaRPr lang="en-US" sz="1300" dirty="0"/>
          </a:p>
        </p:txBody>
      </p:sp>
      <p:pic>
        <p:nvPicPr>
          <p:cNvPr id="4" name="Image 0" descr="/tmp/ppt/imgs/c1_12_11.png">    </p:cNvPr>
          <p:cNvPicPr>
            <a:picLocks noChangeAspect="1"/>
          </p:cNvPicPr>
          <p:nvPr/>
        </p:nvPicPr>
        <p:blipFill>
          <a:blip r:embed="rId1"/>
          <a:stretch>
            <a:fillRect/>
          </a:stretch>
        </p:blipFill>
        <p:spPr>
          <a:xfrm>
            <a:off x="1438044" y="1755648"/>
            <a:ext cx="4768296" cy="4187952"/>
          </a:xfrm>
          <a:prstGeom prst="rect">
            <a:avLst/>
          </a:prstGeom>
        </p:spPr>
      </p:pic>
      <p:sp>
        <p:nvSpPr>
          <p:cNvPr id="5" name="Shape 2"/>
          <p:cNvSpPr/>
          <p:nvPr/>
        </p:nvSpPr>
        <p:spPr>
          <a:xfrm>
            <a:off x="7178040" y="1801368"/>
            <a:ext cx="310896" cy="310896"/>
          </a:xfrm>
          <a:prstGeom prst="ellipse">
            <a:avLst/>
          </a:prstGeom>
          <a:solidFill>
            <a:srgbClr val="4FA8E8"/>
          </a:solidFill>
          <a:ln/>
        </p:spPr>
      </p:sp>
      <p:sp>
        <p:nvSpPr>
          <p:cNvPr id="6" name="Text 3"/>
          <p:cNvSpPr txBox="1"/>
          <p:nvPr/>
        </p:nvSpPr>
        <p:spPr>
          <a:xfrm>
            <a:off x="7178040" y="180136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1</a:t>
            </a:r>
            <a:endParaRPr lang="en-US" sz="1100" dirty="0"/>
          </a:p>
        </p:txBody>
      </p:sp>
      <p:sp>
        <p:nvSpPr>
          <p:cNvPr id="7" name="Text 4"/>
          <p:cNvSpPr txBox="1"/>
          <p:nvPr/>
        </p:nvSpPr>
        <p:spPr>
          <a:xfrm>
            <a:off x="7607808" y="1746504"/>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Putih berarti belum tersentuh sama sekali. Semua simpul dimulai dari sini.</a:t>
            </a:r>
            <a:endParaRPr lang="en-US" sz="1200" dirty="0"/>
          </a:p>
        </p:txBody>
      </p:sp>
      <p:sp>
        <p:nvSpPr>
          <p:cNvPr id="8" name="Shape 5"/>
          <p:cNvSpPr/>
          <p:nvPr/>
        </p:nvSpPr>
        <p:spPr>
          <a:xfrm>
            <a:off x="7178040" y="2484120"/>
            <a:ext cx="310896" cy="310896"/>
          </a:xfrm>
          <a:prstGeom prst="ellipse">
            <a:avLst/>
          </a:prstGeom>
          <a:solidFill>
            <a:srgbClr val="3ECF9E"/>
          </a:solidFill>
          <a:ln/>
        </p:spPr>
      </p:sp>
      <p:sp>
        <p:nvSpPr>
          <p:cNvPr id="9" name="Text 6"/>
          <p:cNvSpPr txBox="1"/>
          <p:nvPr/>
        </p:nvSpPr>
        <p:spPr>
          <a:xfrm>
            <a:off x="7178040" y="2484120"/>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2</a:t>
            </a:r>
            <a:endParaRPr lang="en-US" sz="1100" dirty="0"/>
          </a:p>
        </p:txBody>
      </p:sp>
      <p:sp>
        <p:nvSpPr>
          <p:cNvPr id="10" name="Text 7"/>
          <p:cNvSpPr txBox="1"/>
          <p:nvPr/>
        </p:nvSpPr>
        <p:spPr>
          <a:xfrm>
            <a:off x="7607808" y="2429256"/>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Abu berarti simpul sudah dimasuki tetapi rekursinya belum kembali — artinya ia masih berada di jalur yang sedang ditelusuri.</a:t>
            </a:r>
            <a:endParaRPr lang="en-US" sz="1200" dirty="0"/>
          </a:p>
        </p:txBody>
      </p:sp>
      <p:sp>
        <p:nvSpPr>
          <p:cNvPr id="11" name="Shape 8"/>
          <p:cNvSpPr/>
          <p:nvPr/>
        </p:nvSpPr>
        <p:spPr>
          <a:xfrm>
            <a:off x="7178040" y="3166872"/>
            <a:ext cx="310896" cy="310896"/>
          </a:xfrm>
          <a:prstGeom prst="ellipse">
            <a:avLst/>
          </a:prstGeom>
          <a:solidFill>
            <a:srgbClr val="F5A623"/>
          </a:solidFill>
          <a:ln/>
        </p:spPr>
      </p:sp>
      <p:sp>
        <p:nvSpPr>
          <p:cNvPr id="12" name="Text 9"/>
          <p:cNvSpPr txBox="1"/>
          <p:nvPr/>
        </p:nvSpPr>
        <p:spPr>
          <a:xfrm>
            <a:off x="7178040" y="3166872"/>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3</a:t>
            </a:r>
            <a:endParaRPr lang="en-US" sz="1100" dirty="0"/>
          </a:p>
        </p:txBody>
      </p:sp>
      <p:sp>
        <p:nvSpPr>
          <p:cNvPr id="13" name="Text 10"/>
          <p:cNvSpPr txBox="1"/>
          <p:nvPr/>
        </p:nvSpPr>
        <p:spPr>
          <a:xfrm>
            <a:off x="7607808" y="3112008"/>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Hitam berarti simpul dan seluruh keturunannya sudah selesai. Bertemu simpul hitam sama sekali tidak berbahaya.</a:t>
            </a:r>
            <a:endParaRPr lang="en-US" sz="1200" dirty="0"/>
          </a:p>
        </p:txBody>
      </p:sp>
      <p:sp>
        <p:nvSpPr>
          <p:cNvPr id="14" name="Shape 11"/>
          <p:cNvSpPr/>
          <p:nvPr/>
        </p:nvSpPr>
        <p:spPr>
          <a:xfrm>
            <a:off x="7178040" y="3849624"/>
            <a:ext cx="310896" cy="310896"/>
          </a:xfrm>
          <a:prstGeom prst="ellipse">
            <a:avLst/>
          </a:prstGeom>
          <a:solidFill>
            <a:srgbClr val="A78BFA"/>
          </a:solidFill>
          <a:ln/>
        </p:spPr>
      </p:sp>
      <p:sp>
        <p:nvSpPr>
          <p:cNvPr id="15" name="Text 12"/>
          <p:cNvSpPr txBox="1"/>
          <p:nvPr/>
        </p:nvSpPr>
        <p:spPr>
          <a:xfrm>
            <a:off x="7178040" y="3849624"/>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4</a:t>
            </a:r>
            <a:endParaRPr lang="en-US" sz="1100" dirty="0"/>
          </a:p>
        </p:txBody>
      </p:sp>
      <p:sp>
        <p:nvSpPr>
          <p:cNvPr id="16" name="Text 13"/>
          <p:cNvSpPr txBox="1"/>
          <p:nvPr/>
        </p:nvSpPr>
        <p:spPr>
          <a:xfrm>
            <a:off x="7607808" y="3794760"/>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Inilah pemeriksaan siklusnya. Sisi menuju simpul abu disebut back edge, dan keberadaannya setara dengan adanya siklus.</a:t>
            </a:r>
            <a:endParaRPr lang="en-US" sz="1200" dirty="0"/>
          </a:p>
        </p:txBody>
      </p:sp>
      <p:sp>
        <p:nvSpPr>
          <p:cNvPr id="17" name="Shape 14"/>
          <p:cNvSpPr/>
          <p:nvPr/>
        </p:nvSpPr>
        <p:spPr>
          <a:xfrm>
            <a:off x="7178040" y="4532376"/>
            <a:ext cx="310896" cy="310896"/>
          </a:xfrm>
          <a:prstGeom prst="ellipse">
            <a:avLst/>
          </a:prstGeom>
          <a:solidFill>
            <a:srgbClr val="EC6BA8"/>
          </a:solidFill>
          <a:ln/>
        </p:spPr>
      </p:sp>
      <p:sp>
        <p:nvSpPr>
          <p:cNvPr id="18" name="Text 15"/>
          <p:cNvSpPr txBox="1"/>
          <p:nvPr/>
        </p:nvSpPr>
        <p:spPr>
          <a:xfrm>
            <a:off x="7178040" y="4532376"/>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5</a:t>
            </a:r>
            <a:endParaRPr lang="en-US" sz="1100" dirty="0"/>
          </a:p>
        </p:txBody>
      </p:sp>
      <p:sp>
        <p:nvSpPr>
          <p:cNvPr id="19" name="Text 16"/>
          <p:cNvSpPr txBox="1"/>
          <p:nvPr/>
        </p:nvSpPr>
        <p:spPr>
          <a:xfrm>
            <a:off x="7607808" y="4477512"/>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Warna diubah menjadi hitam setelah semua tetangga selesai. Urutan ini tidak boleh dibalik.</a:t>
            </a:r>
            <a:endParaRPr lang="en-US" sz="1200" dirty="0"/>
          </a:p>
        </p:txBody>
      </p:sp>
      <p:sp>
        <p:nvSpPr>
          <p:cNvPr id="20" name="Shape 17"/>
          <p:cNvSpPr/>
          <p:nvPr/>
        </p:nvSpPr>
        <p:spPr>
          <a:xfrm>
            <a:off x="7178040" y="5215128"/>
            <a:ext cx="310896" cy="310896"/>
          </a:xfrm>
          <a:prstGeom prst="ellipse">
            <a:avLst/>
          </a:prstGeom>
          <a:solidFill>
            <a:srgbClr val="4ECDC4"/>
          </a:solidFill>
          <a:ln/>
        </p:spPr>
      </p:sp>
      <p:sp>
        <p:nvSpPr>
          <p:cNvPr id="21" name="Text 18"/>
          <p:cNvSpPr txBox="1"/>
          <p:nvPr/>
        </p:nvSpPr>
        <p:spPr>
          <a:xfrm>
            <a:off x="7178040" y="521512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6</a:t>
            </a:r>
            <a:endParaRPr lang="en-US" sz="1100" dirty="0"/>
          </a:p>
        </p:txBody>
      </p:sp>
      <p:sp>
        <p:nvSpPr>
          <p:cNvPr id="22" name="Text 19"/>
          <p:cNvSpPr txBox="1"/>
          <p:nvPr/>
        </p:nvSpPr>
        <p:spPr>
          <a:xfrm>
            <a:off x="7607808" y="5160264"/>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Untuk graf yang tidak terhubung, panggil dfs dari setiap simpul yang masih putih.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Ringkasan Deteksi Siklus</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situasi yang sering muncul, beserta cara tercepat menanganinya.</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7512" y="1755648"/>
          <a:ext cx="10853928" cy="914400"/>
        </p:xfrm>
        <a:graphic>
          <a:graphicData uri="http://schemas.openxmlformats.org/drawingml/2006/table">
            <a:tbl>
              <a:tblPr/>
              <a:tblGrid>
                <a:gridCol w="2926080"/>
                <a:gridCol w="3840480"/>
                <a:gridCol w="4087368"/>
              </a:tblGrid>
              <a:tr h="603504">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Jenis graf</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Cara termudah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Catatan penting</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603504">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Tak berarah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DSU: gabung mengembalikan false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Paling pendek bila DSU sudah dihafal.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603504">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Tak berarah, sisi ganda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DFS dengan indeks sisi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Jangan pakai perbandingan nomor simpul ayah.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603504">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Berarah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DFS tiga warna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Bertemu simpul abu berarti ada siklus.</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603504">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Berarah, ingin urutannya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Topological sort (Kahn)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Bila hasil toposort kurang dari n simpul, ada siklus.</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603504">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Graf fungsional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Tortoise-hare atau penandaan langkah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Setiap simpul punya tepat satu sisi keluar.</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03</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Uji Bipartit</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Membagi simpul menjadi dua kubu</a:t>
            </a:r>
            <a:endParaRPr lang="en-US" sz="1350" dirty="0"/>
          </a:p>
        </p:txBody>
      </p:sp>
      <p:sp>
        <p:nvSpPr>
          <p:cNvPr id="5" name="Shape 3"/>
          <p:cNvSpPr/>
          <p:nvPr/>
        </p:nvSpPr>
        <p:spPr>
          <a:xfrm>
            <a:off x="5815584" y="4251960"/>
            <a:ext cx="548640" cy="45720"/>
          </a:xfrm>
          <a:prstGeom prst="rect">
            <a:avLst/>
          </a:prstGeom>
          <a:solidFill>
            <a:srgbClr val="F0736A"/>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Fakta yang Menjelaskan Semuanya</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Satu kalimat di baris ketiga adalah seluruh teorinya. Sisanya hanyalah akibat.</a:t>
            </a:r>
            <a:endParaRPr lang="en-US" sz="1300" dirty="0"/>
          </a:p>
        </p:txBody>
      </p:sp>
      <p:pic>
        <p:nvPicPr>
          <p:cNvPr id="4" name="Image 0" descr="/tmp/ppt/imgs/c1_15_12.png">    </p:cNvPr>
          <p:cNvPicPr>
            <a:picLocks noChangeAspect="1"/>
          </p:cNvPicPr>
          <p:nvPr/>
        </p:nvPicPr>
        <p:blipFill>
          <a:blip r:embed="rId1"/>
          <a:stretch>
            <a:fillRect/>
          </a:stretch>
        </p:blipFill>
        <p:spPr>
          <a:xfrm>
            <a:off x="3960498" y="1755648"/>
            <a:ext cx="4267956" cy="3319272"/>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Karena itu, uji bipartit sebenarnya adalah pencarian siklus ganjil. Bila pewarnaan dua warna gagal, tempat kegagalannya menunjukkan letak siklus ganjilnya.</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Bipartit dan Bukan Bipartit</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Lingkaran kiri panjangnya empat sehingga dua warna cukup. Segitiga di kanan mustahil diwarnai dengan dua warna.</a:t>
            </a:r>
            <a:endParaRPr lang="en-US" sz="1300" dirty="0"/>
          </a:p>
        </p:txBody>
      </p:sp>
      <p:sp>
        <p:nvSpPr>
          <p:cNvPr id="4" name="Shape 2"/>
          <p:cNvSpPr/>
          <p:nvPr/>
        </p:nvSpPr>
        <p:spPr>
          <a:xfrm flipV="1">
            <a:off x="1444752" y="2679192"/>
            <a:ext cx="1133856" cy="0"/>
          </a:xfrm>
          <a:prstGeom prst="line">
            <a:avLst/>
          </a:prstGeom>
          <a:noFill/>
          <a:ln w="12700">
            <a:solidFill>
              <a:srgbClr val="C8CDD4"/>
            </a:solidFill>
            <a:prstDash val="solid"/>
            <a:headEnd type="none"/>
            <a:tailEnd type="none"/>
          </a:ln>
        </p:spPr>
      </p:sp>
      <p:sp>
        <p:nvSpPr>
          <p:cNvPr id="5" name="Shape 3"/>
          <p:cNvSpPr/>
          <p:nvPr/>
        </p:nvSpPr>
        <p:spPr>
          <a:xfrm flipV="1">
            <a:off x="2834640" y="2935224"/>
            <a:ext cx="0" cy="1316736"/>
          </a:xfrm>
          <a:prstGeom prst="line">
            <a:avLst/>
          </a:prstGeom>
          <a:noFill/>
          <a:ln w="12700">
            <a:solidFill>
              <a:srgbClr val="C8CDD4"/>
            </a:solidFill>
            <a:prstDash val="solid"/>
            <a:headEnd type="none"/>
            <a:tailEnd type="none"/>
          </a:ln>
        </p:spPr>
      </p:sp>
      <p:sp>
        <p:nvSpPr>
          <p:cNvPr id="6" name="Shape 4"/>
          <p:cNvSpPr/>
          <p:nvPr/>
        </p:nvSpPr>
        <p:spPr>
          <a:xfrm>
            <a:off x="1444752" y="4507992"/>
            <a:ext cx="1133856" cy="0"/>
          </a:xfrm>
          <a:prstGeom prst="line">
            <a:avLst/>
          </a:prstGeom>
          <a:noFill/>
          <a:ln w="12700">
            <a:solidFill>
              <a:srgbClr val="C8CDD4"/>
            </a:solidFill>
            <a:prstDash val="solid"/>
            <a:headEnd type="none"/>
            <a:tailEnd type="none"/>
          </a:ln>
        </p:spPr>
      </p:sp>
      <p:sp>
        <p:nvSpPr>
          <p:cNvPr id="7" name="Shape 5"/>
          <p:cNvSpPr/>
          <p:nvPr/>
        </p:nvSpPr>
        <p:spPr>
          <a:xfrm>
            <a:off x="1188720" y="2935224"/>
            <a:ext cx="0" cy="1316736"/>
          </a:xfrm>
          <a:prstGeom prst="line">
            <a:avLst/>
          </a:prstGeom>
          <a:noFill/>
          <a:ln w="12700">
            <a:solidFill>
              <a:srgbClr val="C8CDD4"/>
            </a:solidFill>
            <a:prstDash val="solid"/>
            <a:headEnd type="none"/>
            <a:tailEnd type="none"/>
          </a:ln>
        </p:spPr>
      </p:sp>
      <p:sp>
        <p:nvSpPr>
          <p:cNvPr id="8" name="Shape 6"/>
          <p:cNvSpPr/>
          <p:nvPr/>
        </p:nvSpPr>
        <p:spPr>
          <a:xfrm>
            <a:off x="5260174" y="2893860"/>
            <a:ext cx="909651" cy="1399463"/>
          </a:xfrm>
          <a:prstGeom prst="line">
            <a:avLst/>
          </a:prstGeom>
          <a:noFill/>
          <a:ln w="12700">
            <a:solidFill>
              <a:srgbClr val="F0736A"/>
            </a:solidFill>
            <a:prstDash val="solid"/>
            <a:headEnd type="none"/>
            <a:tailEnd type="none"/>
          </a:ln>
        </p:spPr>
      </p:sp>
      <p:sp>
        <p:nvSpPr>
          <p:cNvPr id="9" name="Shape 7"/>
          <p:cNvSpPr/>
          <p:nvPr/>
        </p:nvSpPr>
        <p:spPr>
          <a:xfrm>
            <a:off x="4187952" y="4507992"/>
            <a:ext cx="1865376" cy="0"/>
          </a:xfrm>
          <a:prstGeom prst="line">
            <a:avLst/>
          </a:prstGeom>
          <a:noFill/>
          <a:ln w="12700">
            <a:solidFill>
              <a:srgbClr val="F0736A"/>
            </a:solidFill>
            <a:prstDash val="solid"/>
            <a:headEnd type="none"/>
            <a:tailEnd type="none"/>
          </a:ln>
        </p:spPr>
      </p:sp>
      <p:sp>
        <p:nvSpPr>
          <p:cNvPr id="10" name="Shape 8"/>
          <p:cNvSpPr/>
          <p:nvPr/>
        </p:nvSpPr>
        <p:spPr>
          <a:xfrm flipV="1">
            <a:off x="4071454" y="2893860"/>
            <a:ext cx="909651" cy="1399463"/>
          </a:xfrm>
          <a:prstGeom prst="line">
            <a:avLst/>
          </a:prstGeom>
          <a:noFill/>
          <a:ln w="12700">
            <a:solidFill>
              <a:srgbClr val="F0736A"/>
            </a:solidFill>
            <a:prstDash val="solid"/>
            <a:headEnd type="none"/>
            <a:tailEnd type="none"/>
          </a:ln>
        </p:spPr>
      </p:sp>
      <p:sp>
        <p:nvSpPr>
          <p:cNvPr id="11" name="Shape 9"/>
          <p:cNvSpPr/>
          <p:nvPr/>
        </p:nvSpPr>
        <p:spPr>
          <a:xfrm>
            <a:off x="932688" y="2423160"/>
            <a:ext cx="512064" cy="512064"/>
          </a:xfrm>
          <a:prstGeom prst="ellipse">
            <a:avLst/>
          </a:prstGeom>
          <a:solidFill>
            <a:srgbClr val="EAFBF4"/>
          </a:solidFill>
          <a:ln w="9525">
            <a:solidFill>
              <a:srgbClr val="D5DAE1"/>
            </a:solidFill>
            <a:prstDash val="solid"/>
          </a:ln>
        </p:spPr>
      </p:sp>
      <p:sp>
        <p:nvSpPr>
          <p:cNvPr id="12" name="Text 10"/>
          <p:cNvSpPr txBox="1"/>
          <p:nvPr/>
        </p:nvSpPr>
        <p:spPr>
          <a:xfrm>
            <a:off x="932688" y="2423160"/>
            <a:ext cx="512064" cy="512064"/>
          </a:xfrm>
          <a:prstGeom prst="rect">
            <a:avLst/>
          </a:prstGeom>
          <a:noFill/>
          <a:ln/>
        </p:spPr>
        <p:txBody>
          <a:bodyPr wrap="square" lIns="0" tIns="0" rIns="0" bIns="0" rtlCol="0" anchor="ctr"/>
          <a:lstStyle/>
          <a:p>
            <a:pPr algn="ctr" indent="0" marL="0">
              <a:buNone/>
            </a:pPr>
            <a:r>
              <a:rPr lang="en-US" sz="1200" dirty="0">
                <a:solidFill>
                  <a:srgbClr val="12805C"/>
                </a:solidFill>
                <a:latin typeface="Century Gothic" pitchFamily="34" charset="0"/>
                <a:ea typeface="Century Gothic" pitchFamily="34" charset="-122"/>
                <a:cs typeface="Century Gothic" pitchFamily="34" charset="-120"/>
              </a:rPr>
              <a:t>1</a:t>
            </a:r>
            <a:endParaRPr lang="en-US" sz="1200" dirty="0"/>
          </a:p>
        </p:txBody>
      </p:sp>
      <p:sp>
        <p:nvSpPr>
          <p:cNvPr id="13" name="Shape 11"/>
          <p:cNvSpPr/>
          <p:nvPr/>
        </p:nvSpPr>
        <p:spPr>
          <a:xfrm>
            <a:off x="2578608" y="2423160"/>
            <a:ext cx="512064" cy="512064"/>
          </a:xfrm>
          <a:prstGeom prst="ellipse">
            <a:avLst/>
          </a:prstGeom>
          <a:solidFill>
            <a:srgbClr val="EAF4FD"/>
          </a:solidFill>
          <a:ln w="9525">
            <a:solidFill>
              <a:srgbClr val="D5DAE1"/>
            </a:solidFill>
            <a:prstDash val="solid"/>
          </a:ln>
        </p:spPr>
      </p:sp>
      <p:sp>
        <p:nvSpPr>
          <p:cNvPr id="14" name="Text 12"/>
          <p:cNvSpPr txBox="1"/>
          <p:nvPr/>
        </p:nvSpPr>
        <p:spPr>
          <a:xfrm>
            <a:off x="2578608" y="242316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2</a:t>
            </a:r>
            <a:endParaRPr lang="en-US" sz="1200" dirty="0"/>
          </a:p>
        </p:txBody>
      </p:sp>
      <p:sp>
        <p:nvSpPr>
          <p:cNvPr id="15" name="Shape 13"/>
          <p:cNvSpPr/>
          <p:nvPr/>
        </p:nvSpPr>
        <p:spPr>
          <a:xfrm>
            <a:off x="2578608" y="4251960"/>
            <a:ext cx="512064" cy="512064"/>
          </a:xfrm>
          <a:prstGeom prst="ellipse">
            <a:avLst/>
          </a:prstGeom>
          <a:solidFill>
            <a:srgbClr val="EAFBF4"/>
          </a:solidFill>
          <a:ln w="9525">
            <a:solidFill>
              <a:srgbClr val="D5DAE1"/>
            </a:solidFill>
            <a:prstDash val="solid"/>
          </a:ln>
        </p:spPr>
      </p:sp>
      <p:sp>
        <p:nvSpPr>
          <p:cNvPr id="16" name="Text 14"/>
          <p:cNvSpPr txBox="1"/>
          <p:nvPr/>
        </p:nvSpPr>
        <p:spPr>
          <a:xfrm>
            <a:off x="2578608" y="4251960"/>
            <a:ext cx="512064" cy="512064"/>
          </a:xfrm>
          <a:prstGeom prst="rect">
            <a:avLst/>
          </a:prstGeom>
          <a:noFill/>
          <a:ln/>
        </p:spPr>
        <p:txBody>
          <a:bodyPr wrap="square" lIns="0" tIns="0" rIns="0" bIns="0" rtlCol="0" anchor="ctr"/>
          <a:lstStyle/>
          <a:p>
            <a:pPr algn="ctr" indent="0" marL="0">
              <a:buNone/>
            </a:pPr>
            <a:r>
              <a:rPr lang="en-US" sz="1200" dirty="0">
                <a:solidFill>
                  <a:srgbClr val="12805C"/>
                </a:solidFill>
                <a:latin typeface="Century Gothic" pitchFamily="34" charset="0"/>
                <a:ea typeface="Century Gothic" pitchFamily="34" charset="-122"/>
                <a:cs typeface="Century Gothic" pitchFamily="34" charset="-120"/>
              </a:rPr>
              <a:t>3</a:t>
            </a:r>
            <a:endParaRPr lang="en-US" sz="1200" dirty="0"/>
          </a:p>
        </p:txBody>
      </p:sp>
      <p:sp>
        <p:nvSpPr>
          <p:cNvPr id="17" name="Shape 15"/>
          <p:cNvSpPr/>
          <p:nvPr/>
        </p:nvSpPr>
        <p:spPr>
          <a:xfrm>
            <a:off x="932688" y="4251960"/>
            <a:ext cx="512064" cy="512064"/>
          </a:xfrm>
          <a:prstGeom prst="ellipse">
            <a:avLst/>
          </a:prstGeom>
          <a:solidFill>
            <a:srgbClr val="EAF4FD"/>
          </a:solidFill>
          <a:ln w="9525">
            <a:solidFill>
              <a:srgbClr val="D5DAE1"/>
            </a:solidFill>
            <a:prstDash val="solid"/>
          </a:ln>
        </p:spPr>
      </p:sp>
      <p:sp>
        <p:nvSpPr>
          <p:cNvPr id="18" name="Text 16"/>
          <p:cNvSpPr txBox="1"/>
          <p:nvPr/>
        </p:nvSpPr>
        <p:spPr>
          <a:xfrm>
            <a:off x="932688" y="425196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4</a:t>
            </a:r>
            <a:endParaRPr lang="en-US" sz="1200" dirty="0"/>
          </a:p>
        </p:txBody>
      </p:sp>
      <p:sp>
        <p:nvSpPr>
          <p:cNvPr id="19" name="Shape 17"/>
          <p:cNvSpPr/>
          <p:nvPr/>
        </p:nvSpPr>
        <p:spPr>
          <a:xfrm>
            <a:off x="4864608" y="2423160"/>
            <a:ext cx="512064" cy="512064"/>
          </a:xfrm>
          <a:prstGeom prst="ellipse">
            <a:avLst/>
          </a:prstGeom>
          <a:solidFill>
            <a:srgbClr val="EAFBF4"/>
          </a:solidFill>
          <a:ln w="9525">
            <a:solidFill>
              <a:srgbClr val="D5DAE1"/>
            </a:solidFill>
            <a:prstDash val="solid"/>
          </a:ln>
        </p:spPr>
      </p:sp>
      <p:sp>
        <p:nvSpPr>
          <p:cNvPr id="20" name="Text 18"/>
          <p:cNvSpPr txBox="1"/>
          <p:nvPr/>
        </p:nvSpPr>
        <p:spPr>
          <a:xfrm>
            <a:off x="4864608" y="2423160"/>
            <a:ext cx="512064" cy="512064"/>
          </a:xfrm>
          <a:prstGeom prst="rect">
            <a:avLst/>
          </a:prstGeom>
          <a:noFill/>
          <a:ln/>
        </p:spPr>
        <p:txBody>
          <a:bodyPr wrap="square" lIns="0" tIns="0" rIns="0" bIns="0" rtlCol="0" anchor="ctr"/>
          <a:lstStyle/>
          <a:p>
            <a:pPr algn="ctr" indent="0" marL="0">
              <a:buNone/>
            </a:pPr>
            <a:r>
              <a:rPr lang="en-US" sz="1200" dirty="0">
                <a:solidFill>
                  <a:srgbClr val="12805C"/>
                </a:solidFill>
                <a:latin typeface="Century Gothic" pitchFamily="34" charset="0"/>
                <a:ea typeface="Century Gothic" pitchFamily="34" charset="-122"/>
                <a:cs typeface="Century Gothic" pitchFamily="34" charset="-120"/>
              </a:rPr>
              <a:t>5</a:t>
            </a:r>
            <a:endParaRPr lang="en-US" sz="1200" dirty="0"/>
          </a:p>
        </p:txBody>
      </p:sp>
      <p:sp>
        <p:nvSpPr>
          <p:cNvPr id="21" name="Shape 19"/>
          <p:cNvSpPr/>
          <p:nvPr/>
        </p:nvSpPr>
        <p:spPr>
          <a:xfrm>
            <a:off x="6053328" y="4251960"/>
            <a:ext cx="512064" cy="512064"/>
          </a:xfrm>
          <a:prstGeom prst="ellipse">
            <a:avLst/>
          </a:prstGeom>
          <a:solidFill>
            <a:srgbClr val="EAF4FD"/>
          </a:solidFill>
          <a:ln w="9525">
            <a:solidFill>
              <a:srgbClr val="D5DAE1"/>
            </a:solidFill>
            <a:prstDash val="solid"/>
          </a:ln>
        </p:spPr>
      </p:sp>
      <p:sp>
        <p:nvSpPr>
          <p:cNvPr id="22" name="Text 20"/>
          <p:cNvSpPr txBox="1"/>
          <p:nvPr/>
        </p:nvSpPr>
        <p:spPr>
          <a:xfrm>
            <a:off x="6053328" y="4251960"/>
            <a:ext cx="512064" cy="512064"/>
          </a:xfrm>
          <a:prstGeom prst="rect">
            <a:avLst/>
          </a:prstGeom>
          <a:noFill/>
          <a:ln/>
        </p:spPr>
        <p:txBody>
          <a:bodyPr wrap="square" lIns="0" tIns="0" rIns="0" bIns="0" rtlCol="0" anchor="ctr"/>
          <a:lstStyle/>
          <a:p>
            <a:pPr algn="ctr" indent="0" marL="0">
              <a:buNone/>
            </a:pPr>
            <a:r>
              <a:rPr lang="en-US" sz="1200" dirty="0">
                <a:solidFill>
                  <a:srgbClr val="1B6CA8"/>
                </a:solidFill>
                <a:latin typeface="Century Gothic" pitchFamily="34" charset="0"/>
                <a:ea typeface="Century Gothic" pitchFamily="34" charset="-122"/>
                <a:cs typeface="Century Gothic" pitchFamily="34" charset="-120"/>
              </a:rPr>
              <a:t>6</a:t>
            </a:r>
            <a:endParaRPr lang="en-US" sz="1200" dirty="0"/>
          </a:p>
        </p:txBody>
      </p:sp>
      <p:sp>
        <p:nvSpPr>
          <p:cNvPr id="23" name="Shape 21"/>
          <p:cNvSpPr/>
          <p:nvPr/>
        </p:nvSpPr>
        <p:spPr>
          <a:xfrm>
            <a:off x="3675888" y="4251960"/>
            <a:ext cx="512064" cy="512064"/>
          </a:xfrm>
          <a:prstGeom prst="ellipse">
            <a:avLst/>
          </a:prstGeom>
          <a:solidFill>
            <a:srgbClr val="FFF3D6"/>
          </a:solidFill>
          <a:ln w="9525">
            <a:solidFill>
              <a:srgbClr val="D5DAE1"/>
            </a:solidFill>
            <a:prstDash val="solid"/>
          </a:ln>
        </p:spPr>
      </p:sp>
      <p:sp>
        <p:nvSpPr>
          <p:cNvPr id="24" name="Text 22"/>
          <p:cNvSpPr txBox="1"/>
          <p:nvPr/>
        </p:nvSpPr>
        <p:spPr>
          <a:xfrm>
            <a:off x="3675888" y="4251960"/>
            <a:ext cx="512064" cy="512064"/>
          </a:xfrm>
          <a:prstGeom prst="rect">
            <a:avLst/>
          </a:prstGeom>
          <a:noFill/>
          <a:ln/>
        </p:spPr>
        <p:txBody>
          <a:bodyPr wrap="square" lIns="0" tIns="0" rIns="0" bIns="0" rtlCol="0" anchor="ctr"/>
          <a:lstStyle/>
          <a:p>
            <a:pPr algn="ctr" indent="0" marL="0">
              <a:buNone/>
            </a:pPr>
            <a:r>
              <a:rPr lang="en-US" sz="1200" dirty="0">
                <a:solidFill>
                  <a:srgbClr val="B45309"/>
                </a:solidFill>
                <a:latin typeface="Century Gothic" pitchFamily="34" charset="0"/>
                <a:ea typeface="Century Gothic" pitchFamily="34" charset="-122"/>
                <a:cs typeface="Century Gothic" pitchFamily="34" charset="-120"/>
              </a:rPr>
              <a:t>7</a:t>
            </a:r>
            <a:endParaRPr lang="en-US" sz="1200" dirty="0"/>
          </a:p>
        </p:txBody>
      </p:sp>
      <p:sp>
        <p:nvSpPr>
          <p:cNvPr id="25" name="Shape 23"/>
          <p:cNvSpPr/>
          <p:nvPr/>
        </p:nvSpPr>
        <p:spPr>
          <a:xfrm>
            <a:off x="6949440" y="2587752"/>
            <a:ext cx="4572000" cy="3054096"/>
          </a:xfrm>
          <a:prstGeom prst="rect">
            <a:avLst/>
          </a:prstGeom>
          <a:solidFill>
            <a:srgbClr val="FAFAFA"/>
          </a:solidFill>
          <a:ln/>
        </p:spPr>
      </p:sp>
      <p:sp>
        <p:nvSpPr>
          <p:cNvPr id="26" name="Text 24"/>
          <p:cNvSpPr txBox="1"/>
          <p:nvPr/>
        </p:nvSpPr>
        <p:spPr>
          <a:xfrm>
            <a:off x="7178040" y="2770632"/>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Kiri  : lingkaran panjang 4</a:t>
            </a:r>
            <a:endParaRPr lang="en-US" sz="1200" dirty="0"/>
          </a:p>
        </p:txBody>
      </p:sp>
      <p:sp>
        <p:nvSpPr>
          <p:cNvPr id="27" name="Text 25"/>
          <p:cNvSpPr txBox="1"/>
          <p:nvPr/>
        </p:nvSpPr>
        <p:spPr>
          <a:xfrm>
            <a:off x="7178040" y="3154680"/>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4 genap  -&gt;  BIPARTIT</a:t>
            </a:r>
            <a:endParaRPr lang="en-US" sz="1200" dirty="0"/>
          </a:p>
        </p:txBody>
      </p:sp>
      <p:sp>
        <p:nvSpPr>
          <p:cNvPr id="28" name="Text 26"/>
          <p:cNvSpPr txBox="1"/>
          <p:nvPr/>
        </p:nvSpPr>
        <p:spPr>
          <a:xfrm>
            <a:off x="7178040" y="3538728"/>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{1,3} lawan {2,4}</a:t>
            </a:r>
            <a:endParaRPr lang="en-US" sz="1200" dirty="0"/>
          </a:p>
        </p:txBody>
      </p:sp>
      <p:sp>
        <p:nvSpPr>
          <p:cNvPr id="29" name="Text 27"/>
          <p:cNvSpPr txBox="1"/>
          <p:nvPr/>
        </p:nvSpPr>
        <p:spPr>
          <a:xfrm>
            <a:off x="7178040" y="3922776"/>
            <a:ext cx="4206240" cy="347472"/>
          </a:xfrm>
          <a:prstGeom prst="rect">
            <a:avLst/>
          </a:prstGeom>
          <a:noFill/>
          <a:ln/>
        </p:spPr>
        <p:txBody>
          <a:bodyPr wrap="square" lIns="0" tIns="0" rIns="0" bIns="0" rtlCol="0" anchor="ctr"/>
          <a:lstStyle/>
          <a:p>
            <a:pPr indent="0" marL="0">
              <a:buNone/>
            </a:pPr>
            <a:endParaRPr lang="en-US" sz="1200" dirty="0"/>
          </a:p>
        </p:txBody>
      </p:sp>
      <p:sp>
        <p:nvSpPr>
          <p:cNvPr id="30" name="Text 28"/>
          <p:cNvSpPr txBox="1"/>
          <p:nvPr/>
        </p:nvSpPr>
        <p:spPr>
          <a:xfrm>
            <a:off x="7178040" y="4306824"/>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Kanan : lingkaran panjang 3</a:t>
            </a:r>
            <a:endParaRPr lang="en-US" sz="1200" dirty="0"/>
          </a:p>
        </p:txBody>
      </p:sp>
      <p:sp>
        <p:nvSpPr>
          <p:cNvPr id="31" name="Text 29"/>
          <p:cNvSpPr txBox="1"/>
          <p:nvPr/>
        </p:nvSpPr>
        <p:spPr>
          <a:xfrm>
            <a:off x="7178040" y="4690872"/>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3 ganjil  -&gt;  GAGAL</a:t>
            </a:r>
            <a:endParaRPr lang="en-US" sz="1200" dirty="0"/>
          </a:p>
        </p:txBody>
      </p:sp>
      <p:sp>
        <p:nvSpPr>
          <p:cNvPr id="32" name="Text 30"/>
          <p:cNvSpPr txBox="1"/>
          <p:nvPr/>
        </p:nvSpPr>
        <p:spPr>
          <a:xfrm>
            <a:off x="7178040" y="5074920"/>
            <a:ext cx="4206240" cy="347472"/>
          </a:xfrm>
          <a:prstGeom prst="rect">
            <a:avLst/>
          </a:prstGeom>
          <a:noFill/>
          <a:ln/>
        </p:spPr>
        <p:txBody>
          <a:bodyPr wrap="square" lIns="0" tIns="0" rIns="0" bIns="0" rtlCol="0" anchor="ctr"/>
          <a:lstStyle/>
          <a:p>
            <a:pPr indent="0" marL="0">
              <a:buNone/>
            </a:pPr>
            <a:r>
              <a:rPr lang="en-US" sz="1200" dirty="0">
                <a:solidFill>
                  <a:srgbClr val="2B2B2B"/>
                </a:solidFill>
                <a:latin typeface="Consolas" pitchFamily="34" charset="0"/>
                <a:ea typeface="Consolas" pitchFamily="34" charset="-122"/>
                <a:cs typeface="Consolas" pitchFamily="34" charset="-120"/>
              </a:rPr>
              <a:t>        simpul 7 bentrok</a:t>
            </a:r>
            <a:endParaRPr lang="en-US" sz="1200" dirty="0"/>
          </a:p>
        </p:txBody>
      </p:sp>
      <p:sp>
        <p:nvSpPr>
          <p:cNvPr id="33" name="Shape 31"/>
          <p:cNvSpPr/>
          <p:nvPr/>
        </p:nvSpPr>
        <p:spPr>
          <a:xfrm>
            <a:off x="667512" y="5916168"/>
            <a:ext cx="10853928" cy="914400"/>
          </a:xfrm>
          <a:prstGeom prst="rect">
            <a:avLst/>
          </a:prstGeom>
          <a:solidFill>
            <a:srgbClr val="FAFAFA"/>
          </a:solidFill>
          <a:ln/>
        </p:spPr>
      </p:sp>
      <p:sp>
        <p:nvSpPr>
          <p:cNvPr id="34" name="Text 32"/>
          <p:cNvSpPr txBox="1"/>
          <p:nvPr/>
        </p:nvSpPr>
        <p:spPr>
          <a:xfrm>
            <a:off x="941832" y="6007608"/>
            <a:ext cx="10332720" cy="310896"/>
          </a:xfrm>
          <a:prstGeom prst="rect">
            <a:avLst/>
          </a:prstGeom>
          <a:noFill/>
          <a:ln/>
        </p:spPr>
        <p:txBody>
          <a:bodyPr wrap="square" lIns="0" tIns="0" rIns="0" bIns="0" rtlCol="0" anchor="ctr"/>
          <a:lstStyle/>
          <a:p>
            <a:pPr indent="0" marL="0">
              <a:buNone/>
            </a:pPr>
            <a:r>
              <a:rPr lang="en-US" sz="1300" dirty="0">
                <a:solidFill>
                  <a:srgbClr val="2B2B2B"/>
                </a:solidFill>
                <a:latin typeface="Consolas" pitchFamily="34" charset="0"/>
                <a:ea typeface="Consolas" pitchFamily="34" charset="-122"/>
                <a:cs typeface="Consolas" pitchFamily="34" charset="-120"/>
              </a:rPr>
              <a:t>bipartit  &lt;=&gt;  tidak ada siklus dengan panjang ganjil</a:t>
            </a:r>
            <a:endParaRPr lang="en-US" sz="1300" dirty="0"/>
          </a:p>
        </p:txBody>
      </p:sp>
      <p:sp>
        <p:nvSpPr>
          <p:cNvPr id="35" name="Text 33"/>
          <p:cNvSpPr txBox="1"/>
          <p:nvPr/>
        </p:nvSpPr>
        <p:spPr>
          <a:xfrm>
            <a:off x="941832" y="6355080"/>
            <a:ext cx="10332720" cy="384048"/>
          </a:xfrm>
          <a:prstGeom prst="rect">
            <a:avLst/>
          </a:prstGeom>
          <a:noFill/>
          <a:ln/>
        </p:spPr>
        <p:txBody>
          <a:bodyPr wrap="square" lIns="0" tIns="0" rIns="0" bIns="0" rtlCol="0" anchor="ct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Pada segitiga: warnai 5 dengan warna A, 6 dengan warna B, lalu 7 harus berbeda dari 6 sehingga menjadi A — tetapi 7 juga bertetangga dengan 5 yang sudah A. Bentrok.</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Kode Uji Bipartit</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BFS dengan dua warna. Perhatikan loop terluar yang mengulang untuk setiap komponen.</a:t>
            </a:r>
            <a:endParaRPr lang="en-US" sz="1300" dirty="0"/>
          </a:p>
        </p:txBody>
      </p:sp>
      <p:pic>
        <p:nvPicPr>
          <p:cNvPr id="4" name="Image 0" descr="/tmp/ppt/imgs/c1_17_13.png">    </p:cNvPr>
          <p:cNvPicPr>
            <a:picLocks noChangeAspect="1"/>
          </p:cNvPicPr>
          <p:nvPr/>
        </p:nvPicPr>
        <p:blipFill>
          <a:blip r:embed="rId1"/>
          <a:stretch>
            <a:fillRect/>
          </a:stretch>
        </p:blipFill>
        <p:spPr>
          <a:xfrm>
            <a:off x="1717614" y="1755648"/>
            <a:ext cx="4209157" cy="4187952"/>
          </a:xfrm>
          <a:prstGeom prst="rect">
            <a:avLst/>
          </a:prstGeom>
        </p:spPr>
      </p:pic>
      <p:sp>
        <p:nvSpPr>
          <p:cNvPr id="5" name="Shape 2"/>
          <p:cNvSpPr/>
          <p:nvPr/>
        </p:nvSpPr>
        <p:spPr>
          <a:xfrm>
            <a:off x="7178040" y="1801368"/>
            <a:ext cx="310896" cy="310896"/>
          </a:xfrm>
          <a:prstGeom prst="ellipse">
            <a:avLst/>
          </a:prstGeom>
          <a:solidFill>
            <a:srgbClr val="4FA8E8"/>
          </a:solidFill>
          <a:ln/>
        </p:spPr>
      </p:sp>
      <p:sp>
        <p:nvSpPr>
          <p:cNvPr id="6" name="Text 3"/>
          <p:cNvSpPr txBox="1"/>
          <p:nvPr/>
        </p:nvSpPr>
        <p:spPr>
          <a:xfrm>
            <a:off x="7178040" y="180136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1</a:t>
            </a:r>
            <a:endParaRPr lang="en-US" sz="1100" dirty="0"/>
          </a:p>
        </p:txBody>
      </p:sp>
      <p:sp>
        <p:nvSpPr>
          <p:cNvPr id="7" name="Text 4"/>
          <p:cNvSpPr txBox="1"/>
          <p:nvPr/>
        </p:nvSpPr>
        <p:spPr>
          <a:xfrm>
            <a:off x="7607808" y="1746504"/>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Nilai -1 berarti belum diwarnai. Menggunakan -1 dan bukan 0 penting, karena 0 adalah salah satu warna yang sah.</a:t>
            </a:r>
            <a:endParaRPr lang="en-US" sz="1200" dirty="0"/>
          </a:p>
        </p:txBody>
      </p:sp>
      <p:sp>
        <p:nvSpPr>
          <p:cNvPr id="8" name="Shape 5"/>
          <p:cNvSpPr/>
          <p:nvPr/>
        </p:nvSpPr>
        <p:spPr>
          <a:xfrm>
            <a:off x="7178040" y="2484120"/>
            <a:ext cx="310896" cy="310896"/>
          </a:xfrm>
          <a:prstGeom prst="ellipse">
            <a:avLst/>
          </a:prstGeom>
          <a:solidFill>
            <a:srgbClr val="3ECF9E"/>
          </a:solidFill>
          <a:ln/>
        </p:spPr>
      </p:sp>
      <p:sp>
        <p:nvSpPr>
          <p:cNvPr id="9" name="Text 6"/>
          <p:cNvSpPr txBox="1"/>
          <p:nvPr/>
        </p:nvSpPr>
        <p:spPr>
          <a:xfrm>
            <a:off x="7178040" y="2484120"/>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2</a:t>
            </a:r>
            <a:endParaRPr lang="en-US" sz="1100" dirty="0"/>
          </a:p>
        </p:txBody>
      </p:sp>
      <p:sp>
        <p:nvSpPr>
          <p:cNvPr id="10" name="Text 7"/>
          <p:cNvSpPr txBox="1"/>
          <p:nvPr/>
        </p:nvSpPr>
        <p:spPr>
          <a:xfrm>
            <a:off x="7607808" y="2429256"/>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Loop terluar mengulang untuk setiap simpul. Tanpa ini, komponen yang terpisah tidak akan pernah diperiksa.</a:t>
            </a:r>
            <a:endParaRPr lang="en-US" sz="1200" dirty="0"/>
          </a:p>
        </p:txBody>
      </p:sp>
      <p:sp>
        <p:nvSpPr>
          <p:cNvPr id="11" name="Shape 8"/>
          <p:cNvSpPr/>
          <p:nvPr/>
        </p:nvSpPr>
        <p:spPr>
          <a:xfrm>
            <a:off x="7178040" y="3166872"/>
            <a:ext cx="310896" cy="310896"/>
          </a:xfrm>
          <a:prstGeom prst="ellipse">
            <a:avLst/>
          </a:prstGeom>
          <a:solidFill>
            <a:srgbClr val="F5A623"/>
          </a:solidFill>
          <a:ln/>
        </p:spPr>
      </p:sp>
      <p:sp>
        <p:nvSpPr>
          <p:cNvPr id="12" name="Text 9"/>
          <p:cNvSpPr txBox="1"/>
          <p:nvPr/>
        </p:nvSpPr>
        <p:spPr>
          <a:xfrm>
            <a:off x="7178040" y="3166872"/>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3</a:t>
            </a:r>
            <a:endParaRPr lang="en-US" sz="1100" dirty="0"/>
          </a:p>
        </p:txBody>
      </p:sp>
      <p:sp>
        <p:nvSpPr>
          <p:cNvPr id="13" name="Text 10"/>
          <p:cNvSpPr txBox="1"/>
          <p:nvPr/>
        </p:nvSpPr>
        <p:spPr>
          <a:xfrm>
            <a:off x="7607808" y="3112008"/>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Simpul awal setiap komponen boleh diberi warna apa saja. Pilihan warnanya tidak memengaruhi hasil akhir.</a:t>
            </a:r>
            <a:endParaRPr lang="en-US" sz="1200" dirty="0"/>
          </a:p>
        </p:txBody>
      </p:sp>
      <p:sp>
        <p:nvSpPr>
          <p:cNvPr id="14" name="Shape 11"/>
          <p:cNvSpPr/>
          <p:nvPr/>
        </p:nvSpPr>
        <p:spPr>
          <a:xfrm>
            <a:off x="7178040" y="3849624"/>
            <a:ext cx="310896" cy="310896"/>
          </a:xfrm>
          <a:prstGeom prst="ellipse">
            <a:avLst/>
          </a:prstGeom>
          <a:solidFill>
            <a:srgbClr val="A78BFA"/>
          </a:solidFill>
          <a:ln/>
        </p:spPr>
      </p:sp>
      <p:sp>
        <p:nvSpPr>
          <p:cNvPr id="15" name="Text 12"/>
          <p:cNvSpPr txBox="1"/>
          <p:nvPr/>
        </p:nvSpPr>
        <p:spPr>
          <a:xfrm>
            <a:off x="7178040" y="3849624"/>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4</a:t>
            </a:r>
            <a:endParaRPr lang="en-US" sz="1100" dirty="0"/>
          </a:p>
        </p:txBody>
      </p:sp>
      <p:sp>
        <p:nvSpPr>
          <p:cNvPr id="16" name="Text 13"/>
          <p:cNvSpPr txBox="1"/>
          <p:nvPr/>
        </p:nvSpPr>
        <p:spPr>
          <a:xfrm>
            <a:off x="7607808" y="3794760"/>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Warna kebalikan ditulis sebagai 1 - w[u]. Trik kecil yang menghindari percabangan if.</a:t>
            </a:r>
            <a:endParaRPr lang="en-US" sz="1200" dirty="0"/>
          </a:p>
        </p:txBody>
      </p:sp>
      <p:sp>
        <p:nvSpPr>
          <p:cNvPr id="17" name="Shape 14"/>
          <p:cNvSpPr/>
          <p:nvPr/>
        </p:nvSpPr>
        <p:spPr>
          <a:xfrm>
            <a:off x="7178040" y="4532376"/>
            <a:ext cx="310896" cy="310896"/>
          </a:xfrm>
          <a:prstGeom prst="ellipse">
            <a:avLst/>
          </a:prstGeom>
          <a:solidFill>
            <a:srgbClr val="EC6BA8"/>
          </a:solidFill>
          <a:ln/>
        </p:spPr>
      </p:sp>
      <p:sp>
        <p:nvSpPr>
          <p:cNvPr id="18" name="Text 15"/>
          <p:cNvSpPr txBox="1"/>
          <p:nvPr/>
        </p:nvSpPr>
        <p:spPr>
          <a:xfrm>
            <a:off x="7178040" y="4532376"/>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5</a:t>
            </a:r>
            <a:endParaRPr lang="en-US" sz="1100" dirty="0"/>
          </a:p>
        </p:txBody>
      </p:sp>
      <p:sp>
        <p:nvSpPr>
          <p:cNvPr id="19" name="Text 16"/>
          <p:cNvSpPr txBox="1"/>
          <p:nvPr/>
        </p:nvSpPr>
        <p:spPr>
          <a:xfrm>
            <a:off x="7607808" y="4477512"/>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Bila tetangga sudah berwarna SAMA dengan simpul sekarang, berarti ada siklus ganjil dan grafnya tidak bipartit.</a:t>
            </a:r>
            <a:endParaRPr lang="en-US" sz="1200" dirty="0"/>
          </a:p>
        </p:txBody>
      </p:sp>
      <p:sp>
        <p:nvSpPr>
          <p:cNvPr id="20" name="Shape 17"/>
          <p:cNvSpPr/>
          <p:nvPr/>
        </p:nvSpPr>
        <p:spPr>
          <a:xfrm>
            <a:off x="7178040" y="5215128"/>
            <a:ext cx="310896" cy="310896"/>
          </a:xfrm>
          <a:prstGeom prst="ellipse">
            <a:avLst/>
          </a:prstGeom>
          <a:solidFill>
            <a:srgbClr val="4ECDC4"/>
          </a:solidFill>
          <a:ln/>
        </p:spPr>
      </p:sp>
      <p:sp>
        <p:nvSpPr>
          <p:cNvPr id="21" name="Text 18"/>
          <p:cNvSpPr txBox="1"/>
          <p:nvPr/>
        </p:nvSpPr>
        <p:spPr>
          <a:xfrm>
            <a:off x="7178040" y="5215128"/>
            <a:ext cx="310896"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entury Gothic" pitchFamily="34" charset="0"/>
                <a:ea typeface="Century Gothic" pitchFamily="34" charset="-122"/>
                <a:cs typeface="Century Gothic" pitchFamily="34" charset="-120"/>
              </a:rPr>
              <a:t>6</a:t>
            </a:r>
            <a:endParaRPr lang="en-US" sz="1100" dirty="0"/>
          </a:p>
        </p:txBody>
      </p:sp>
      <p:sp>
        <p:nvSpPr>
          <p:cNvPr id="22" name="Text 19"/>
          <p:cNvSpPr txBox="1"/>
          <p:nvPr/>
        </p:nvSpPr>
        <p:spPr>
          <a:xfrm>
            <a:off x="7607808" y="5160264"/>
            <a:ext cx="3931920" cy="627888"/>
          </a:xfrm>
          <a:prstGeom prst="rect">
            <a:avLst/>
          </a:prstGeom>
          <a:noFill/>
          <a:ln/>
        </p:spPr>
        <p:txBody>
          <a:bodyPr wrap="square" lIns="0" tIns="0" rIns="0" bIns="0" rtlCol="0" anchor="ctr"/>
          <a:lstStyle/>
          <a:p>
            <a:pPr indent="0" marL="0">
              <a:lnSpc>
                <a:spcPct val="120000"/>
              </a:lnSpc>
              <a:buNone/>
            </a:pPr>
            <a:r>
              <a:rPr lang="en-US" sz="1200" dirty="0">
                <a:solidFill>
                  <a:srgbClr val="2B2B2B"/>
                </a:solidFill>
                <a:latin typeface="Century Gothic" pitchFamily="34" charset="0"/>
                <a:ea typeface="Century Gothic" pitchFamily="34" charset="-122"/>
                <a:cs typeface="Century Gothic" pitchFamily="34" charset="-120"/>
              </a:rPr>
              <a:t>DFS juga bisa dipakai dengan cara yang sama persis, tetapi BFS lebih aman pada graf besar karena tidak berisiko stack overflow.</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97280" y="2057400"/>
            <a:ext cx="9966960" cy="822960"/>
          </a:xfrm>
          <a:prstGeom prst="rect">
            <a:avLst/>
          </a:prstGeom>
          <a:noFill/>
          <a:ln/>
        </p:spPr>
        <p:txBody>
          <a:bodyPr wrap="square" lIns="0" tIns="0" rIns="0" bIns="0" rtlCol="0" anchor="ctr"/>
          <a:lstStyle/>
          <a:p>
            <a:pPr algn="ctr" indent="0" marL="0">
              <a:buNone/>
            </a:pPr>
            <a:r>
              <a:rPr lang="en-US" sz="4400" dirty="0">
                <a:solidFill>
                  <a:srgbClr val="DDE7F2"/>
                </a:solidFill>
                <a:latin typeface="Century Gothic" pitchFamily="34" charset="0"/>
                <a:ea typeface="Century Gothic" pitchFamily="34" charset="-122"/>
                <a:cs typeface="Century Gothic" pitchFamily="34" charset="-120"/>
              </a:rPr>
              <a:t>04</a:t>
            </a:r>
            <a:endParaRPr lang="en-US" sz="4400" dirty="0"/>
          </a:p>
        </p:txBody>
      </p:sp>
      <p:sp>
        <p:nvSpPr>
          <p:cNvPr id="3" name="Text 1"/>
          <p:cNvSpPr txBox="1"/>
          <p:nvPr/>
        </p:nvSpPr>
        <p:spPr>
          <a:xfrm>
            <a:off x="1097280" y="2880360"/>
            <a:ext cx="9966960" cy="731520"/>
          </a:xfrm>
          <a:prstGeom prst="rect">
            <a:avLst/>
          </a:prstGeom>
          <a:noFill/>
          <a:ln/>
        </p:spPr>
        <p:txBody>
          <a:bodyPr wrap="square" lIns="0" tIns="0" rIns="0" bIns="0" rtlCol="0" anchor="ctr"/>
          <a:lstStyle/>
          <a:p>
            <a:pPr algn="ctr" indent="0" marL="0">
              <a:buNone/>
            </a:pPr>
            <a:r>
              <a:rPr lang="en-US" sz="3200" dirty="0">
                <a:solidFill>
                  <a:srgbClr val="1A1A1A"/>
                </a:solidFill>
                <a:latin typeface="Century Gothic" pitchFamily="34" charset="0"/>
                <a:ea typeface="Century Gothic" pitchFamily="34" charset="-122"/>
                <a:cs typeface="Century Gothic" pitchFamily="34" charset="-120"/>
              </a:rPr>
              <a:t>Contoh Soal</a:t>
            </a:r>
            <a:endParaRPr lang="en-US" sz="3200" dirty="0"/>
          </a:p>
        </p:txBody>
      </p:sp>
      <p:sp>
        <p:nvSpPr>
          <p:cNvPr id="4" name="Text 2"/>
          <p:cNvSpPr txBox="1"/>
          <p:nvPr/>
        </p:nvSpPr>
        <p:spPr>
          <a:xfrm>
            <a:off x="1097280" y="3657600"/>
            <a:ext cx="9966960" cy="457200"/>
          </a:xfrm>
          <a:prstGeom prst="rect">
            <a:avLst/>
          </a:prstGeom>
          <a:noFill/>
          <a:ln/>
        </p:spPr>
        <p:txBody>
          <a:bodyPr wrap="square" lIns="0" tIns="0" rIns="0" bIns="0" rtlCol="0" anchor="ctr"/>
          <a:lstStyle/>
          <a:p>
            <a:pPr algn="ctr" indent="0" marL="0">
              <a:buNone/>
            </a:pPr>
            <a:r>
              <a:rPr lang="en-US" sz="1350" dirty="0">
                <a:solidFill>
                  <a:srgbClr val="7F7F7F"/>
                </a:solidFill>
                <a:latin typeface="Century Gothic" pitchFamily="34" charset="0"/>
                <a:ea typeface="Century Gothic" pitchFamily="34" charset="-122"/>
                <a:cs typeface="Century Gothic" pitchFamily="34" charset="-120"/>
              </a:rPr>
              <a:t>Dari pernyataan sampai kode lengkap</a:t>
            </a:r>
            <a:endParaRPr lang="en-US" sz="1350" dirty="0"/>
          </a:p>
        </p:txBody>
      </p:sp>
      <p:sp>
        <p:nvSpPr>
          <p:cNvPr id="5" name="Shape 3"/>
          <p:cNvSpPr/>
          <p:nvPr/>
        </p:nvSpPr>
        <p:spPr>
          <a:xfrm>
            <a:off x="5815584" y="4251960"/>
            <a:ext cx="548640" cy="45720"/>
          </a:xfrm>
          <a:prstGeom prst="rect">
            <a:avLst/>
          </a:prstGeom>
          <a:solidFill>
            <a:srgbClr val="F5A623"/>
          </a:solidFill>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Terbimbing</a:t>
            </a:r>
            <a:endParaRPr lang="en-US" sz="3000" dirty="0"/>
          </a:p>
        </p:txBody>
      </p:sp>
      <p:sp>
        <p:nvSpPr>
          <p:cNvPr id="3" name="Shape 1"/>
          <p:cNvSpPr/>
          <p:nvPr/>
        </p:nvSpPr>
        <p:spPr>
          <a:xfrm>
            <a:off x="667512" y="1280160"/>
            <a:ext cx="6035040" cy="4572000"/>
          </a:xfrm>
          <a:prstGeom prst="rect">
            <a:avLst/>
          </a:prstGeom>
          <a:solidFill>
            <a:srgbClr val="FAFAFA"/>
          </a:solidFill>
          <a:ln/>
        </p:spPr>
      </p:sp>
      <p:sp>
        <p:nvSpPr>
          <p:cNvPr id="4" name="Shape 2"/>
          <p:cNvSpPr/>
          <p:nvPr/>
        </p:nvSpPr>
        <p:spPr>
          <a:xfrm>
            <a:off x="667512" y="1280160"/>
            <a:ext cx="6035040" cy="45720"/>
          </a:xfrm>
          <a:prstGeom prst="rect">
            <a:avLst/>
          </a:prstGeom>
          <a:solidFill>
            <a:srgbClr val="F0736A"/>
          </a:solidFill>
          <a:ln/>
        </p:spPr>
      </p:sp>
      <p:sp>
        <p:nvSpPr>
          <p:cNvPr id="5" name="Text 3"/>
          <p:cNvSpPr txBox="1"/>
          <p:nvPr/>
        </p:nvSpPr>
        <p:spPr>
          <a:xfrm>
            <a:off x="923544" y="1463040"/>
            <a:ext cx="2743200" cy="274320"/>
          </a:xfrm>
          <a:prstGeom prst="rect">
            <a:avLst/>
          </a:prstGeom>
          <a:noFill/>
          <a:ln/>
        </p:spPr>
        <p:txBody>
          <a:bodyPr wrap="square" lIns="0" tIns="0" rIns="0" bIns="0" rtlCol="0" anchor="ctr"/>
          <a:lstStyle/>
          <a:p>
            <a:pPr indent="0" marL="0">
              <a:buNone/>
            </a:pPr>
            <a:r>
              <a:rPr lang="en-US" sz="1050" spc="300" kern="0" dirty="0">
                <a:solidFill>
                  <a:srgbClr val="F0736A"/>
                </a:solidFill>
                <a:latin typeface="Century Gothic" pitchFamily="34" charset="0"/>
                <a:ea typeface="Century Gothic" pitchFamily="34" charset="-122"/>
                <a:cs typeface="Century Gothic" pitchFamily="34" charset="-120"/>
              </a:rPr>
              <a:t>SOAL</a:t>
            </a:r>
            <a:endParaRPr lang="en-US" sz="1050" dirty="0"/>
          </a:p>
        </p:txBody>
      </p:sp>
      <p:sp>
        <p:nvSpPr>
          <p:cNvPr id="6" name="Text 4"/>
          <p:cNvSpPr txBox="1"/>
          <p:nvPr/>
        </p:nvSpPr>
        <p:spPr>
          <a:xfrm>
            <a:off x="923544" y="1737360"/>
            <a:ext cx="5486400" cy="365760"/>
          </a:xfrm>
          <a:prstGeom prst="rect">
            <a:avLst/>
          </a:prstGeom>
          <a:noFill/>
          <a:ln/>
        </p:spPr>
        <p:txBody>
          <a:bodyPr wrap="square" lIns="0" tIns="0" rIns="0" bIns="0" rtlCol="0" anchor="ctr"/>
          <a:lstStyle/>
          <a:p>
            <a:pPr indent="0" marL="0">
              <a:buNone/>
            </a:pPr>
            <a:r>
              <a:rPr lang="en-US" sz="1600" dirty="0">
                <a:solidFill>
                  <a:srgbClr val="1A1A1A"/>
                </a:solidFill>
                <a:latin typeface="Century Gothic" pitchFamily="34" charset="0"/>
                <a:ea typeface="Century Gothic" pitchFamily="34" charset="-122"/>
                <a:cs typeface="Century Gothic" pitchFamily="34" charset="-120"/>
              </a:rPr>
              <a:t>Membagi Dua Tim</a:t>
            </a:r>
            <a:endParaRPr lang="en-US" sz="1600" dirty="0"/>
          </a:p>
        </p:txBody>
      </p:sp>
      <p:sp>
        <p:nvSpPr>
          <p:cNvPr id="7" name="Text 5"/>
          <p:cNvSpPr txBox="1"/>
          <p:nvPr/>
        </p:nvSpPr>
        <p:spPr>
          <a:xfrm>
            <a:off x="923544" y="2194560"/>
            <a:ext cx="5486400" cy="2377440"/>
          </a:xfrm>
          <a:prstGeom prst="rect">
            <a:avLst/>
          </a:prstGeom>
          <a:noFill/>
          <a:ln/>
        </p:spPr>
        <p:txBody>
          <a:bodyPr wrap="square" lIns="0" tIns="0" rIns="0" bIns="0" rtlCol="0" anchor="ctr"/>
          <a:lstStyle/>
          <a:p>
            <a:pPr indent="0" marL="0">
              <a:lnSpc>
                <a:spcPct val="130000"/>
              </a:lnSpc>
              <a:buNone/>
            </a:pPr>
            <a:r>
              <a:rPr lang="en-US" sz="1300" dirty="0">
                <a:solidFill>
                  <a:srgbClr val="2B2B2B"/>
                </a:solidFill>
                <a:latin typeface="Century Gothic" pitchFamily="34" charset="0"/>
                <a:ea typeface="Century Gothic" pitchFamily="34" charset="-122"/>
                <a:cs typeface="Century Gothic" pitchFamily="34" charset="-120"/>
              </a:rPr>
              <a:t>Diberikan n orang dan m pasangan yang saling bermusuhan. Tentukan apakah semua orang bisa dibagi menjadi dua tim sehingga tidak ada dua musuh berada di tim yang sama. Bila tidak bisa, keluarkan satu lingkaran permusuhan berpanjang ganjil.</a:t>
            </a:r>
            <a:endParaRPr lang="en-US" sz="1300" dirty="0"/>
          </a:p>
        </p:txBody>
      </p:sp>
      <p:sp>
        <p:nvSpPr>
          <p:cNvPr id="8" name="Text 6"/>
          <p:cNvSpPr txBox="1"/>
          <p:nvPr/>
        </p:nvSpPr>
        <p:spPr>
          <a:xfrm>
            <a:off x="1014984" y="4480560"/>
            <a:ext cx="5394960" cy="12801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1 &lt;= n &lt;= 100000</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0 &lt;= m &lt;= 200000</a:t>
            </a:r>
            <a:endParaRPr lang="en-US" sz="1200" dirty="0"/>
          </a:p>
          <a:p>
            <a:pPr marL="342900" indent="-342900">
              <a:spcAft>
                <a:spcPts val="600"/>
              </a:spcAft>
              <a:buSzPct val="100000"/>
              <a:buChar char="▪"/>
            </a:pPr>
            <a:r>
              <a:rPr lang="en-US" sz="1200" dirty="0">
                <a:solidFill>
                  <a:srgbClr val="7F7F7F"/>
                </a:solidFill>
                <a:latin typeface="Century Gothic" pitchFamily="34" charset="0"/>
                <a:ea typeface="Century Gothic" pitchFamily="34" charset="-122"/>
                <a:cs typeface="Century Gothic" pitchFamily="34" charset="-120"/>
              </a:rPr>
              <a:t>graf boleh tidak terhubung</a:t>
            </a:r>
            <a:endParaRPr lang="en-US" sz="1200" dirty="0"/>
          </a:p>
        </p:txBody>
      </p:sp>
      <p:pic>
        <p:nvPicPr>
          <p:cNvPr id="9" name="Image 0" descr="/tmp/ppt/imgs/c1_19_14.png">    </p:cNvPr>
          <p:cNvPicPr>
            <a:picLocks noChangeAspect="1"/>
          </p:cNvPicPr>
          <p:nvPr/>
        </p:nvPicPr>
        <p:blipFill>
          <a:blip r:embed="rId1"/>
          <a:stretch>
            <a:fillRect/>
          </a:stretch>
        </p:blipFill>
        <p:spPr>
          <a:xfrm>
            <a:off x="7794425" y="1280160"/>
            <a:ext cx="2882029" cy="4572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Pembahasan Lengkap</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Bagian pewarnaan pendek; bagian rekonstruksi siklusnya yang perlu ketelitian. Perhatikan pencarian leluhur bersama di akhir.</a:t>
            </a:r>
            <a:endParaRPr lang="en-US" sz="1300" dirty="0"/>
          </a:p>
        </p:txBody>
      </p:sp>
      <p:pic>
        <p:nvPicPr>
          <p:cNvPr id="4" name="Image 0" descr="/tmp/ppt/imgs/c1_20_15.png">    </p:cNvPr>
          <p:cNvPicPr>
            <a:picLocks noChangeAspect="1"/>
          </p:cNvPicPr>
          <p:nvPr/>
        </p:nvPicPr>
        <p:blipFill>
          <a:blip r:embed="rId1"/>
          <a:stretch>
            <a:fillRect/>
          </a:stretch>
        </p:blipFill>
        <p:spPr>
          <a:xfrm>
            <a:off x="5210737" y="1993392"/>
            <a:ext cx="1767477" cy="3081528"/>
          </a:xfrm>
          <a:prstGeom prst="rect">
            <a:avLst/>
          </a:prstGeom>
        </p:spPr>
      </p:pic>
      <p:sp>
        <p:nvSpPr>
          <p:cNvPr id="5" name="Shape 2"/>
          <p:cNvSpPr/>
          <p:nvPr/>
        </p:nvSpPr>
        <p:spPr>
          <a:xfrm>
            <a:off x="667512" y="5394960"/>
            <a:ext cx="10853928" cy="841248"/>
          </a:xfrm>
          <a:prstGeom prst="rect">
            <a:avLst/>
          </a:prstGeom>
          <a:solidFill>
            <a:srgbClr val="FAFAFA"/>
          </a:solidFill>
          <a:ln/>
        </p:spPr>
      </p:sp>
      <p:sp>
        <p:nvSpPr>
          <p:cNvPr id="6" name="Text 3"/>
          <p:cNvSpPr txBox="1"/>
          <p:nvPr/>
        </p:nvSpPr>
        <p:spPr>
          <a:xfrm>
            <a:off x="941832" y="5394960"/>
            <a:ext cx="10305288" cy="841248"/>
          </a:xfrm>
          <a:prstGeom prst="rect">
            <a:avLst/>
          </a:prstGeom>
          <a:noFill/>
          <a:ln/>
        </p:spPr>
        <p:txBody>
          <a:bodyPr wrap="square" lIns="0" tIns="0" rIns="0" bIns="0" rtlCol="0" anchor="ctr"/>
          <a:lstStyle/>
          <a:p>
            <a:pPr indent="0" marL="0">
              <a:lnSpc>
                <a:spcPct val="125000"/>
              </a:lnSpc>
              <a:buNone/>
            </a:pPr>
            <a:r>
              <a:rPr lang="en-US" sz="1250" dirty="0">
                <a:solidFill>
                  <a:srgbClr val="2B2B2B"/>
                </a:solidFill>
                <a:latin typeface="Century Gothic" pitchFamily="34" charset="0"/>
                <a:ea typeface="Century Gothic" pitchFamily="34" charset="-122"/>
                <a:cs typeface="Century Gothic" pitchFamily="34" charset="-120"/>
              </a:rPr>
              <a:t>Ide rekonstruksinya: telusuri jalur dari kedua ujung sisi bentrok sampai ke akar BFS, lalu buang bagian yang sama. Sisanya adalah lingkaran ganjil yang diminta.</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Latihan Mandiri</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Tiga soal pertama langsung; dua berikutnya menuntut kamu mengenali bipartit di balik samaran.</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7512" y="1755648"/>
          <a:ext cx="10853928" cy="914400"/>
        </p:xfrm>
        <a:graphic>
          <a:graphicData uri="http://schemas.openxmlformats.org/drawingml/2006/table">
            <a:tbl>
              <a:tblPr/>
              <a:tblGrid>
                <a:gridCol w="3383280"/>
                <a:gridCol w="4480560"/>
                <a:gridCol w="2990088"/>
              </a:tblGrid>
              <a:tr h="548640">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Soal</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Yang dilatih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7F7F7F"/>
                          </a:solidFill>
                          <a:latin typeface="Century Gothic" pitchFamily="34" charset="0"/>
                          <a:ea typeface="Century Gothic" pitchFamily="34" charset="-122"/>
                          <a:cs typeface="Century Gothic" pitchFamily="34" charset="-120"/>
                        </a:rPr>
                        <a:t>Tingkat</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Building Teams</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Uji bipartit polos pada banyak komponen</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Round Trip</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Deteksi siklus tak berarah dengan rekonstruksi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Round Trip II</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Deteksi siklus berarah, pewarnaan tiga warna</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Menengah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CSES — Course Schedule</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Toposort sebagai deteksi siklus berarah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r h="548640">
                <a:tc>
                  <a:txBody>
                    <a:bodyPr/>
                    <a:lstStyle/>
                    <a:p>
                      <a:pPr indent="0" marL="0">
                        <a:buNone/>
                      </a:pPr>
                      <a:r>
                        <a:rPr lang="en-US" sz="1200" dirty="0">
                          <a:solidFill>
                            <a:srgbClr val="1A1A1A"/>
                          </a:solidFill>
                          <a:latin typeface="Century Gothic" pitchFamily="34" charset="0"/>
                          <a:ea typeface="Century Gothic" pitchFamily="34" charset="-122"/>
                          <a:cs typeface="Century Gothic" pitchFamily="34" charset="-120"/>
                        </a:rPr>
                        <a:t>Codeforces 862B</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Melengkapi graf bipartit, hitung sisi maksimum</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c>
                  <a:txBody>
                    <a:bodyPr/>
                    <a:lstStyle/>
                    <a:p>
                      <a:pPr indent="0" marL="0">
                        <a:buNone/>
                      </a:pPr>
                      <a:r>
                        <a:rPr lang="en-US" sz="1200" dirty="0">
                          <a:solidFill>
                            <a:srgbClr val="2B2B2B"/>
                          </a:solidFill>
                          <a:latin typeface="Century Gothic" pitchFamily="34" charset="0"/>
                          <a:ea typeface="Century Gothic" pitchFamily="34" charset="-122"/>
                          <a:cs typeface="Century Gothic" pitchFamily="34" charset="-120"/>
                        </a:rPr>
                        <a:t>Mudah</a:t>
                      </a:r>
                      <a:endParaRPr lang="en-US" sz="1200" dirty="0">
                        <a:latin typeface="Century Gothic" charset="0"/>
                        <a:ea typeface="Century Gothic" charset="0"/>
                        <a:cs typeface="Century Gothic" charset="0"/>
                      </a:endParaRPr>
                    </a:p>
                  </a:txBody>
                  <a:tcPr marL="91440" marR="91440" marT="45720" marB="45720" anchor="ctr">
                    <a:lnL w="0" cap="flat" cmpd="sng" algn="ctr">
                      <a:noFill/>
                    </a:lnL>
                    <a:lnR w="0" cap="flat" cmpd="sng" algn="ctr">
                      <a:noFill/>
                    </a:lnR>
                    <a:lnT w="0" cap="flat" cmpd="sng" algn="ctr">
                      <a:noFill/>
                    </a:lnT>
                    <a:lnB w="12700" cap="flat" cmpd="sng" algn="ctr">
                      <a:solidFill>
                        <a:srgbClr val="E3E3E3"/>
                      </a:solidFill>
                      <a:prstDash val="solid"/>
                      <a:round/>
                      <a:headEnd type="none" w="med" len="med"/>
                      <a:tailEnd type="none" w="med" len="med"/>
                    </a:lnB>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84048"/>
            <a:ext cx="10881360" cy="658368"/>
          </a:xfrm>
          <a:prstGeom prst="rect">
            <a:avLst/>
          </a:prstGeom>
          <a:noFill/>
          <a:ln/>
        </p:spPr>
        <p:txBody>
          <a:bodyPr wrap="square" lIns="0" tIns="0" rIns="0" bIns="0" rtlCol="0" anchor="ctr"/>
          <a:lstStyle/>
          <a:p>
            <a:pPr indent="0" marL="0">
              <a:buNone/>
            </a:pPr>
            <a:r>
              <a:rPr lang="en-US" sz="3000" dirty="0">
                <a:solidFill>
                  <a:srgbClr val="1A1A1A"/>
                </a:solidFill>
                <a:latin typeface="Century Gothic" pitchFamily="34" charset="0"/>
                <a:ea typeface="Century Gothic" pitchFamily="34" charset="-122"/>
                <a:cs typeface="Century Gothic" pitchFamily="34" charset="-120"/>
              </a:rPr>
              <a:t>Ringkasan</a:t>
            </a:r>
            <a:endParaRPr lang="en-US" sz="3000" dirty="0"/>
          </a:p>
        </p:txBody>
      </p:sp>
      <p:sp>
        <p:nvSpPr>
          <p:cNvPr id="3" name="Text 1"/>
          <p:cNvSpPr txBox="1"/>
          <p:nvPr/>
        </p:nvSpPr>
        <p:spPr>
          <a:xfrm>
            <a:off x="667512" y="1188720"/>
            <a:ext cx="10607040" cy="548640"/>
          </a:xfrm>
          <a:prstGeom prst="rect">
            <a:avLst/>
          </a:prstGeom>
          <a:noFill/>
          <a:ln/>
        </p:spPr>
        <p:txBody>
          <a:bodyPr wrap="square" lIns="0" tIns="0" rIns="0" bIns="0" rtlCol="0" anchor="ctr"/>
          <a:lstStyle/>
          <a:p>
            <a:pPr indent="0" marL="0">
              <a:lnSpc>
                <a:spcPct val="125000"/>
              </a:lnSpc>
              <a:buNone/>
            </a:pPr>
            <a:r>
              <a:rPr lang="en-US" sz="1300" dirty="0">
                <a:solidFill>
                  <a:srgbClr val="7F7F7F"/>
                </a:solidFill>
                <a:latin typeface="Century Gothic" pitchFamily="34" charset="0"/>
                <a:ea typeface="Century Gothic" pitchFamily="34" charset="-122"/>
                <a:cs typeface="Century Gothic" pitchFamily="34" charset="-120"/>
              </a:rPr>
              <a:t>Empat hal yang perlu terbawa dari materi ini.</a:t>
            </a:r>
            <a:endParaRPr lang="en-US" sz="1300" dirty="0"/>
          </a:p>
        </p:txBody>
      </p:sp>
      <p:sp>
        <p:nvSpPr>
          <p:cNvPr id="4" name="Shape 2"/>
          <p:cNvSpPr/>
          <p:nvPr/>
        </p:nvSpPr>
        <p:spPr>
          <a:xfrm>
            <a:off x="667512" y="1892808"/>
            <a:ext cx="91440" cy="91440"/>
          </a:xfrm>
          <a:prstGeom prst="rect">
            <a:avLst/>
          </a:prstGeom>
          <a:solidFill>
            <a:srgbClr val="4FA8E8"/>
          </a:solidFill>
          <a:ln/>
        </p:spPr>
      </p:sp>
      <p:sp>
        <p:nvSpPr>
          <p:cNvPr id="5" name="Text 3"/>
          <p:cNvSpPr txBox="1"/>
          <p:nvPr/>
        </p:nvSpPr>
        <p:spPr>
          <a:xfrm>
            <a:off x="960120" y="1737360"/>
            <a:ext cx="10332720" cy="365760"/>
          </a:xfrm>
          <a:prstGeom prst="rect">
            <a:avLst/>
          </a:prstGeom>
          <a:noFill/>
          <a:ln/>
        </p:spPr>
        <p:txBody>
          <a:bodyPr wrap="square" lIns="0" tIns="0" rIns="0" bIns="0" rtlCol="0" anchor="ctr"/>
          <a:lstStyle/>
          <a:p>
            <a:pPr indent="0" marL="0">
              <a:buNone/>
            </a:pPr>
            <a:r>
              <a:rPr lang="en-US" sz="1500" dirty="0">
                <a:solidFill>
                  <a:srgbClr val="4FA8E8"/>
                </a:solidFill>
                <a:latin typeface="Century Gothic" pitchFamily="34" charset="0"/>
                <a:ea typeface="Century Gothic" pitchFamily="34" charset="-122"/>
                <a:cs typeface="Century Gothic" pitchFamily="34" charset="-120"/>
              </a:rPr>
              <a:t>Graf tak berarah: cukup DSU</a:t>
            </a:r>
            <a:endParaRPr lang="en-US" sz="1500" dirty="0"/>
          </a:p>
        </p:txBody>
      </p:sp>
      <p:sp>
        <p:nvSpPr>
          <p:cNvPr id="6" name="Text 4"/>
          <p:cNvSpPr txBox="1"/>
          <p:nvPr/>
        </p:nvSpPr>
        <p:spPr>
          <a:xfrm>
            <a:off x="960120" y="208483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Bila gabung mengembalikan false, kedua ujung sudah terhubung sehingga sisi itu menutup sebuah lingkaran. Lima baris, selesai.</a:t>
            </a:r>
            <a:endParaRPr lang="en-US" sz="1250" dirty="0"/>
          </a:p>
        </p:txBody>
      </p:sp>
      <p:sp>
        <p:nvSpPr>
          <p:cNvPr id="7" name="Shape 5"/>
          <p:cNvSpPr/>
          <p:nvPr/>
        </p:nvSpPr>
        <p:spPr>
          <a:xfrm>
            <a:off x="667512" y="2898648"/>
            <a:ext cx="91440" cy="91440"/>
          </a:xfrm>
          <a:prstGeom prst="rect">
            <a:avLst/>
          </a:prstGeom>
          <a:solidFill>
            <a:srgbClr val="3ECF9E"/>
          </a:solidFill>
          <a:ln/>
        </p:spPr>
      </p:sp>
      <p:sp>
        <p:nvSpPr>
          <p:cNvPr id="8" name="Text 6"/>
          <p:cNvSpPr txBox="1"/>
          <p:nvPr/>
        </p:nvSpPr>
        <p:spPr>
          <a:xfrm>
            <a:off x="960120" y="2743200"/>
            <a:ext cx="10332720" cy="365760"/>
          </a:xfrm>
          <a:prstGeom prst="rect">
            <a:avLst/>
          </a:prstGeom>
          <a:noFill/>
          <a:ln/>
        </p:spPr>
        <p:txBody>
          <a:bodyPr wrap="square" lIns="0" tIns="0" rIns="0" bIns="0" rtlCol="0" anchor="ctr"/>
          <a:lstStyle/>
          <a:p>
            <a:pPr indent="0" marL="0">
              <a:buNone/>
            </a:pPr>
            <a:r>
              <a:rPr lang="en-US" sz="1500" dirty="0">
                <a:solidFill>
                  <a:srgbClr val="3ECF9E"/>
                </a:solidFill>
                <a:latin typeface="Century Gothic" pitchFamily="34" charset="0"/>
                <a:ea typeface="Century Gothic" pitchFamily="34" charset="-122"/>
                <a:cs typeface="Century Gothic" pitchFamily="34" charset="-120"/>
              </a:rPr>
              <a:t>Graf berarah: butuh tiga warna</a:t>
            </a:r>
            <a:endParaRPr lang="en-US" sz="1500" dirty="0"/>
          </a:p>
        </p:txBody>
      </p:sp>
      <p:sp>
        <p:nvSpPr>
          <p:cNvPr id="9" name="Text 7"/>
          <p:cNvSpPr txBox="1"/>
          <p:nvPr/>
        </p:nvSpPr>
        <p:spPr>
          <a:xfrm>
            <a:off x="960120" y="309067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Yang menandakan siklus bukan "sudah pernah dikunjungi", melainkan "masih berada di jalur rekursi sekarang". Bedakan abu dari hitam.</a:t>
            </a:r>
            <a:endParaRPr lang="en-US" sz="1250" dirty="0"/>
          </a:p>
        </p:txBody>
      </p:sp>
      <p:sp>
        <p:nvSpPr>
          <p:cNvPr id="10" name="Shape 8"/>
          <p:cNvSpPr/>
          <p:nvPr/>
        </p:nvSpPr>
        <p:spPr>
          <a:xfrm>
            <a:off x="667512" y="3904488"/>
            <a:ext cx="91440" cy="91440"/>
          </a:xfrm>
          <a:prstGeom prst="rect">
            <a:avLst/>
          </a:prstGeom>
          <a:solidFill>
            <a:srgbClr val="F5A623"/>
          </a:solidFill>
          <a:ln/>
        </p:spPr>
      </p:sp>
      <p:sp>
        <p:nvSpPr>
          <p:cNvPr id="11" name="Text 9"/>
          <p:cNvSpPr txBox="1"/>
          <p:nvPr/>
        </p:nvSpPr>
        <p:spPr>
          <a:xfrm>
            <a:off x="960120" y="3749040"/>
            <a:ext cx="10332720" cy="365760"/>
          </a:xfrm>
          <a:prstGeom prst="rect">
            <a:avLst/>
          </a:prstGeom>
          <a:noFill/>
          <a:ln/>
        </p:spPr>
        <p:txBody>
          <a:bodyPr wrap="square" lIns="0" tIns="0" rIns="0" bIns="0" rtlCol="0" anchor="ctr"/>
          <a:lstStyle/>
          <a:p>
            <a:pPr indent="0" marL="0">
              <a:buNone/>
            </a:pPr>
            <a:r>
              <a:rPr lang="en-US" sz="1500" dirty="0">
                <a:solidFill>
                  <a:srgbClr val="F5A623"/>
                </a:solidFill>
                <a:latin typeface="Century Gothic" pitchFamily="34" charset="0"/>
                <a:ea typeface="Century Gothic" pitchFamily="34" charset="-122"/>
                <a:cs typeface="Century Gothic" pitchFamily="34" charset="-120"/>
              </a:rPr>
              <a:t>Bipartit = tanpa siklus ganjil</a:t>
            </a:r>
            <a:endParaRPr lang="en-US" sz="1500" dirty="0"/>
          </a:p>
        </p:txBody>
      </p:sp>
      <p:sp>
        <p:nvSpPr>
          <p:cNvPr id="12" name="Text 10"/>
          <p:cNvSpPr txBox="1"/>
          <p:nvPr/>
        </p:nvSpPr>
        <p:spPr>
          <a:xfrm>
            <a:off x="960120" y="409651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Kedua materi ini sebenarnya satu. Uji bipartit yang gagal selalu menunjuk ke sebuah lingkaran berpanjang ganjil.</a:t>
            </a:r>
            <a:endParaRPr lang="en-US" sz="1250" dirty="0"/>
          </a:p>
        </p:txBody>
      </p:sp>
      <p:sp>
        <p:nvSpPr>
          <p:cNvPr id="13" name="Shape 11"/>
          <p:cNvSpPr/>
          <p:nvPr/>
        </p:nvSpPr>
        <p:spPr>
          <a:xfrm>
            <a:off x="667512" y="4910328"/>
            <a:ext cx="91440" cy="91440"/>
          </a:xfrm>
          <a:prstGeom prst="rect">
            <a:avLst/>
          </a:prstGeom>
          <a:solidFill>
            <a:srgbClr val="A78BFA"/>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dirty="0">
                <a:solidFill>
                  <a:srgbClr val="A78BFA"/>
                </a:solidFill>
                <a:latin typeface="Century Gothic" pitchFamily="34" charset="0"/>
                <a:ea typeface="Century Gothic" pitchFamily="34" charset="-122"/>
                <a:cs typeface="Century Gothic" pitchFamily="34" charset="-120"/>
              </a:rPr>
              <a:t>Jangan lupa komponen lain</a:t>
            </a:r>
            <a:endParaRPr lang="en-US" sz="1500" dirty="0"/>
          </a:p>
        </p:txBody>
      </p:sp>
      <p:sp>
        <p:nvSpPr>
          <p:cNvPr id="15" name="Text 13"/>
          <p:cNvSpPr txBox="1"/>
          <p:nvPr/>
        </p:nvSpPr>
        <p:spPr>
          <a:xfrm>
            <a:off x="960120" y="5102352"/>
            <a:ext cx="10241280" cy="658368"/>
          </a:xfrm>
          <a:prstGeom prst="rect">
            <a:avLst/>
          </a:prstGeom>
          <a:noFill/>
          <a:ln/>
        </p:spPr>
        <p:txBody>
          <a:bodyPr wrap="square" lIns="0" tIns="0" rIns="0" bIns="0" rtlCol="0" anchor="ctr"/>
          <a:lstStyle/>
          <a:p>
            <a:pPr indent="0" marL="0">
              <a:lnSpc>
                <a:spcPct val="122000"/>
              </a:lnSpc>
              <a:buNone/>
            </a:pPr>
            <a:r>
              <a:rPr lang="en-US" sz="1250" dirty="0">
                <a:solidFill>
                  <a:srgbClr val="2B2B2B"/>
                </a:solidFill>
                <a:latin typeface="Century Gothic" pitchFamily="34" charset="0"/>
                <a:ea typeface="Century Gothic" pitchFamily="34" charset="-122"/>
                <a:cs typeface="Century Gothic" pitchFamily="34" charset="-120"/>
              </a:rPr>
              <a:t>Pada semua algoritma di halaman ini, loop terluar wajib mengulang untuk setiap simpul yang belum tersentuh.</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2026-09-01T04:38:01Z</dcterms:created>
  <dcterms:modified xsi:type="dcterms:W3CDTF">2026-09-01T04:38:01Z</dcterms:modified>
</cp:coreProperties>
</file>