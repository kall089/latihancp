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Soal Interval &amp;</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Exchange Argument</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Keluarga soal greedy yang paling sering muncul di Div 2 A sampai C</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Greedy · Day 72</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72</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Soal interval adalah keluarga greedy yang paling sering muncul di Div 2 A sampai C. Yang menentukan jawabannya hampir selalu kriteria pengurutan.</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Activity selection</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Pilih sebanyak mungkin kegiatan yang tidak bertabrakan. Kuncinya: urutkan menurut waktu SELESAI, bukan waktu mulai atau durasi.</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Kriteria lain yang terdengar masuk akal justru salah</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Mengurutkan menurut waktu mulai atau durasi terpendek punya contoh tandingan berukuran tiga interval. Selalu uji sebelum percaya.</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Exchange argument membuktikannya</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Ambil solusi optimal apa pun, tukar bagian pertamanya dengan pilihan greedy, lalu tunjukkan hasilnya tidak lebih buruk. Pola ini berlaku untuk hampir semua soal greedy.</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Sweep line untuk pertanyaan jumlah aktif</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Ubah setiap interval menjadi dua kejadian, lalu sapu dari kiri ke kanan. Cocok untuk soal ruangan minimum atau puncak keramaian.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Kenali dari kata jadwal, kegiatan, interval, rentang waktu, atau ruangan.</a:t>
            </a:r>
            <a:endParaRPr lang="en-US" sz="1300" dirty="0"/>
          </a:p>
        </p:txBody>
      </p:sp>
      <p:sp>
        <p:nvSpPr>
          <p:cNvPr id="4" name="Shape 2"/>
          <p:cNvSpPr/>
          <p:nvPr/>
        </p:nvSpPr>
        <p:spPr>
          <a:xfrm>
            <a:off x="667512" y="1938528"/>
            <a:ext cx="5349240" cy="3840480"/>
          </a:xfrm>
          <a:prstGeom prst="rect">
            <a:avLst/>
          </a:prstGeom>
          <a:solidFill>
            <a:srgbClr val="FAFAFA"/>
          </a:solidFill>
          <a:ln/>
        </p:spPr>
      </p:sp>
      <p:sp>
        <p:nvSpPr>
          <p:cNvPr id="5" name="Shape 3"/>
          <p:cNvSpPr/>
          <p:nvPr/>
        </p:nvSpPr>
        <p:spPr>
          <a:xfrm>
            <a:off x="667512" y="1938528"/>
            <a:ext cx="5349240" cy="50292"/>
          </a:xfrm>
          <a:prstGeom prst="rect">
            <a:avLst/>
          </a:prstGeom>
          <a:solidFill>
            <a:srgbClr val="2FA97B"/>
          </a:solidFill>
          <a:ln/>
        </p:spPr>
      </p:sp>
      <p:sp>
        <p:nvSpPr>
          <p:cNvPr id="6" name="Text 4"/>
          <p:cNvSpPr txBox="1"/>
          <p:nvPr/>
        </p:nvSpPr>
        <p:spPr>
          <a:xfrm>
            <a:off x="941832" y="2157984"/>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734056"/>
            <a:ext cx="274320" cy="274320"/>
          </a:xfrm>
          <a:prstGeom prst="ellipse">
            <a:avLst/>
          </a:prstGeom>
          <a:solidFill>
            <a:srgbClr val="2FA97B"/>
          </a:solidFill>
          <a:ln/>
        </p:spPr>
      </p:sp>
      <p:sp>
        <p:nvSpPr>
          <p:cNvPr id="8" name="Text 6"/>
          <p:cNvSpPr txBox="1"/>
          <p:nvPr/>
        </p:nvSpPr>
        <p:spPr>
          <a:xfrm>
            <a:off x="94183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Memilih sebanyak mungkin kegiatan yang tidak bertabrakan</a:t>
            </a:r>
            <a:endParaRPr lang="en-US" sz="1250" dirty="0"/>
          </a:p>
        </p:txBody>
      </p:sp>
      <p:sp>
        <p:nvSpPr>
          <p:cNvPr id="10" name="Shape 8"/>
          <p:cNvSpPr/>
          <p:nvPr/>
        </p:nvSpPr>
        <p:spPr>
          <a:xfrm>
            <a:off x="941832" y="3483864"/>
            <a:ext cx="274320" cy="274320"/>
          </a:xfrm>
          <a:prstGeom prst="ellipse">
            <a:avLst/>
          </a:prstGeom>
          <a:solidFill>
            <a:srgbClr val="2FA97B"/>
          </a:solidFill>
          <a:ln/>
        </p:spPr>
      </p:sp>
      <p:sp>
        <p:nvSpPr>
          <p:cNvPr id="11" name="Text 9"/>
          <p:cNvSpPr txBox="1"/>
          <p:nvPr/>
        </p:nvSpPr>
        <p:spPr>
          <a:xfrm>
            <a:off x="94183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Menggabungkan interval yang saling bertumpuk</a:t>
            </a:r>
            <a:endParaRPr lang="en-US" sz="1250" dirty="0"/>
          </a:p>
        </p:txBody>
      </p:sp>
      <p:sp>
        <p:nvSpPr>
          <p:cNvPr id="13" name="Shape 11"/>
          <p:cNvSpPr/>
          <p:nvPr/>
        </p:nvSpPr>
        <p:spPr>
          <a:xfrm>
            <a:off x="941832" y="4233672"/>
            <a:ext cx="274320" cy="274320"/>
          </a:xfrm>
          <a:prstGeom prst="ellipse">
            <a:avLst/>
          </a:prstGeom>
          <a:solidFill>
            <a:srgbClr val="2FA97B"/>
          </a:solidFill>
          <a:ln/>
        </p:spPr>
      </p:sp>
      <p:sp>
        <p:nvSpPr>
          <p:cNvPr id="14" name="Text 12"/>
          <p:cNvSpPr txBox="1"/>
          <p:nvPr/>
        </p:nvSpPr>
        <p:spPr>
          <a:xfrm>
            <a:off x="94183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Mencari berapa banyak interval yang aktif bersamaan</a:t>
            </a:r>
            <a:endParaRPr lang="en-US" sz="1250" dirty="0"/>
          </a:p>
        </p:txBody>
      </p:sp>
      <p:sp>
        <p:nvSpPr>
          <p:cNvPr id="16" name="Shape 14"/>
          <p:cNvSpPr/>
          <p:nvPr/>
        </p:nvSpPr>
        <p:spPr>
          <a:xfrm>
            <a:off x="941832" y="4983480"/>
            <a:ext cx="274320" cy="274320"/>
          </a:xfrm>
          <a:prstGeom prst="ellipse">
            <a:avLst/>
          </a:prstGeom>
          <a:solidFill>
            <a:srgbClr val="2FA97B"/>
          </a:solidFill>
          <a:ln/>
        </p:spPr>
      </p:sp>
      <p:sp>
        <p:nvSpPr>
          <p:cNvPr id="17" name="Text 15"/>
          <p:cNvSpPr txBox="1"/>
          <p:nvPr/>
        </p:nvSpPr>
        <p:spPr>
          <a:xfrm>
            <a:off x="941832" y="498348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491947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Menghitung total panjang gabungan beberapa rentang</a:t>
            </a:r>
            <a:endParaRPr lang="en-US" sz="1250" dirty="0"/>
          </a:p>
        </p:txBody>
      </p:sp>
      <p:sp>
        <p:nvSpPr>
          <p:cNvPr id="19" name="Shape 17"/>
          <p:cNvSpPr/>
          <p:nvPr/>
        </p:nvSpPr>
        <p:spPr>
          <a:xfrm>
            <a:off x="6336792" y="1938528"/>
            <a:ext cx="5349240" cy="3090672"/>
          </a:xfrm>
          <a:prstGeom prst="rect">
            <a:avLst/>
          </a:prstGeom>
          <a:solidFill>
            <a:srgbClr val="FAFAFA"/>
          </a:solidFill>
          <a:ln/>
        </p:spPr>
      </p:sp>
      <p:sp>
        <p:nvSpPr>
          <p:cNvPr id="20" name="Shape 18"/>
          <p:cNvSpPr/>
          <p:nvPr/>
        </p:nvSpPr>
        <p:spPr>
          <a:xfrm>
            <a:off x="6336792" y="1938528"/>
            <a:ext cx="5349240" cy="50292"/>
          </a:xfrm>
          <a:prstGeom prst="rect">
            <a:avLst/>
          </a:prstGeom>
          <a:solidFill>
            <a:srgbClr val="D9534F"/>
          </a:solidFill>
          <a:ln/>
        </p:spPr>
      </p:sp>
      <p:sp>
        <p:nvSpPr>
          <p:cNvPr id="21" name="Text 19"/>
          <p:cNvSpPr txBox="1"/>
          <p:nvPr/>
        </p:nvSpPr>
        <p:spPr>
          <a:xfrm>
            <a:off x="6611112" y="2157984"/>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734056"/>
            <a:ext cx="274320" cy="274320"/>
          </a:xfrm>
          <a:prstGeom prst="ellipse">
            <a:avLst/>
          </a:prstGeom>
          <a:solidFill>
            <a:srgbClr val="D9534F"/>
          </a:solidFill>
          <a:ln/>
        </p:spPr>
      </p:sp>
      <p:sp>
        <p:nvSpPr>
          <p:cNvPr id="23" name="Text 21"/>
          <p:cNvSpPr txBox="1"/>
          <p:nvPr/>
        </p:nvSpPr>
        <p:spPr>
          <a:xfrm>
            <a:off x="661111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Setiap interval punya nilai berbeda dan yang dicari total nilai terbesar — itu DP, bukan greedy</a:t>
            </a:r>
            <a:endParaRPr lang="en-US" sz="1250" dirty="0"/>
          </a:p>
        </p:txBody>
      </p:sp>
      <p:sp>
        <p:nvSpPr>
          <p:cNvPr id="25" name="Shape 23"/>
          <p:cNvSpPr/>
          <p:nvPr/>
        </p:nvSpPr>
        <p:spPr>
          <a:xfrm>
            <a:off x="6611112" y="3483864"/>
            <a:ext cx="274320" cy="274320"/>
          </a:xfrm>
          <a:prstGeom prst="ellipse">
            <a:avLst/>
          </a:prstGeom>
          <a:solidFill>
            <a:srgbClr val="D9534F"/>
          </a:solidFill>
          <a:ln/>
        </p:spPr>
      </p:sp>
      <p:sp>
        <p:nvSpPr>
          <p:cNvPr id="26" name="Text 24"/>
          <p:cNvSpPr txBox="1"/>
          <p:nvPr/>
        </p:nvSpPr>
        <p:spPr>
          <a:xfrm>
            <a:off x="661111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Ada batasan tambahan yang saling terkait antar interval</a:t>
            </a:r>
            <a:endParaRPr lang="en-US" sz="1250" dirty="0"/>
          </a:p>
        </p:txBody>
      </p:sp>
      <p:sp>
        <p:nvSpPr>
          <p:cNvPr id="28" name="Shape 26"/>
          <p:cNvSpPr/>
          <p:nvPr/>
        </p:nvSpPr>
        <p:spPr>
          <a:xfrm>
            <a:off x="6611112" y="4233672"/>
            <a:ext cx="274320" cy="274320"/>
          </a:xfrm>
          <a:prstGeom prst="ellipse">
            <a:avLst/>
          </a:prstGeom>
          <a:solidFill>
            <a:srgbClr val="D9534F"/>
          </a:solidFill>
          <a:ln/>
        </p:spPr>
      </p:sp>
      <p:sp>
        <p:nvSpPr>
          <p:cNvPr id="29" name="Text 27"/>
          <p:cNvSpPr txBox="1"/>
          <p:nvPr/>
        </p:nvSpPr>
        <p:spPr>
          <a:xfrm>
            <a:off x="661111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Greedy-mu belum diuji terhadap contoh tandingan kecil</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Untuk memaksimalkan JUMLAH kegiatan, urutkan menurut waktu SELESAI. Untuk MENGGABUNGKAN interval, urutkan menurut waktu MULAI. Salah memilih membuat jawabannya salah.</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Sorting &amp; comparator (Day 18)</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Prinsip greedy (Day 71)</a:t>
            </a:r>
            <a:endParaRPr lang="en-US" sz="1200" dirty="0"/>
          </a:p>
        </p:txBody>
      </p:sp>
      <p:sp>
        <p:nvSpPr>
          <p:cNvPr id="11" name="Text 9"/>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2" name="Shape 10"/>
          <p:cNvSpPr/>
          <p:nvPr/>
        </p:nvSpPr>
        <p:spPr>
          <a:xfrm>
            <a:off x="8403336" y="2313432"/>
            <a:ext cx="3200400" cy="676656"/>
          </a:xfrm>
          <a:prstGeom prst="rect">
            <a:avLst/>
          </a:prstGeom>
          <a:solidFill>
            <a:srgbClr val="FAFAFA"/>
          </a:solidFill>
          <a:ln/>
        </p:spPr>
      </p:sp>
      <p:sp>
        <p:nvSpPr>
          <p:cNvPr id="13" name="Shape 11"/>
          <p:cNvSpPr/>
          <p:nvPr/>
        </p:nvSpPr>
        <p:spPr>
          <a:xfrm>
            <a:off x="8403336" y="2313432"/>
            <a:ext cx="54864" cy="676656"/>
          </a:xfrm>
          <a:prstGeom prst="rect">
            <a:avLst/>
          </a:prstGeom>
          <a:solidFill>
            <a:srgbClr val="A78BFA"/>
          </a:solidFill>
          <a:ln/>
        </p:spPr>
      </p:sp>
      <p:sp>
        <p:nvSpPr>
          <p:cNvPr id="14" name="Text 12"/>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Priority queue greedy</a:t>
            </a:r>
            <a:endParaRPr lang="en-US" sz="1200" dirty="0"/>
          </a:p>
        </p:txBody>
      </p:sp>
      <p:sp>
        <p:nvSpPr>
          <p:cNvPr id="15" name="Shape 13"/>
          <p:cNvSpPr/>
          <p:nvPr/>
        </p:nvSpPr>
        <p:spPr>
          <a:xfrm>
            <a:off x="8403336" y="3136392"/>
            <a:ext cx="3200400" cy="676656"/>
          </a:xfrm>
          <a:prstGeom prst="rect">
            <a:avLst/>
          </a:prstGeom>
          <a:solidFill>
            <a:srgbClr val="FAFAFA"/>
          </a:solidFill>
          <a:ln/>
        </p:spPr>
      </p:sp>
      <p:sp>
        <p:nvSpPr>
          <p:cNvPr id="16" name="Shape 14"/>
          <p:cNvSpPr/>
          <p:nvPr/>
        </p:nvSpPr>
        <p:spPr>
          <a:xfrm>
            <a:off x="8403336" y="3136392"/>
            <a:ext cx="54864" cy="676656"/>
          </a:xfrm>
          <a:prstGeom prst="rect">
            <a:avLst/>
          </a:prstGeom>
          <a:solidFill>
            <a:srgbClr val="A78BFA"/>
          </a:solidFill>
          <a:ln/>
        </p:spPr>
      </p:sp>
      <p:sp>
        <p:nvSpPr>
          <p:cNvPr id="17" name="Text 15"/>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lanjut</a:t>
            </a:r>
            <a:endParaRPr lang="en-US" sz="1200" dirty="0"/>
          </a:p>
        </p:txBody>
      </p:sp>
      <p:sp>
        <p:nvSpPr>
          <p:cNvPr id="18" name="Shape 16"/>
          <p:cNvSpPr/>
          <p:nvPr/>
        </p:nvSpPr>
        <p:spPr>
          <a:xfrm>
            <a:off x="8403336" y="3959352"/>
            <a:ext cx="3200400" cy="676656"/>
          </a:xfrm>
          <a:prstGeom prst="rect">
            <a:avLst/>
          </a:prstGeom>
          <a:solidFill>
            <a:srgbClr val="FAFAFA"/>
          </a:solidFill>
          <a:ln/>
        </p:spPr>
      </p:sp>
      <p:sp>
        <p:nvSpPr>
          <p:cNvPr id="19" name="Shape 17"/>
          <p:cNvSpPr/>
          <p:nvPr/>
        </p:nvSpPr>
        <p:spPr>
          <a:xfrm>
            <a:off x="8403336" y="3959352"/>
            <a:ext cx="54864" cy="676656"/>
          </a:xfrm>
          <a:prstGeom prst="rect">
            <a:avLst/>
          </a:prstGeom>
          <a:solidFill>
            <a:srgbClr val="A78BFA"/>
          </a:solidFill>
          <a:ln/>
        </p:spPr>
      </p:sp>
      <p:sp>
        <p:nvSpPr>
          <p:cNvPr id="20" name="Text 18"/>
          <p:cNvSpPr txBox="1"/>
          <p:nvPr/>
        </p:nvSpPr>
        <p:spPr>
          <a:xfrm>
            <a:off x="8641080"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DP interval</a:t>
            </a:r>
            <a:endParaRPr lang="en-US" sz="1200" dirty="0"/>
          </a:p>
        </p:txBody>
      </p:sp>
      <p:sp>
        <p:nvSpPr>
          <p:cNvPr id="21" name="Shape 19"/>
          <p:cNvSpPr/>
          <p:nvPr/>
        </p:nvSpPr>
        <p:spPr>
          <a:xfrm>
            <a:off x="4352544" y="2313432"/>
            <a:ext cx="3566160" cy="2322576"/>
          </a:xfrm>
          <a:prstGeom prst="rect">
            <a:avLst/>
          </a:prstGeom>
          <a:solidFill>
            <a:srgbClr val="F2F7FD"/>
          </a:solidFill>
          <a:ln/>
        </p:spPr>
      </p:sp>
      <p:sp>
        <p:nvSpPr>
          <p:cNvPr id="22" name="Shape 20"/>
          <p:cNvSpPr/>
          <p:nvPr/>
        </p:nvSpPr>
        <p:spPr>
          <a:xfrm>
            <a:off x="4352544" y="2313432"/>
            <a:ext cx="3566160" cy="54864"/>
          </a:xfrm>
          <a:prstGeom prst="rect">
            <a:avLst/>
          </a:prstGeom>
          <a:solidFill>
            <a:srgbClr val="4FA8E8"/>
          </a:solidFill>
          <a:ln/>
        </p:spPr>
      </p:sp>
      <p:sp>
        <p:nvSpPr>
          <p:cNvPr id="23" name="Text 21"/>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4" name="Text 22"/>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Soal Interval &amp;</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Exchange Argument</a:t>
            </a:r>
            <a:endParaRPr lang="en-US" sz="2000" dirty="0"/>
          </a:p>
        </p:txBody>
      </p:sp>
      <p:sp>
        <p:nvSpPr>
          <p:cNvPr id="25" name="Text 23"/>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Activity selection, merging, sweep line, dan cara membuktikannya.</a:t>
            </a:r>
            <a:endParaRPr lang="en-US" sz="1200" dirty="0"/>
          </a:p>
        </p:txBody>
      </p:sp>
      <p:sp>
        <p:nvSpPr>
          <p:cNvPr id="26" name="Shape 24"/>
          <p:cNvSpPr/>
          <p:nvPr/>
        </p:nvSpPr>
        <p:spPr>
          <a:xfrm>
            <a:off x="3941064" y="3456432"/>
            <a:ext cx="338328" cy="914"/>
          </a:xfrm>
          <a:prstGeom prst="line">
            <a:avLst/>
          </a:prstGeom>
          <a:noFill/>
          <a:ln w="19050">
            <a:solidFill>
              <a:srgbClr val="C8CDD4"/>
            </a:solidFill>
            <a:prstDash val="solid"/>
            <a:tailEnd type="triangle"/>
          </a:ln>
        </p:spPr>
      </p:sp>
      <p:sp>
        <p:nvSpPr>
          <p:cNvPr id="27" name="Shape 25"/>
          <p:cNvSpPr/>
          <p:nvPr/>
        </p:nvSpPr>
        <p:spPr>
          <a:xfrm>
            <a:off x="7991856" y="3456432"/>
            <a:ext cx="338328" cy="914"/>
          </a:xfrm>
          <a:prstGeom prst="line">
            <a:avLst/>
          </a:prstGeom>
          <a:noFill/>
          <a:ln w="19050">
            <a:solidFill>
              <a:srgbClr val="C8CDD4"/>
            </a:solidFill>
            <a:prstDash val="solid"/>
            <a:tailEnd type="triangle"/>
          </a:ln>
        </p:spPr>
      </p:sp>
      <p:sp>
        <p:nvSpPr>
          <p:cNvPr id="28" name="Shape 26"/>
          <p:cNvSpPr/>
          <p:nvPr/>
        </p:nvSpPr>
        <p:spPr>
          <a:xfrm>
            <a:off x="667512" y="5111496"/>
            <a:ext cx="10853928" cy="822960"/>
          </a:xfrm>
          <a:prstGeom prst="rect">
            <a:avLst/>
          </a:prstGeom>
          <a:solidFill>
            <a:srgbClr val="FAFAFA"/>
          </a:solidFill>
          <a:ln/>
        </p:spPr>
      </p:sp>
      <p:sp>
        <p:nvSpPr>
          <p:cNvPr id="29" name="Text 27"/>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Exchange argument dari materi ini adalah alat pembuktian greedy yang akan dipakai berulang kali, termasuk untuk membuktikan Kruskal dan Huffman.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Activity Selection</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Tiga Greedy yang Salah</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Membuktikan dengan Exchange Argument</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Simulasi Langkah demi Langkah</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Merging Intervals</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Sweep Line</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Katalog Soal Interval</a:t>
            </a:r>
            <a:endParaRPr lang="en-US" sz="1600" dirty="0"/>
          </a:p>
        </p:txBody>
      </p:sp>
      <p:sp>
        <p:nvSpPr>
          <p:cNvPr id="10" name="Text 8"/>
          <p:cNvSpPr txBox="1"/>
          <p:nvPr/>
        </p:nvSpPr>
        <p:spPr>
          <a:xfrm>
            <a:off x="6062472" y="3310128"/>
            <a:ext cx="5120640" cy="457200"/>
          </a:xfrm>
          <a:prstGeom prst="rect">
            <a:avLst/>
          </a:prstGeom>
          <a:noFill/>
          <a:ln/>
        </p:spPr>
        <p:txBody>
          <a:bodyPr wrap="square" lIns="0" tIns="0" rIns="0" bIns="0" rtlCol="0" anchor="ctr"/>
          <a:lstStyle/>
          <a:p>
            <a:pPr indent="0" marL="0">
              <a:buNone/>
            </a:pPr>
            <a:r>
              <a:rPr lang="en-US" sz="1600" dirty="0">
                <a:solidFill>
                  <a:srgbClr val="5B8DEF"/>
                </a:solidFill>
                <a:latin typeface="Century Gothic" pitchFamily="34" charset="0"/>
                <a:ea typeface="Century Gothic" pitchFamily="34" charset="-122"/>
                <a:cs typeface="Century Gothic" pitchFamily="34" charset="-120"/>
              </a:rPr>
              <a:t>08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Latihan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Activity Selection</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Sebanyak mungkin kegiatan tanpa tabrakan</a:t>
            </a:r>
            <a:endParaRPr lang="en-US" sz="1350" dirty="0"/>
          </a:p>
        </p:txBody>
      </p:sp>
      <p:sp>
        <p:nvSpPr>
          <p:cNvPr id="5" name="Shape 3"/>
          <p:cNvSpPr/>
          <p:nvPr/>
        </p:nvSpPr>
        <p:spPr>
          <a:xfrm>
            <a:off x="5815584" y="4251960"/>
            <a:ext cx="548640" cy="45720"/>
          </a:xfrm>
          <a:prstGeom prst="rect">
            <a:avLst/>
          </a:prstGeom>
          <a:solidFill>
            <a:srgbClr val="F0736A"/>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Greedy yang Benar</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Seluruh soalnya selesai dalam sepuluh baris. Yang menentukan hanyalah kriteria pengurutannya.</a:t>
            </a:r>
            <a:endParaRPr lang="en-US" sz="1300" dirty="0"/>
          </a:p>
        </p:txBody>
      </p:sp>
      <p:pic>
        <p:nvPicPr>
          <p:cNvPr id="4" name="Image 0" descr="/tmp/ppt/imgs/c0_7_0.png">    </p:cNvPr>
          <p:cNvPicPr>
            <a:picLocks noChangeAspect="1"/>
          </p:cNvPicPr>
          <p:nvPr/>
        </p:nvPicPr>
        <p:blipFill>
          <a:blip r:embed="rId1"/>
          <a:stretch>
            <a:fillRect/>
          </a:stretch>
        </p:blipFill>
        <p:spPr>
          <a:xfrm>
            <a:off x="4257277" y="1755648"/>
            <a:ext cx="3674398" cy="3319272"/>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Alasan intuitifnya: kegiatan yang selesai paling awal menyisakan waktu terbanyak untuk kegiatan berikutnya. Halaman berikutnya menunjukkan kenapa kriteria lain gagal.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Tiga Greedy yang Salah</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Ketiganya terdengar masuk akal, dan ketiganya salah. Contoh tandingannya sengaja dibuat sekecil mungkin agar mudah diingat.</a:t>
            </a:r>
            <a:endParaRPr lang="en-US" sz="1300" dirty="0"/>
          </a:p>
        </p:txBody>
      </p:sp>
      <p:pic>
        <p:nvPicPr>
          <p:cNvPr id="4" name="Image 0" descr="/tmp/ppt/imgs/c0_8_1.png">    </p:cNvPr>
          <p:cNvPicPr>
            <a:picLocks noChangeAspect="1"/>
          </p:cNvPicPr>
          <p:nvPr/>
        </p:nvPicPr>
        <p:blipFill>
          <a:blip r:embed="rId1"/>
          <a:stretch>
            <a:fillRect/>
          </a:stretch>
        </p:blipFill>
        <p:spPr>
          <a:xfrm>
            <a:off x="4121466" y="1993392"/>
            <a:ext cx="3946019"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Kebiasaan yang menyelamatkan: sebelum submit solusi greedy, coba buat contoh tandingan berukuran tiga sampai lima elemen. Bila tidak ketemu dalam beberapa menit, greedy-nya kemungkinan benar.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Membuktikan dengan Exchange Argument</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Alat pembuktian greedy yang paling sering dipakai. Polanya sama untuk hampir semua soal greedy.</a:t>
            </a:r>
            <a:endParaRPr lang="en-US" sz="1300" dirty="0"/>
          </a:p>
        </p:txBody>
      </p:sp>
      <p:pic>
        <p:nvPicPr>
          <p:cNvPr id="4" name="Image 0" descr="/tmp/ppt/imgs/c0_9_2.png">    </p:cNvPr>
          <p:cNvPicPr>
            <a:picLocks noChangeAspect="1"/>
          </p:cNvPicPr>
          <p:nvPr/>
        </p:nvPicPr>
        <p:blipFill>
          <a:blip r:embed="rId1"/>
          <a:stretch>
            <a:fillRect/>
          </a:stretch>
        </p:blipFill>
        <p:spPr>
          <a:xfrm>
            <a:off x="4239589" y="1755648"/>
            <a:ext cx="3709775" cy="3319272"/>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Pola umumnya ada di tiga baris terakhir: ambil solusi optimal apa pun, tukar satu bagiannya dengan pilihan greedy, lalu tunjukkan hasilnya tidak lebih buruk.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Simulasi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Lima kegiatan, memilih yang terbanyak</a:t>
            </a:r>
            <a:endParaRPr lang="en-US" sz="1350" dirty="0"/>
          </a:p>
        </p:txBody>
      </p:sp>
      <p:sp>
        <p:nvSpPr>
          <p:cNvPr id="5" name="Shape 3"/>
          <p:cNvSpPr/>
          <p:nvPr/>
        </p:nvSpPr>
        <p:spPr>
          <a:xfrm>
            <a:off x="5815584" y="4251960"/>
            <a:ext cx="548640" cy="45720"/>
          </a:xfrm>
          <a:prstGeom prst="rect">
            <a:avLst/>
          </a:prstGeom>
          <a:solidFill>
            <a:srgbClr val="F5A623"/>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1 — Setelah Diurutkan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Interval diurutkan menurut waktu SELESAI. Batas awal diisi nilai yang lebih kecil dari semua waktu mulai.</a:t>
            </a:r>
            <a:endParaRPr lang="en-US" sz="1300" dirty="0"/>
          </a:p>
        </p:txBody>
      </p:sp>
      <p:sp>
        <p:nvSpPr>
          <p:cNvPr id="4" name="Text 2"/>
          <p:cNvSpPr txBox="1"/>
          <p:nvPr/>
        </p:nvSpPr>
        <p:spPr>
          <a:xfrm>
            <a:off x="667512" y="2551176"/>
            <a:ext cx="128016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selesai</a:t>
            </a:r>
            <a:endParaRPr lang="en-US" sz="1250" dirty="0"/>
          </a:p>
        </p:txBody>
      </p:sp>
      <p:sp>
        <p:nvSpPr>
          <p:cNvPr id="5" name="Shape 3"/>
          <p:cNvSpPr/>
          <p:nvPr/>
        </p:nvSpPr>
        <p:spPr>
          <a:xfrm>
            <a:off x="1947672" y="2395728"/>
            <a:ext cx="1371600" cy="566928"/>
          </a:xfrm>
          <a:prstGeom prst="rect">
            <a:avLst/>
          </a:prstGeom>
          <a:solidFill>
            <a:srgbClr val="FFF3D6"/>
          </a:solidFill>
          <a:ln w="9525">
            <a:solidFill>
              <a:srgbClr val="DADDE2"/>
            </a:solidFill>
            <a:prstDash val="solid"/>
          </a:ln>
        </p:spPr>
      </p:sp>
      <p:sp>
        <p:nvSpPr>
          <p:cNvPr id="6" name="Text 4"/>
          <p:cNvSpPr txBox="1"/>
          <p:nvPr/>
        </p:nvSpPr>
        <p:spPr>
          <a:xfrm>
            <a:off x="1947672" y="2395728"/>
            <a:ext cx="1371600" cy="566928"/>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3</a:t>
            </a:r>
            <a:endParaRPr lang="en-US" sz="1400" dirty="0"/>
          </a:p>
        </p:txBody>
      </p:sp>
      <p:sp>
        <p:nvSpPr>
          <p:cNvPr id="7" name="Text 5"/>
          <p:cNvSpPr txBox="1"/>
          <p:nvPr/>
        </p:nvSpPr>
        <p:spPr>
          <a:xfrm>
            <a:off x="1947672"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[1,3]</a:t>
            </a:r>
            <a:endParaRPr lang="en-US" sz="1000" dirty="0"/>
          </a:p>
        </p:txBody>
      </p:sp>
      <p:sp>
        <p:nvSpPr>
          <p:cNvPr id="8" name="Shape 6"/>
          <p:cNvSpPr/>
          <p:nvPr/>
        </p:nvSpPr>
        <p:spPr>
          <a:xfrm>
            <a:off x="3392424" y="2395728"/>
            <a:ext cx="1371600" cy="566928"/>
          </a:xfrm>
          <a:prstGeom prst="rect">
            <a:avLst/>
          </a:prstGeom>
          <a:solidFill>
            <a:srgbClr val="FFFFFF"/>
          </a:solidFill>
          <a:ln w="9525">
            <a:solidFill>
              <a:srgbClr val="DADDE2"/>
            </a:solidFill>
            <a:prstDash val="solid"/>
          </a:ln>
        </p:spPr>
      </p:sp>
      <p:sp>
        <p:nvSpPr>
          <p:cNvPr id="9" name="Text 7"/>
          <p:cNvSpPr txBox="1"/>
          <p:nvPr/>
        </p:nvSpPr>
        <p:spPr>
          <a:xfrm>
            <a:off x="3392424"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5</a:t>
            </a:r>
            <a:endParaRPr lang="en-US" sz="1400" dirty="0"/>
          </a:p>
        </p:txBody>
      </p:sp>
      <p:sp>
        <p:nvSpPr>
          <p:cNvPr id="10" name="Text 8"/>
          <p:cNvSpPr txBox="1"/>
          <p:nvPr/>
        </p:nvSpPr>
        <p:spPr>
          <a:xfrm>
            <a:off x="3392424"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[2,5]</a:t>
            </a:r>
            <a:endParaRPr lang="en-US" sz="1000" dirty="0"/>
          </a:p>
        </p:txBody>
      </p:sp>
      <p:sp>
        <p:nvSpPr>
          <p:cNvPr id="11" name="Shape 9"/>
          <p:cNvSpPr/>
          <p:nvPr/>
        </p:nvSpPr>
        <p:spPr>
          <a:xfrm>
            <a:off x="4837176" y="2395728"/>
            <a:ext cx="1371600" cy="566928"/>
          </a:xfrm>
          <a:prstGeom prst="rect">
            <a:avLst/>
          </a:prstGeom>
          <a:solidFill>
            <a:srgbClr val="FFFFFF"/>
          </a:solidFill>
          <a:ln w="9525">
            <a:solidFill>
              <a:srgbClr val="DADDE2"/>
            </a:solidFill>
            <a:prstDash val="solid"/>
          </a:ln>
        </p:spPr>
      </p:sp>
      <p:sp>
        <p:nvSpPr>
          <p:cNvPr id="12" name="Text 10"/>
          <p:cNvSpPr txBox="1"/>
          <p:nvPr/>
        </p:nvSpPr>
        <p:spPr>
          <a:xfrm>
            <a:off x="4837176"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7</a:t>
            </a:r>
            <a:endParaRPr lang="en-US" sz="1400" dirty="0"/>
          </a:p>
        </p:txBody>
      </p:sp>
      <p:sp>
        <p:nvSpPr>
          <p:cNvPr id="13" name="Text 11"/>
          <p:cNvSpPr txBox="1"/>
          <p:nvPr/>
        </p:nvSpPr>
        <p:spPr>
          <a:xfrm>
            <a:off x="4837176"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[4,7]</a:t>
            </a:r>
            <a:endParaRPr lang="en-US" sz="1000" dirty="0"/>
          </a:p>
        </p:txBody>
      </p:sp>
      <p:sp>
        <p:nvSpPr>
          <p:cNvPr id="14" name="Shape 12"/>
          <p:cNvSpPr/>
          <p:nvPr/>
        </p:nvSpPr>
        <p:spPr>
          <a:xfrm>
            <a:off x="6281928" y="2395728"/>
            <a:ext cx="1371600" cy="566928"/>
          </a:xfrm>
          <a:prstGeom prst="rect">
            <a:avLst/>
          </a:prstGeom>
          <a:solidFill>
            <a:srgbClr val="FFFFFF"/>
          </a:solidFill>
          <a:ln w="9525">
            <a:solidFill>
              <a:srgbClr val="DADDE2"/>
            </a:solidFill>
            <a:prstDash val="solid"/>
          </a:ln>
        </p:spPr>
      </p:sp>
      <p:sp>
        <p:nvSpPr>
          <p:cNvPr id="15" name="Text 13"/>
          <p:cNvSpPr txBox="1"/>
          <p:nvPr/>
        </p:nvSpPr>
        <p:spPr>
          <a:xfrm>
            <a:off x="6281928"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8</a:t>
            </a:r>
            <a:endParaRPr lang="en-US" sz="1400" dirty="0"/>
          </a:p>
        </p:txBody>
      </p:sp>
      <p:sp>
        <p:nvSpPr>
          <p:cNvPr id="16" name="Text 14"/>
          <p:cNvSpPr txBox="1"/>
          <p:nvPr/>
        </p:nvSpPr>
        <p:spPr>
          <a:xfrm>
            <a:off x="6281928"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[1,8]</a:t>
            </a:r>
            <a:endParaRPr lang="en-US" sz="1000" dirty="0"/>
          </a:p>
        </p:txBody>
      </p:sp>
      <p:sp>
        <p:nvSpPr>
          <p:cNvPr id="17" name="Shape 15"/>
          <p:cNvSpPr/>
          <p:nvPr/>
        </p:nvSpPr>
        <p:spPr>
          <a:xfrm>
            <a:off x="7726680" y="2395728"/>
            <a:ext cx="1371600" cy="566928"/>
          </a:xfrm>
          <a:prstGeom prst="rect">
            <a:avLst/>
          </a:prstGeom>
          <a:solidFill>
            <a:srgbClr val="FFFFFF"/>
          </a:solidFill>
          <a:ln w="9525">
            <a:solidFill>
              <a:srgbClr val="DADDE2"/>
            </a:solidFill>
            <a:prstDash val="solid"/>
          </a:ln>
        </p:spPr>
      </p:sp>
      <p:sp>
        <p:nvSpPr>
          <p:cNvPr id="18" name="Text 16"/>
          <p:cNvSpPr txBox="1"/>
          <p:nvPr/>
        </p:nvSpPr>
        <p:spPr>
          <a:xfrm>
            <a:off x="7726680"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10</a:t>
            </a:r>
            <a:endParaRPr lang="en-US" sz="1400" dirty="0"/>
          </a:p>
        </p:txBody>
      </p:sp>
      <p:sp>
        <p:nvSpPr>
          <p:cNvPr id="19" name="Text 17"/>
          <p:cNvSpPr txBox="1"/>
          <p:nvPr/>
        </p:nvSpPr>
        <p:spPr>
          <a:xfrm>
            <a:off x="7726680"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[8,10]</a:t>
            </a:r>
            <a:endParaRPr lang="en-US" sz="1000" dirty="0"/>
          </a:p>
        </p:txBody>
      </p:sp>
      <p:sp>
        <p:nvSpPr>
          <p:cNvPr id="20" name="Shape 18"/>
          <p:cNvSpPr/>
          <p:nvPr/>
        </p:nvSpPr>
        <p:spPr>
          <a:xfrm>
            <a:off x="667512" y="3529584"/>
            <a:ext cx="10853928" cy="914400"/>
          </a:xfrm>
          <a:prstGeom prst="rect">
            <a:avLst/>
          </a:prstGeom>
          <a:solidFill>
            <a:srgbClr val="FAFAFA"/>
          </a:solidFill>
          <a:ln/>
        </p:spPr>
      </p:sp>
      <p:sp>
        <p:nvSpPr>
          <p:cNvPr id="21" name="Text 19"/>
          <p:cNvSpPr txBox="1"/>
          <p:nvPr/>
        </p:nvSpPr>
        <p:spPr>
          <a:xfrm>
            <a:off x="941832" y="3621024"/>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urutan proses: [1,3]  [2,5]  [4,7]  [1,8]  [8,10]</a:t>
            </a:r>
            <a:endParaRPr lang="en-US" sz="1300" dirty="0"/>
          </a:p>
        </p:txBody>
      </p:sp>
      <p:sp>
        <p:nvSpPr>
          <p:cNvPr id="22" name="Text 20"/>
          <p:cNvSpPr txBox="1"/>
          <p:nvPr/>
        </p:nvSpPr>
        <p:spPr>
          <a:xfrm>
            <a:off x="941832" y="3968496"/>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Perhatikan bahwa [1,8] berada di urutan keempat meski mulai paling awal. Yang menentukan urutan adalah waktu selesai, bukan waktu mulai.</a:t>
            </a:r>
            <a:endParaRPr lang="en-US" sz="1200" dirty="0"/>
          </a:p>
        </p:txBody>
      </p:sp>
      <p:sp>
        <p:nvSpPr>
          <p:cNvPr id="23" name="Shape 21"/>
          <p:cNvSpPr/>
          <p:nvPr/>
        </p:nvSpPr>
        <p:spPr>
          <a:xfrm>
            <a:off x="9692640" y="1737360"/>
            <a:ext cx="1828800" cy="384048"/>
          </a:xfrm>
          <a:prstGeom prst="rect">
            <a:avLst/>
          </a:prstGeom>
          <a:solidFill>
            <a:srgbClr val="F2F7FD"/>
          </a:solidFill>
          <a:ln/>
        </p:spPr>
      </p:sp>
      <p:sp>
        <p:nvSpPr>
          <p:cNvPr id="24" name="Text 22"/>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 / 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2 — Mengambil dan Melewati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Kegiatan pertama selalu diambil. Berikutnya diambil hanya bila waktu mulainya tidak lebih kecil dari batas.</a:t>
            </a:r>
            <a:endParaRPr lang="en-US" sz="1300" dirty="0"/>
          </a:p>
        </p:txBody>
      </p:sp>
      <p:sp>
        <p:nvSpPr>
          <p:cNvPr id="4" name="Text 2"/>
          <p:cNvSpPr txBox="1"/>
          <p:nvPr/>
        </p:nvSpPr>
        <p:spPr>
          <a:xfrm>
            <a:off x="667512" y="2788920"/>
            <a:ext cx="128016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status</a:t>
            </a:r>
            <a:endParaRPr lang="en-US" sz="1250" dirty="0"/>
          </a:p>
        </p:txBody>
      </p:sp>
      <p:sp>
        <p:nvSpPr>
          <p:cNvPr id="5" name="Shape 3"/>
          <p:cNvSpPr/>
          <p:nvPr/>
        </p:nvSpPr>
        <p:spPr>
          <a:xfrm>
            <a:off x="1947672" y="2633472"/>
            <a:ext cx="1371600" cy="566928"/>
          </a:xfrm>
          <a:prstGeom prst="rect">
            <a:avLst/>
          </a:prstGeom>
          <a:solidFill>
            <a:srgbClr val="E6F2FC"/>
          </a:solidFill>
          <a:ln w="9525">
            <a:solidFill>
              <a:srgbClr val="DADDE2"/>
            </a:solidFill>
            <a:prstDash val="solid"/>
          </a:ln>
        </p:spPr>
      </p:sp>
      <p:sp>
        <p:nvSpPr>
          <p:cNvPr id="6" name="Text 4"/>
          <p:cNvSpPr txBox="1"/>
          <p:nvPr/>
        </p:nvSpPr>
        <p:spPr>
          <a:xfrm>
            <a:off x="1947672" y="2633472"/>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7" name="Text 5"/>
          <p:cNvSpPr txBox="1"/>
          <p:nvPr/>
        </p:nvSpPr>
        <p:spPr>
          <a:xfrm>
            <a:off x="1947672"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[1,3]</a:t>
            </a:r>
            <a:endParaRPr lang="en-US" sz="1000" dirty="0"/>
          </a:p>
        </p:txBody>
      </p:sp>
      <p:sp>
        <p:nvSpPr>
          <p:cNvPr id="8" name="Shape 6"/>
          <p:cNvSpPr/>
          <p:nvPr/>
        </p:nvSpPr>
        <p:spPr>
          <a:xfrm>
            <a:off x="3392424" y="2633472"/>
            <a:ext cx="1371600" cy="566928"/>
          </a:xfrm>
          <a:prstGeom prst="rect">
            <a:avLst/>
          </a:prstGeom>
          <a:solidFill>
            <a:srgbClr val="FFFFFF"/>
          </a:solidFill>
          <a:ln w="9525">
            <a:solidFill>
              <a:srgbClr val="DADDE2"/>
            </a:solidFill>
            <a:prstDash val="solid"/>
          </a:ln>
        </p:spPr>
      </p:sp>
      <p:sp>
        <p:nvSpPr>
          <p:cNvPr id="9" name="Text 7"/>
          <p:cNvSpPr txBox="1"/>
          <p:nvPr/>
        </p:nvSpPr>
        <p:spPr>
          <a:xfrm>
            <a:off x="3392424" y="2633472"/>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lewati</a:t>
            </a:r>
            <a:endParaRPr lang="en-US" sz="1400" dirty="0"/>
          </a:p>
        </p:txBody>
      </p:sp>
      <p:sp>
        <p:nvSpPr>
          <p:cNvPr id="10" name="Text 8"/>
          <p:cNvSpPr txBox="1"/>
          <p:nvPr/>
        </p:nvSpPr>
        <p:spPr>
          <a:xfrm>
            <a:off x="3392424"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[2,5]</a:t>
            </a:r>
            <a:endParaRPr lang="en-US" sz="1000" dirty="0"/>
          </a:p>
        </p:txBody>
      </p:sp>
      <p:sp>
        <p:nvSpPr>
          <p:cNvPr id="11" name="Shape 9"/>
          <p:cNvSpPr/>
          <p:nvPr/>
        </p:nvSpPr>
        <p:spPr>
          <a:xfrm>
            <a:off x="4837176" y="2633472"/>
            <a:ext cx="1371600" cy="566928"/>
          </a:xfrm>
          <a:prstGeom prst="rect">
            <a:avLst/>
          </a:prstGeom>
          <a:solidFill>
            <a:srgbClr val="FFF3D6"/>
          </a:solidFill>
          <a:ln w="9525">
            <a:solidFill>
              <a:srgbClr val="DADDE2"/>
            </a:solidFill>
            <a:prstDash val="solid"/>
          </a:ln>
        </p:spPr>
      </p:sp>
      <p:sp>
        <p:nvSpPr>
          <p:cNvPr id="12" name="Text 10"/>
          <p:cNvSpPr txBox="1"/>
          <p:nvPr/>
        </p:nvSpPr>
        <p:spPr>
          <a:xfrm>
            <a:off x="4837176" y="2633472"/>
            <a:ext cx="1371600" cy="566928"/>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AMBIL</a:t>
            </a:r>
            <a:endParaRPr lang="en-US" sz="1400" dirty="0"/>
          </a:p>
        </p:txBody>
      </p:sp>
      <p:sp>
        <p:nvSpPr>
          <p:cNvPr id="13" name="Text 11"/>
          <p:cNvSpPr txBox="1"/>
          <p:nvPr/>
        </p:nvSpPr>
        <p:spPr>
          <a:xfrm>
            <a:off x="4837176"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[4,7]</a:t>
            </a:r>
            <a:endParaRPr lang="en-US" sz="1000" dirty="0"/>
          </a:p>
        </p:txBody>
      </p:sp>
      <p:sp>
        <p:nvSpPr>
          <p:cNvPr id="14" name="Shape 12"/>
          <p:cNvSpPr/>
          <p:nvPr/>
        </p:nvSpPr>
        <p:spPr>
          <a:xfrm>
            <a:off x="6281928" y="2633472"/>
            <a:ext cx="1371600" cy="566928"/>
          </a:xfrm>
          <a:prstGeom prst="rect">
            <a:avLst/>
          </a:prstGeom>
          <a:solidFill>
            <a:srgbClr val="FFFFFF"/>
          </a:solidFill>
          <a:ln w="9525">
            <a:solidFill>
              <a:srgbClr val="DADDE2"/>
            </a:solidFill>
            <a:prstDash val="solid"/>
          </a:ln>
        </p:spPr>
      </p:sp>
      <p:sp>
        <p:nvSpPr>
          <p:cNvPr id="15" name="Text 13"/>
          <p:cNvSpPr txBox="1"/>
          <p:nvPr/>
        </p:nvSpPr>
        <p:spPr>
          <a:xfrm>
            <a:off x="6281928" y="2633472"/>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6" name="Text 14"/>
          <p:cNvSpPr txBox="1"/>
          <p:nvPr/>
        </p:nvSpPr>
        <p:spPr>
          <a:xfrm>
            <a:off x="6281928"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[1,8]</a:t>
            </a:r>
            <a:endParaRPr lang="en-US" sz="1000" dirty="0"/>
          </a:p>
        </p:txBody>
      </p:sp>
      <p:sp>
        <p:nvSpPr>
          <p:cNvPr id="17" name="Shape 15"/>
          <p:cNvSpPr/>
          <p:nvPr/>
        </p:nvSpPr>
        <p:spPr>
          <a:xfrm>
            <a:off x="7726680" y="2633472"/>
            <a:ext cx="1371600" cy="566928"/>
          </a:xfrm>
          <a:prstGeom prst="rect">
            <a:avLst/>
          </a:prstGeom>
          <a:solidFill>
            <a:srgbClr val="FFFFFF"/>
          </a:solidFill>
          <a:ln w="9525">
            <a:solidFill>
              <a:srgbClr val="DADDE2"/>
            </a:solidFill>
            <a:prstDash val="solid"/>
          </a:ln>
        </p:spPr>
      </p:sp>
      <p:sp>
        <p:nvSpPr>
          <p:cNvPr id="18" name="Text 16"/>
          <p:cNvSpPr txBox="1"/>
          <p:nvPr/>
        </p:nvSpPr>
        <p:spPr>
          <a:xfrm>
            <a:off x="7726680" y="2633472"/>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9" name="Text 17"/>
          <p:cNvSpPr txBox="1"/>
          <p:nvPr/>
        </p:nvSpPr>
        <p:spPr>
          <a:xfrm>
            <a:off x="7726680"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[8,10]</a:t>
            </a:r>
            <a:endParaRPr lang="en-US" sz="1000" dirty="0"/>
          </a:p>
        </p:txBody>
      </p:sp>
      <p:sp>
        <p:nvSpPr>
          <p:cNvPr id="20" name="Shape 18"/>
          <p:cNvSpPr/>
          <p:nvPr/>
        </p:nvSpPr>
        <p:spPr>
          <a:xfrm>
            <a:off x="667512" y="3767328"/>
            <a:ext cx="10853928" cy="914400"/>
          </a:xfrm>
          <a:prstGeom prst="rect">
            <a:avLst/>
          </a:prstGeom>
          <a:solidFill>
            <a:srgbClr val="FAFAFA"/>
          </a:solidFill>
          <a:ln/>
        </p:spPr>
      </p:sp>
      <p:sp>
        <p:nvSpPr>
          <p:cNvPr id="21" name="Text 19"/>
          <p:cNvSpPr txBox="1"/>
          <p:nvPr/>
        </p:nvSpPr>
        <p:spPr>
          <a:xfrm>
            <a:off x="941832" y="3858768"/>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[2,5] dilewati karena mulai 2 lebih kecil dari batas 3</a:t>
            </a:r>
            <a:endParaRPr lang="en-US" sz="1300" dirty="0"/>
          </a:p>
        </p:txBody>
      </p:sp>
      <p:sp>
        <p:nvSpPr>
          <p:cNvPr id="22" name="Text 20"/>
          <p:cNvSpPr txBox="1"/>
          <p:nvPr/>
        </p:nvSpPr>
        <p:spPr>
          <a:xfrm>
            <a:off x="941832" y="4206240"/>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Setelah mengambil [1,3], batas menjadi 3. Kegiatan [2,5] bertabrakan sehingga dilewati; [4,7] mulai pada 4 sehingga aman diambil dan batas menjadi 7.</a:t>
            </a:r>
            <a:endParaRPr lang="en-US" sz="1200" dirty="0"/>
          </a:p>
        </p:txBody>
      </p:sp>
      <p:sp>
        <p:nvSpPr>
          <p:cNvPr id="23" name="Shape 21"/>
          <p:cNvSpPr/>
          <p:nvPr/>
        </p:nvSpPr>
        <p:spPr>
          <a:xfrm>
            <a:off x="9692640" y="1975104"/>
            <a:ext cx="1828800" cy="384048"/>
          </a:xfrm>
          <a:prstGeom prst="rect">
            <a:avLst/>
          </a:prstGeom>
          <a:solidFill>
            <a:srgbClr val="F2F7FD"/>
          </a:solidFill>
          <a:ln/>
        </p:spPr>
      </p:sp>
      <p:sp>
        <p:nvSpPr>
          <p:cNvPr id="24" name="Text 22"/>
          <p:cNvSpPr txBox="1"/>
          <p:nvPr/>
        </p:nvSpPr>
        <p:spPr>
          <a:xfrm>
            <a:off x="9692640" y="1975104"/>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 / 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3 — Hasil Akhir</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Setelah seluruh kegiatan diperiksa, terkumpul tiga kegiatan yang tidak saling bertabrakan.</a:t>
            </a:r>
            <a:endParaRPr lang="en-US" sz="1300" dirty="0"/>
          </a:p>
        </p:txBody>
      </p:sp>
      <p:sp>
        <p:nvSpPr>
          <p:cNvPr id="4" name="Text 2"/>
          <p:cNvSpPr txBox="1"/>
          <p:nvPr/>
        </p:nvSpPr>
        <p:spPr>
          <a:xfrm>
            <a:off x="667512" y="2551176"/>
            <a:ext cx="128016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status</a:t>
            </a:r>
            <a:endParaRPr lang="en-US" sz="1250" dirty="0"/>
          </a:p>
        </p:txBody>
      </p:sp>
      <p:sp>
        <p:nvSpPr>
          <p:cNvPr id="5" name="Shape 3"/>
          <p:cNvSpPr/>
          <p:nvPr/>
        </p:nvSpPr>
        <p:spPr>
          <a:xfrm>
            <a:off x="1947672" y="2395728"/>
            <a:ext cx="1371600" cy="566928"/>
          </a:xfrm>
          <a:prstGeom prst="rect">
            <a:avLst/>
          </a:prstGeom>
          <a:solidFill>
            <a:srgbClr val="E6F2FC"/>
          </a:solidFill>
          <a:ln w="9525">
            <a:solidFill>
              <a:srgbClr val="DADDE2"/>
            </a:solidFill>
            <a:prstDash val="solid"/>
          </a:ln>
        </p:spPr>
      </p:sp>
      <p:sp>
        <p:nvSpPr>
          <p:cNvPr id="6" name="Text 4"/>
          <p:cNvSpPr txBox="1"/>
          <p:nvPr/>
        </p:nvSpPr>
        <p:spPr>
          <a:xfrm>
            <a:off x="1947672" y="2395728"/>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7" name="Text 5"/>
          <p:cNvSpPr txBox="1"/>
          <p:nvPr/>
        </p:nvSpPr>
        <p:spPr>
          <a:xfrm>
            <a:off x="1947672"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[1,3]</a:t>
            </a:r>
            <a:endParaRPr lang="en-US" sz="1000" dirty="0"/>
          </a:p>
        </p:txBody>
      </p:sp>
      <p:sp>
        <p:nvSpPr>
          <p:cNvPr id="8" name="Shape 6"/>
          <p:cNvSpPr/>
          <p:nvPr/>
        </p:nvSpPr>
        <p:spPr>
          <a:xfrm>
            <a:off x="3392424" y="2395728"/>
            <a:ext cx="1371600" cy="566928"/>
          </a:xfrm>
          <a:prstGeom prst="rect">
            <a:avLst/>
          </a:prstGeom>
          <a:solidFill>
            <a:srgbClr val="FFFFFF"/>
          </a:solidFill>
          <a:ln w="9525">
            <a:solidFill>
              <a:srgbClr val="DADDE2"/>
            </a:solidFill>
            <a:prstDash val="solid"/>
          </a:ln>
        </p:spPr>
      </p:sp>
      <p:sp>
        <p:nvSpPr>
          <p:cNvPr id="9" name="Text 7"/>
          <p:cNvSpPr txBox="1"/>
          <p:nvPr/>
        </p:nvSpPr>
        <p:spPr>
          <a:xfrm>
            <a:off x="3392424"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lewati</a:t>
            </a:r>
            <a:endParaRPr lang="en-US" sz="1400" dirty="0"/>
          </a:p>
        </p:txBody>
      </p:sp>
      <p:sp>
        <p:nvSpPr>
          <p:cNvPr id="10" name="Text 8"/>
          <p:cNvSpPr txBox="1"/>
          <p:nvPr/>
        </p:nvSpPr>
        <p:spPr>
          <a:xfrm>
            <a:off x="3392424"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[2,5]</a:t>
            </a:r>
            <a:endParaRPr lang="en-US" sz="1000" dirty="0"/>
          </a:p>
        </p:txBody>
      </p:sp>
      <p:sp>
        <p:nvSpPr>
          <p:cNvPr id="11" name="Shape 9"/>
          <p:cNvSpPr/>
          <p:nvPr/>
        </p:nvSpPr>
        <p:spPr>
          <a:xfrm>
            <a:off x="4837176" y="2395728"/>
            <a:ext cx="1371600" cy="566928"/>
          </a:xfrm>
          <a:prstGeom prst="rect">
            <a:avLst/>
          </a:prstGeom>
          <a:solidFill>
            <a:srgbClr val="E6F2FC"/>
          </a:solidFill>
          <a:ln w="9525">
            <a:solidFill>
              <a:srgbClr val="DADDE2"/>
            </a:solidFill>
            <a:prstDash val="solid"/>
          </a:ln>
        </p:spPr>
      </p:sp>
      <p:sp>
        <p:nvSpPr>
          <p:cNvPr id="12" name="Text 10"/>
          <p:cNvSpPr txBox="1"/>
          <p:nvPr/>
        </p:nvSpPr>
        <p:spPr>
          <a:xfrm>
            <a:off x="4837176" y="2395728"/>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13" name="Text 11"/>
          <p:cNvSpPr txBox="1"/>
          <p:nvPr/>
        </p:nvSpPr>
        <p:spPr>
          <a:xfrm>
            <a:off x="4837176"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[4,7]</a:t>
            </a:r>
            <a:endParaRPr lang="en-US" sz="1000" dirty="0"/>
          </a:p>
        </p:txBody>
      </p:sp>
      <p:sp>
        <p:nvSpPr>
          <p:cNvPr id="14" name="Shape 12"/>
          <p:cNvSpPr/>
          <p:nvPr/>
        </p:nvSpPr>
        <p:spPr>
          <a:xfrm>
            <a:off x="6281928" y="2395728"/>
            <a:ext cx="1371600" cy="566928"/>
          </a:xfrm>
          <a:prstGeom prst="rect">
            <a:avLst/>
          </a:prstGeom>
          <a:solidFill>
            <a:srgbClr val="FFFFFF"/>
          </a:solidFill>
          <a:ln w="9525">
            <a:solidFill>
              <a:srgbClr val="DADDE2"/>
            </a:solidFill>
            <a:prstDash val="solid"/>
          </a:ln>
        </p:spPr>
      </p:sp>
      <p:sp>
        <p:nvSpPr>
          <p:cNvPr id="15" name="Text 13"/>
          <p:cNvSpPr txBox="1"/>
          <p:nvPr/>
        </p:nvSpPr>
        <p:spPr>
          <a:xfrm>
            <a:off x="6281928"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lewati</a:t>
            </a:r>
            <a:endParaRPr lang="en-US" sz="1400" dirty="0"/>
          </a:p>
        </p:txBody>
      </p:sp>
      <p:sp>
        <p:nvSpPr>
          <p:cNvPr id="16" name="Text 14"/>
          <p:cNvSpPr txBox="1"/>
          <p:nvPr/>
        </p:nvSpPr>
        <p:spPr>
          <a:xfrm>
            <a:off x="6281928"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[1,8]</a:t>
            </a:r>
            <a:endParaRPr lang="en-US" sz="1000" dirty="0"/>
          </a:p>
        </p:txBody>
      </p:sp>
      <p:sp>
        <p:nvSpPr>
          <p:cNvPr id="17" name="Shape 15"/>
          <p:cNvSpPr/>
          <p:nvPr/>
        </p:nvSpPr>
        <p:spPr>
          <a:xfrm>
            <a:off x="7726680" y="2395728"/>
            <a:ext cx="1371600" cy="566928"/>
          </a:xfrm>
          <a:prstGeom prst="rect">
            <a:avLst/>
          </a:prstGeom>
          <a:solidFill>
            <a:srgbClr val="E6F2FC"/>
          </a:solidFill>
          <a:ln w="9525">
            <a:solidFill>
              <a:srgbClr val="DADDE2"/>
            </a:solidFill>
            <a:prstDash val="solid"/>
          </a:ln>
        </p:spPr>
      </p:sp>
      <p:sp>
        <p:nvSpPr>
          <p:cNvPr id="18" name="Text 16"/>
          <p:cNvSpPr txBox="1"/>
          <p:nvPr/>
        </p:nvSpPr>
        <p:spPr>
          <a:xfrm>
            <a:off x="7726680" y="2395728"/>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19" name="Text 17"/>
          <p:cNvSpPr txBox="1"/>
          <p:nvPr/>
        </p:nvSpPr>
        <p:spPr>
          <a:xfrm>
            <a:off x="7726680"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[8,10]</a:t>
            </a:r>
            <a:endParaRPr lang="en-US" sz="1000" dirty="0"/>
          </a:p>
        </p:txBody>
      </p:sp>
      <p:sp>
        <p:nvSpPr>
          <p:cNvPr id="20" name="Shape 18"/>
          <p:cNvSpPr/>
          <p:nvPr/>
        </p:nvSpPr>
        <p:spPr>
          <a:xfrm>
            <a:off x="667512" y="3529584"/>
            <a:ext cx="10853928" cy="914400"/>
          </a:xfrm>
          <a:prstGeom prst="rect">
            <a:avLst/>
          </a:prstGeom>
          <a:solidFill>
            <a:srgbClr val="FAFAFA"/>
          </a:solidFill>
          <a:ln/>
        </p:spPr>
      </p:sp>
      <p:sp>
        <p:nvSpPr>
          <p:cNvPr id="21" name="Text 19"/>
          <p:cNvSpPr txBox="1"/>
          <p:nvPr/>
        </p:nvSpPr>
        <p:spPr>
          <a:xfrm>
            <a:off x="941832" y="3621024"/>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jawaban = 3 kegiatan:  [1,3]  [4,7]  [8,10]</a:t>
            </a:r>
            <a:endParaRPr lang="en-US" sz="1300" dirty="0"/>
          </a:p>
        </p:txBody>
      </p:sp>
      <p:sp>
        <p:nvSpPr>
          <p:cNvPr id="22" name="Text 20"/>
          <p:cNvSpPr txBox="1"/>
          <p:nvPr/>
        </p:nvSpPr>
        <p:spPr>
          <a:xfrm>
            <a:off x="941832" y="3968496"/>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Perhatikan [1,8] yang dilewati meski durasinya paling panjang. Greedy ini memaksimalkan JUMLAH kegiatan, bukan total durasinya.</a:t>
            </a:r>
            <a:endParaRPr lang="en-US" sz="1200" dirty="0"/>
          </a:p>
        </p:txBody>
      </p:sp>
      <p:sp>
        <p:nvSpPr>
          <p:cNvPr id="23" name="Shape 21"/>
          <p:cNvSpPr/>
          <p:nvPr/>
        </p:nvSpPr>
        <p:spPr>
          <a:xfrm>
            <a:off x="9692640" y="1737360"/>
            <a:ext cx="1828800" cy="384048"/>
          </a:xfrm>
          <a:prstGeom prst="rect">
            <a:avLst/>
          </a:prstGeom>
          <a:solidFill>
            <a:srgbClr val="F2F7FD"/>
          </a:solidFill>
          <a:ln/>
        </p:spPr>
      </p:sp>
      <p:sp>
        <p:nvSpPr>
          <p:cNvPr id="24" name="Text 22"/>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 /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Varian Lain</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Merging dan sweep line</a:t>
            </a:r>
            <a:endParaRPr lang="en-US" sz="1350" dirty="0"/>
          </a:p>
        </p:txBody>
      </p:sp>
      <p:sp>
        <p:nvSpPr>
          <p:cNvPr id="5" name="Shape 3"/>
          <p:cNvSpPr/>
          <p:nvPr/>
        </p:nvSpPr>
        <p:spPr>
          <a:xfrm>
            <a:off x="5815584" y="4251960"/>
            <a:ext cx="548640" cy="45720"/>
          </a:xfrm>
          <a:prstGeom prst="rect">
            <a:avLst/>
          </a:prstGeom>
          <a:solidFill>
            <a:srgbClr val="F0736A"/>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Merging Intervals</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Berbeda dengan activity selection, di sini urutannya menurut waktu MULAI. Perhatikan fungsi max di baris perpanjangan.</a:t>
            </a:r>
            <a:endParaRPr lang="en-US" sz="1300" dirty="0"/>
          </a:p>
        </p:txBody>
      </p:sp>
      <p:pic>
        <p:nvPicPr>
          <p:cNvPr id="4" name="Image 0" descr="/tmp/ppt/imgs/c0_15_3.png">    </p:cNvPr>
          <p:cNvPicPr>
            <a:picLocks noChangeAspect="1"/>
          </p:cNvPicPr>
          <p:nvPr/>
        </p:nvPicPr>
        <p:blipFill>
          <a:blip r:embed="rId1"/>
          <a:stretch>
            <a:fillRect/>
          </a:stretch>
        </p:blipFill>
        <p:spPr>
          <a:xfrm>
            <a:off x="4292270" y="1993392"/>
            <a:ext cx="3604412"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Tanpa max, interval yang termuat penuh di dalam interval sebelumnya akan memperpendek hasilnya. Ini bug yang hanya muncul pada data tertentu, sehingga mudah lolos dari pengujian sederhana.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Sweep Line</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Ubah setiap interval menjadi dua kejadian, lalu sapu dari kiri ke kanan sambil menghitung yang aktif.</a:t>
            </a:r>
            <a:endParaRPr lang="en-US" sz="1300" dirty="0"/>
          </a:p>
        </p:txBody>
      </p:sp>
      <p:pic>
        <p:nvPicPr>
          <p:cNvPr id="4" name="Image 0" descr="/tmp/ppt/imgs/c0_16_4.png">    </p:cNvPr>
          <p:cNvPicPr>
            <a:picLocks noChangeAspect="1"/>
          </p:cNvPicPr>
          <p:nvPr/>
        </p:nvPicPr>
        <p:blipFill>
          <a:blip r:embed="rId1"/>
          <a:stretch>
            <a:fillRect/>
          </a:stretch>
        </p:blipFill>
        <p:spPr>
          <a:xfrm>
            <a:off x="4533548" y="1755648"/>
            <a:ext cx="3121856" cy="3319272"/>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Detail terpenting ada di catatan akhir: urutan pemrosesan kejadian pada waktu yang sama menentukan apakah interval yang bersentuhan di ujung dianggap bertabrakan.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Katalog Soal Interval</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Enam bentuk yang menutupi hampir seluruh soal interval di kontes. Perhatikan kriteria pengurutannya berbeda-beda.</a:t>
            </a:r>
            <a:endParaRPr lang="en-US" sz="1300" dirty="0"/>
          </a:p>
        </p:txBody>
      </p:sp>
      <p:pic>
        <p:nvPicPr>
          <p:cNvPr id="4" name="Image 0" descr="/tmp/ppt/imgs/c0_17_5.png">    </p:cNvPr>
          <p:cNvPicPr>
            <a:picLocks noChangeAspect="1"/>
          </p:cNvPicPr>
          <p:nvPr/>
        </p:nvPicPr>
        <p:blipFill>
          <a:blip r:embed="rId1"/>
          <a:stretch>
            <a:fillRect/>
          </a:stretch>
        </p:blipFill>
        <p:spPr>
          <a:xfrm>
            <a:off x="4483763" y="1993392"/>
            <a:ext cx="3221426"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Perhatikan bahwa nomor 1 dan nomor 4 adalah soal yang sama dilihat dari sudut berbeda. Mengenali kesamaan seperti ini menghemat banyak waktu berpikir.</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Kriteria Pengurutan Menentukan Segalanya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Kesalahan tersering pada soal interval bukan pada kodenya, melainkan pada memilih kriteria urutannya.</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291840"/>
                <a:gridCol w="2926080"/>
                <a:gridCol w="4636008"/>
              </a:tblGrid>
              <a:tr h="566928">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Tujuan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Urutkan menurut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Alasannya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Paling banyak kegiatan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Waktu selesai menaik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Selesai paling awal menyisakan waktu terbanyak.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Gabungkan yang bertumpuk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Waktu mulai menaik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Agar interval bersebelahan bisa langsung dibandingkan.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Ruangan minimum</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pada kejadian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Yang dicari puncak jumlah aktif, bukan pemilihan.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Interval termuat di lain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Mulai menaik, selesai menurun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Agar yang lebih besar selalu diproses lebih dulu.</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Total panjang gabungan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Waktu mulai menaik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Gabungkan dulu, baru jumlahkan panjangnya.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A78BFA"/>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Jadwal Terbanyak</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Diberikan n kegiatan, masing-masing dengan waktu mulai dan waktu selesai. Kamu hanya bisa mengikuti satu kegiatan pada satu waktu. Kegiatan yang selesai tepat saat kegiatan lain dimulai dianggap TIDAK bertabrakan. Berapa kegiatan terbanyak yang bisa diikuti?</a:t>
            </a:r>
            <a:endParaRPr lang="en-US" sz="1300" dirty="0"/>
          </a:p>
        </p:txBody>
      </p:sp>
      <p:sp>
        <p:nvSpPr>
          <p:cNvPr id="8" name="Text 6"/>
          <p:cNvSpPr txBox="1"/>
          <p:nvPr/>
        </p:nvSpPr>
        <p:spPr>
          <a:xfrm>
            <a:off x="1014984" y="448056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200000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mulai &lt; selesai &lt;= 10^9</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batas waktu 1 detik</a:t>
            </a:r>
            <a:endParaRPr lang="en-US" sz="1200" dirty="0"/>
          </a:p>
        </p:txBody>
      </p:sp>
      <p:pic>
        <p:nvPicPr>
          <p:cNvPr id="9" name="Image 0" descr="/tmp/ppt/imgs/c0_20_6.png">    </p:cNvPr>
          <p:cNvPicPr>
            <a:picLocks noChangeAspect="1"/>
          </p:cNvPicPr>
          <p:nvPr/>
        </p:nvPicPr>
        <p:blipFill>
          <a:blip r:embed="rId1"/>
          <a:stretch>
            <a:fillRect/>
          </a:stretch>
        </p:blipFill>
        <p:spPr>
          <a:xfrm>
            <a:off x="7817473" y="1280160"/>
            <a:ext cx="2835934" cy="4572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Lengkap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Seluruh kecerdikannya ada di baris 14 sampai 18: kriteria pengurutan. Sisanya hanya loop sederhana.</a:t>
            </a:r>
            <a:endParaRPr lang="en-US" sz="1300" dirty="0"/>
          </a:p>
        </p:txBody>
      </p:sp>
      <p:pic>
        <p:nvPicPr>
          <p:cNvPr id="4" name="Image 0" descr="/tmp/ppt/imgs/c0_21_7.png">    </p:cNvPr>
          <p:cNvPicPr>
            <a:picLocks noChangeAspect="1"/>
          </p:cNvPicPr>
          <p:nvPr/>
        </p:nvPicPr>
        <p:blipFill>
          <a:blip r:embed="rId1"/>
          <a:stretch>
            <a:fillRect/>
          </a:stretch>
        </p:blipFill>
        <p:spPr>
          <a:xfrm>
            <a:off x="4812550" y="1755648"/>
            <a:ext cx="2563851" cy="3319272"/>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Perhatikan tanda pada perbandingan: l &gt;= batas berarti bersentuhan di ujung dianggap boleh. Bila soal melarangnya, ganti menjadi l &gt; batas.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Kelimanya melatih pemilihan kriteria pengurutan, bukan algoritma yang rumit.</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Movie Festival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Activity selection standar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Restaurant Customers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puncak jumlah aktif</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Room Allocation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dengan priority_queue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LeetCode 56 / 57</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Merging intervals dan penyisipan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Movie Festival II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Activity selection dengan k penonton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Kriteria pengurutan adalah seluruh soalnya</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Untuk memaksimalkan jumlah kegiatan, urutkan menurut waktu SELESAI. Untuk menggabungkan, urutkan menurut waktu MULAI. Salah memilih membuat jawabannya salah.</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Buat contoh tandingan sebelum submit</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Tiga sampai lima interval biasanya cukup untuk menjatuhkan greedy yang salah. Kebiasaan ini menghemat banyak submission gagal.</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Exchange argument membuktikan greedy</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Ambil solusi optimal apa pun, tukar satu bagiannya dengan pilihan greedy, tunjukkan hasilnya tidak lebih buruk. Pola ini berlaku untuk hampir semua soal greedy.</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Perhatikan ujung yang bersentuhan</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Apakah [1,5] dan [5,9] bertabrakan? Jawabannya menentukan tanda perbandingan, dan urutan pemrosesan kejadian pada sweep line.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2026-09-01T05:31:15Z</dcterms:created>
  <dcterms:modified xsi:type="dcterms:W3CDTF">2026-09-01T05:31:15Z</dcterms:modified>
</cp:coreProperties>
</file>