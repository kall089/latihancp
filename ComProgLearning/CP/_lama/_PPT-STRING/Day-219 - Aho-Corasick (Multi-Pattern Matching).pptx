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066e83ee04c5b" /><Relationship Type="http://schemas.openxmlformats.org/officeDocument/2006/relationships/extended-properties" Target="/docProps/app.xml" Id="Rdbe783437a994802" /><Relationship Type="http://schemas.openxmlformats.org/officeDocument/2006/relationships/officeDocument" Target="/ppt/presentation.xml" Id="R9d70800a7f4742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96614463e4aec"/>
  </p:sldMasterIdLst>
  <p:notesMasterIdLst>
    <p:notesMasterId xmlns:r="http://schemas.openxmlformats.org/officeDocument/2006/relationships" r:id="Ra2d80d0c259b425f"/>
  </p:notesMasterIdLst>
  <p:sldIdLst>
    <p:sldId xmlns:r="http://schemas.openxmlformats.org/officeDocument/2006/relationships" id="256" r:id="R3fb1d935c3a74d1b"/>
    <p:sldId xmlns:r="http://schemas.openxmlformats.org/officeDocument/2006/relationships" id="257" r:id="R2aeee32f28ce4435"/>
    <p:sldId xmlns:r="http://schemas.openxmlformats.org/officeDocument/2006/relationships" id="258" r:id="R8a68c3a53aae4b56"/>
    <p:sldId xmlns:r="http://schemas.openxmlformats.org/officeDocument/2006/relationships" id="259" r:id="R6374ea91d0e240c9"/>
    <p:sldId xmlns:r="http://schemas.openxmlformats.org/officeDocument/2006/relationships" id="260" r:id="R9b35e1ee2309477f"/>
    <p:sldId xmlns:r="http://schemas.openxmlformats.org/officeDocument/2006/relationships" id="261" r:id="R5202c8467dca42bc"/>
    <p:sldId xmlns:r="http://schemas.openxmlformats.org/officeDocument/2006/relationships" id="262" r:id="R62fe2e4ddb7f454b"/>
    <p:sldId xmlns:r="http://schemas.openxmlformats.org/officeDocument/2006/relationships" id="263" r:id="R8815c7048a874092"/>
    <p:sldId xmlns:r="http://schemas.openxmlformats.org/officeDocument/2006/relationships" id="264" r:id="R8503c84cafd94599"/>
    <p:sldId xmlns:r="http://schemas.openxmlformats.org/officeDocument/2006/relationships" id="265" r:id="R67fdeca470254622"/>
    <p:sldId xmlns:r="http://schemas.openxmlformats.org/officeDocument/2006/relationships" id="266" r:id="Rcaf0e436409f4385"/>
    <p:sldId xmlns:r="http://schemas.openxmlformats.org/officeDocument/2006/relationships" id="267" r:id="Rc1492968b66c4021"/>
    <p:sldId xmlns:r="http://schemas.openxmlformats.org/officeDocument/2006/relationships" id="268" r:id="R710ba1ba7eef4515"/>
    <p:sldId xmlns:r="http://schemas.openxmlformats.org/officeDocument/2006/relationships" id="269" r:id="R9fc3aeb64d994cb6"/>
    <p:sldId xmlns:r="http://schemas.openxmlformats.org/officeDocument/2006/relationships" id="270" r:id="R0114a7ee1cc145a4"/>
    <p:sldId xmlns:r="http://schemas.openxmlformats.org/officeDocument/2006/relationships" id="271" r:id="R686c9ca8c053447f"/>
    <p:sldId xmlns:r="http://schemas.openxmlformats.org/officeDocument/2006/relationships" id="272" r:id="R84768f09f9a043fe"/>
    <p:sldId xmlns:r="http://schemas.openxmlformats.org/officeDocument/2006/relationships" id="273" r:id="Re1583662a6af4789"/>
    <p:sldId xmlns:r="http://schemas.openxmlformats.org/officeDocument/2006/relationships" id="274" r:id="R3c086d2cefa74566"/>
    <p:sldId xmlns:r="http://schemas.openxmlformats.org/officeDocument/2006/relationships" id="275" r:id="R1253d508337643c8"/>
    <p:sldId xmlns:r="http://schemas.openxmlformats.org/officeDocument/2006/relationships" id="276" r:id="Rdaecf3ceef8749e9"/>
    <p:sldId xmlns:r="http://schemas.openxmlformats.org/officeDocument/2006/relationships" id="277" r:id="R11d2d80e4d3e4860"/>
    <p:sldId xmlns:r="http://schemas.openxmlformats.org/officeDocument/2006/relationships" id="278" r:id="R0753cb022f5f4ea3"/>
    <p:sldId xmlns:r="http://schemas.openxmlformats.org/officeDocument/2006/relationships" id="279" r:id="Re5fc1b0dc7bf4b32"/>
    <p:sldId xmlns:r="http://schemas.openxmlformats.org/officeDocument/2006/relationships" id="280" r:id="Rf9e118322d0240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17f601430a4e30" /><Relationship Type="http://schemas.openxmlformats.org/officeDocument/2006/relationships/slideMaster" Target="/ppt/slideMasters/slideMaster1.xml" Id="R84396614463e4aec" /><Relationship Type="http://schemas.openxmlformats.org/officeDocument/2006/relationships/notesMaster" Target="/ppt/notesMasters/notesMaster1.xml" Id="Ra2d80d0c259b425f" /><Relationship Type="http://schemas.openxmlformats.org/officeDocument/2006/relationships/presProps" Target="/ppt/presProps.xml" Id="R359f26eb5f674a29" /><Relationship Type="http://schemas.openxmlformats.org/officeDocument/2006/relationships/viewProps" Target="/ppt/viewProps.xml" Id="R2f347e7f374243b3" /><Relationship Type="http://schemas.openxmlformats.org/officeDocument/2006/relationships/tableStyles" Target="/ppt/tableStyles.xml" Id="R196606028c8d459c" /><Relationship Type="http://schemas.openxmlformats.org/officeDocument/2006/relationships/slide" Target="/ppt/slides/slide1.xml" Id="R3fb1d935c3a74d1b" /><Relationship Type="http://schemas.openxmlformats.org/officeDocument/2006/relationships/slide" Target="/ppt/slides/slide2.xml" Id="R2aeee32f28ce4435" /><Relationship Type="http://schemas.openxmlformats.org/officeDocument/2006/relationships/slide" Target="/ppt/slides/slide3.xml" Id="R8a68c3a53aae4b56" /><Relationship Type="http://schemas.openxmlformats.org/officeDocument/2006/relationships/slide" Target="/ppt/slides/slide4.xml" Id="R6374ea91d0e240c9" /><Relationship Type="http://schemas.openxmlformats.org/officeDocument/2006/relationships/slide" Target="/ppt/slides/slide5.xml" Id="R9b35e1ee2309477f" /><Relationship Type="http://schemas.openxmlformats.org/officeDocument/2006/relationships/slide" Target="/ppt/slides/slide6.xml" Id="R5202c8467dca42bc" /><Relationship Type="http://schemas.openxmlformats.org/officeDocument/2006/relationships/slide" Target="/ppt/slides/slide7.xml" Id="R62fe2e4ddb7f454b" /><Relationship Type="http://schemas.openxmlformats.org/officeDocument/2006/relationships/slide" Target="/ppt/slides/slide8.xml" Id="R8815c7048a874092" /><Relationship Type="http://schemas.openxmlformats.org/officeDocument/2006/relationships/slide" Target="/ppt/slides/slide9.xml" Id="R8503c84cafd94599" /><Relationship Type="http://schemas.openxmlformats.org/officeDocument/2006/relationships/slide" Target="/ppt/slides/slide10.xml" Id="R67fdeca470254622" /><Relationship Type="http://schemas.openxmlformats.org/officeDocument/2006/relationships/slide" Target="/ppt/slides/slide11.xml" Id="Rcaf0e436409f4385" /><Relationship Type="http://schemas.openxmlformats.org/officeDocument/2006/relationships/slide" Target="/ppt/slides/slide12.xml" Id="Rc1492968b66c4021" /><Relationship Type="http://schemas.openxmlformats.org/officeDocument/2006/relationships/slide" Target="/ppt/slides/slide13.xml" Id="R710ba1ba7eef4515" /><Relationship Type="http://schemas.openxmlformats.org/officeDocument/2006/relationships/slide" Target="/ppt/slides/slide14.xml" Id="R9fc3aeb64d994cb6" /><Relationship Type="http://schemas.openxmlformats.org/officeDocument/2006/relationships/slide" Target="/ppt/slides/slide15.xml" Id="R0114a7ee1cc145a4" /><Relationship Type="http://schemas.openxmlformats.org/officeDocument/2006/relationships/slide" Target="/ppt/slides/slide16.xml" Id="R686c9ca8c053447f" /><Relationship Type="http://schemas.openxmlformats.org/officeDocument/2006/relationships/slide" Target="/ppt/slides/slide17.xml" Id="R84768f09f9a043fe" /><Relationship Type="http://schemas.openxmlformats.org/officeDocument/2006/relationships/slide" Target="/ppt/slides/slide18.xml" Id="Re1583662a6af4789" /><Relationship Type="http://schemas.openxmlformats.org/officeDocument/2006/relationships/slide" Target="/ppt/slides/slide19.xml" Id="R3c086d2cefa74566" /><Relationship Type="http://schemas.openxmlformats.org/officeDocument/2006/relationships/slide" Target="/ppt/slides/slide20.xml" Id="R1253d508337643c8" /><Relationship Type="http://schemas.openxmlformats.org/officeDocument/2006/relationships/slide" Target="/ppt/slides/slide21.xml" Id="Rdaecf3ceef8749e9" /><Relationship Type="http://schemas.openxmlformats.org/officeDocument/2006/relationships/slide" Target="/ppt/slides/slide22.xml" Id="R11d2d80e4d3e4860" /><Relationship Type="http://schemas.openxmlformats.org/officeDocument/2006/relationships/slide" Target="/ppt/slides/slide23.xml" Id="R0753cb022f5f4ea3" /><Relationship Type="http://schemas.openxmlformats.org/officeDocument/2006/relationships/slide" Target="/ppt/slides/slide24.xml" Id="Re5fc1b0dc7bf4b32" /><Relationship Type="http://schemas.openxmlformats.org/officeDocument/2006/relationships/slide" Target="/ppt/slides/slide25.xml" Id="Rf9e118322d02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b70efe841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b4d31a4e34d72" /><Relationship Type="http://schemas.openxmlformats.org/officeDocument/2006/relationships/notesMaster" Target="/ppt/notesMasters/notesMaster1.xml" Id="R29c52c35c868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fe0ede730422e" /><Relationship Type="http://schemas.openxmlformats.org/officeDocument/2006/relationships/notesMaster" Target="/ppt/notesMasters/notesMaster1.xml" Id="R9b6a76e740e4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23fa763ae46e3" /><Relationship Type="http://schemas.openxmlformats.org/officeDocument/2006/relationships/notesMaster" Target="/ppt/notesMasters/notesMaster1.xml" Id="Rc03d1284e64d44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92c1b9a084fc0" /><Relationship Type="http://schemas.openxmlformats.org/officeDocument/2006/relationships/notesMaster" Target="/ppt/notesMasters/notesMaster1.xml" Id="Rda9ce7f7c67a4c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8cb7e8eb1e4d8b" /><Relationship Type="http://schemas.openxmlformats.org/officeDocument/2006/relationships/notesMaster" Target="/ppt/notesMasters/notesMaster1.xml" Id="R2584d3b61212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3c447dc2a04673" /><Relationship Type="http://schemas.openxmlformats.org/officeDocument/2006/relationships/notesMaster" Target="/ppt/notesMasters/notesMaster1.xml" Id="R4a4a1ab2d4ce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2b325454dc4c63" /><Relationship Type="http://schemas.openxmlformats.org/officeDocument/2006/relationships/notesMaster" Target="/ppt/notesMasters/notesMaster1.xml" Id="R7e16b78d83b141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1ce891b79c43d5" /><Relationship Type="http://schemas.openxmlformats.org/officeDocument/2006/relationships/notesMaster" Target="/ppt/notesMasters/notesMaster1.xml" Id="Rcc77b94d0273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b57064164e4d18" /><Relationship Type="http://schemas.openxmlformats.org/officeDocument/2006/relationships/notesMaster" Target="/ppt/notesMasters/notesMaster1.xml" Id="R038cfeaca9c44c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69dbf6220b46ae" /><Relationship Type="http://schemas.openxmlformats.org/officeDocument/2006/relationships/notesMaster" Target="/ppt/notesMasters/notesMaster1.xml" Id="R682ad8c29d7548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842d6190124b54" /><Relationship Type="http://schemas.openxmlformats.org/officeDocument/2006/relationships/notesMaster" Target="/ppt/notesMasters/notesMaster1.xml" Id="R37ea91b3616b42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5b24b97e9e456f" /><Relationship Type="http://schemas.openxmlformats.org/officeDocument/2006/relationships/notesMaster" Target="/ppt/notesMasters/notesMaster1.xml" Id="R13a7d611b2f341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e607bb44714012" /><Relationship Type="http://schemas.openxmlformats.org/officeDocument/2006/relationships/notesMaster" Target="/ppt/notesMasters/notesMaster1.xml" Id="R1d5f7c33273343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002f202abf4798" /><Relationship Type="http://schemas.openxmlformats.org/officeDocument/2006/relationships/notesMaster" Target="/ppt/notesMasters/notesMaster1.xml" Id="R3e5284d0fe0940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731ecf05ad4d45" /><Relationship Type="http://schemas.openxmlformats.org/officeDocument/2006/relationships/notesMaster" Target="/ppt/notesMasters/notesMaster1.xml" Id="R6c072cfb61b940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9253dd0988467d" /><Relationship Type="http://schemas.openxmlformats.org/officeDocument/2006/relationships/notesMaster" Target="/ppt/notesMasters/notesMaster1.xml" Id="Re3b2b5f8d8f446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d58c93b0ae4b01" /><Relationship Type="http://schemas.openxmlformats.org/officeDocument/2006/relationships/notesMaster" Target="/ppt/notesMasters/notesMaster1.xml" Id="Rc059b4bf6bbe4c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6231cecf6d4a04" /><Relationship Type="http://schemas.openxmlformats.org/officeDocument/2006/relationships/notesMaster" Target="/ppt/notesMasters/notesMaster1.xml" Id="R2254dcb66d9448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e1fff49a4645bf" /><Relationship Type="http://schemas.openxmlformats.org/officeDocument/2006/relationships/notesMaster" Target="/ppt/notesMasters/notesMaster1.xml" Id="R76f9f97fa6a247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4adf496ebc4533" /><Relationship Type="http://schemas.openxmlformats.org/officeDocument/2006/relationships/notesMaster" Target="/ppt/notesMasters/notesMaster1.xml" Id="Rcd04c6ea1d614b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82643d5ccd434c" /><Relationship Type="http://schemas.openxmlformats.org/officeDocument/2006/relationships/notesMaster" Target="/ppt/notesMasters/notesMaster1.xml" Id="R30c56539e8db4c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802a9bf77943e3" /><Relationship Type="http://schemas.openxmlformats.org/officeDocument/2006/relationships/notesMaster" Target="/ppt/notesMasters/notesMaster1.xml" Id="Rc908a99c641941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a592651011468c" /><Relationship Type="http://schemas.openxmlformats.org/officeDocument/2006/relationships/notesMaster" Target="/ppt/notesMasters/notesMaster1.xml" Id="R8991be69c6c645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78de31a31854757" /><Relationship Type="http://schemas.openxmlformats.org/officeDocument/2006/relationships/notesMaster" Target="/ppt/notesMasters/notesMaster1.xml" Id="R7190fae014174d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c4716543af4193" /><Relationship Type="http://schemas.openxmlformats.org/officeDocument/2006/relationships/notesMaster" Target="/ppt/notesMasters/notesMaster1.xml" Id="R6bd1909f97c3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/Users/haikalmuzhoffar/KULIAH/ComProgLearning/ROADMAP_CP.md — Day 219 topic</a:t>
            </a:r>
            <a:endParaRPr/>
          </a:p>
          <a:p xmlns:a="http://schemas.openxmlformats.org/drawingml/2006/main">
            <a:r>
              <a:t>- https://cp-algorithms.com/string/aho_corasick.html — algorithm and complexity reference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65b93cf1c484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a68413efd4532" /><Relationship Type="http://schemas.openxmlformats.org/officeDocument/2006/relationships/slideLayout" Target="/ppt/slideLayouts/slideLayout1.xml" Id="R88deb21a15da4a5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deb21a15da4a5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5f9d8aaf743db" /><Relationship Type="http://schemas.openxmlformats.org/officeDocument/2006/relationships/notesSlide" Target="/ppt/notesSlides/notesSlide1.xml" Id="R49b51c954dd844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184272bdc4660" /><Relationship Type="http://schemas.openxmlformats.org/officeDocument/2006/relationships/notesSlide" Target="/ppt/notesSlides/notesSlide2.xml" Id="R710b7b7c5fea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bcac1957646f3" /><Relationship Type="http://schemas.openxmlformats.org/officeDocument/2006/relationships/notesSlide" Target="/ppt/notesSlides/notesSlide3.xml" Id="Rd620c7270e2040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066caa914903" /><Relationship Type="http://schemas.openxmlformats.org/officeDocument/2006/relationships/notesSlide" Target="/ppt/notesSlides/notesSlide4.xml" Id="Rfebcbd6a0ebc4a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28d777954a1f" /><Relationship Type="http://schemas.openxmlformats.org/officeDocument/2006/relationships/notesSlide" Target="/ppt/notesSlides/notesSlide5.xml" Id="R4f644b835037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8d867fd924b65" /><Relationship Type="http://schemas.openxmlformats.org/officeDocument/2006/relationships/notesSlide" Target="/ppt/notesSlides/notesSlide6.xml" Id="R0e6b192ac00d42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fe1d4ddfa4d9b" /><Relationship Type="http://schemas.openxmlformats.org/officeDocument/2006/relationships/image" Target="/ppt/media/image.png" Id="R8fda4ca7d5774632" /><Relationship Type="http://schemas.openxmlformats.org/officeDocument/2006/relationships/notesSlide" Target="/ppt/notesSlides/notesSlide7.xml" Id="R60dfe5ccc464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652e19a1b424d" /><Relationship Type="http://schemas.openxmlformats.org/officeDocument/2006/relationships/image" Target="/ppt/media/image2.png" Id="R806f9b70a94b48bb" /><Relationship Type="http://schemas.openxmlformats.org/officeDocument/2006/relationships/notesSlide" Target="/ppt/notesSlides/notesSlide8.xml" Id="R03e212d0839544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17639386e4488" /><Relationship Type="http://schemas.openxmlformats.org/officeDocument/2006/relationships/image" Target="/ppt/media/image3.png" Id="Ra5618b9fbf5845c2" /><Relationship Type="http://schemas.openxmlformats.org/officeDocument/2006/relationships/notesSlide" Target="/ppt/notesSlides/notesSlide9.xml" Id="Ra02af5e45f5840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724d231a4f28" /><Relationship Type="http://schemas.openxmlformats.org/officeDocument/2006/relationships/notesSlide" Target="/ppt/notesSlides/notesSlide10.xml" Id="R883e2560c79f40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73058ddac453e" /><Relationship Type="http://schemas.openxmlformats.org/officeDocument/2006/relationships/image" Target="/ppt/media/image4.png" Id="Rcc773873e1ef47ab" /><Relationship Type="http://schemas.openxmlformats.org/officeDocument/2006/relationships/notesSlide" Target="/ppt/notesSlides/notesSlide11.xml" Id="R6aedb134732847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9ad964b314018" /><Relationship Type="http://schemas.openxmlformats.org/officeDocument/2006/relationships/image" Target="/ppt/media/image5.png" Id="R1d87812c25654d1b" /><Relationship Type="http://schemas.openxmlformats.org/officeDocument/2006/relationships/notesSlide" Target="/ppt/notesSlides/notesSlide12.xml" Id="Rcc3f2d442de349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b1fb5e89644bd" /><Relationship Type="http://schemas.openxmlformats.org/officeDocument/2006/relationships/image" Target="/ppt/media/image6.png" Id="R4da6ccee6add4a32" /><Relationship Type="http://schemas.openxmlformats.org/officeDocument/2006/relationships/notesSlide" Target="/ppt/notesSlides/notesSlide13.xml" Id="R3f08ffe9a7a24c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73a6115cc4b80" /><Relationship Type="http://schemas.openxmlformats.org/officeDocument/2006/relationships/notesSlide" Target="/ppt/notesSlides/notesSlide14.xml" Id="R8f62a654323e48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b816c443e410c" /><Relationship Type="http://schemas.openxmlformats.org/officeDocument/2006/relationships/notesSlide" Target="/ppt/notesSlides/notesSlide15.xml" Id="Rd638924a0e3942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5ebb14ede49ad" /><Relationship Type="http://schemas.openxmlformats.org/officeDocument/2006/relationships/image" Target="/ppt/media/image7.png" Id="R8bc8c85d79384671" /><Relationship Type="http://schemas.openxmlformats.org/officeDocument/2006/relationships/notesSlide" Target="/ppt/notesSlides/notesSlide16.xml" Id="R0f7fccb3a12e4b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d1deba0144906" /><Relationship Type="http://schemas.openxmlformats.org/officeDocument/2006/relationships/image" Target="/ppt/media/image8.png" Id="Rf0e3c500e2c64e27" /><Relationship Type="http://schemas.openxmlformats.org/officeDocument/2006/relationships/notesSlide" Target="/ppt/notesSlides/notesSlide17.xml" Id="Rae9acdfcfca043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a81880660439b" /><Relationship Type="http://schemas.openxmlformats.org/officeDocument/2006/relationships/notesSlide" Target="/ppt/notesSlides/notesSlide18.xml" Id="Ree1158be49ab40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821fcf1eb40be" /><Relationship Type="http://schemas.openxmlformats.org/officeDocument/2006/relationships/notesSlide" Target="/ppt/notesSlides/notesSlide19.xml" Id="R65083e951c4d46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b2ae2d5564b4a" /><Relationship Type="http://schemas.openxmlformats.org/officeDocument/2006/relationships/notesSlide" Target="/ppt/notesSlides/notesSlide20.xml" Id="Rc071d0815a3348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e0518dd94b7b" /><Relationship Type="http://schemas.openxmlformats.org/officeDocument/2006/relationships/image" Target="/ppt/media/image9.png" Id="Rd76f8d2622bf45d9" /><Relationship Type="http://schemas.openxmlformats.org/officeDocument/2006/relationships/notesSlide" Target="/ppt/notesSlides/notesSlide21.xml" Id="Rcf110f16fc2f49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123b509224bb9" /><Relationship Type="http://schemas.openxmlformats.org/officeDocument/2006/relationships/image" Target="/ppt/media/image10.png" Id="Rfdfa06a10e104b02" /><Relationship Type="http://schemas.openxmlformats.org/officeDocument/2006/relationships/notesSlide" Target="/ppt/notesSlides/notesSlide22.xml" Id="Rddbf4347ea8d44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a728707448ee" /><Relationship Type="http://schemas.openxmlformats.org/officeDocument/2006/relationships/image" Target="/ppt/media/image11.png" Id="Rc310ebe514dc48ff" /><Relationship Type="http://schemas.openxmlformats.org/officeDocument/2006/relationships/notesSlide" Target="/ppt/notesSlides/notesSlide23.xml" Id="R521f4e03342148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99a226eb04a53" /><Relationship Type="http://schemas.openxmlformats.org/officeDocument/2006/relationships/notesSlide" Target="/ppt/notesSlides/notesSlide24.xml" Id="Redb36546690a43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ae67696e4427" /><Relationship Type="http://schemas.openxmlformats.org/officeDocument/2006/relationships/notesSlide" Target="/ppt/notesSlides/notesSlide25.xml" Id="R9496ddaa6af548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C4713D-846C-48FB-8914-247DA1E8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71600"/>
            <a:ext cx="7680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  <a:defRPr sz="4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Aho-Corasick</a:t>
            </a:r>
            <a:endParaRPr sz="4200"/>
          </a:p>
          <a:p xmlns:a="http://schemas.openxmlformats.org/drawingml/2006/main">
            <a:pPr marL="0" indent="0">
              <a:lnSpc>
                <a:spcPct val="116000"/>
              </a:lnSpc>
              <a:buNone/>
              <a:defRPr sz="4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4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Multi-Pattern Matching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1EC227-82F2-4142-A261-1AF5FE55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23360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Satu automaton untuk mencari banyak pola dalam sekali scan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EBDB25-D3F6-4F3E-A588-CE2BB25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645152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String · Day 219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4FC522E-A893-4B5B-BB49-D6586FCE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7160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D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786B67-90E6-4022-A94B-D44C617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71600"/>
            <a:ext cx="228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219</a:t>
            </a:r>
            <a:endParaRPr sz="5600"/>
          </a:p>
        </p:txBody>
      </p:sp>
    </p:spTree>
    <p:extLst>
      <p:ext uri="{BB962C8B-B14F-4D97-AF65-F5344CB8AC3E}">
        <p14:creationId xmlns:p14="http://schemas.microsoft.com/office/powerpoint/2010/main" val="1459772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01D755-95FD-4C14-8533-872505E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Inti Idenya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2250D3-0BF1-4217-895B-C945B89C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Aho-Corasick = trie + failure link + output. Banyak pola, satu automaton.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A96C06E-D37B-4DA3-87D3-7388385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30552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BF5874-C664-4155-90AB-E7CDF51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75104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Trie menyimpan semua pola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CF350F-BF8A-44DA-9736-57BF2A69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22576"/>
            <a:ext cx="10241280" cy="651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Prefix bersama hanya disimpan sekali.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694483-5EA4-448D-AD04-2ABB999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29534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D6DC75-38DB-4CBF-9110-16A9759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4086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3ECF9E"/>
                </a:solidFill>
                <a:latin typeface="Century Gothic"/>
                <a:ea typeface="Century Gothic"/>
                <a:cs typeface="Century Gothic"/>
              </a:rPr>
              <a:t>Failure link mencegah restart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08386D-15A7-4076-89E0-80D82159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21558"/>
            <a:ext cx="10241280" cy="651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Saat buntu, lompat ke suffix terbaik.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CDD97C-93E4-4E93-A3BF-5B84CE31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128516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B26061-4AA9-4DBC-B337-D1262C4E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3068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5A623"/>
                </a:solidFill>
                <a:latin typeface="Century Gothic"/>
                <a:ea typeface="Century Gothic"/>
                <a:cs typeface="Century Gothic"/>
              </a:rPr>
              <a:t>Output menyimpan pola selesai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BC8434-9F3C-4B81-8488-A6AFB53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20540"/>
            <a:ext cx="10241280" cy="651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Satu state bisa menghasilkan beberapa match.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ECC29DD-03E8-4157-BB98-569AE65F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2749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09DF5E-097E-4CDC-B9B4-9B6F84D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7205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78BFA"/>
                </a:solidFill>
                <a:latin typeface="Century Gothic"/>
                <a:ea typeface="Century Gothic"/>
                <a:cs typeface="Century Gothic"/>
              </a:rPr>
              <a:t>Teks dipindai sekali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B6570-99C0-4851-8832-F50BB39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19522"/>
            <a:ext cx="10241280" cy="651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Setiap karakter hanya memindahkan state.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457629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3CE655-7CEA-4C3E-A661-56BF0627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Kapan Dipakai, Kapan Tidak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34795A-858A-4373-80A0-09417A24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Gunakan saat pola banyak dan teks perlu dipindai efisien.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8B6435-1CD7-4CB4-A150-C225E6E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38528"/>
            <a:ext cx="534924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5D1933-F562-4AA5-B31A-F54A871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38528"/>
            <a:ext cx="534924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97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8D6824C-27CA-4E86-84F3-480FBB07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57984"/>
            <a:ext cx="4800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spc="100">
                <a:solidFill>
                  <a:srgbClr val="2FA97B"/>
                </a:solidFill>
                <a:latin typeface="Century Gothic"/>
                <a:ea typeface="Century Gothic"/>
                <a:cs typeface="Century Gothic"/>
              </a:rPr>
              <a:t>PAKAI KETIKA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F59A00-E0B6-4865-AC6E-3A1302E5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3405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97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E5B85B-8353-4812-B0DB-AE04092B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73405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v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7AED72-121A-4151-A45C-7EF45FC9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670048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Mencari banyak keyword di satu teks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FF343A-7CD9-4D6F-85A0-F93AADA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48386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97B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6000B3D-4733-43B6-B67A-E76777E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48386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v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985BF8-5BF5-40D9-B6F8-35FDC303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419856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Filter kata terlarang atau signature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B9B6192-E9B2-4040-9C7E-7359AA55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3367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97B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36194C-BB04-4623-A798-21729E8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3367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v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5C5DF4-A48F-431B-ADEF-85F3A6B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169664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Menghitung kemunculan banyak pola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F284B2C-75CB-45C8-9EA1-16198AC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9834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97B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5A67C3D-FE15-415C-9763-0FCDE33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98348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v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3C4B5F-64F0-4F99-8B27-860E967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Total panjang pola masih muat di memori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765C1AA-0FF2-4536-A75E-A8782A5C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938528"/>
            <a:ext cx="5349240" cy="3090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021E579-601A-4C41-8CBD-352211B1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938528"/>
            <a:ext cx="534924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E81D413-CF82-43F9-9237-E6834BC0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57984"/>
            <a:ext cx="4800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spc="100">
                <a:solidFill>
                  <a:srgbClr val="D9534F"/>
                </a:solidFill>
                <a:latin typeface="Century Gothic"/>
                <a:ea typeface="Century Gothic"/>
                <a:cs typeface="Century Gothic"/>
              </a:rPr>
              <a:t>JANGAN PAKAI KETIKA</a:t>
            </a:r>
            <a:endParaRPr sz="14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23C267B-862B-4FE9-85F0-70AE8D47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73405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34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2993A2-7295-4017-AECB-43255A7F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73405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x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64499DF-3816-4C59-897B-C51608F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670048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Hanya ada satu pola — KMP lebih ringan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5A1EB5B-9188-4BE4-9166-F7FBBF96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48386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34F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096428F-0654-4EB6-A955-5B8E70B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48386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x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C097295-0F34-4A8D-BDC1-B17BCCDE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419856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Butuh semua substring berbeda — suffix structure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8417F9F-E399-484D-8439-B44567A9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23367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34F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43E682E-F4ED-4EB7-8656-541FF0FE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23367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x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3ED6C20-8383-4109-A210-C19DA152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169664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Alfabet sangat besar tanpa kompresi</a:t>
            </a:r>
            <a:endParaRPr sz="12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CD1B4F4-C63E-4DF9-B9BF-F217E5E5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70448"/>
            <a:ext cx="1085392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D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6D196EC-9075-4B06-BAF6-F7AE469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8704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1B6CA8"/>
                </a:solidFill>
                <a:latin typeface="Century Gothic"/>
                <a:ea typeface="Century Gothic"/>
                <a:cs typeface="Century Gothic"/>
              </a:rPr>
              <a:t>Aho-Corasick paling terasa ketika jumlah pola besar, tetapi teks tetap ingin dipindai sekali.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00551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2566BF-9020-470B-8197-F72A1A94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Posisi Materi Ini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24400D-6697-4303-BAFF-24AB94F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Aho-Corasick menggabungkan ide Trie dan fallback ala KMP.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7CADE4-1CE1-4B6D-9ADE-5DC1FCBF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02536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200">
                <a:solidFill>
                  <a:srgbClr val="A0A6AD"/>
                </a:solidFill>
                <a:latin typeface="Century Gothic"/>
                <a:ea typeface="Century Gothic"/>
                <a:cs typeface="Century Gothic"/>
              </a:rPr>
              <a:t>PRASYARAT</a:t>
            </a:r>
            <a:endParaRPr sz="1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04F58E-FA09-4959-96A7-3051E1D9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1343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AECCD63-245E-4080-AEAD-04B6F3C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1343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AD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46FA10-9595-4819-AF4E-7411A34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1343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Trie (Day 217)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1174A4-74A1-4780-8C92-DB9DE5B1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3639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51BC04F-87CD-4C69-9526-D3FC9A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13639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AD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EEFCC5-742F-4DCC-8E72-F2BB63F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13639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KMP &amp; prefix function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3B9C89-6A08-4423-B845-D9C68662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95935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2B0E00A-AD2C-43DD-93A1-B459814D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95935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AD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EECFAF9-014B-4381-8930-7D4D031E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95935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String dasar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1246A80-8EA8-4DAD-B026-62F9BA5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002536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spc="200">
                <a:solidFill>
                  <a:srgbClr val="A0A6AD"/>
                </a:solidFill>
                <a:latin typeface="Century Gothic"/>
                <a:ea typeface="Century Gothic"/>
                <a:cs typeface="Century Gothic"/>
              </a:rPr>
              <a:t>SETELAH INI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DFFFA8E-6DCD-495D-97FF-32FCA1B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31343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6DD68C3-2FC0-4FDF-815F-C98889E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31343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0303BB4-2C7A-4AC0-AD32-95F07C2E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31343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Suffix array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A3907D-8CAA-4A66-8030-FF56C6D6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313639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BC51ACB-A226-468A-AB7A-1F54B29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313639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A7B0B0-0C24-4B18-BBA9-6A231E3E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13639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LCP / Kasai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15663C1-C888-4D92-A719-3368EF4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3959352"/>
            <a:ext cx="32004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C271D32-6064-487C-B5A7-9B3B5A5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3959352"/>
            <a:ext cx="5486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EF6E38-2521-4A9D-9F7A-33C35042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959352"/>
            <a:ext cx="28163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Suffix automaton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447B453-1A5A-4BCC-8A4A-B89A56CD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313432"/>
            <a:ext cx="3566160" cy="2322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D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988D95-F82E-4D4A-BC78-840A12F9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313432"/>
            <a:ext cx="35661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420CD9D-94B7-406D-8E77-CCD2922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551176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spc="2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MATERI INI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5DC708D-C791-4FC7-9484-DFBA446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880360"/>
            <a:ext cx="30175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 sz="2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Aho-Corasick</a:t>
            </a:r>
            <a:endParaRPr sz="2000"/>
          </a:p>
          <a:p xmlns:a="http://schemas.openxmlformats.org/drawingml/2006/main">
            <a:pPr marL="0" indent="0">
              <a:lnSpc>
                <a:spcPct val="110000"/>
              </a:lnSpc>
              <a:buNone/>
              <a:defRPr sz="2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2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Day 219</a:t>
            </a:r>
            <a:endParaRPr sz="2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69B7056-6546-4DCF-9350-BB7DEF9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941064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Multi-pattern matching dalam O(teks + hasil).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A69A807-B654-499A-A666-321BE84B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3456432"/>
            <a:ext cx="338328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D8087ED-3B7A-458F-990D-F65FF7E1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3456432"/>
            <a:ext cx="338328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25CD319-4198-4261-8641-F7BE4D28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11496"/>
            <a:ext cx="1085392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25A4168-2970-4D00-A5A4-DA8E80B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11496"/>
            <a:ext cx="10332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Trie menyimpan pola; failure link menyelamatkan progres saat transisi gagal.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73671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F98590-506E-4140-865A-6F99C8B9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Agenda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5F50F4-1F7E-4BB5-BABC-78E1A52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801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01   Trie Menjadi Automaton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E3A859B-01F3-455C-B23B-FD6EA1D0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95681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ECF9E"/>
                </a:solidFill>
                <a:latin typeface="Century Gothic"/>
                <a:ea typeface="Century Gothic"/>
                <a:cs typeface="Century Gothic"/>
              </a:rPr>
              <a:t>02   Struktur Node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2EAC28-FEA1-429A-9368-F3812AAE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3347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5A623"/>
                </a:solidFill>
                <a:latin typeface="Century Gothic"/>
                <a:ea typeface="Century Gothic"/>
                <a:cs typeface="Century Gothic"/>
              </a:rPr>
              <a:t>03   Insert Pola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5CB6BB-DF53-4331-B25E-E276C7F5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310128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A78BFA"/>
                </a:solidFill>
                <a:latin typeface="Century Gothic"/>
                <a:ea typeface="Century Gothic"/>
                <a:cs typeface="Century Gothic"/>
              </a:rPr>
              <a:t>04   Failure Link dengan BFS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A0DAA1-6AD7-4880-98EC-27DA0BB1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2801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EC6BA8"/>
                </a:solidFill>
                <a:latin typeface="Century Gothic"/>
                <a:ea typeface="Century Gothic"/>
                <a:cs typeface="Century Gothic"/>
              </a:rPr>
              <a:t>05   Scan Teks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C2642CA-9E76-44D4-BC84-DD37432D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5681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4ECDC4"/>
                </a:solidFill>
                <a:latin typeface="Century Gothic"/>
                <a:ea typeface="Century Gothic"/>
                <a:cs typeface="Century Gothic"/>
              </a:rPr>
              <a:t>06   Output &amp; Match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FD488B-D2DE-421F-BE73-714EA090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63347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0736A"/>
                </a:solidFill>
                <a:latin typeface="Century Gothic"/>
                <a:ea typeface="Century Gothic"/>
                <a:cs typeface="Century Gothic"/>
              </a:rPr>
              <a:t>07   Kompleksitas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5F485D-3BB4-4E4C-9DF3-ACB6A54C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310128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5B8DEF"/>
                </a:solidFill>
                <a:latin typeface="Century Gothic"/>
                <a:ea typeface="Century Gothic"/>
                <a:cs typeface="Century Gothic"/>
              </a:rPr>
              <a:t>08   Implementasi &amp; Latihan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152830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0F09D0-9B6E-4317-88C9-9612DEA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57400"/>
            <a:ext cx="9966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>
                <a:solidFill>
                  <a:srgbClr val="DDE7F2"/>
                </a:solidFill>
                <a:latin typeface="Century Gothic"/>
                <a:ea typeface="Century Gothic"/>
                <a:cs typeface="Century Gothic"/>
              </a:rPr>
              <a:t>01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E6A893-AE82-4F64-82D9-59674EE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66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Trie → Automaton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FB130F-B6F4-4217-8990-03077147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0"/>
            <a:ext cx="9966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Pola berbagi prefix; automaton menambah jalan fallback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452F86A-30F4-4A5F-8B74-15FB439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251960"/>
            <a:ext cx="5486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36A"/>
          </a:solidFill>
        </p:spPr>
      </p:sp>
    </p:spTree>
    <p:extLst>
      <p:ext uri="{BB962C8B-B14F-4D97-AF65-F5344CB8AC3E}">
        <p14:creationId xmlns:p14="http://schemas.microsoft.com/office/powerpoint/2010/main" val="1243536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3344B6-616B-430D-ACB4-1F16A91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Empat Pola, Satu Trie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37121A-2857-4017-86C8-6A1AD6A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Pola: he, she, his, hers. Lingkar ganda menandai akhir pola.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C320EEA-19A1-482F-A1CA-5EBE843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97DB4F-B748-477E-9AC0-BD20872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Prefix bersama menjadi state yang sama.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a4ca7d5774632"/>
          <a:stretch xmlns:a="http://schemas.openxmlformats.org/drawingml/2006/main"/>
        </p:blipFill>
        <p:spPr>
          <a:xfrm xmlns:a="http://schemas.openxmlformats.org/drawingml/2006/main">
            <a:off x="4561888" y="2239971"/>
            <a:ext cx="3065176" cy="2588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880CF5-D6BB-47BA-99A2-8F4559C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Struktur Node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1D5A7F-1D9E-4CF3-9744-859D01B9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Tiga komponen cukup untuk automaton versi array.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B20F0E5-2984-4C77-8869-5A2D6148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4B5FF62-EA0C-4B80-A94A-7CAC6B3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32D260E-F8FB-4855-92F3-C617238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74650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go[c]: transisi karakter c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53790A2-E8E4-4C6E-8AE9-8076DB8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C68449C-F0F4-4EB3-9CBC-E06C57A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A48D471-AFB9-4258-B899-904F8BF2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429256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link: suffix fallback terbaik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93F4A1-B977-4CBD-9346-CA89599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0779CE6-4EFA-4F2A-B532-DC83886E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11D7F4-2697-4A2F-8807-A67276C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112008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out: id pola yang selesai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25E2483-54C9-4D3D-8C41-E6E599AD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FA1D980-68FB-4FFC-92F0-FDFA931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8DB3642-3A17-44ED-B5F7-B35D480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794760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state 0 selalu root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30DBFF4-AB94-48D2-8201-8E0FE25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BA8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F3BFF1E-E1A4-4F34-BC4B-5E2D019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5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099F93A-D379-4CA4-B5E2-42DF294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477512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array cepat untuk alfabet kecil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C495C2-7678-4003-9399-AD43C59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DC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2DD2AA4-DD95-4373-9118-7BFA1D6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6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828E859-F6F2-449D-A8C4-7AB069A9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516026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jumlah node ≤ 1 + total panjang pola</a:t>
            </a:r>
            <a:endParaRPr sz="1200"/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f9b70a94b48bb"/>
          <a:stretch xmlns:a="http://schemas.openxmlformats.org/drawingml/2006/main"/>
        </p:blipFill>
        <p:spPr>
          <a:xfrm xmlns:a="http://schemas.openxmlformats.org/drawingml/2006/main">
            <a:off x="2276267" y="1862006"/>
            <a:ext cx="3091850" cy="39752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3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F5E704-30DD-4E45-82C3-DF2A13F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Menyisipkan Pola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5ECA52-F7EB-410D-A348-AE1B026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Insert sama seperti Trie biasa: buat state baru hanya bila transisi belum ada.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E95473-36AB-4609-B1B2-50FCDD1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2432845-30AC-472B-9706-F5F0A7D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Setelah karakter terakhir, simpan id pola pada out.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18b9fbf5845c2"/>
          <a:stretch xmlns:a="http://schemas.openxmlformats.org/drawingml/2006/main"/>
        </p:blipFill>
        <p:spPr>
          <a:xfrm xmlns:a="http://schemas.openxmlformats.org/drawingml/2006/main">
            <a:off x="3976197" y="2244935"/>
            <a:ext cx="4236557" cy="2340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7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B9B147-F8CE-4A26-9AFD-A10D82E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57400"/>
            <a:ext cx="9966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>
                <a:solidFill>
                  <a:srgbClr val="DDE7F2"/>
                </a:solidFill>
                <a:latin typeface="Century Gothic"/>
                <a:ea typeface="Century Gothic"/>
                <a:cs typeface="Century Gothic"/>
              </a:rPr>
              <a:t>02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5AE640-FA69-49FA-A594-59DA2602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66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Failure Link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8A291A-63F3-42ED-81A2-CA042434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0"/>
            <a:ext cx="9966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Fallback ke suffix terpanjang yang masih merupakan prefix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EB1F8CD-D5C6-4213-B1CD-0CBCA17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251960"/>
            <a:ext cx="5486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</p:spTree>
    <p:extLst>
      <p:ext uri="{BB962C8B-B14F-4D97-AF65-F5344CB8AC3E}">
        <p14:creationId xmlns:p14="http://schemas.microsoft.com/office/powerpoint/2010/main" val="15361773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7617DB-F011-479C-9785-1A323CA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Membangun Failure Link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AB55DF-6D56-47EC-8F0A-A055045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BFS memastikan link parent sudah siap sebelum child diproses.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719F18-0CF4-4B2C-BAE7-F7FFDE49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324F10-288F-4185-A6F5-A0141CCB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Transisi kosong diisi dari state failure agar pencarian menjadi satu langkah per karakter.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73873e1ef47ab"/>
          <a:stretch xmlns:a="http://schemas.openxmlformats.org/drawingml/2006/main"/>
        </p:blipFill>
        <p:spPr>
          <a:xfrm xmlns:a="http://schemas.openxmlformats.org/drawingml/2006/main">
            <a:off x="4038537" y="2071136"/>
            <a:ext cx="4111878" cy="26882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40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76504-CAAE-407B-B728-2472034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Membaca Failure Link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878F21-26CE-4AF7-B172-750331C8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Garis merah putus-putus adalah fallback saat transisi langsung tidak ada.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3B9BB82-3C41-4F83-80FA-F4E87EAB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167AED-F0FD-4D34-A8F4-7924206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BFD548C-9327-4662-AE8F-032FAA2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74650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fail(sh) = h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44B3B4-ECAF-44E8-BD27-2A15071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99E64D-978B-4156-B1A8-D953B2DF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A80937F-9ED4-4415-BCC4-0C899AE5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429256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fail(she) = he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1B2A943-7219-40AC-821A-2D14A73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26A21A-7C03-4B5F-9116-337EA22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0DAFFC8-6044-45EA-992B-EA683CC3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112008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fail(his) = s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3FF96C-4148-42E3-AD11-3185C74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862A2DD-372D-4195-9533-C3755EF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450D6B-A6AF-43F0-8132-454016D7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794760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fail(hers) = s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E9F3F2-88EF-4CF8-805E-EB600830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BA8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6FC15F4-7DA8-4179-99D7-6C09170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5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8373F78-9754-47D7-95DF-618E4B7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477512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root adalah fallback terakhir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F65F65D-0D84-4E56-A595-0F46C69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DC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B80AE92-568B-44C0-9B17-8D32772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6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DFB4D3-9465-4060-876D-7AC781B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516026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match pada suffix ikut diwariskan</a:t>
            </a:r>
            <a:endParaRPr sz="1200"/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7812c25654d1b"/>
          <a:stretch xmlns:a="http://schemas.openxmlformats.org/drawingml/2006/main"/>
        </p:blipFill>
        <p:spPr>
          <a:xfrm xmlns:a="http://schemas.openxmlformats.org/drawingml/2006/main">
            <a:off x="1687927" y="2103407"/>
            <a:ext cx="4268530" cy="34924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3344B6-616B-430D-ACB4-1F16A91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BFS Memproses per Level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37121A-2857-4017-86C8-6A1AD6A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Parent diproses lebih dulu, sehingga failure link child bisa dihitung langsung.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C320EEA-19A1-482F-A1CA-5EBE843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97DB4F-B748-477E-9AC0-BD20872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Queue menjaga urutan level tanpa rekursi.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6ccee6add4a32"/>
          <a:stretch xmlns:a="http://schemas.openxmlformats.org/drawingml/2006/main"/>
        </p:blipFill>
        <p:spPr>
          <a:xfrm xmlns:a="http://schemas.openxmlformats.org/drawingml/2006/main">
            <a:off x="4561888" y="2239971"/>
            <a:ext cx="3065176" cy="2588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2FC16-A9F8-4173-AA97-F7A6C716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Mengapa Failure Link Benar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AFF792-04A4-4F91-83F1-2CE3A5C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Fallback mempertahankan suffix terpanjang yang masih mungkin melanjutkan pola.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EB84C48-03B7-49F4-8907-3690C0B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89EBE25-DB25-4D38-9BF5-C28473B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1319D31-6D92-4D66-BF28-9694170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8B29D0-6F3D-49A5-8EC6-95F6708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(1)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F3815E-2936-4986-87FE-EC91C92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State = prefix aktif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BE4172-FD82-44FC-9F85-9EFE962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Jalur dari root ke state menyatakan suffix teks yang sedang cocok.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3DB75D-3637-4326-87FC-D638240C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A8E8"/>
                </a:solidFill>
                <a:latin typeface="Consolas"/>
                <a:ea typeface="Consolas"/>
                <a:cs typeface="Consolas"/>
              </a:rPr>
              <a:t>contoh: ...sh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BBDC98-2C50-48DF-B2A3-459CE641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48" y="3355848"/>
            <a:ext cx="22860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113D41B-AB15-4FEA-949F-9E36692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168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4452359-0E83-4D90-8CE5-A017413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168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7423C80-0206-4B16-A9E9-A963D75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BFBA9D-DB57-4B94-ADE8-CC1398BC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(2)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95BAF6-FDBE-4750-B294-5113F56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248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Cari suffix terbaik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5F74AE9-72A0-43D7-A052-0175251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Jika edge berikutnya hilang, pindah ke suffix terpanjang yang juga prefix.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641FA0-7F4E-4959-90FB-8BAB80F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ECF9E"/>
                </a:solidFill>
                <a:latin typeface="Consolas"/>
                <a:ea typeface="Consolas"/>
                <a:cs typeface="Consolas"/>
              </a:rPr>
              <a:t>fail(sh) = h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5EFBC4B-ACB0-4231-9B70-B683812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504" y="3355848"/>
            <a:ext cx="22860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EEEB335-10F8-41CD-83F2-840A4CD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24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2F5544C-1195-4020-B288-99C6BC1A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24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527B7B-1E14-483F-AE05-9C1D174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D9A922-57C0-43FC-8551-DEB2D78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(3)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0460D84-F727-4F42-855A-9749E67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904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Progres tidak diulang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990F5F1-7032-4DA9-A7E3-47F84DE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Transisi gagal tidak mengembalikan scan ke karakter sebelumnya.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92F4577-B974-4B91-8C8A-E12B6FE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A623"/>
                </a:solidFill>
                <a:latin typeface="Consolas"/>
                <a:ea typeface="Consolas"/>
                <a:cs typeface="Consolas"/>
              </a:rPr>
              <a:t>teks maju terus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022256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38356-B628-43C9-A10D-4CE72B7C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57400"/>
            <a:ext cx="9966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>
                <a:solidFill>
                  <a:srgbClr val="DDE7F2"/>
                </a:solidFill>
                <a:latin typeface="Century Gothic"/>
                <a:ea typeface="Century Gothic"/>
                <a:cs typeface="Century Gothic"/>
              </a:rPr>
              <a:t>03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DF0576-1765-4C90-8C85-F15C97A5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66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Scan Teks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A6BEB2-C851-4CA9-8E82-31F10018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0"/>
            <a:ext cx="9966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Satu karakter masuk, satu state baru keluar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58A2F0D-111D-4E59-94E4-A5E30FA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251960"/>
            <a:ext cx="5486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</p:spPr>
      </p:sp>
    </p:spTree>
    <p:extLst>
      <p:ext uri="{BB962C8B-B14F-4D97-AF65-F5344CB8AC3E}">
        <p14:creationId xmlns:p14="http://schemas.microsoft.com/office/powerpoint/2010/main" val="1722684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76504-CAAE-407B-B728-2472034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Pencarian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878F21-26CE-4AF7-B172-750331C8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Setelah build(), pencarian hanya mengikuti go[c] dan membaca out.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3B9BB82-3C41-4F83-80FA-F4E87EAB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167AED-F0FD-4D34-A8F4-7924206D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8013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BFD548C-9327-4662-AE8F-032FAA2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74650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Mulai dari root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44B3B4-ECAF-44E8-BD27-2A15071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99E64D-978B-4156-B1A8-D953B2DF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48412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A80937F-9ED4-4415-BCC4-0C899AE5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429256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Ambil karakter teks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1B2A943-7219-40AC-821A-2D14A73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26A21A-7C03-4B5F-9116-337EA22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16687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0DAFFC8-6044-45EA-992B-EA683CC3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112008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Pindah lewat go[c]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3FF96C-4148-42E3-AD11-3185C74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862A2DD-372D-4195-9533-C3755EF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4962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2450D6B-A6AF-43F0-8132-454016D7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794760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Baca semua id pada out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E9F3F2-88EF-4CF8-805E-EB600830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6BA8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6FC15F4-7DA8-4179-99D7-6C09170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3237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5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8373F78-9754-47D7-95DF-618E4B7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477512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Simpan posisi akhir match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F65F65D-0D84-4E56-A595-0F46C69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CDC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B80AE92-568B-44C0-9B17-8D32772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151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6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0DFB4D3-9465-4060-876D-7AC781B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5160264"/>
            <a:ext cx="3931920" cy="627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Lanjut ke karakter berikutnya</a:t>
            </a:r>
            <a:endParaRPr sz="1200"/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8c85d79384671"/>
          <a:stretch xmlns:a="http://schemas.openxmlformats.org/drawingml/2006/main"/>
        </p:blipFill>
        <p:spPr>
          <a:xfrm xmlns:a="http://schemas.openxmlformats.org/drawingml/2006/main">
            <a:off x="1728216" y="1755648"/>
            <a:ext cx="4187952" cy="41879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3344B6-616B-430D-ACB4-1F16A91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Simulasi: ahishers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37121A-2857-4017-86C8-6A1AD6A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Empat pola ditemukan dalam satu scan dari kiri ke kanan.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C320EEA-19A1-482F-A1CA-5EBE843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97DB4F-B748-477E-9AC0-BD20872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State berubah tanpa memundurkan indeks teks.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3c500e2c64e27"/>
          <a:stretch xmlns:a="http://schemas.openxmlformats.org/drawingml/2006/main"/>
        </p:blipFill>
        <p:spPr>
          <a:xfrm xmlns:a="http://schemas.openxmlformats.org/drawingml/2006/main">
            <a:off x="4561888" y="2239971"/>
            <a:ext cx="3065176" cy="2588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9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2FC16-A9F8-4173-AA97-F7A6C716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Satu State Bisa Punya Banyak Output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AFF792-04A4-4F91-83F1-2CE3A5C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State she juga harus melaporkan he karena fail(she) = he.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EB84C48-03B7-49F4-8907-3690C0B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89EBE25-DB25-4D38-9BF5-C28473B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1319D31-6D92-4D66-BF28-9694170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8B29D0-6F3D-49A5-8EC6-95F6708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(1)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F3815E-2936-4986-87FE-EC91C92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Output lokal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BE4172-FD82-44FC-9F85-9EFE962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Pola yang benar-benar berakhir di state itu.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3DB75D-3637-4326-87FC-D638240C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FA8E8"/>
                </a:solidFill>
                <a:latin typeface="Consolas"/>
                <a:ea typeface="Consolas"/>
                <a:cs typeface="Consolas"/>
              </a:rPr>
              <a:t>out[she] = {she}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BBDC98-2C50-48DF-B2A3-459CE641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48" y="3355848"/>
            <a:ext cx="22860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113D41B-AB15-4FEA-949F-9E36692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168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4452359-0E83-4D90-8CE5-A017413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168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7423C80-0206-4B16-A9E9-A963D75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BFBA9D-DB57-4B94-ADE8-CC1398BC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(2)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95BAF6-FDBE-4750-B294-5113F56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248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Ikuti failure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5F74AE9-72A0-43D7-A052-0175251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Suffix yang juga pola harus ikut dilaporkan.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5641FA0-7F4E-4959-90FB-8BAB80F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048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ECF9E"/>
                </a:solidFill>
                <a:latin typeface="Consolas"/>
                <a:ea typeface="Consolas"/>
                <a:cs typeface="Consolas"/>
              </a:rPr>
              <a:t>out[he] = {he}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5EFBC4B-ACB0-4231-9B70-B6838124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504" y="3355848"/>
            <a:ext cx="22860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EEEB335-10F8-41CD-83F2-840A4CD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24" y="2029968"/>
            <a:ext cx="3404616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2F5544C-1195-4020-B288-99C6BC1A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824" y="2029968"/>
            <a:ext cx="3404616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527B7B-1E14-483F-AE05-9C1D174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23113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D9A922-57C0-43FC-8551-DEB2D78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23113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(3)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0460D84-F727-4F42-855A-9749E67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904" y="2231136"/>
            <a:ext cx="25816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Gabungkan saat build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990F5F1-7032-4DA9-A7E3-47F84DE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2715768"/>
            <a:ext cx="303885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Salin output failure agar scan tetap sederhana.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92F4577-B974-4B91-8C8A-E12B6FE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704" y="4151376"/>
            <a:ext cx="30388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5A623"/>
                </a:solidFill>
                <a:latin typeface="Consolas"/>
                <a:ea typeface="Consolas"/>
                <a:cs typeface="Consolas"/>
              </a:rPr>
              <a:t>out[she] = {she, he}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022256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C69B5A-D690-4F6B-BEEC-A2FE5C59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Kompleksitas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D26A20-1F0F-48EA-9794-6F205C5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Misalkan S = total panjang pola, T = panjang teks, dan Z = jumlah match.</a:t>
            </a:r>
            <a:endParaRPr sz="1300"/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67512" y="1755648"/>
          <a:ext xmlns:a="http://schemas.openxmlformats.org/drawingml/2006/main" cx="1085392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1840"/>
                <a:gridCol w="2926080"/>
                <a:gridCol w="4636008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Tahap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Waktu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Catatan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Insert semua pola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O(S)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Maksimum 1 + S state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Build failure (array)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O(nodes × Σ)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Σ = 26 untuk huruf kecil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Scan teks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O(T + Z)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Z = jumlah match dilaporkan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Memori transisi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O(nodes × Σ)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Sangat cepat, tetapi boros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Alfabet besar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map / compressed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Hemat memori, konstanta lebih besar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Rule praktis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hitung node dulu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Pastikan array muat batas memori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8752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6C414B-F779-4DF9-A812-ADE93B6F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57400"/>
            <a:ext cx="9966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>
                <a:solidFill>
                  <a:srgbClr val="DDE7F2"/>
                </a:solidFill>
                <a:latin typeface="Century Gothic"/>
                <a:ea typeface="Century Gothic"/>
                <a:cs typeface="Century Gothic"/>
              </a:rPr>
              <a:t>04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B99881-9D6E-4940-9EE8-9E2BB6A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9966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Implementasi Lengkap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18FF61-510A-4CE8-A5F1-7265A08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0"/>
            <a:ext cx="9966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Versi C++17 yang siap dipakai dan mudah dimodifikasi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B461AD7-7626-4A6A-B9DB-ADEB978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251960"/>
            <a:ext cx="5486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</p:spTree>
    <p:extLst>
      <p:ext uri="{BB962C8B-B14F-4D97-AF65-F5344CB8AC3E}">
        <p14:creationId xmlns:p14="http://schemas.microsoft.com/office/powerpoint/2010/main" val="844752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F5E704-30DD-4E45-82C3-DF2A13F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Implementasi Lengkap — Bagian 1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5ECA52-F7EB-410D-A348-AE1B026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Node dan add(): membangun Trie semua pola.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E95473-36AB-4609-B1B2-50FCDD1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2432845-30AC-472B-9706-F5F0A7D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Batas node tetap 1 + total panjang semua pola.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f8d2622bf45d9"/>
          <a:stretch xmlns:a="http://schemas.openxmlformats.org/drawingml/2006/main"/>
        </p:blipFill>
        <p:spPr>
          <a:xfrm xmlns:a="http://schemas.openxmlformats.org/drawingml/2006/main">
            <a:off x="3976197" y="1917358"/>
            <a:ext cx="4236557" cy="29958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74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F5E704-30DD-4E45-82C3-DF2A13F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Implementasi Lengkap — Bagian 2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5ECA52-F7EB-410D-A348-AE1B026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build(): failure link, output inheritance, dan transisi automaton.</a:t>
            </a:r>
            <a:endParaRPr sz="13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E95473-36AB-4609-B1B2-50FCDD1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394960"/>
            <a:ext cx="10853928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2432845-30AC-472B-9706-F5F0A7D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394960"/>
            <a:ext cx="1030528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Setelah build selesai, setiap go[c] valid dan scan tidak perlu loop fallback manual.</a:t>
            </a:r>
            <a:endParaRPr sz="1250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a06a10e104b02"/>
          <a:stretch xmlns:a="http://schemas.openxmlformats.org/drawingml/2006/main"/>
        </p:blipFill>
        <p:spPr>
          <a:xfrm xmlns:a="http://schemas.openxmlformats.org/drawingml/2006/main">
            <a:off x="3976197" y="2031678"/>
            <a:ext cx="4236557" cy="27672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074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EF328D-54A2-498C-BA5A-850AEC0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Latihan Terbimbing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C94C9C-AE43-4AE6-BAF2-D3A7AD7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80160"/>
            <a:ext cx="60350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9979E5-C191-45E4-BAC3-2278645F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80160"/>
            <a:ext cx="603504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36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A75E99-864F-49D9-91C9-73A858B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4630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spc="300">
                <a:solidFill>
                  <a:srgbClr val="F0736A"/>
                </a:solidFill>
                <a:latin typeface="Century Gothic"/>
                <a:ea typeface="Century Gothic"/>
                <a:cs typeface="Century Gothic"/>
              </a:rPr>
              <a:t>SOAL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4D5376-6B0C-4873-9A8C-1A44DD6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737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Cari Semua Pola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800224-7CDF-4FB8-B653-7292FD9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194560"/>
            <a:ext cx="54864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Pola: he, she, his, hers. Teks: ahishers. Cetak nama pola dan rentang indeksnya.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CBF886-688A-4F7F-A535-B09AF3C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80560"/>
            <a:ext cx="53949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▪"/>
            </a:pPr>
            <a:r>
              <a:rPr sz="12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2 &lt;= n &lt;= 200000</a:t>
            </a:r>
            <a:endParaRPr sz="12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▪"/>
            </a:pPr>
            <a:r>
              <a:rPr sz="12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0 &lt;= a[i] &lt; 2^30</a:t>
            </a:r>
            <a:endParaRPr sz="12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▪"/>
            </a:pPr>
            <a:r>
              <a:rPr sz="12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batas waktu 1 detik</a:t>
            </a:r>
            <a:endParaRPr sz="1200"/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0ebe514dc48ff"/>
          <a:stretch xmlns:a="http://schemas.openxmlformats.org/drawingml/2006/main"/>
        </p:blipFill>
        <p:spPr>
          <a:xfrm xmlns:a="http://schemas.openxmlformats.org/drawingml/2006/main">
            <a:off x="7892196" y="1551294"/>
            <a:ext cx="2686488" cy="40297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880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9F707B-CBD9-44D3-88E2-078E7FB7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Latihan Mandiri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1C2F07-A4F4-4C49-AFBF-DAF5008C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Mulai dari matching dasar, lalu lanjut ke counting dan DP automaton.</a:t>
            </a:r>
            <a:endParaRPr sz="1300"/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67512" y="1755648"/>
          <a:ext xmlns:a="http://schemas.openxmlformats.org/drawingml/2006/main" cx="10853928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Soal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Yang dilatih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7F7F7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Tingkat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CSES — Finding Patterns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Ada/tidak setiap pola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Menengah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CSES — Counting Patterns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Jumlah kemunculan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Menengah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Codeforces 963D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Posisi kemunculan ke-k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Sulit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UVA 10679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Multi-pattern matching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Menengah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A1A1A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Kustom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Tambah bobot + DP automaton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2B2B2B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Lanjutan</a:t>
                      </a:r>
                      <a:endParaRPr sz="1200">
                        <a:latin typeface="Century Gothic"/>
                        <a:ea typeface="Century Gothic"/>
                        <a:cs typeface="Century Gothic"/>
                      </a:endParaRPr>
                    </a:p>
                  </a:txBody>
                  <a:tcPr marL="91440" marR="91440" marT="45720" marB="4572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3E3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2641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D667AD-4BDC-458F-A8BE-689E3F04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4048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>
                <a:solidFill>
                  <a:srgbClr val="1A1A1A"/>
                </a:solidFill>
                <a:latin typeface="Century Gothic"/>
                <a:ea typeface="Century Gothic"/>
                <a:cs typeface="Century Gothic"/>
              </a:rPr>
              <a:t>Ringkasan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A26A23-1D4E-4CC1-BA16-D7414FB5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18872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7F7F7F"/>
                </a:solidFill>
                <a:latin typeface="Century Gothic"/>
                <a:ea typeface="Century Gothic"/>
                <a:cs typeface="Century Gothic"/>
              </a:rPr>
              <a:t>Empat hal yang wajib terbawa dari materi ini.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567EB2B-D689-4EC5-BB90-FAF1D7F7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9280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8E8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400C37-24ED-41E1-B879-C0A0591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3736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4FA8E8"/>
                </a:solidFill>
                <a:latin typeface="Century Gothic"/>
                <a:ea typeface="Century Gothic"/>
                <a:cs typeface="Century Gothic"/>
              </a:rPr>
              <a:t>Trie menyatukan prefix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11981F-01D4-4729-9617-6565B13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84832"/>
            <a:ext cx="10241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Semua pola disimpan dalam satu pohon state.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ABDC5C4-3651-4D03-AD45-E186AB4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89864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9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2C72E33-73BE-4F30-8F00-9BD4C3A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4320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3ECF9E"/>
                </a:solidFill>
                <a:latin typeface="Century Gothic"/>
                <a:ea typeface="Century Gothic"/>
                <a:cs typeface="Century Gothic"/>
              </a:rPr>
              <a:t>Failure link menjaga progres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D68B10-CB74-4481-81EF-B04A063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90672"/>
            <a:ext cx="10241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Saat buntu, pindah ke suffix terbaik tanpa mengulang teks.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E8DE0B6-5D79-4C83-86E9-A1ADFF5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90448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AA9A9E-AE7F-4CA7-9D13-3221289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4904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5A623"/>
                </a:solidFill>
                <a:latin typeface="Century Gothic"/>
                <a:ea typeface="Century Gothic"/>
                <a:cs typeface="Century Gothic"/>
              </a:rPr>
              <a:t>Output bisa lebih dari satu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DC0518-03A7-4916-98B1-B9F45681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96512"/>
            <a:ext cx="10241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Satu state dapat mewarisi pola dari failure link.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A4E805-A0DE-4706-BC55-BDD1EA5E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910328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D236DCB-2A2F-4386-8C7C-C9AA3C5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7548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78BFA"/>
                </a:solidFill>
                <a:latin typeface="Century Gothic"/>
                <a:ea typeface="Century Gothic"/>
                <a:cs typeface="Century Gothic"/>
              </a:rPr>
              <a:t>Build sekali, scan sekali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42C5A8-7277-4E0E-9658-4D9B0D5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02352"/>
            <a:ext cx="10241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2B2B2B"/>
                </a:solidFill>
                <a:latin typeface="Century Gothic"/>
                <a:ea typeface="Century Gothic"/>
                <a:cs typeface="Century Gothic"/>
              </a:rPr>
              <a:t>Preprocess O(S·Σ), scan O(T + Z) pada versi array.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2776800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2026-09-01T07:49:33.2710000Z</dcterms:created>
  <dcterms:modified xsi:type="dcterms:W3CDTF">2026-09-01T07:49:33.2710000Z</dcterms:modified>
</coreProperties>
</file>