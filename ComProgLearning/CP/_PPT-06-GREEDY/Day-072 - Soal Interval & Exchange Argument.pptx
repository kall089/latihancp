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1371600"/>
            <a:ext cx="7680960" cy="2468880"/>
          </a:xfrm>
          <a:prstGeom prst="rect">
            <a:avLst/>
          </a:prstGeom>
          <a:noFill/>
          <a:ln/>
        </p:spPr>
        <p:txBody>
          <a:bodyPr wrap="square" lIns="0" tIns="0" rIns="0" bIns="0" rtlCol="0" anchor="ctr"/>
          <a:lstStyle/>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Soal Interval &amp;</a:t>
            </a:r>
            <a:endParaRPr lang="en-US" sz="4200" dirty="0"/>
          </a:p>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Exchange Argument</a:t>
            </a:r>
            <a:endParaRPr lang="en-US" sz="4200" dirty="0"/>
          </a:p>
        </p:txBody>
      </p:sp>
      <p:sp>
        <p:nvSpPr>
          <p:cNvPr id="3" name="Text 1"/>
          <p:cNvSpPr txBox="1"/>
          <p:nvPr/>
        </p:nvSpPr>
        <p:spPr>
          <a:xfrm>
            <a:off x="667512" y="4023360"/>
            <a:ext cx="7680960" cy="457200"/>
          </a:xfrm>
          <a:prstGeom prst="rect">
            <a:avLst/>
          </a:prstGeom>
          <a:noFill/>
          <a:ln/>
        </p:spPr>
        <p:txBody>
          <a:bodyPr wrap="square" lIns="0" tIns="0" rIns="0" bIns="0" rtlCol="0" anchor="ctr"/>
          <a:lstStyle/>
          <a:p>
            <a:pPr indent="0" marL="0">
              <a:buNone/>
            </a:pPr>
            <a:r>
              <a:rPr lang="en-US" sz="1400" dirty="0">
                <a:solidFill>
                  <a:srgbClr val="7F7F7F"/>
                </a:solidFill>
                <a:latin typeface="Century Gothic" pitchFamily="34" charset="0"/>
                <a:ea typeface="Century Gothic" pitchFamily="34" charset="-122"/>
                <a:cs typeface="Century Gothic" pitchFamily="34" charset="-120"/>
              </a:rPr>
              <a:t>Keluarga soal greedy yang paling sering muncul di Div 2 A sampai C</a:t>
            </a:r>
            <a:endParaRPr lang="en-US" sz="1400" dirty="0"/>
          </a:p>
        </p:txBody>
      </p:sp>
      <p:sp>
        <p:nvSpPr>
          <p:cNvPr id="4" name="Text 2"/>
          <p:cNvSpPr txBox="1"/>
          <p:nvPr/>
        </p:nvSpPr>
        <p:spPr>
          <a:xfrm>
            <a:off x="667512" y="4645152"/>
            <a:ext cx="7315200" cy="365760"/>
          </a:xfrm>
          <a:prstGeom prst="rect">
            <a:avLst/>
          </a:prstGeom>
          <a:noFill/>
          <a:ln/>
        </p:spPr>
        <p:txBody>
          <a:bodyPr wrap="square" lIns="0" tIns="0" rIns="0" bIns="0" rtlCol="0" anchor="ctr"/>
          <a:lstStyle/>
          <a:p>
            <a:pPr indent="0" marL="0">
              <a:buNone/>
            </a:pPr>
            <a:r>
              <a:rPr lang="en-US" sz="1200" dirty="0">
                <a:solidFill>
                  <a:srgbClr val="4FA8E8"/>
                </a:solidFill>
                <a:latin typeface="Century Gothic" pitchFamily="34" charset="0"/>
                <a:ea typeface="Century Gothic" pitchFamily="34" charset="-122"/>
                <a:cs typeface="Century Gothic" pitchFamily="34" charset="-120"/>
              </a:rPr>
              <a:t>Greedy · Day 72</a:t>
            </a:r>
            <a:endParaRPr lang="en-US" sz="1200" dirty="0"/>
          </a:p>
        </p:txBody>
      </p:sp>
      <p:sp>
        <p:nvSpPr>
          <p:cNvPr id="5" name="Shape 3"/>
          <p:cNvSpPr/>
          <p:nvPr/>
        </p:nvSpPr>
        <p:spPr>
          <a:xfrm>
            <a:off x="9235440" y="1371600"/>
            <a:ext cx="2286000" cy="2286000"/>
          </a:xfrm>
          <a:prstGeom prst="rect">
            <a:avLst/>
          </a:prstGeom>
          <a:solidFill>
            <a:srgbClr val="F2F7FD"/>
          </a:solidFill>
          <a:ln/>
        </p:spPr>
      </p:sp>
      <p:sp>
        <p:nvSpPr>
          <p:cNvPr id="6" name="Text 4"/>
          <p:cNvSpPr txBox="1"/>
          <p:nvPr/>
        </p:nvSpPr>
        <p:spPr>
          <a:xfrm>
            <a:off x="9235440" y="1371600"/>
            <a:ext cx="2286000" cy="2286000"/>
          </a:xfrm>
          <a:prstGeom prst="rect">
            <a:avLst/>
          </a:prstGeom>
          <a:noFill/>
          <a:ln/>
        </p:spPr>
        <p:txBody>
          <a:bodyPr wrap="square" lIns="0" tIns="0" rIns="0" bIns="0" rtlCol="0" anchor="ctr"/>
          <a:lstStyle/>
          <a:p>
            <a:pPr algn="ctr" indent="0" marL="0">
              <a:buNone/>
            </a:pPr>
            <a:r>
              <a:rPr lang="en-US" sz="5600" dirty="0">
                <a:solidFill>
                  <a:srgbClr val="4FA8E8"/>
                </a:solidFill>
                <a:latin typeface="Century Gothic" pitchFamily="34" charset="0"/>
                <a:ea typeface="Century Gothic" pitchFamily="34" charset="-122"/>
                <a:cs typeface="Century Gothic" pitchFamily="34" charset="-120"/>
              </a:rPr>
              <a:t>72</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00</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Sebelum Mulai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Materi ini tentang apa, dan kapan ia dipakai</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Penjelasan Sederhana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Soal interval hampir selalu tentang memilih kriteria pengurutan yang tepat.</a:t>
            </a:r>
            <a:endParaRPr lang="en-US" sz="1300" dirty="0"/>
          </a:p>
        </p:txBody>
      </p:sp>
      <p:sp>
        <p:nvSpPr>
          <p:cNvPr id="4" name="Text 2"/>
          <p:cNvSpPr txBox="1"/>
          <p:nvPr/>
        </p:nvSpPr>
        <p:spPr>
          <a:xfrm>
            <a:off x="667512" y="1892808"/>
            <a:ext cx="4663440" cy="274320"/>
          </a:xfrm>
          <a:prstGeom prst="rect">
            <a:avLst/>
          </a:prstGeom>
          <a:noFill/>
          <a:ln/>
        </p:spPr>
        <p:txBody>
          <a:bodyPr wrap="square" lIns="0" tIns="0" rIns="0" bIns="0" rtlCol="0" anchor="ctr"/>
          <a:lstStyle/>
          <a:p>
            <a:pPr indent="0" marL="0">
              <a:buNone/>
            </a:pPr>
            <a:r>
              <a:rPr lang="en-US" sz="1050" spc="200" kern="0" dirty="0">
                <a:solidFill>
                  <a:srgbClr val="F5A623"/>
                </a:solidFill>
                <a:latin typeface="Century Gothic" pitchFamily="34" charset="0"/>
                <a:ea typeface="Century Gothic" pitchFamily="34" charset="-122"/>
                <a:cs typeface="Century Gothic" pitchFamily="34" charset="-120"/>
              </a:rPr>
              <a:t>BAYANGKAN SEPERTI INI</a:t>
            </a:r>
            <a:endParaRPr lang="en-US" sz="1050" dirty="0"/>
          </a:p>
        </p:txBody>
      </p:sp>
      <p:sp>
        <p:nvSpPr>
          <p:cNvPr id="5" name="Text 3"/>
          <p:cNvSpPr txBox="1"/>
          <p:nvPr/>
        </p:nvSpPr>
        <p:spPr>
          <a:xfrm>
            <a:off x="6858000" y="1892808"/>
            <a:ext cx="4663440" cy="274320"/>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DI DALAM SOAL</a:t>
            </a:r>
            <a:endParaRPr lang="en-US" sz="1050" dirty="0"/>
          </a:p>
        </p:txBody>
      </p:sp>
      <p:sp>
        <p:nvSpPr>
          <p:cNvPr id="6" name="Shape 4"/>
          <p:cNvSpPr/>
          <p:nvPr/>
        </p:nvSpPr>
        <p:spPr>
          <a:xfrm>
            <a:off x="667512" y="2276856"/>
            <a:ext cx="4663440" cy="553212"/>
          </a:xfrm>
          <a:prstGeom prst="rect">
            <a:avLst/>
          </a:prstGeom>
          <a:solidFill>
            <a:srgbClr val="FFF8EC"/>
          </a:solidFill>
          <a:ln/>
        </p:spPr>
      </p:sp>
      <p:sp>
        <p:nvSpPr>
          <p:cNvPr id="7" name="Shape 5"/>
          <p:cNvSpPr/>
          <p:nvPr/>
        </p:nvSpPr>
        <p:spPr>
          <a:xfrm>
            <a:off x="667512" y="2276856"/>
            <a:ext cx="54864" cy="553212"/>
          </a:xfrm>
          <a:prstGeom prst="rect">
            <a:avLst/>
          </a:prstGeom>
          <a:solidFill>
            <a:srgbClr val="F5A623"/>
          </a:solidFill>
          <a:ln/>
        </p:spPr>
      </p:sp>
      <p:sp>
        <p:nvSpPr>
          <p:cNvPr id="8" name="Text 6"/>
          <p:cNvSpPr txBox="1"/>
          <p:nvPr/>
        </p:nvSpPr>
        <p:spPr>
          <a:xfrm>
            <a:off x="923544" y="2276856"/>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Kamu ingin mengikuti sebanyak mungkin acara hari ini. Yang kamu pilih duluan adalah acara yang SELESAI paling awal — bukan yang mulai paling awal.</a:t>
            </a:r>
            <a:endParaRPr lang="en-US" sz="1200" dirty="0"/>
          </a:p>
        </p:txBody>
      </p:sp>
      <p:sp>
        <p:nvSpPr>
          <p:cNvPr id="9" name="Shape 7"/>
          <p:cNvSpPr/>
          <p:nvPr/>
        </p:nvSpPr>
        <p:spPr>
          <a:xfrm>
            <a:off x="5586984" y="2553462"/>
            <a:ext cx="1014984" cy="914"/>
          </a:xfrm>
          <a:prstGeom prst="line">
            <a:avLst/>
          </a:prstGeom>
          <a:noFill/>
          <a:ln w="19050">
            <a:solidFill>
              <a:srgbClr val="C8CDD4"/>
            </a:solidFill>
            <a:prstDash val="solid"/>
            <a:tailEnd type="triangle"/>
          </a:ln>
        </p:spPr>
      </p:sp>
      <p:sp>
        <p:nvSpPr>
          <p:cNvPr id="10" name="Shape 8"/>
          <p:cNvSpPr/>
          <p:nvPr/>
        </p:nvSpPr>
        <p:spPr>
          <a:xfrm>
            <a:off x="6858000" y="2276856"/>
            <a:ext cx="4663440" cy="553212"/>
          </a:xfrm>
          <a:prstGeom prst="rect">
            <a:avLst/>
          </a:prstGeom>
          <a:solidFill>
            <a:srgbClr val="F2F7FD"/>
          </a:solidFill>
          <a:ln/>
        </p:spPr>
      </p:sp>
      <p:sp>
        <p:nvSpPr>
          <p:cNvPr id="11" name="Shape 9"/>
          <p:cNvSpPr/>
          <p:nvPr/>
        </p:nvSpPr>
        <p:spPr>
          <a:xfrm>
            <a:off x="6858000" y="2276856"/>
            <a:ext cx="54864" cy="553212"/>
          </a:xfrm>
          <a:prstGeom prst="rect">
            <a:avLst/>
          </a:prstGeom>
          <a:solidFill>
            <a:srgbClr val="4FA8E8"/>
          </a:solidFill>
          <a:ln/>
        </p:spPr>
      </p:sp>
      <p:sp>
        <p:nvSpPr>
          <p:cNvPr id="12" name="Text 10"/>
          <p:cNvSpPr txBox="1"/>
          <p:nvPr/>
        </p:nvSpPr>
        <p:spPr>
          <a:xfrm>
            <a:off x="7114032" y="2276856"/>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Activity selection: urutkan menurut waktu SELESAI. Selesai lebih awal menyisakan waktu terbanyak untuk acara berikutnya.</a:t>
            </a:r>
            <a:endParaRPr lang="en-US" sz="1200" dirty="0"/>
          </a:p>
        </p:txBody>
      </p:sp>
      <p:sp>
        <p:nvSpPr>
          <p:cNvPr id="13" name="Shape 11"/>
          <p:cNvSpPr/>
          <p:nvPr/>
        </p:nvSpPr>
        <p:spPr>
          <a:xfrm>
            <a:off x="667512" y="2958084"/>
            <a:ext cx="4663440" cy="553212"/>
          </a:xfrm>
          <a:prstGeom prst="rect">
            <a:avLst/>
          </a:prstGeom>
          <a:solidFill>
            <a:srgbClr val="FFF8EC"/>
          </a:solidFill>
          <a:ln/>
        </p:spPr>
      </p:sp>
      <p:sp>
        <p:nvSpPr>
          <p:cNvPr id="14" name="Shape 12"/>
          <p:cNvSpPr/>
          <p:nvPr/>
        </p:nvSpPr>
        <p:spPr>
          <a:xfrm>
            <a:off x="667512" y="2958084"/>
            <a:ext cx="54864" cy="553212"/>
          </a:xfrm>
          <a:prstGeom prst="rect">
            <a:avLst/>
          </a:prstGeom>
          <a:solidFill>
            <a:srgbClr val="F5A623"/>
          </a:solidFill>
          <a:ln/>
        </p:spPr>
      </p:sp>
      <p:sp>
        <p:nvSpPr>
          <p:cNvPr id="15" name="Text 13"/>
          <p:cNvSpPr txBox="1"/>
          <p:nvPr/>
        </p:nvSpPr>
        <p:spPr>
          <a:xfrm>
            <a:off x="923544" y="2958084"/>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Memilih acara yang mulai paling pagi bisa berarti acara seharian penuh, dan kamu kehilangan tiga acara pendek.</a:t>
            </a:r>
            <a:endParaRPr lang="en-US" sz="1200" dirty="0"/>
          </a:p>
        </p:txBody>
      </p:sp>
      <p:sp>
        <p:nvSpPr>
          <p:cNvPr id="16" name="Shape 14"/>
          <p:cNvSpPr/>
          <p:nvPr/>
        </p:nvSpPr>
        <p:spPr>
          <a:xfrm>
            <a:off x="5586984" y="3234690"/>
            <a:ext cx="1014984" cy="914"/>
          </a:xfrm>
          <a:prstGeom prst="line">
            <a:avLst/>
          </a:prstGeom>
          <a:noFill/>
          <a:ln w="19050">
            <a:solidFill>
              <a:srgbClr val="C8CDD4"/>
            </a:solidFill>
            <a:prstDash val="solid"/>
            <a:tailEnd type="triangle"/>
          </a:ln>
        </p:spPr>
      </p:sp>
      <p:sp>
        <p:nvSpPr>
          <p:cNvPr id="17" name="Shape 15"/>
          <p:cNvSpPr/>
          <p:nvPr/>
        </p:nvSpPr>
        <p:spPr>
          <a:xfrm>
            <a:off x="6858000" y="2958084"/>
            <a:ext cx="4663440" cy="553212"/>
          </a:xfrm>
          <a:prstGeom prst="rect">
            <a:avLst/>
          </a:prstGeom>
          <a:solidFill>
            <a:srgbClr val="F2F7FD"/>
          </a:solidFill>
          <a:ln/>
        </p:spPr>
      </p:sp>
      <p:sp>
        <p:nvSpPr>
          <p:cNvPr id="18" name="Shape 16"/>
          <p:cNvSpPr/>
          <p:nvPr/>
        </p:nvSpPr>
        <p:spPr>
          <a:xfrm>
            <a:off x="6858000" y="2958084"/>
            <a:ext cx="54864" cy="553212"/>
          </a:xfrm>
          <a:prstGeom prst="rect">
            <a:avLst/>
          </a:prstGeom>
          <a:solidFill>
            <a:srgbClr val="4FA8E8"/>
          </a:solidFill>
          <a:ln/>
        </p:spPr>
      </p:sp>
      <p:sp>
        <p:nvSpPr>
          <p:cNvPr id="19" name="Text 17"/>
          <p:cNvSpPr txBox="1"/>
          <p:nvPr/>
        </p:nvSpPr>
        <p:spPr>
          <a:xfrm>
            <a:off x="7114032" y="2958084"/>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Mengurutkan menurut waktu mulai punya contoh tandingan sederhana: [0,100] mengalahkan [1,2] dan [3,4].</a:t>
            </a:r>
            <a:endParaRPr lang="en-US" sz="1200" dirty="0"/>
          </a:p>
        </p:txBody>
      </p:sp>
      <p:sp>
        <p:nvSpPr>
          <p:cNvPr id="20" name="Shape 18"/>
          <p:cNvSpPr/>
          <p:nvPr/>
        </p:nvSpPr>
        <p:spPr>
          <a:xfrm>
            <a:off x="667512" y="3639312"/>
            <a:ext cx="4663440" cy="553212"/>
          </a:xfrm>
          <a:prstGeom prst="rect">
            <a:avLst/>
          </a:prstGeom>
          <a:solidFill>
            <a:srgbClr val="FFF8EC"/>
          </a:solidFill>
          <a:ln/>
        </p:spPr>
      </p:sp>
      <p:sp>
        <p:nvSpPr>
          <p:cNvPr id="21" name="Shape 19"/>
          <p:cNvSpPr/>
          <p:nvPr/>
        </p:nvSpPr>
        <p:spPr>
          <a:xfrm>
            <a:off x="667512" y="3639312"/>
            <a:ext cx="54864" cy="553212"/>
          </a:xfrm>
          <a:prstGeom prst="rect">
            <a:avLst/>
          </a:prstGeom>
          <a:solidFill>
            <a:srgbClr val="F5A623"/>
          </a:solidFill>
          <a:ln/>
        </p:spPr>
      </p:sp>
      <p:sp>
        <p:nvSpPr>
          <p:cNvPr id="22" name="Text 20"/>
          <p:cNvSpPr txBox="1"/>
          <p:nvPr/>
        </p:nvSpPr>
        <p:spPr>
          <a:xfrm>
            <a:off x="923544" y="3639312"/>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Menggabungkan jadwal yang bertumpuk: urutkan dari yang mulai paling awal, lalu panjangkan blok selama masih bersentuhan.</a:t>
            </a:r>
            <a:endParaRPr lang="en-US" sz="1200" dirty="0"/>
          </a:p>
        </p:txBody>
      </p:sp>
      <p:sp>
        <p:nvSpPr>
          <p:cNvPr id="23" name="Shape 21"/>
          <p:cNvSpPr/>
          <p:nvPr/>
        </p:nvSpPr>
        <p:spPr>
          <a:xfrm>
            <a:off x="5586984" y="3915918"/>
            <a:ext cx="1014984" cy="914"/>
          </a:xfrm>
          <a:prstGeom prst="line">
            <a:avLst/>
          </a:prstGeom>
          <a:noFill/>
          <a:ln w="19050">
            <a:solidFill>
              <a:srgbClr val="C8CDD4"/>
            </a:solidFill>
            <a:prstDash val="solid"/>
            <a:tailEnd type="triangle"/>
          </a:ln>
        </p:spPr>
      </p:sp>
      <p:sp>
        <p:nvSpPr>
          <p:cNvPr id="24" name="Shape 22"/>
          <p:cNvSpPr/>
          <p:nvPr/>
        </p:nvSpPr>
        <p:spPr>
          <a:xfrm>
            <a:off x="6858000" y="3639312"/>
            <a:ext cx="4663440" cy="553212"/>
          </a:xfrm>
          <a:prstGeom prst="rect">
            <a:avLst/>
          </a:prstGeom>
          <a:solidFill>
            <a:srgbClr val="F2F7FD"/>
          </a:solidFill>
          <a:ln/>
        </p:spPr>
      </p:sp>
      <p:sp>
        <p:nvSpPr>
          <p:cNvPr id="25" name="Shape 23"/>
          <p:cNvSpPr/>
          <p:nvPr/>
        </p:nvSpPr>
        <p:spPr>
          <a:xfrm>
            <a:off x="6858000" y="3639312"/>
            <a:ext cx="54864" cy="553212"/>
          </a:xfrm>
          <a:prstGeom prst="rect">
            <a:avLst/>
          </a:prstGeom>
          <a:solidFill>
            <a:srgbClr val="4FA8E8"/>
          </a:solidFill>
          <a:ln/>
        </p:spPr>
      </p:sp>
      <p:sp>
        <p:nvSpPr>
          <p:cNvPr id="26" name="Text 24"/>
          <p:cNvSpPr txBox="1"/>
          <p:nvPr/>
        </p:nvSpPr>
        <p:spPr>
          <a:xfrm>
            <a:off x="7114032" y="3639312"/>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Merging intervals: di sini urutannya menurut waktu MULAI, berbeda dengan activity selection.</a:t>
            </a:r>
            <a:endParaRPr lang="en-US" sz="1200" dirty="0"/>
          </a:p>
        </p:txBody>
      </p:sp>
      <p:sp>
        <p:nvSpPr>
          <p:cNvPr id="27" name="Shape 25"/>
          <p:cNvSpPr/>
          <p:nvPr/>
        </p:nvSpPr>
        <p:spPr>
          <a:xfrm>
            <a:off x="667512" y="4320540"/>
            <a:ext cx="4663440" cy="553212"/>
          </a:xfrm>
          <a:prstGeom prst="rect">
            <a:avLst/>
          </a:prstGeom>
          <a:solidFill>
            <a:srgbClr val="FFF8EC"/>
          </a:solidFill>
          <a:ln/>
        </p:spPr>
      </p:sp>
      <p:sp>
        <p:nvSpPr>
          <p:cNvPr id="28" name="Shape 26"/>
          <p:cNvSpPr/>
          <p:nvPr/>
        </p:nvSpPr>
        <p:spPr>
          <a:xfrm>
            <a:off x="667512" y="4320540"/>
            <a:ext cx="54864" cy="553212"/>
          </a:xfrm>
          <a:prstGeom prst="rect">
            <a:avLst/>
          </a:prstGeom>
          <a:solidFill>
            <a:srgbClr val="F5A623"/>
          </a:solidFill>
          <a:ln/>
        </p:spPr>
      </p:sp>
      <p:sp>
        <p:nvSpPr>
          <p:cNvPr id="29" name="Text 27"/>
          <p:cNvSpPr txBox="1"/>
          <p:nvPr/>
        </p:nvSpPr>
        <p:spPr>
          <a:xfrm>
            <a:off x="923544" y="4320540"/>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Berapa ruangan minimal yang dibutuhkan? Hitung berapa acara yang berjalan bersamaan pada saat paling padat.</a:t>
            </a:r>
            <a:endParaRPr lang="en-US" sz="1200" dirty="0"/>
          </a:p>
        </p:txBody>
      </p:sp>
      <p:sp>
        <p:nvSpPr>
          <p:cNvPr id="30" name="Shape 28"/>
          <p:cNvSpPr/>
          <p:nvPr/>
        </p:nvSpPr>
        <p:spPr>
          <a:xfrm>
            <a:off x="5586984" y="4597146"/>
            <a:ext cx="1014984" cy="914"/>
          </a:xfrm>
          <a:prstGeom prst="line">
            <a:avLst/>
          </a:prstGeom>
          <a:noFill/>
          <a:ln w="19050">
            <a:solidFill>
              <a:srgbClr val="C8CDD4"/>
            </a:solidFill>
            <a:prstDash val="solid"/>
            <a:tailEnd type="triangle"/>
          </a:ln>
        </p:spPr>
      </p:sp>
      <p:sp>
        <p:nvSpPr>
          <p:cNvPr id="31" name="Shape 29"/>
          <p:cNvSpPr/>
          <p:nvPr/>
        </p:nvSpPr>
        <p:spPr>
          <a:xfrm>
            <a:off x="6858000" y="4320540"/>
            <a:ext cx="4663440" cy="553212"/>
          </a:xfrm>
          <a:prstGeom prst="rect">
            <a:avLst/>
          </a:prstGeom>
          <a:solidFill>
            <a:srgbClr val="F2F7FD"/>
          </a:solidFill>
          <a:ln/>
        </p:spPr>
      </p:sp>
      <p:sp>
        <p:nvSpPr>
          <p:cNvPr id="32" name="Shape 30"/>
          <p:cNvSpPr/>
          <p:nvPr/>
        </p:nvSpPr>
        <p:spPr>
          <a:xfrm>
            <a:off x="6858000" y="4320540"/>
            <a:ext cx="54864" cy="553212"/>
          </a:xfrm>
          <a:prstGeom prst="rect">
            <a:avLst/>
          </a:prstGeom>
          <a:solidFill>
            <a:srgbClr val="4FA8E8"/>
          </a:solidFill>
          <a:ln/>
        </p:spPr>
      </p:sp>
      <p:sp>
        <p:nvSpPr>
          <p:cNvPr id="33" name="Text 31"/>
          <p:cNvSpPr txBox="1"/>
          <p:nvPr/>
        </p:nvSpPr>
        <p:spPr>
          <a:xfrm>
            <a:off x="7114032" y="4320540"/>
            <a:ext cx="4206240" cy="553212"/>
          </a:xfrm>
          <a:prstGeom prst="rect">
            <a:avLst/>
          </a:prstGeom>
          <a:noFill/>
          <a:ln/>
        </p:spPr>
        <p:txBody>
          <a:bodyPr wrap="square" lIns="0" tIns="0" rIns="0" bIns="0" rtlCol="0" anchor="ctr"/>
          <a:lstStyle/>
          <a:p>
            <a:pPr indent="0" marL="0">
              <a:lnSpc>
                <a:spcPct val="115000"/>
              </a:lnSpc>
              <a:buNone/>
            </a:pPr>
            <a:r>
              <a:rPr lang="en-US" sz="1200" dirty="0">
                <a:solidFill>
                  <a:srgbClr val="2B2B2B"/>
                </a:solidFill>
                <a:latin typeface="Century Gothic" pitchFamily="34" charset="0"/>
                <a:ea typeface="Century Gothic" pitchFamily="34" charset="-122"/>
                <a:cs typeface="Century Gothic" pitchFamily="34" charset="-120"/>
              </a:rPr>
              <a:t>Sweep line: ubah tiap interval menjadi kejadian +1 dan -1, lalu sapu sambil menghitung yang aktif.</a:t>
            </a:r>
            <a:endParaRPr lang="en-US" sz="1200" dirty="0"/>
          </a:p>
        </p:txBody>
      </p:sp>
      <p:sp>
        <p:nvSpPr>
          <p:cNvPr id="34" name="Shape 32"/>
          <p:cNvSpPr/>
          <p:nvPr/>
        </p:nvSpPr>
        <p:spPr>
          <a:xfrm>
            <a:off x="667512" y="5276088"/>
            <a:ext cx="10853928" cy="914400"/>
          </a:xfrm>
          <a:prstGeom prst="rect">
            <a:avLst/>
          </a:prstGeom>
          <a:solidFill>
            <a:srgbClr val="FAFAFA"/>
          </a:solidFill>
          <a:ln/>
        </p:spPr>
      </p:sp>
      <p:sp>
        <p:nvSpPr>
          <p:cNvPr id="35" name="Shape 33"/>
          <p:cNvSpPr/>
          <p:nvPr/>
        </p:nvSpPr>
        <p:spPr>
          <a:xfrm>
            <a:off x="667512" y="5276088"/>
            <a:ext cx="10853928" cy="45720"/>
          </a:xfrm>
          <a:prstGeom prst="rect">
            <a:avLst/>
          </a:prstGeom>
          <a:solidFill>
            <a:srgbClr val="3ECF9E"/>
          </a:solidFill>
          <a:ln/>
        </p:spPr>
      </p:sp>
      <p:sp>
        <p:nvSpPr>
          <p:cNvPr id="36" name="Text 34"/>
          <p:cNvSpPr txBox="1"/>
          <p:nvPr/>
        </p:nvSpPr>
        <p:spPr>
          <a:xfrm>
            <a:off x="941832" y="5422392"/>
            <a:ext cx="1828800" cy="237744"/>
          </a:xfrm>
          <a:prstGeom prst="rect">
            <a:avLst/>
          </a:prstGeom>
          <a:noFill/>
          <a:ln/>
        </p:spPr>
        <p:txBody>
          <a:bodyPr wrap="square" lIns="0" tIns="0" rIns="0" bIns="0" rtlCol="0" anchor="ctr"/>
          <a:lstStyle/>
          <a:p>
            <a:pPr indent="0" marL="0">
              <a:buNone/>
            </a:pPr>
            <a:r>
              <a:rPr lang="en-US" sz="1000" spc="200" kern="0" dirty="0">
                <a:solidFill>
                  <a:srgbClr val="3ECF9E"/>
                </a:solidFill>
                <a:latin typeface="Century Gothic" pitchFamily="34" charset="0"/>
                <a:ea typeface="Century Gothic" pitchFamily="34" charset="-122"/>
                <a:cs typeface="Century Gothic" pitchFamily="34" charset="-120"/>
              </a:rPr>
              <a:t>INTINYA</a:t>
            </a:r>
            <a:endParaRPr lang="en-US" sz="1000" dirty="0"/>
          </a:p>
        </p:txBody>
      </p:sp>
      <p:sp>
        <p:nvSpPr>
          <p:cNvPr id="37" name="Text 35"/>
          <p:cNvSpPr txBox="1"/>
          <p:nvPr/>
        </p:nvSpPr>
        <p:spPr>
          <a:xfrm>
            <a:off x="941832" y="5660136"/>
            <a:ext cx="10332720" cy="457200"/>
          </a:xfrm>
          <a:prstGeom prst="rect">
            <a:avLst/>
          </a:prstGeom>
          <a:noFill/>
          <a:ln/>
        </p:spPr>
        <p:txBody>
          <a:bodyPr wrap="square" lIns="0" tIns="0" rIns="0" bIns="0" rtlCol="0" anchor="ctr"/>
          <a:lstStyle/>
          <a:p>
            <a:pPr indent="0" marL="0">
              <a:lnSpc>
                <a:spcPct val="120000"/>
              </a:lnSpc>
              <a:buNone/>
            </a:pPr>
            <a:r>
              <a:rPr lang="en-US" sz="1300" dirty="0">
                <a:solidFill>
                  <a:srgbClr val="1A1A1A"/>
                </a:solidFill>
                <a:latin typeface="Century Gothic" pitchFamily="34" charset="0"/>
                <a:ea typeface="Century Gothic" pitchFamily="34" charset="-122"/>
                <a:cs typeface="Century Gothic" pitchFamily="34" charset="-120"/>
              </a:rPr>
              <a:t>Kesalahan tersering pada soal interval bukan di kodenya, melainkan di memilih kriteria urutan — dan itu berbeda untuk tiap jenis soal.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Materi Ini Tentang Apa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Soal interval adalah keluarga greedy yang paling sering muncul di Div 2 A sampai C. Yang menentukan jawabannya hampir selalu kriteria pengurutan.</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Activity selection</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Pilih sebanyak mungkin kegiatan yang tidak bertabrakan. Kuncinya: urutkan menurut waktu SELESAI, bukan waktu mulai atau durasi.</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Kriteria lain yang terdengar masuk akal justru salah</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Mengurutkan menurut waktu mulai atau durasi terpendek punya contoh tandingan berukuran tiga interval. Selalu uji sebelum percaya.</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Exchange argument membuktikannya</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Ambil solusi optimal apa pun, tukar bagian pertamanya dengan pilihan greedy, lalu tunjukkan hasilnya tidak lebih buruk. Pola ini berlaku untuk hampir semua soal greedy.</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Sweep line untuk pertanyaan jumlah aktif</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Ubah setiap interval menjadi dua kejadian, lalu sapu dari kiri ke kanan. Cocok untuk soal ruangan minimum atau puncak keramaian.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Kapan Dipakai, Kapan Tidak</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Kenali dari kata jadwal, kegiatan, interval, rentang waktu, atau ruangan.</a:t>
            </a:r>
            <a:endParaRPr lang="en-US" sz="1300" dirty="0"/>
          </a:p>
        </p:txBody>
      </p:sp>
      <p:sp>
        <p:nvSpPr>
          <p:cNvPr id="4" name="Shape 2"/>
          <p:cNvSpPr/>
          <p:nvPr/>
        </p:nvSpPr>
        <p:spPr>
          <a:xfrm>
            <a:off x="667512" y="1938528"/>
            <a:ext cx="5349240" cy="3840480"/>
          </a:xfrm>
          <a:prstGeom prst="rect">
            <a:avLst/>
          </a:prstGeom>
          <a:solidFill>
            <a:srgbClr val="FAFAFA"/>
          </a:solidFill>
          <a:ln/>
        </p:spPr>
      </p:sp>
      <p:sp>
        <p:nvSpPr>
          <p:cNvPr id="5" name="Shape 3"/>
          <p:cNvSpPr/>
          <p:nvPr/>
        </p:nvSpPr>
        <p:spPr>
          <a:xfrm>
            <a:off x="667512" y="1938528"/>
            <a:ext cx="5349240" cy="50292"/>
          </a:xfrm>
          <a:prstGeom prst="rect">
            <a:avLst/>
          </a:prstGeom>
          <a:solidFill>
            <a:srgbClr val="2FA97B"/>
          </a:solidFill>
          <a:ln/>
        </p:spPr>
      </p:sp>
      <p:sp>
        <p:nvSpPr>
          <p:cNvPr id="6" name="Text 4"/>
          <p:cNvSpPr txBox="1"/>
          <p:nvPr/>
        </p:nvSpPr>
        <p:spPr>
          <a:xfrm>
            <a:off x="941832" y="2157984"/>
            <a:ext cx="4800600" cy="347472"/>
          </a:xfrm>
          <a:prstGeom prst="rect">
            <a:avLst/>
          </a:prstGeom>
          <a:noFill/>
          <a:ln/>
        </p:spPr>
        <p:txBody>
          <a:bodyPr wrap="square" lIns="0" tIns="0" rIns="0" bIns="0" rtlCol="0" anchor="ctr"/>
          <a:lstStyle/>
          <a:p>
            <a:pPr indent="0" marL="0">
              <a:buNone/>
            </a:pPr>
            <a:r>
              <a:rPr lang="en-US" sz="1450" spc="100" kern="0" dirty="0">
                <a:solidFill>
                  <a:srgbClr val="2FA97B"/>
                </a:solidFill>
                <a:latin typeface="Century Gothic" pitchFamily="34" charset="0"/>
                <a:ea typeface="Century Gothic" pitchFamily="34" charset="-122"/>
                <a:cs typeface="Century Gothic" pitchFamily="34" charset="-120"/>
              </a:rPr>
              <a:t>PAKAI KETIKA</a:t>
            </a:r>
            <a:endParaRPr lang="en-US" sz="1450" dirty="0"/>
          </a:p>
        </p:txBody>
      </p:sp>
      <p:sp>
        <p:nvSpPr>
          <p:cNvPr id="7" name="Shape 5"/>
          <p:cNvSpPr/>
          <p:nvPr/>
        </p:nvSpPr>
        <p:spPr>
          <a:xfrm>
            <a:off x="941832" y="2734056"/>
            <a:ext cx="274320" cy="274320"/>
          </a:xfrm>
          <a:prstGeom prst="ellipse">
            <a:avLst/>
          </a:prstGeom>
          <a:solidFill>
            <a:srgbClr val="2FA97B"/>
          </a:solidFill>
          <a:ln/>
        </p:spPr>
      </p:sp>
      <p:sp>
        <p:nvSpPr>
          <p:cNvPr id="8" name="Text 6"/>
          <p:cNvSpPr txBox="1"/>
          <p:nvPr/>
        </p:nvSpPr>
        <p:spPr>
          <a:xfrm>
            <a:off x="94183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9" name="Text 7"/>
          <p:cNvSpPr txBox="1"/>
          <p:nvPr/>
        </p:nvSpPr>
        <p:spPr>
          <a:xfrm>
            <a:off x="135331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Memilih sebanyak mungkin kegiatan yang tidak bertabrakan</a:t>
            </a:r>
            <a:endParaRPr lang="en-US" sz="1250" dirty="0"/>
          </a:p>
        </p:txBody>
      </p:sp>
      <p:sp>
        <p:nvSpPr>
          <p:cNvPr id="10" name="Shape 8"/>
          <p:cNvSpPr/>
          <p:nvPr/>
        </p:nvSpPr>
        <p:spPr>
          <a:xfrm>
            <a:off x="941832" y="3483864"/>
            <a:ext cx="274320" cy="274320"/>
          </a:xfrm>
          <a:prstGeom prst="ellipse">
            <a:avLst/>
          </a:prstGeom>
          <a:solidFill>
            <a:srgbClr val="2FA97B"/>
          </a:solidFill>
          <a:ln/>
        </p:spPr>
      </p:sp>
      <p:sp>
        <p:nvSpPr>
          <p:cNvPr id="11" name="Text 9"/>
          <p:cNvSpPr txBox="1"/>
          <p:nvPr/>
        </p:nvSpPr>
        <p:spPr>
          <a:xfrm>
            <a:off x="94183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2" name="Text 10"/>
          <p:cNvSpPr txBox="1"/>
          <p:nvPr/>
        </p:nvSpPr>
        <p:spPr>
          <a:xfrm>
            <a:off x="135331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Menggabungkan interval yang saling bertumpuk</a:t>
            </a:r>
            <a:endParaRPr lang="en-US" sz="1250" dirty="0"/>
          </a:p>
        </p:txBody>
      </p:sp>
      <p:sp>
        <p:nvSpPr>
          <p:cNvPr id="13" name="Shape 11"/>
          <p:cNvSpPr/>
          <p:nvPr/>
        </p:nvSpPr>
        <p:spPr>
          <a:xfrm>
            <a:off x="941832" y="4233672"/>
            <a:ext cx="274320" cy="274320"/>
          </a:xfrm>
          <a:prstGeom prst="ellipse">
            <a:avLst/>
          </a:prstGeom>
          <a:solidFill>
            <a:srgbClr val="2FA97B"/>
          </a:solidFill>
          <a:ln/>
        </p:spPr>
      </p:sp>
      <p:sp>
        <p:nvSpPr>
          <p:cNvPr id="14" name="Text 12"/>
          <p:cNvSpPr txBox="1"/>
          <p:nvPr/>
        </p:nvSpPr>
        <p:spPr>
          <a:xfrm>
            <a:off x="94183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5" name="Text 13"/>
          <p:cNvSpPr txBox="1"/>
          <p:nvPr/>
        </p:nvSpPr>
        <p:spPr>
          <a:xfrm>
            <a:off x="135331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Mencari berapa banyak interval yang aktif bersamaan</a:t>
            </a:r>
            <a:endParaRPr lang="en-US" sz="1250" dirty="0"/>
          </a:p>
        </p:txBody>
      </p:sp>
      <p:sp>
        <p:nvSpPr>
          <p:cNvPr id="16" name="Shape 14"/>
          <p:cNvSpPr/>
          <p:nvPr/>
        </p:nvSpPr>
        <p:spPr>
          <a:xfrm>
            <a:off x="941832" y="4983480"/>
            <a:ext cx="274320" cy="274320"/>
          </a:xfrm>
          <a:prstGeom prst="ellipse">
            <a:avLst/>
          </a:prstGeom>
          <a:solidFill>
            <a:srgbClr val="2FA97B"/>
          </a:solidFill>
          <a:ln/>
        </p:spPr>
      </p:sp>
      <p:sp>
        <p:nvSpPr>
          <p:cNvPr id="17" name="Text 15"/>
          <p:cNvSpPr txBox="1"/>
          <p:nvPr/>
        </p:nvSpPr>
        <p:spPr>
          <a:xfrm>
            <a:off x="941832" y="498348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8" name="Text 16"/>
          <p:cNvSpPr txBox="1"/>
          <p:nvPr/>
        </p:nvSpPr>
        <p:spPr>
          <a:xfrm>
            <a:off x="1353312" y="491947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Menghitung total panjang gabungan beberapa rentang</a:t>
            </a:r>
            <a:endParaRPr lang="en-US" sz="1250" dirty="0"/>
          </a:p>
        </p:txBody>
      </p:sp>
      <p:sp>
        <p:nvSpPr>
          <p:cNvPr id="19" name="Shape 17"/>
          <p:cNvSpPr/>
          <p:nvPr/>
        </p:nvSpPr>
        <p:spPr>
          <a:xfrm>
            <a:off x="6336792" y="1938528"/>
            <a:ext cx="5349240" cy="3090672"/>
          </a:xfrm>
          <a:prstGeom prst="rect">
            <a:avLst/>
          </a:prstGeom>
          <a:solidFill>
            <a:srgbClr val="FAFAFA"/>
          </a:solidFill>
          <a:ln/>
        </p:spPr>
      </p:sp>
      <p:sp>
        <p:nvSpPr>
          <p:cNvPr id="20" name="Shape 18"/>
          <p:cNvSpPr/>
          <p:nvPr/>
        </p:nvSpPr>
        <p:spPr>
          <a:xfrm>
            <a:off x="6336792" y="1938528"/>
            <a:ext cx="5349240" cy="50292"/>
          </a:xfrm>
          <a:prstGeom prst="rect">
            <a:avLst/>
          </a:prstGeom>
          <a:solidFill>
            <a:srgbClr val="D9534F"/>
          </a:solidFill>
          <a:ln/>
        </p:spPr>
      </p:sp>
      <p:sp>
        <p:nvSpPr>
          <p:cNvPr id="21" name="Text 19"/>
          <p:cNvSpPr txBox="1"/>
          <p:nvPr/>
        </p:nvSpPr>
        <p:spPr>
          <a:xfrm>
            <a:off x="6611112" y="2157984"/>
            <a:ext cx="4800600" cy="347472"/>
          </a:xfrm>
          <a:prstGeom prst="rect">
            <a:avLst/>
          </a:prstGeom>
          <a:noFill/>
          <a:ln/>
        </p:spPr>
        <p:txBody>
          <a:bodyPr wrap="square" lIns="0" tIns="0" rIns="0" bIns="0" rtlCol="0" anchor="ctr"/>
          <a:lstStyle/>
          <a:p>
            <a:pPr indent="0" marL="0">
              <a:buNone/>
            </a:pPr>
            <a:r>
              <a:rPr lang="en-US" sz="1450" spc="100" kern="0" dirty="0">
                <a:solidFill>
                  <a:srgbClr val="D9534F"/>
                </a:solidFill>
                <a:latin typeface="Century Gothic" pitchFamily="34" charset="0"/>
                <a:ea typeface="Century Gothic" pitchFamily="34" charset="-122"/>
                <a:cs typeface="Century Gothic" pitchFamily="34" charset="-120"/>
              </a:rPr>
              <a:t>JANGAN PAKAI KETIKA</a:t>
            </a:r>
            <a:endParaRPr lang="en-US" sz="1450" dirty="0"/>
          </a:p>
        </p:txBody>
      </p:sp>
      <p:sp>
        <p:nvSpPr>
          <p:cNvPr id="22" name="Shape 20"/>
          <p:cNvSpPr/>
          <p:nvPr/>
        </p:nvSpPr>
        <p:spPr>
          <a:xfrm>
            <a:off x="6611112" y="2734056"/>
            <a:ext cx="274320" cy="274320"/>
          </a:xfrm>
          <a:prstGeom prst="ellipse">
            <a:avLst/>
          </a:prstGeom>
          <a:solidFill>
            <a:srgbClr val="D9534F"/>
          </a:solidFill>
          <a:ln/>
        </p:spPr>
      </p:sp>
      <p:sp>
        <p:nvSpPr>
          <p:cNvPr id="23" name="Text 21"/>
          <p:cNvSpPr txBox="1"/>
          <p:nvPr/>
        </p:nvSpPr>
        <p:spPr>
          <a:xfrm>
            <a:off x="661111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4" name="Text 22"/>
          <p:cNvSpPr txBox="1"/>
          <p:nvPr/>
        </p:nvSpPr>
        <p:spPr>
          <a:xfrm>
            <a:off x="702259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Setiap interval punya nilai berbeda dan yang dicari total nilai terbesar — itu DP, bukan greedy</a:t>
            </a:r>
            <a:endParaRPr lang="en-US" sz="1250" dirty="0"/>
          </a:p>
        </p:txBody>
      </p:sp>
      <p:sp>
        <p:nvSpPr>
          <p:cNvPr id="25" name="Shape 23"/>
          <p:cNvSpPr/>
          <p:nvPr/>
        </p:nvSpPr>
        <p:spPr>
          <a:xfrm>
            <a:off x="6611112" y="3483864"/>
            <a:ext cx="274320" cy="274320"/>
          </a:xfrm>
          <a:prstGeom prst="ellipse">
            <a:avLst/>
          </a:prstGeom>
          <a:solidFill>
            <a:srgbClr val="D9534F"/>
          </a:solidFill>
          <a:ln/>
        </p:spPr>
      </p:sp>
      <p:sp>
        <p:nvSpPr>
          <p:cNvPr id="26" name="Text 24"/>
          <p:cNvSpPr txBox="1"/>
          <p:nvPr/>
        </p:nvSpPr>
        <p:spPr>
          <a:xfrm>
            <a:off x="661111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7" name="Text 25"/>
          <p:cNvSpPr txBox="1"/>
          <p:nvPr/>
        </p:nvSpPr>
        <p:spPr>
          <a:xfrm>
            <a:off x="702259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Ada batasan tambahan yang saling terkait antar interval</a:t>
            </a:r>
            <a:endParaRPr lang="en-US" sz="1250" dirty="0"/>
          </a:p>
        </p:txBody>
      </p:sp>
      <p:sp>
        <p:nvSpPr>
          <p:cNvPr id="28" name="Shape 26"/>
          <p:cNvSpPr/>
          <p:nvPr/>
        </p:nvSpPr>
        <p:spPr>
          <a:xfrm>
            <a:off x="6611112" y="4233672"/>
            <a:ext cx="274320" cy="274320"/>
          </a:xfrm>
          <a:prstGeom prst="ellipse">
            <a:avLst/>
          </a:prstGeom>
          <a:solidFill>
            <a:srgbClr val="D9534F"/>
          </a:solidFill>
          <a:ln/>
        </p:spPr>
      </p:sp>
      <p:sp>
        <p:nvSpPr>
          <p:cNvPr id="29" name="Text 27"/>
          <p:cNvSpPr txBox="1"/>
          <p:nvPr/>
        </p:nvSpPr>
        <p:spPr>
          <a:xfrm>
            <a:off x="661111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30" name="Text 28"/>
          <p:cNvSpPr txBox="1"/>
          <p:nvPr/>
        </p:nvSpPr>
        <p:spPr>
          <a:xfrm>
            <a:off x="702259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Greedy-mu belum diuji terhadap contoh tandingan kecil</a:t>
            </a:r>
            <a:endParaRPr lang="en-US" sz="1250" dirty="0"/>
          </a:p>
        </p:txBody>
      </p:sp>
      <p:sp>
        <p:nvSpPr>
          <p:cNvPr id="31" name="Shape 29"/>
          <p:cNvSpPr/>
          <p:nvPr/>
        </p:nvSpPr>
        <p:spPr>
          <a:xfrm>
            <a:off x="667512" y="5870448"/>
            <a:ext cx="10853928" cy="658368"/>
          </a:xfrm>
          <a:prstGeom prst="rect">
            <a:avLst/>
          </a:prstGeom>
          <a:solidFill>
            <a:srgbClr val="F2F7FD"/>
          </a:solidFill>
          <a:ln/>
        </p:spPr>
      </p:sp>
      <p:sp>
        <p:nvSpPr>
          <p:cNvPr id="32" name="Text 30"/>
          <p:cNvSpPr txBox="1"/>
          <p:nvPr/>
        </p:nvSpPr>
        <p:spPr>
          <a:xfrm>
            <a:off x="941832" y="5870448"/>
            <a:ext cx="10332720" cy="658368"/>
          </a:xfrm>
          <a:prstGeom prst="rect">
            <a:avLst/>
          </a:prstGeom>
          <a:noFill/>
          <a:ln/>
        </p:spPr>
        <p:txBody>
          <a:bodyPr wrap="square" lIns="0" tIns="0" rIns="0" bIns="0" rtlCol="0" anchor="ctr"/>
          <a:lstStyle/>
          <a:p>
            <a:pPr indent="0" marL="0">
              <a:lnSpc>
                <a:spcPct val="120000"/>
              </a:lnSpc>
              <a:buNone/>
            </a:pPr>
            <a:r>
              <a:rPr lang="en-US" sz="1250" dirty="0">
                <a:solidFill>
                  <a:srgbClr val="1B6CA8"/>
                </a:solidFill>
                <a:latin typeface="Century Gothic" pitchFamily="34" charset="0"/>
                <a:ea typeface="Century Gothic" pitchFamily="34" charset="-122"/>
                <a:cs typeface="Century Gothic" pitchFamily="34" charset="-120"/>
              </a:rPr>
              <a:t>Untuk memaksimalkan JUMLAH kegiatan, urutkan menurut waktu SELESAI. Untuk MENGGABUNGKAN interval, urutkan menurut waktu MULAI. Salah memilih membuat jawabannya salah.</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Posisi Materi Ini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tidak berdiri sendiri. Di kiri adalah yang sebaiknya sudah kamu kuasai, di kanan adalah yang terbuka setelah materi ini selesai.</a:t>
            </a:r>
            <a:endParaRPr lang="en-US" sz="1300" dirty="0"/>
          </a:p>
        </p:txBody>
      </p:sp>
      <p:sp>
        <p:nvSpPr>
          <p:cNvPr id="4" name="Text 2"/>
          <p:cNvSpPr txBox="1"/>
          <p:nvPr/>
        </p:nvSpPr>
        <p:spPr>
          <a:xfrm>
            <a:off x="667512"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PRASYARAT</a:t>
            </a:r>
            <a:endParaRPr lang="en-US" sz="1100" dirty="0"/>
          </a:p>
        </p:txBody>
      </p:sp>
      <p:sp>
        <p:nvSpPr>
          <p:cNvPr id="5" name="Shape 3"/>
          <p:cNvSpPr/>
          <p:nvPr/>
        </p:nvSpPr>
        <p:spPr>
          <a:xfrm>
            <a:off x="667512" y="2313432"/>
            <a:ext cx="3200400" cy="676656"/>
          </a:xfrm>
          <a:prstGeom prst="rect">
            <a:avLst/>
          </a:prstGeom>
          <a:solidFill>
            <a:srgbClr val="FAFAFA"/>
          </a:solidFill>
          <a:ln/>
        </p:spPr>
      </p:sp>
      <p:sp>
        <p:nvSpPr>
          <p:cNvPr id="6" name="Shape 4"/>
          <p:cNvSpPr/>
          <p:nvPr/>
        </p:nvSpPr>
        <p:spPr>
          <a:xfrm>
            <a:off x="667512" y="2313432"/>
            <a:ext cx="54864" cy="676656"/>
          </a:xfrm>
          <a:prstGeom prst="rect">
            <a:avLst/>
          </a:prstGeom>
          <a:solidFill>
            <a:srgbClr val="A0A6AD"/>
          </a:solidFill>
          <a:ln/>
        </p:spPr>
      </p:sp>
      <p:sp>
        <p:nvSpPr>
          <p:cNvPr id="7" name="Text 5"/>
          <p:cNvSpPr txBox="1"/>
          <p:nvPr/>
        </p:nvSpPr>
        <p:spPr>
          <a:xfrm>
            <a:off x="905256"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Sorting &amp; comparator (Day 18)</a:t>
            </a:r>
            <a:endParaRPr lang="en-US" sz="1200" dirty="0"/>
          </a:p>
        </p:txBody>
      </p:sp>
      <p:sp>
        <p:nvSpPr>
          <p:cNvPr id="8" name="Shape 6"/>
          <p:cNvSpPr/>
          <p:nvPr/>
        </p:nvSpPr>
        <p:spPr>
          <a:xfrm>
            <a:off x="667512" y="3136392"/>
            <a:ext cx="3200400" cy="676656"/>
          </a:xfrm>
          <a:prstGeom prst="rect">
            <a:avLst/>
          </a:prstGeom>
          <a:solidFill>
            <a:srgbClr val="FAFAFA"/>
          </a:solidFill>
          <a:ln/>
        </p:spPr>
      </p:sp>
      <p:sp>
        <p:nvSpPr>
          <p:cNvPr id="9" name="Shape 7"/>
          <p:cNvSpPr/>
          <p:nvPr/>
        </p:nvSpPr>
        <p:spPr>
          <a:xfrm>
            <a:off x="667512" y="3136392"/>
            <a:ext cx="54864" cy="676656"/>
          </a:xfrm>
          <a:prstGeom prst="rect">
            <a:avLst/>
          </a:prstGeom>
          <a:solidFill>
            <a:srgbClr val="A0A6AD"/>
          </a:solidFill>
          <a:ln/>
        </p:spPr>
      </p:sp>
      <p:sp>
        <p:nvSpPr>
          <p:cNvPr id="10" name="Text 8"/>
          <p:cNvSpPr txBox="1"/>
          <p:nvPr/>
        </p:nvSpPr>
        <p:spPr>
          <a:xfrm>
            <a:off x="905256"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Prinsip greedy (Day 71)</a:t>
            </a:r>
            <a:endParaRPr lang="en-US" sz="1200" dirty="0"/>
          </a:p>
        </p:txBody>
      </p:sp>
      <p:sp>
        <p:nvSpPr>
          <p:cNvPr id="11" name="Text 9"/>
          <p:cNvSpPr txBox="1"/>
          <p:nvPr/>
        </p:nvSpPr>
        <p:spPr>
          <a:xfrm>
            <a:off x="8403336"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SETELAH INI</a:t>
            </a:r>
            <a:endParaRPr lang="en-US" sz="1100" dirty="0"/>
          </a:p>
        </p:txBody>
      </p:sp>
      <p:sp>
        <p:nvSpPr>
          <p:cNvPr id="12" name="Shape 10"/>
          <p:cNvSpPr/>
          <p:nvPr/>
        </p:nvSpPr>
        <p:spPr>
          <a:xfrm>
            <a:off x="8403336" y="2313432"/>
            <a:ext cx="3200400" cy="676656"/>
          </a:xfrm>
          <a:prstGeom prst="rect">
            <a:avLst/>
          </a:prstGeom>
          <a:solidFill>
            <a:srgbClr val="FAFAFA"/>
          </a:solidFill>
          <a:ln/>
        </p:spPr>
      </p:sp>
      <p:sp>
        <p:nvSpPr>
          <p:cNvPr id="13" name="Shape 11"/>
          <p:cNvSpPr/>
          <p:nvPr/>
        </p:nvSpPr>
        <p:spPr>
          <a:xfrm>
            <a:off x="8403336" y="2313432"/>
            <a:ext cx="54864" cy="676656"/>
          </a:xfrm>
          <a:prstGeom prst="rect">
            <a:avLst/>
          </a:prstGeom>
          <a:solidFill>
            <a:srgbClr val="A78BFA"/>
          </a:solidFill>
          <a:ln/>
        </p:spPr>
      </p:sp>
      <p:sp>
        <p:nvSpPr>
          <p:cNvPr id="14" name="Text 12"/>
          <p:cNvSpPr txBox="1"/>
          <p:nvPr/>
        </p:nvSpPr>
        <p:spPr>
          <a:xfrm>
            <a:off x="8641080"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Priority queue greedy</a:t>
            </a:r>
            <a:endParaRPr lang="en-US" sz="1200" dirty="0"/>
          </a:p>
        </p:txBody>
      </p:sp>
      <p:sp>
        <p:nvSpPr>
          <p:cNvPr id="15" name="Shape 13"/>
          <p:cNvSpPr/>
          <p:nvPr/>
        </p:nvSpPr>
        <p:spPr>
          <a:xfrm>
            <a:off x="8403336" y="3136392"/>
            <a:ext cx="3200400" cy="676656"/>
          </a:xfrm>
          <a:prstGeom prst="rect">
            <a:avLst/>
          </a:prstGeom>
          <a:solidFill>
            <a:srgbClr val="FAFAFA"/>
          </a:solidFill>
          <a:ln/>
        </p:spPr>
      </p:sp>
      <p:sp>
        <p:nvSpPr>
          <p:cNvPr id="16" name="Shape 14"/>
          <p:cNvSpPr/>
          <p:nvPr/>
        </p:nvSpPr>
        <p:spPr>
          <a:xfrm>
            <a:off x="8403336" y="3136392"/>
            <a:ext cx="54864" cy="676656"/>
          </a:xfrm>
          <a:prstGeom prst="rect">
            <a:avLst/>
          </a:prstGeom>
          <a:solidFill>
            <a:srgbClr val="A78BFA"/>
          </a:solidFill>
          <a:ln/>
        </p:spPr>
      </p:sp>
      <p:sp>
        <p:nvSpPr>
          <p:cNvPr id="17" name="Text 15"/>
          <p:cNvSpPr txBox="1"/>
          <p:nvPr/>
        </p:nvSpPr>
        <p:spPr>
          <a:xfrm>
            <a:off x="8641080"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lanjut</a:t>
            </a:r>
            <a:endParaRPr lang="en-US" sz="1200" dirty="0"/>
          </a:p>
        </p:txBody>
      </p:sp>
      <p:sp>
        <p:nvSpPr>
          <p:cNvPr id="18" name="Shape 16"/>
          <p:cNvSpPr/>
          <p:nvPr/>
        </p:nvSpPr>
        <p:spPr>
          <a:xfrm>
            <a:off x="8403336" y="3959352"/>
            <a:ext cx="3200400" cy="676656"/>
          </a:xfrm>
          <a:prstGeom prst="rect">
            <a:avLst/>
          </a:prstGeom>
          <a:solidFill>
            <a:srgbClr val="FAFAFA"/>
          </a:solidFill>
          <a:ln/>
        </p:spPr>
      </p:sp>
      <p:sp>
        <p:nvSpPr>
          <p:cNvPr id="19" name="Shape 17"/>
          <p:cNvSpPr/>
          <p:nvPr/>
        </p:nvSpPr>
        <p:spPr>
          <a:xfrm>
            <a:off x="8403336" y="3959352"/>
            <a:ext cx="54864" cy="676656"/>
          </a:xfrm>
          <a:prstGeom prst="rect">
            <a:avLst/>
          </a:prstGeom>
          <a:solidFill>
            <a:srgbClr val="A78BFA"/>
          </a:solidFill>
          <a:ln/>
        </p:spPr>
      </p:sp>
      <p:sp>
        <p:nvSpPr>
          <p:cNvPr id="20" name="Text 18"/>
          <p:cNvSpPr txBox="1"/>
          <p:nvPr/>
        </p:nvSpPr>
        <p:spPr>
          <a:xfrm>
            <a:off x="8641080"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DP interval</a:t>
            </a:r>
            <a:endParaRPr lang="en-US" sz="1200" dirty="0"/>
          </a:p>
        </p:txBody>
      </p:sp>
      <p:sp>
        <p:nvSpPr>
          <p:cNvPr id="21" name="Shape 19"/>
          <p:cNvSpPr/>
          <p:nvPr/>
        </p:nvSpPr>
        <p:spPr>
          <a:xfrm>
            <a:off x="4352544" y="2313432"/>
            <a:ext cx="3566160" cy="2322576"/>
          </a:xfrm>
          <a:prstGeom prst="rect">
            <a:avLst/>
          </a:prstGeom>
          <a:solidFill>
            <a:srgbClr val="F2F7FD"/>
          </a:solidFill>
          <a:ln/>
        </p:spPr>
      </p:sp>
      <p:sp>
        <p:nvSpPr>
          <p:cNvPr id="22" name="Shape 20"/>
          <p:cNvSpPr/>
          <p:nvPr/>
        </p:nvSpPr>
        <p:spPr>
          <a:xfrm>
            <a:off x="4352544" y="2313432"/>
            <a:ext cx="3566160" cy="54864"/>
          </a:xfrm>
          <a:prstGeom prst="rect">
            <a:avLst/>
          </a:prstGeom>
          <a:solidFill>
            <a:srgbClr val="4FA8E8"/>
          </a:solidFill>
          <a:ln/>
        </p:spPr>
      </p:sp>
      <p:sp>
        <p:nvSpPr>
          <p:cNvPr id="23" name="Text 21"/>
          <p:cNvSpPr txBox="1"/>
          <p:nvPr/>
        </p:nvSpPr>
        <p:spPr>
          <a:xfrm>
            <a:off x="4626864" y="2551176"/>
            <a:ext cx="3017520" cy="256032"/>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MATERI INI</a:t>
            </a:r>
            <a:endParaRPr lang="en-US" sz="1050" dirty="0"/>
          </a:p>
        </p:txBody>
      </p:sp>
      <p:sp>
        <p:nvSpPr>
          <p:cNvPr id="24" name="Text 22"/>
          <p:cNvSpPr txBox="1"/>
          <p:nvPr/>
        </p:nvSpPr>
        <p:spPr>
          <a:xfrm>
            <a:off x="4626864" y="2880360"/>
            <a:ext cx="3017520" cy="914400"/>
          </a:xfrm>
          <a:prstGeom prst="rect">
            <a:avLst/>
          </a:prstGeom>
          <a:noFill/>
          <a:ln/>
        </p:spPr>
        <p:txBody>
          <a:bodyPr wrap="square" lIns="0" tIns="0" rIns="0" bIns="0" rtlCol="0" anchor="ctr"/>
          <a:lstStyle/>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Soal Interval &amp;</a:t>
            </a:r>
            <a:endParaRPr lang="en-US" sz="2000" dirty="0"/>
          </a:p>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Exchange Argument</a:t>
            </a:r>
            <a:endParaRPr lang="en-US" sz="2000" dirty="0"/>
          </a:p>
        </p:txBody>
      </p:sp>
      <p:sp>
        <p:nvSpPr>
          <p:cNvPr id="25" name="Text 23"/>
          <p:cNvSpPr txBox="1"/>
          <p:nvPr/>
        </p:nvSpPr>
        <p:spPr>
          <a:xfrm>
            <a:off x="4626864" y="3941064"/>
            <a:ext cx="3017520" cy="640080"/>
          </a:xfrm>
          <a:prstGeom prst="rect">
            <a:avLst/>
          </a:prstGeom>
          <a:noFill/>
          <a:ln/>
        </p:spPr>
        <p:txBody>
          <a:bodyPr wrap="square" lIns="0" tIns="0" rIns="0" bIns="0" rtlCol="0" anchor="ctr"/>
          <a:lstStyle/>
          <a:p>
            <a:pPr indent="0" marL="0">
              <a:lnSpc>
                <a:spcPct val="125000"/>
              </a:lnSpc>
              <a:buNone/>
            </a:pPr>
            <a:r>
              <a:rPr lang="en-US" sz="1200" dirty="0">
                <a:solidFill>
                  <a:srgbClr val="7F7F7F"/>
                </a:solidFill>
                <a:latin typeface="Century Gothic" pitchFamily="34" charset="0"/>
                <a:ea typeface="Century Gothic" pitchFamily="34" charset="-122"/>
                <a:cs typeface="Century Gothic" pitchFamily="34" charset="-120"/>
              </a:rPr>
              <a:t>Activity selection, merging, sweep line, dan cara membuktikannya.</a:t>
            </a:r>
            <a:endParaRPr lang="en-US" sz="1200" dirty="0"/>
          </a:p>
        </p:txBody>
      </p:sp>
      <p:sp>
        <p:nvSpPr>
          <p:cNvPr id="26" name="Shape 24"/>
          <p:cNvSpPr/>
          <p:nvPr/>
        </p:nvSpPr>
        <p:spPr>
          <a:xfrm>
            <a:off x="3941064" y="3456432"/>
            <a:ext cx="338328" cy="914"/>
          </a:xfrm>
          <a:prstGeom prst="line">
            <a:avLst/>
          </a:prstGeom>
          <a:noFill/>
          <a:ln w="19050">
            <a:solidFill>
              <a:srgbClr val="C8CDD4"/>
            </a:solidFill>
            <a:prstDash val="solid"/>
            <a:tailEnd type="triangle"/>
          </a:ln>
        </p:spPr>
      </p:sp>
      <p:sp>
        <p:nvSpPr>
          <p:cNvPr id="27" name="Shape 25"/>
          <p:cNvSpPr/>
          <p:nvPr/>
        </p:nvSpPr>
        <p:spPr>
          <a:xfrm>
            <a:off x="7991856" y="3456432"/>
            <a:ext cx="338328" cy="914"/>
          </a:xfrm>
          <a:prstGeom prst="line">
            <a:avLst/>
          </a:prstGeom>
          <a:noFill/>
          <a:ln w="19050">
            <a:solidFill>
              <a:srgbClr val="C8CDD4"/>
            </a:solidFill>
            <a:prstDash val="solid"/>
            <a:tailEnd type="triangle"/>
          </a:ln>
        </p:spPr>
      </p:sp>
      <p:sp>
        <p:nvSpPr>
          <p:cNvPr id="28" name="Shape 26"/>
          <p:cNvSpPr/>
          <p:nvPr/>
        </p:nvSpPr>
        <p:spPr>
          <a:xfrm>
            <a:off x="667512" y="5111496"/>
            <a:ext cx="10853928" cy="822960"/>
          </a:xfrm>
          <a:prstGeom prst="rect">
            <a:avLst/>
          </a:prstGeom>
          <a:solidFill>
            <a:srgbClr val="FAFAFA"/>
          </a:solidFill>
          <a:ln/>
        </p:spPr>
      </p:sp>
      <p:sp>
        <p:nvSpPr>
          <p:cNvPr id="29" name="Text 27"/>
          <p:cNvSpPr txBox="1"/>
          <p:nvPr/>
        </p:nvSpPr>
        <p:spPr>
          <a:xfrm>
            <a:off x="941832" y="5111496"/>
            <a:ext cx="10332720" cy="82296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entury Gothic" pitchFamily="34" charset="0"/>
                <a:ea typeface="Century Gothic" pitchFamily="34" charset="-122"/>
                <a:cs typeface="Century Gothic" pitchFamily="34" charset="-120"/>
              </a:rPr>
              <a:t>Exchange argument dari materi ini adalah alat pembuktian greedy yang akan dipakai berulang kali, termasuk untuk membuktikan Kruskal dan Huffman.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Agenda</a:t>
            </a:r>
            <a:endParaRPr lang="en-US" sz="3000" dirty="0"/>
          </a:p>
        </p:txBody>
      </p:sp>
      <p:sp>
        <p:nvSpPr>
          <p:cNvPr id="3" name="Text 1"/>
          <p:cNvSpPr txBox="1"/>
          <p:nvPr/>
        </p:nvSpPr>
        <p:spPr>
          <a:xfrm>
            <a:off x="667512" y="1280160"/>
            <a:ext cx="5120640" cy="457200"/>
          </a:xfrm>
          <a:prstGeom prst="rect">
            <a:avLst/>
          </a:prstGeom>
          <a:noFill/>
          <a:ln/>
        </p:spPr>
        <p:txBody>
          <a:bodyPr wrap="square" lIns="0" tIns="0" rIns="0" bIns="0" rtlCol="0" anchor="ctr"/>
          <a:lstStyle/>
          <a:p>
            <a:pPr indent="0" marL="0">
              <a:buNone/>
            </a:pPr>
            <a:r>
              <a:rPr lang="en-US" sz="1600" dirty="0">
                <a:solidFill>
                  <a:srgbClr val="4FA8E8"/>
                </a:solidFill>
                <a:latin typeface="Century Gothic" pitchFamily="34" charset="0"/>
                <a:ea typeface="Century Gothic" pitchFamily="34" charset="-122"/>
                <a:cs typeface="Century Gothic" pitchFamily="34" charset="-120"/>
              </a:rPr>
              <a:t>01   </a:t>
            </a:r>
            <a:pPr indent="0" marL="0">
              <a:buNone/>
            </a:pPr>
            <a:r>
              <a:rPr lang="en-US" sz="1600" dirty="0">
                <a:solidFill>
                  <a:srgbClr val="2B2B2B"/>
                </a:solidFill>
                <a:latin typeface="Century Gothic" pitchFamily="34" charset="0"/>
                <a:ea typeface="Century Gothic" pitchFamily="34" charset="-122"/>
                <a:cs typeface="Century Gothic" pitchFamily="34" charset="-120"/>
              </a:rPr>
              <a:t>Activity Selection</a:t>
            </a:r>
            <a:endParaRPr lang="en-US" sz="1600" dirty="0"/>
          </a:p>
        </p:txBody>
      </p:sp>
      <p:sp>
        <p:nvSpPr>
          <p:cNvPr id="4" name="Text 2"/>
          <p:cNvSpPr txBox="1"/>
          <p:nvPr/>
        </p:nvSpPr>
        <p:spPr>
          <a:xfrm>
            <a:off x="667512" y="1956816"/>
            <a:ext cx="5120640" cy="457200"/>
          </a:xfrm>
          <a:prstGeom prst="rect">
            <a:avLst/>
          </a:prstGeom>
          <a:noFill/>
          <a:ln/>
        </p:spPr>
        <p:txBody>
          <a:bodyPr wrap="square" lIns="0" tIns="0" rIns="0" bIns="0" rtlCol="0" anchor="ctr"/>
          <a:lstStyle/>
          <a:p>
            <a:pPr indent="0" marL="0">
              <a:buNone/>
            </a:pPr>
            <a:r>
              <a:rPr lang="en-US" sz="1600" dirty="0">
                <a:solidFill>
                  <a:srgbClr val="3ECF9E"/>
                </a:solidFill>
                <a:latin typeface="Century Gothic" pitchFamily="34" charset="0"/>
                <a:ea typeface="Century Gothic" pitchFamily="34" charset="-122"/>
                <a:cs typeface="Century Gothic" pitchFamily="34" charset="-120"/>
              </a:rPr>
              <a:t>02   </a:t>
            </a:r>
            <a:pPr indent="0" marL="0">
              <a:buNone/>
            </a:pPr>
            <a:r>
              <a:rPr lang="en-US" sz="1600" dirty="0">
                <a:solidFill>
                  <a:srgbClr val="2B2B2B"/>
                </a:solidFill>
                <a:latin typeface="Century Gothic" pitchFamily="34" charset="0"/>
                <a:ea typeface="Century Gothic" pitchFamily="34" charset="-122"/>
                <a:cs typeface="Century Gothic" pitchFamily="34" charset="-120"/>
              </a:rPr>
              <a:t>Tiga Greedy yang Salah</a:t>
            </a:r>
            <a:endParaRPr lang="en-US" sz="1600" dirty="0"/>
          </a:p>
        </p:txBody>
      </p:sp>
      <p:sp>
        <p:nvSpPr>
          <p:cNvPr id="5" name="Text 3"/>
          <p:cNvSpPr txBox="1"/>
          <p:nvPr/>
        </p:nvSpPr>
        <p:spPr>
          <a:xfrm>
            <a:off x="667512" y="2633472"/>
            <a:ext cx="5120640" cy="457200"/>
          </a:xfrm>
          <a:prstGeom prst="rect">
            <a:avLst/>
          </a:prstGeom>
          <a:noFill/>
          <a:ln/>
        </p:spPr>
        <p:txBody>
          <a:bodyPr wrap="square" lIns="0" tIns="0" rIns="0" bIns="0" rtlCol="0" anchor="ctr"/>
          <a:lstStyle/>
          <a:p>
            <a:pPr indent="0" marL="0">
              <a:buNone/>
            </a:pPr>
            <a:r>
              <a:rPr lang="en-US" sz="1600" dirty="0">
                <a:solidFill>
                  <a:srgbClr val="F5A623"/>
                </a:solidFill>
                <a:latin typeface="Century Gothic" pitchFamily="34" charset="0"/>
                <a:ea typeface="Century Gothic" pitchFamily="34" charset="-122"/>
                <a:cs typeface="Century Gothic" pitchFamily="34" charset="-120"/>
              </a:rPr>
              <a:t>03   </a:t>
            </a:r>
            <a:pPr indent="0" marL="0">
              <a:buNone/>
            </a:pPr>
            <a:r>
              <a:rPr lang="en-US" sz="1600" dirty="0">
                <a:solidFill>
                  <a:srgbClr val="2B2B2B"/>
                </a:solidFill>
                <a:latin typeface="Century Gothic" pitchFamily="34" charset="0"/>
                <a:ea typeface="Century Gothic" pitchFamily="34" charset="-122"/>
                <a:cs typeface="Century Gothic" pitchFamily="34" charset="-120"/>
              </a:rPr>
              <a:t>Membuktikan dengan Exchange Argument</a:t>
            </a:r>
            <a:endParaRPr lang="en-US" sz="1600" dirty="0"/>
          </a:p>
        </p:txBody>
      </p:sp>
      <p:sp>
        <p:nvSpPr>
          <p:cNvPr id="6" name="Text 4"/>
          <p:cNvSpPr txBox="1"/>
          <p:nvPr/>
        </p:nvSpPr>
        <p:spPr>
          <a:xfrm>
            <a:off x="667512" y="3310128"/>
            <a:ext cx="5120640" cy="457200"/>
          </a:xfrm>
          <a:prstGeom prst="rect">
            <a:avLst/>
          </a:prstGeom>
          <a:noFill/>
          <a:ln/>
        </p:spPr>
        <p:txBody>
          <a:bodyPr wrap="square" lIns="0" tIns="0" rIns="0" bIns="0" rtlCol="0" anchor="ctr"/>
          <a:lstStyle/>
          <a:p>
            <a:pPr indent="0" marL="0">
              <a:buNone/>
            </a:pPr>
            <a:r>
              <a:rPr lang="en-US" sz="1600" dirty="0">
                <a:solidFill>
                  <a:srgbClr val="A78BFA"/>
                </a:solidFill>
                <a:latin typeface="Century Gothic" pitchFamily="34" charset="0"/>
                <a:ea typeface="Century Gothic" pitchFamily="34" charset="-122"/>
                <a:cs typeface="Century Gothic" pitchFamily="34" charset="-120"/>
              </a:rPr>
              <a:t>04   </a:t>
            </a:r>
            <a:pPr indent="0" marL="0">
              <a:buNone/>
            </a:pPr>
            <a:r>
              <a:rPr lang="en-US" sz="1600" dirty="0">
                <a:solidFill>
                  <a:srgbClr val="2B2B2B"/>
                </a:solidFill>
                <a:latin typeface="Century Gothic" pitchFamily="34" charset="0"/>
                <a:ea typeface="Century Gothic" pitchFamily="34" charset="-122"/>
                <a:cs typeface="Century Gothic" pitchFamily="34" charset="-120"/>
              </a:rPr>
              <a:t>Simulasi Langkah demi Langkah</a:t>
            </a:r>
            <a:endParaRPr lang="en-US" sz="1600" dirty="0"/>
          </a:p>
        </p:txBody>
      </p:sp>
      <p:sp>
        <p:nvSpPr>
          <p:cNvPr id="7" name="Text 5"/>
          <p:cNvSpPr txBox="1"/>
          <p:nvPr/>
        </p:nvSpPr>
        <p:spPr>
          <a:xfrm>
            <a:off x="6062472" y="1280160"/>
            <a:ext cx="5120640" cy="457200"/>
          </a:xfrm>
          <a:prstGeom prst="rect">
            <a:avLst/>
          </a:prstGeom>
          <a:noFill/>
          <a:ln/>
        </p:spPr>
        <p:txBody>
          <a:bodyPr wrap="square" lIns="0" tIns="0" rIns="0" bIns="0" rtlCol="0" anchor="ctr"/>
          <a:lstStyle/>
          <a:p>
            <a:pPr indent="0" marL="0">
              <a:buNone/>
            </a:pPr>
            <a:r>
              <a:rPr lang="en-US" sz="1600" dirty="0">
                <a:solidFill>
                  <a:srgbClr val="EC6BA8"/>
                </a:solidFill>
                <a:latin typeface="Century Gothic" pitchFamily="34" charset="0"/>
                <a:ea typeface="Century Gothic" pitchFamily="34" charset="-122"/>
                <a:cs typeface="Century Gothic" pitchFamily="34" charset="-120"/>
              </a:rPr>
              <a:t>05   </a:t>
            </a:r>
            <a:pPr indent="0" marL="0">
              <a:buNone/>
            </a:pPr>
            <a:r>
              <a:rPr lang="en-US" sz="1600" dirty="0">
                <a:solidFill>
                  <a:srgbClr val="2B2B2B"/>
                </a:solidFill>
                <a:latin typeface="Century Gothic" pitchFamily="34" charset="0"/>
                <a:ea typeface="Century Gothic" pitchFamily="34" charset="-122"/>
                <a:cs typeface="Century Gothic" pitchFamily="34" charset="-120"/>
              </a:rPr>
              <a:t>Merging Intervals</a:t>
            </a:r>
            <a:endParaRPr lang="en-US" sz="1600" dirty="0"/>
          </a:p>
        </p:txBody>
      </p:sp>
      <p:sp>
        <p:nvSpPr>
          <p:cNvPr id="8" name="Text 6"/>
          <p:cNvSpPr txBox="1"/>
          <p:nvPr/>
        </p:nvSpPr>
        <p:spPr>
          <a:xfrm>
            <a:off x="6062472" y="1956816"/>
            <a:ext cx="5120640" cy="457200"/>
          </a:xfrm>
          <a:prstGeom prst="rect">
            <a:avLst/>
          </a:prstGeom>
          <a:noFill/>
          <a:ln/>
        </p:spPr>
        <p:txBody>
          <a:bodyPr wrap="square" lIns="0" tIns="0" rIns="0" bIns="0" rtlCol="0" anchor="ctr"/>
          <a:lstStyle/>
          <a:p>
            <a:pPr indent="0" marL="0">
              <a:buNone/>
            </a:pPr>
            <a:r>
              <a:rPr lang="en-US" sz="1600" dirty="0">
                <a:solidFill>
                  <a:srgbClr val="4ECDC4"/>
                </a:solidFill>
                <a:latin typeface="Century Gothic" pitchFamily="34" charset="0"/>
                <a:ea typeface="Century Gothic" pitchFamily="34" charset="-122"/>
                <a:cs typeface="Century Gothic" pitchFamily="34" charset="-120"/>
              </a:rPr>
              <a:t>06   </a:t>
            </a:r>
            <a:pPr indent="0" marL="0">
              <a:buNone/>
            </a:pPr>
            <a:r>
              <a:rPr lang="en-US" sz="1600" dirty="0">
                <a:solidFill>
                  <a:srgbClr val="2B2B2B"/>
                </a:solidFill>
                <a:latin typeface="Century Gothic" pitchFamily="34" charset="0"/>
                <a:ea typeface="Century Gothic" pitchFamily="34" charset="-122"/>
                <a:cs typeface="Century Gothic" pitchFamily="34" charset="-120"/>
              </a:rPr>
              <a:t>Sweep Line</a:t>
            </a:r>
            <a:endParaRPr lang="en-US" sz="1600" dirty="0"/>
          </a:p>
        </p:txBody>
      </p:sp>
      <p:sp>
        <p:nvSpPr>
          <p:cNvPr id="9" name="Text 7"/>
          <p:cNvSpPr txBox="1"/>
          <p:nvPr/>
        </p:nvSpPr>
        <p:spPr>
          <a:xfrm>
            <a:off x="6062472" y="2633472"/>
            <a:ext cx="5120640" cy="457200"/>
          </a:xfrm>
          <a:prstGeom prst="rect">
            <a:avLst/>
          </a:prstGeom>
          <a:noFill/>
          <a:ln/>
        </p:spPr>
        <p:txBody>
          <a:bodyPr wrap="square" lIns="0" tIns="0" rIns="0" bIns="0" rtlCol="0" anchor="ctr"/>
          <a:lstStyle/>
          <a:p>
            <a:pPr indent="0" marL="0">
              <a:buNone/>
            </a:pPr>
            <a:r>
              <a:rPr lang="en-US" sz="1600" dirty="0">
                <a:solidFill>
                  <a:srgbClr val="F0736A"/>
                </a:solidFill>
                <a:latin typeface="Century Gothic" pitchFamily="34" charset="0"/>
                <a:ea typeface="Century Gothic" pitchFamily="34" charset="-122"/>
                <a:cs typeface="Century Gothic" pitchFamily="34" charset="-120"/>
              </a:rPr>
              <a:t>07   </a:t>
            </a:r>
            <a:pPr indent="0" marL="0">
              <a:buNone/>
            </a:pPr>
            <a:r>
              <a:rPr lang="en-US" sz="1600" dirty="0">
                <a:solidFill>
                  <a:srgbClr val="2B2B2B"/>
                </a:solidFill>
                <a:latin typeface="Century Gothic" pitchFamily="34" charset="0"/>
                <a:ea typeface="Century Gothic" pitchFamily="34" charset="-122"/>
                <a:cs typeface="Century Gothic" pitchFamily="34" charset="-120"/>
              </a:rPr>
              <a:t>Katalog Soal Interval</a:t>
            </a:r>
            <a:endParaRPr lang="en-US" sz="1600" dirty="0"/>
          </a:p>
        </p:txBody>
      </p:sp>
      <p:sp>
        <p:nvSpPr>
          <p:cNvPr id="10" name="Text 8"/>
          <p:cNvSpPr txBox="1"/>
          <p:nvPr/>
        </p:nvSpPr>
        <p:spPr>
          <a:xfrm>
            <a:off x="6062472" y="3310128"/>
            <a:ext cx="5120640" cy="457200"/>
          </a:xfrm>
          <a:prstGeom prst="rect">
            <a:avLst/>
          </a:prstGeom>
          <a:noFill/>
          <a:ln/>
        </p:spPr>
        <p:txBody>
          <a:bodyPr wrap="square" lIns="0" tIns="0" rIns="0" bIns="0" rtlCol="0" anchor="ctr"/>
          <a:lstStyle/>
          <a:p>
            <a:pPr indent="0" marL="0">
              <a:buNone/>
            </a:pPr>
            <a:r>
              <a:rPr lang="en-US" sz="1600" dirty="0">
                <a:solidFill>
                  <a:srgbClr val="5B8DEF"/>
                </a:solidFill>
                <a:latin typeface="Century Gothic" pitchFamily="34" charset="0"/>
                <a:ea typeface="Century Gothic" pitchFamily="34" charset="-122"/>
                <a:cs typeface="Century Gothic" pitchFamily="34" charset="-120"/>
              </a:rPr>
              <a:t>08   </a:t>
            </a:r>
            <a:pPr indent="0" marL="0">
              <a:buNone/>
            </a:pPr>
            <a:r>
              <a:rPr lang="en-US" sz="1600" dirty="0">
                <a:solidFill>
                  <a:srgbClr val="2B2B2B"/>
                </a:solidFill>
                <a:latin typeface="Century Gothic" pitchFamily="34" charset="0"/>
                <a:ea typeface="Century Gothic" pitchFamily="34" charset="-122"/>
                <a:cs typeface="Century Gothic" pitchFamily="34" charset="-120"/>
              </a:rPr>
              <a:t>Contoh Soal &amp; Latihan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01</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Activity Selection</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Sebanyak mungkin kegiatan tanpa tabrakan</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Greedy yang Benar</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Seluruh soalnya selesai dalam sepuluh baris. Yang menentukan hanyalah kriteria pengurutannya.</a:t>
            </a:r>
            <a:endParaRPr lang="en-US" sz="1300" dirty="0"/>
          </a:p>
        </p:txBody>
      </p:sp>
      <p:pic>
        <p:nvPicPr>
          <p:cNvPr id="4" name="Image 0" descr="/tmp/ppt/imgs/c72_8_490.png">    </p:cNvPr>
          <p:cNvPicPr>
            <a:picLocks noChangeAspect="1"/>
          </p:cNvPicPr>
          <p:nvPr/>
        </p:nvPicPr>
        <p:blipFill>
          <a:blip r:embed="rId1"/>
          <a:stretch>
            <a:fillRect/>
          </a:stretch>
        </p:blipFill>
        <p:spPr>
          <a:xfrm>
            <a:off x="1547457" y="1755648"/>
            <a:ext cx="4686629" cy="4233672"/>
          </a:xfrm>
          <a:prstGeom prst="rect">
            <a:avLst/>
          </a:prstGeom>
        </p:spPr>
      </p:pic>
      <p:sp>
        <p:nvSpPr>
          <p:cNvPr id="5" name="Shape 2"/>
          <p:cNvSpPr/>
          <p:nvPr/>
        </p:nvSpPr>
        <p:spPr>
          <a:xfrm>
            <a:off x="7571232" y="1755648"/>
            <a:ext cx="3950208" cy="4233672"/>
          </a:xfrm>
          <a:prstGeom prst="rect">
            <a:avLst/>
          </a:prstGeom>
          <a:solidFill>
            <a:srgbClr val="FAFAFA"/>
          </a:solidFill>
          <a:ln/>
        </p:spPr>
      </p:sp>
      <p:sp>
        <p:nvSpPr>
          <p:cNvPr id="6" name="Shape 3"/>
          <p:cNvSpPr/>
          <p:nvPr/>
        </p:nvSpPr>
        <p:spPr>
          <a:xfrm>
            <a:off x="7571232" y="1755648"/>
            <a:ext cx="3950208" cy="45720"/>
          </a:xfrm>
          <a:prstGeom prst="rect">
            <a:avLst/>
          </a:prstGeom>
          <a:solidFill>
            <a:srgbClr val="4FA8E8"/>
          </a:solidFill>
          <a:ln/>
        </p:spPr>
      </p:sp>
      <p:sp>
        <p:nvSpPr>
          <p:cNvPr id="7" name="Text 4"/>
          <p:cNvSpPr txBox="1"/>
          <p:nvPr/>
        </p:nvSpPr>
        <p:spPr>
          <a:xfrm>
            <a:off x="7845552" y="1956816"/>
            <a:ext cx="3401568" cy="274320"/>
          </a:xfrm>
          <a:prstGeom prst="rect">
            <a:avLst/>
          </a:prstGeom>
          <a:noFill/>
          <a:ln/>
        </p:spPr>
        <p:txBody>
          <a:bodyPr wrap="square" lIns="0" tIns="0" rIns="0" bIns="0" rtlCol="0" anchor="ctr"/>
          <a:lstStyle/>
          <a:p>
            <a:pPr indent="0" marL="0">
              <a:buNone/>
            </a:pPr>
            <a:r>
              <a:rPr lang="en-US" sz="1050" spc="300" kern="0" dirty="0">
                <a:solidFill>
                  <a:srgbClr val="4FA8E8"/>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359152"/>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Alasan intuitifnya: kegiatan yang selesai paling awal menyisakan waktu terbanyak untuk kegiatan berikutnya. Halaman berikutnya menunjukkan kenapa kriteria lain gagal.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Tiga Greedy yang Salah</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Tiga aturan yang semuanya terdengar masuk akal untuk penjadwalan interval — dan ketiganya salah. Hanya "waktu selesai paling awal" yang benar.</a:t>
            </a:r>
            <a:endParaRPr lang="en-US" sz="1300" dirty="0"/>
          </a:p>
        </p:txBody>
      </p:sp>
      <p:pic>
        <p:nvPicPr>
          <p:cNvPr id="4" name="Image 0" descr="/tmp/ppt/imgs/c72_9_491.png">    </p:cNvPr>
          <p:cNvPicPr>
            <a:picLocks noChangeAspect="1"/>
          </p:cNvPicPr>
          <p:nvPr/>
        </p:nvPicPr>
        <p:blipFill>
          <a:blip r:embed="rId1"/>
          <a:stretch>
            <a:fillRect/>
          </a:stretch>
        </p:blipFill>
        <p:spPr>
          <a:xfrm>
            <a:off x="1826041" y="1993392"/>
            <a:ext cx="4129463"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3ECF9E"/>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3ECF9E"/>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1165860"/>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Interval {1,10} yang panjang merusak dua aturan pertama dan ketiga. Hanya pengurutan berdasarkan waktu SELESAI yang selalu memberi jawaban maksimum, dan itu bisa dibuktikan dengan exchange argument.</a:t>
            </a:r>
            <a:endParaRPr lang="en-US" sz="1200" dirty="0"/>
          </a:p>
        </p:txBody>
      </p:sp>
      <p:sp>
        <p:nvSpPr>
          <p:cNvPr id="9" name="Shape 6"/>
          <p:cNvSpPr/>
          <p:nvPr/>
        </p:nvSpPr>
        <p:spPr>
          <a:xfrm>
            <a:off x="7845552" y="4082796"/>
            <a:ext cx="82296" cy="82296"/>
          </a:xfrm>
          <a:prstGeom prst="rect">
            <a:avLst/>
          </a:prstGeom>
          <a:solidFill>
            <a:srgbClr val="3ECF9E"/>
          </a:solidFill>
          <a:ln/>
        </p:spPr>
      </p:sp>
      <p:sp>
        <p:nvSpPr>
          <p:cNvPr id="10" name="Text 7"/>
          <p:cNvSpPr txBox="1"/>
          <p:nvPr/>
        </p:nvSpPr>
        <p:spPr>
          <a:xfrm>
            <a:off x="8046720" y="3954780"/>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Mulai paling awal: satu interval panjang langsung memblokir semuanya.</a:t>
            </a:r>
            <a:endParaRPr lang="en-US" sz="1150" dirty="0"/>
          </a:p>
        </p:txBody>
      </p:sp>
      <p:sp>
        <p:nvSpPr>
          <p:cNvPr id="11" name="Shape 8"/>
          <p:cNvSpPr/>
          <p:nvPr/>
        </p:nvSpPr>
        <p:spPr>
          <a:xfrm>
            <a:off x="7845552" y="4538853"/>
            <a:ext cx="82296" cy="82296"/>
          </a:xfrm>
          <a:prstGeom prst="rect">
            <a:avLst/>
          </a:prstGeom>
          <a:solidFill>
            <a:srgbClr val="3ECF9E"/>
          </a:solidFill>
          <a:ln/>
        </p:spPr>
      </p:sp>
      <p:sp>
        <p:nvSpPr>
          <p:cNvPr id="12" name="Text 9"/>
          <p:cNvSpPr txBox="1"/>
          <p:nvPr/>
        </p:nvSpPr>
        <p:spPr>
          <a:xfrm>
            <a:off x="8046720" y="4410837"/>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Durasi terpendek: kebetulan benar di sini, tetapi mudah dipatahkan.</a:t>
            </a:r>
            <a:endParaRPr lang="en-US" sz="1150" dirty="0"/>
          </a:p>
        </p:txBody>
      </p:sp>
      <p:sp>
        <p:nvSpPr>
          <p:cNvPr id="13" name="Shape 10"/>
          <p:cNvSpPr/>
          <p:nvPr/>
        </p:nvSpPr>
        <p:spPr>
          <a:xfrm>
            <a:off x="7845552" y="4994910"/>
            <a:ext cx="82296" cy="82296"/>
          </a:xfrm>
          <a:prstGeom prst="rect">
            <a:avLst/>
          </a:prstGeom>
          <a:solidFill>
            <a:srgbClr val="3ECF9E"/>
          </a:solidFill>
          <a:ln/>
        </p:spPr>
      </p:sp>
      <p:sp>
        <p:nvSpPr>
          <p:cNvPr id="14" name="Text 11"/>
          <p:cNvSpPr txBox="1"/>
          <p:nvPr/>
        </p:nvSpPr>
        <p:spPr>
          <a:xfrm>
            <a:off x="8046720" y="4866894"/>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Selesai paling akhir: hampir selalu paling buruk.</a:t>
            </a:r>
            <a:endParaRPr lang="en-US" sz="1150" dirty="0"/>
          </a:p>
        </p:txBody>
      </p:sp>
      <p:sp>
        <p:nvSpPr>
          <p:cNvPr id="15" name="Shape 12"/>
          <p:cNvSpPr/>
          <p:nvPr/>
        </p:nvSpPr>
        <p:spPr>
          <a:xfrm>
            <a:off x="7845552" y="5450967"/>
            <a:ext cx="82296" cy="82296"/>
          </a:xfrm>
          <a:prstGeom prst="rect">
            <a:avLst/>
          </a:prstGeom>
          <a:solidFill>
            <a:srgbClr val="3ECF9E"/>
          </a:solidFill>
          <a:ln/>
        </p:spPr>
      </p:sp>
      <p:sp>
        <p:nvSpPr>
          <p:cNvPr id="16" name="Text 13"/>
          <p:cNvSpPr txBox="1"/>
          <p:nvPr/>
        </p:nvSpPr>
        <p:spPr>
          <a:xfrm>
            <a:off x="8046720" y="5322951"/>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Selesai paling awal menyisakan sisa waktu terbanyak — itu intinya.</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Membuktikan dengan Exchange Argument</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Buktinya bisa diperagakan: ambil jawaban optimal mana pun, tukar unsur pertama yang berbeda dengan pilihan greedy, dan hasilnya tidak pernah memburuk.</a:t>
            </a:r>
            <a:endParaRPr lang="en-US" sz="1300" dirty="0"/>
          </a:p>
        </p:txBody>
      </p:sp>
      <p:pic>
        <p:nvPicPr>
          <p:cNvPr id="4" name="Image 0" descr="/tmp/ppt/imgs/c72_10_492.png">    </p:cNvPr>
          <p:cNvPicPr>
            <a:picLocks noChangeAspect="1"/>
          </p:cNvPicPr>
          <p:nvPr/>
        </p:nvPicPr>
        <p:blipFill>
          <a:blip r:embed="rId1"/>
          <a:stretch>
            <a:fillRect/>
          </a:stretch>
        </p:blipFill>
        <p:spPr>
          <a:xfrm>
            <a:off x="2128907" y="1993392"/>
            <a:ext cx="3523730"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F5A623"/>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F5A623"/>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1165860"/>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Penukaran dua tugas bersebelahan yang urutannya terbalik selalu menurunkan total — atau setidaknya tidak menaikkannya. Ulangi terus, dan jawaban optimal mana pun berubah menjadi urutan greedy.</a:t>
            </a:r>
            <a:endParaRPr lang="en-US" sz="1200" dirty="0"/>
          </a:p>
        </p:txBody>
      </p:sp>
      <p:sp>
        <p:nvSpPr>
          <p:cNvPr id="9" name="Shape 6"/>
          <p:cNvSpPr/>
          <p:nvPr/>
        </p:nvSpPr>
        <p:spPr>
          <a:xfrm>
            <a:off x="7845552" y="4082796"/>
            <a:ext cx="82296" cy="82296"/>
          </a:xfrm>
          <a:prstGeom prst="rect">
            <a:avLst/>
          </a:prstGeom>
          <a:solidFill>
            <a:srgbClr val="F5A623"/>
          </a:solidFill>
          <a:ln/>
        </p:spPr>
      </p:sp>
      <p:sp>
        <p:nvSpPr>
          <p:cNvPr id="10" name="Text 7"/>
          <p:cNvSpPr txBox="1"/>
          <p:nvPr/>
        </p:nvSpPr>
        <p:spPr>
          <a:xfrm>
            <a:off x="8046720" y="3954780"/>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Bentuk bukunya selalu sama: cari posisi pertama yang berbeda, lalu tukar.</a:t>
            </a:r>
            <a:endParaRPr lang="en-US" sz="1150" dirty="0"/>
          </a:p>
        </p:txBody>
      </p:sp>
      <p:sp>
        <p:nvSpPr>
          <p:cNvPr id="11" name="Shape 8"/>
          <p:cNvSpPr/>
          <p:nvPr/>
        </p:nvSpPr>
        <p:spPr>
          <a:xfrm>
            <a:off x="7845552" y="4538853"/>
            <a:ext cx="82296" cy="82296"/>
          </a:xfrm>
          <a:prstGeom prst="rect">
            <a:avLst/>
          </a:prstGeom>
          <a:solidFill>
            <a:srgbClr val="F5A623"/>
          </a:solidFill>
          <a:ln/>
        </p:spPr>
      </p:sp>
      <p:sp>
        <p:nvSpPr>
          <p:cNvPr id="12" name="Text 9"/>
          <p:cNvSpPr txBox="1"/>
          <p:nvPr/>
        </p:nvSpPr>
        <p:spPr>
          <a:xfrm>
            <a:off x="8046720" y="4410837"/>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Kalau penukaran tidak pernah memperburuk, greedy pasti optimal.</a:t>
            </a:r>
            <a:endParaRPr lang="en-US" sz="1150" dirty="0"/>
          </a:p>
        </p:txBody>
      </p:sp>
      <p:sp>
        <p:nvSpPr>
          <p:cNvPr id="13" name="Shape 10"/>
          <p:cNvSpPr/>
          <p:nvPr/>
        </p:nvSpPr>
        <p:spPr>
          <a:xfrm>
            <a:off x="7845552" y="4994910"/>
            <a:ext cx="82296" cy="82296"/>
          </a:xfrm>
          <a:prstGeom prst="rect">
            <a:avLst/>
          </a:prstGeom>
          <a:solidFill>
            <a:srgbClr val="F5A623"/>
          </a:solidFill>
          <a:ln/>
        </p:spPr>
      </p:sp>
      <p:sp>
        <p:nvSpPr>
          <p:cNvPr id="14" name="Text 11"/>
          <p:cNvSpPr txBox="1"/>
          <p:nvPr/>
        </p:nvSpPr>
        <p:spPr>
          <a:xfrm>
            <a:off x="8046720" y="4866894"/>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Untuk soal kontes cukup dilakukan di kepala dalam dua menit.</a:t>
            </a:r>
            <a:endParaRPr lang="en-US" sz="1150" dirty="0"/>
          </a:p>
        </p:txBody>
      </p:sp>
      <p:sp>
        <p:nvSpPr>
          <p:cNvPr id="15" name="Shape 12"/>
          <p:cNvSpPr/>
          <p:nvPr/>
        </p:nvSpPr>
        <p:spPr>
          <a:xfrm>
            <a:off x="7845552" y="5450967"/>
            <a:ext cx="82296" cy="82296"/>
          </a:xfrm>
          <a:prstGeom prst="rect">
            <a:avLst/>
          </a:prstGeom>
          <a:solidFill>
            <a:srgbClr val="F5A623"/>
          </a:solidFill>
          <a:ln/>
        </p:spPr>
      </p:sp>
      <p:sp>
        <p:nvSpPr>
          <p:cNvPr id="16" name="Text 13"/>
          <p:cNvSpPr txBox="1"/>
          <p:nvPr/>
        </p:nvSpPr>
        <p:spPr>
          <a:xfrm>
            <a:off x="8046720" y="5322951"/>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Pembanding paksa seperti baris 20-24 memberi keyakinan tambahan.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02</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Simulasi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Lima kegiatan, memilih yang terbanyak</a:t>
            </a:r>
            <a:endParaRPr lang="en-US" sz="1350" dirty="0"/>
          </a:p>
        </p:txBody>
      </p:sp>
      <p:sp>
        <p:nvSpPr>
          <p:cNvPr id="5" name="Shape 3"/>
          <p:cNvSpPr/>
          <p:nvPr/>
        </p:nvSpPr>
        <p:spPr>
          <a:xfrm>
            <a:off x="5815584" y="4251960"/>
            <a:ext cx="548640" cy="45720"/>
          </a:xfrm>
          <a:prstGeom prst="rect">
            <a:avLst/>
          </a:prstGeom>
          <a:solidFill>
            <a:srgbClr val="A78BFA"/>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1 — Setelah Diurutkan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Interval diurutkan menurut waktu SELESAI. Batas awal diisi nilai yang lebih kecil dari semua waktu mulai.</a:t>
            </a:r>
            <a:endParaRPr lang="en-US" sz="1300" dirty="0"/>
          </a:p>
        </p:txBody>
      </p:sp>
      <p:sp>
        <p:nvSpPr>
          <p:cNvPr id="4" name="Text 2"/>
          <p:cNvSpPr txBox="1"/>
          <p:nvPr/>
        </p:nvSpPr>
        <p:spPr>
          <a:xfrm>
            <a:off x="667512" y="2551176"/>
            <a:ext cx="128016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selesai</a:t>
            </a:r>
            <a:endParaRPr lang="en-US" sz="1250" dirty="0"/>
          </a:p>
        </p:txBody>
      </p:sp>
      <p:sp>
        <p:nvSpPr>
          <p:cNvPr id="5" name="Shape 3"/>
          <p:cNvSpPr/>
          <p:nvPr/>
        </p:nvSpPr>
        <p:spPr>
          <a:xfrm>
            <a:off x="1947672" y="2395728"/>
            <a:ext cx="1371600" cy="566928"/>
          </a:xfrm>
          <a:prstGeom prst="rect">
            <a:avLst/>
          </a:prstGeom>
          <a:solidFill>
            <a:srgbClr val="FFF3D6"/>
          </a:solidFill>
          <a:ln w="9525">
            <a:solidFill>
              <a:srgbClr val="DADDE2"/>
            </a:solidFill>
            <a:prstDash val="solid"/>
          </a:ln>
        </p:spPr>
      </p:sp>
      <p:sp>
        <p:nvSpPr>
          <p:cNvPr id="6" name="Text 4"/>
          <p:cNvSpPr txBox="1"/>
          <p:nvPr/>
        </p:nvSpPr>
        <p:spPr>
          <a:xfrm>
            <a:off x="1947672" y="2395728"/>
            <a:ext cx="1371600" cy="566928"/>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3</a:t>
            </a:r>
            <a:endParaRPr lang="en-US" sz="1400" dirty="0"/>
          </a:p>
        </p:txBody>
      </p:sp>
      <p:sp>
        <p:nvSpPr>
          <p:cNvPr id="7" name="Text 5"/>
          <p:cNvSpPr txBox="1"/>
          <p:nvPr/>
        </p:nvSpPr>
        <p:spPr>
          <a:xfrm>
            <a:off x="1947672"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[1,3]</a:t>
            </a:r>
            <a:endParaRPr lang="en-US" sz="1000" dirty="0"/>
          </a:p>
        </p:txBody>
      </p:sp>
      <p:sp>
        <p:nvSpPr>
          <p:cNvPr id="8" name="Shape 6"/>
          <p:cNvSpPr/>
          <p:nvPr/>
        </p:nvSpPr>
        <p:spPr>
          <a:xfrm>
            <a:off x="3392424" y="2395728"/>
            <a:ext cx="1371600" cy="566928"/>
          </a:xfrm>
          <a:prstGeom prst="rect">
            <a:avLst/>
          </a:prstGeom>
          <a:solidFill>
            <a:srgbClr val="FFFFFF"/>
          </a:solidFill>
          <a:ln w="9525">
            <a:solidFill>
              <a:srgbClr val="DADDE2"/>
            </a:solidFill>
            <a:prstDash val="solid"/>
          </a:ln>
        </p:spPr>
      </p:sp>
      <p:sp>
        <p:nvSpPr>
          <p:cNvPr id="9" name="Text 7"/>
          <p:cNvSpPr txBox="1"/>
          <p:nvPr/>
        </p:nvSpPr>
        <p:spPr>
          <a:xfrm>
            <a:off x="3392424"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5</a:t>
            </a:r>
            <a:endParaRPr lang="en-US" sz="1400" dirty="0"/>
          </a:p>
        </p:txBody>
      </p:sp>
      <p:sp>
        <p:nvSpPr>
          <p:cNvPr id="10" name="Text 8"/>
          <p:cNvSpPr txBox="1"/>
          <p:nvPr/>
        </p:nvSpPr>
        <p:spPr>
          <a:xfrm>
            <a:off x="3392424"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[2,5]</a:t>
            </a:r>
            <a:endParaRPr lang="en-US" sz="1000" dirty="0"/>
          </a:p>
        </p:txBody>
      </p:sp>
      <p:sp>
        <p:nvSpPr>
          <p:cNvPr id="11" name="Shape 9"/>
          <p:cNvSpPr/>
          <p:nvPr/>
        </p:nvSpPr>
        <p:spPr>
          <a:xfrm>
            <a:off x="4837176" y="2395728"/>
            <a:ext cx="1371600" cy="566928"/>
          </a:xfrm>
          <a:prstGeom prst="rect">
            <a:avLst/>
          </a:prstGeom>
          <a:solidFill>
            <a:srgbClr val="FFFFFF"/>
          </a:solidFill>
          <a:ln w="9525">
            <a:solidFill>
              <a:srgbClr val="DADDE2"/>
            </a:solidFill>
            <a:prstDash val="solid"/>
          </a:ln>
        </p:spPr>
      </p:sp>
      <p:sp>
        <p:nvSpPr>
          <p:cNvPr id="12" name="Text 10"/>
          <p:cNvSpPr txBox="1"/>
          <p:nvPr/>
        </p:nvSpPr>
        <p:spPr>
          <a:xfrm>
            <a:off x="4837176"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7</a:t>
            </a:r>
            <a:endParaRPr lang="en-US" sz="1400" dirty="0"/>
          </a:p>
        </p:txBody>
      </p:sp>
      <p:sp>
        <p:nvSpPr>
          <p:cNvPr id="13" name="Text 11"/>
          <p:cNvSpPr txBox="1"/>
          <p:nvPr/>
        </p:nvSpPr>
        <p:spPr>
          <a:xfrm>
            <a:off x="4837176"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[4,7]</a:t>
            </a:r>
            <a:endParaRPr lang="en-US" sz="1000" dirty="0"/>
          </a:p>
        </p:txBody>
      </p:sp>
      <p:sp>
        <p:nvSpPr>
          <p:cNvPr id="14" name="Shape 12"/>
          <p:cNvSpPr/>
          <p:nvPr/>
        </p:nvSpPr>
        <p:spPr>
          <a:xfrm>
            <a:off x="6281928" y="2395728"/>
            <a:ext cx="1371600" cy="566928"/>
          </a:xfrm>
          <a:prstGeom prst="rect">
            <a:avLst/>
          </a:prstGeom>
          <a:solidFill>
            <a:srgbClr val="FFFFFF"/>
          </a:solidFill>
          <a:ln w="9525">
            <a:solidFill>
              <a:srgbClr val="DADDE2"/>
            </a:solidFill>
            <a:prstDash val="solid"/>
          </a:ln>
        </p:spPr>
      </p:sp>
      <p:sp>
        <p:nvSpPr>
          <p:cNvPr id="15" name="Text 13"/>
          <p:cNvSpPr txBox="1"/>
          <p:nvPr/>
        </p:nvSpPr>
        <p:spPr>
          <a:xfrm>
            <a:off x="6281928"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8</a:t>
            </a:r>
            <a:endParaRPr lang="en-US" sz="1400" dirty="0"/>
          </a:p>
        </p:txBody>
      </p:sp>
      <p:sp>
        <p:nvSpPr>
          <p:cNvPr id="16" name="Text 14"/>
          <p:cNvSpPr txBox="1"/>
          <p:nvPr/>
        </p:nvSpPr>
        <p:spPr>
          <a:xfrm>
            <a:off x="6281928"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[1,8]</a:t>
            </a:r>
            <a:endParaRPr lang="en-US" sz="1000" dirty="0"/>
          </a:p>
        </p:txBody>
      </p:sp>
      <p:sp>
        <p:nvSpPr>
          <p:cNvPr id="17" name="Shape 15"/>
          <p:cNvSpPr/>
          <p:nvPr/>
        </p:nvSpPr>
        <p:spPr>
          <a:xfrm>
            <a:off x="7726680" y="2395728"/>
            <a:ext cx="1371600" cy="566928"/>
          </a:xfrm>
          <a:prstGeom prst="rect">
            <a:avLst/>
          </a:prstGeom>
          <a:solidFill>
            <a:srgbClr val="FFFFFF"/>
          </a:solidFill>
          <a:ln w="9525">
            <a:solidFill>
              <a:srgbClr val="DADDE2"/>
            </a:solidFill>
            <a:prstDash val="solid"/>
          </a:ln>
        </p:spPr>
      </p:sp>
      <p:sp>
        <p:nvSpPr>
          <p:cNvPr id="18" name="Text 16"/>
          <p:cNvSpPr txBox="1"/>
          <p:nvPr/>
        </p:nvSpPr>
        <p:spPr>
          <a:xfrm>
            <a:off x="7726680"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10</a:t>
            </a:r>
            <a:endParaRPr lang="en-US" sz="1400" dirty="0"/>
          </a:p>
        </p:txBody>
      </p:sp>
      <p:sp>
        <p:nvSpPr>
          <p:cNvPr id="19" name="Text 17"/>
          <p:cNvSpPr txBox="1"/>
          <p:nvPr/>
        </p:nvSpPr>
        <p:spPr>
          <a:xfrm>
            <a:off x="7726680"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[8,10]</a:t>
            </a:r>
            <a:endParaRPr lang="en-US" sz="1000" dirty="0"/>
          </a:p>
        </p:txBody>
      </p:sp>
      <p:sp>
        <p:nvSpPr>
          <p:cNvPr id="20" name="Shape 18"/>
          <p:cNvSpPr/>
          <p:nvPr/>
        </p:nvSpPr>
        <p:spPr>
          <a:xfrm>
            <a:off x="667512" y="3529584"/>
            <a:ext cx="10853928" cy="914400"/>
          </a:xfrm>
          <a:prstGeom prst="rect">
            <a:avLst/>
          </a:prstGeom>
          <a:solidFill>
            <a:srgbClr val="FAFAFA"/>
          </a:solidFill>
          <a:ln/>
        </p:spPr>
      </p:sp>
      <p:sp>
        <p:nvSpPr>
          <p:cNvPr id="21" name="Text 19"/>
          <p:cNvSpPr txBox="1"/>
          <p:nvPr/>
        </p:nvSpPr>
        <p:spPr>
          <a:xfrm>
            <a:off x="941832" y="3621024"/>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urutan proses: [1,3]  [2,5]  [4,7]  [1,8]  [8,10]</a:t>
            </a:r>
            <a:endParaRPr lang="en-US" sz="1300" dirty="0"/>
          </a:p>
        </p:txBody>
      </p:sp>
      <p:sp>
        <p:nvSpPr>
          <p:cNvPr id="22" name="Text 20"/>
          <p:cNvSpPr txBox="1"/>
          <p:nvPr/>
        </p:nvSpPr>
        <p:spPr>
          <a:xfrm>
            <a:off x="941832" y="3968496"/>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Perhatikan bahwa [1,8] berada di urutan keempat meski mulai paling awal. Yang menentukan urutan adalah waktu selesai, bukan waktu mulai.</a:t>
            </a:r>
            <a:endParaRPr lang="en-US" sz="1200" dirty="0"/>
          </a:p>
        </p:txBody>
      </p:sp>
      <p:sp>
        <p:nvSpPr>
          <p:cNvPr id="23" name="Shape 21"/>
          <p:cNvSpPr/>
          <p:nvPr/>
        </p:nvSpPr>
        <p:spPr>
          <a:xfrm>
            <a:off x="9692640" y="1737360"/>
            <a:ext cx="1828800" cy="384048"/>
          </a:xfrm>
          <a:prstGeom prst="rect">
            <a:avLst/>
          </a:prstGeom>
          <a:solidFill>
            <a:srgbClr val="F2F7FD"/>
          </a:solidFill>
          <a:ln/>
        </p:spPr>
      </p:sp>
      <p:sp>
        <p:nvSpPr>
          <p:cNvPr id="24" name="Text 22"/>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 / 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2 — Mengambil dan Melewati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Kegiatan pertama selalu diambil. Berikutnya diambil hanya bila waktu mulainya tidak lebih kecil dari batas.</a:t>
            </a:r>
            <a:endParaRPr lang="en-US" sz="1300" dirty="0"/>
          </a:p>
        </p:txBody>
      </p:sp>
      <p:sp>
        <p:nvSpPr>
          <p:cNvPr id="4" name="Text 2"/>
          <p:cNvSpPr txBox="1"/>
          <p:nvPr/>
        </p:nvSpPr>
        <p:spPr>
          <a:xfrm>
            <a:off x="667512" y="2788920"/>
            <a:ext cx="128016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status</a:t>
            </a:r>
            <a:endParaRPr lang="en-US" sz="1250" dirty="0"/>
          </a:p>
        </p:txBody>
      </p:sp>
      <p:sp>
        <p:nvSpPr>
          <p:cNvPr id="5" name="Shape 3"/>
          <p:cNvSpPr/>
          <p:nvPr/>
        </p:nvSpPr>
        <p:spPr>
          <a:xfrm>
            <a:off x="1947672" y="2633472"/>
            <a:ext cx="1371600" cy="566928"/>
          </a:xfrm>
          <a:prstGeom prst="rect">
            <a:avLst/>
          </a:prstGeom>
          <a:solidFill>
            <a:srgbClr val="E6F2FC"/>
          </a:solidFill>
          <a:ln w="9525">
            <a:solidFill>
              <a:srgbClr val="DADDE2"/>
            </a:solidFill>
            <a:prstDash val="solid"/>
          </a:ln>
        </p:spPr>
      </p:sp>
      <p:sp>
        <p:nvSpPr>
          <p:cNvPr id="6" name="Text 4"/>
          <p:cNvSpPr txBox="1"/>
          <p:nvPr/>
        </p:nvSpPr>
        <p:spPr>
          <a:xfrm>
            <a:off x="1947672" y="2633472"/>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7" name="Text 5"/>
          <p:cNvSpPr txBox="1"/>
          <p:nvPr/>
        </p:nvSpPr>
        <p:spPr>
          <a:xfrm>
            <a:off x="1947672"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[1,3]</a:t>
            </a:r>
            <a:endParaRPr lang="en-US" sz="1000" dirty="0"/>
          </a:p>
        </p:txBody>
      </p:sp>
      <p:sp>
        <p:nvSpPr>
          <p:cNvPr id="8" name="Shape 6"/>
          <p:cNvSpPr/>
          <p:nvPr/>
        </p:nvSpPr>
        <p:spPr>
          <a:xfrm>
            <a:off x="3392424" y="2633472"/>
            <a:ext cx="1371600" cy="566928"/>
          </a:xfrm>
          <a:prstGeom prst="rect">
            <a:avLst/>
          </a:prstGeom>
          <a:solidFill>
            <a:srgbClr val="FFFFFF"/>
          </a:solidFill>
          <a:ln w="9525">
            <a:solidFill>
              <a:srgbClr val="DADDE2"/>
            </a:solidFill>
            <a:prstDash val="solid"/>
          </a:ln>
        </p:spPr>
      </p:sp>
      <p:sp>
        <p:nvSpPr>
          <p:cNvPr id="9" name="Text 7"/>
          <p:cNvSpPr txBox="1"/>
          <p:nvPr/>
        </p:nvSpPr>
        <p:spPr>
          <a:xfrm>
            <a:off x="3392424" y="2633472"/>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lewati</a:t>
            </a:r>
            <a:endParaRPr lang="en-US" sz="1400" dirty="0"/>
          </a:p>
        </p:txBody>
      </p:sp>
      <p:sp>
        <p:nvSpPr>
          <p:cNvPr id="10" name="Text 8"/>
          <p:cNvSpPr txBox="1"/>
          <p:nvPr/>
        </p:nvSpPr>
        <p:spPr>
          <a:xfrm>
            <a:off x="3392424"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[2,5]</a:t>
            </a:r>
            <a:endParaRPr lang="en-US" sz="1000" dirty="0"/>
          </a:p>
        </p:txBody>
      </p:sp>
      <p:sp>
        <p:nvSpPr>
          <p:cNvPr id="11" name="Shape 9"/>
          <p:cNvSpPr/>
          <p:nvPr/>
        </p:nvSpPr>
        <p:spPr>
          <a:xfrm>
            <a:off x="4837176" y="2633472"/>
            <a:ext cx="1371600" cy="566928"/>
          </a:xfrm>
          <a:prstGeom prst="rect">
            <a:avLst/>
          </a:prstGeom>
          <a:solidFill>
            <a:srgbClr val="FFF3D6"/>
          </a:solidFill>
          <a:ln w="9525">
            <a:solidFill>
              <a:srgbClr val="DADDE2"/>
            </a:solidFill>
            <a:prstDash val="solid"/>
          </a:ln>
        </p:spPr>
      </p:sp>
      <p:sp>
        <p:nvSpPr>
          <p:cNvPr id="12" name="Text 10"/>
          <p:cNvSpPr txBox="1"/>
          <p:nvPr/>
        </p:nvSpPr>
        <p:spPr>
          <a:xfrm>
            <a:off x="4837176" y="2633472"/>
            <a:ext cx="1371600" cy="566928"/>
          </a:xfrm>
          <a:prstGeom prst="rect">
            <a:avLst/>
          </a:prstGeom>
          <a:noFill/>
          <a:ln/>
        </p:spPr>
        <p:txBody>
          <a:bodyPr wrap="square" lIns="0" tIns="0" rIns="0" bIns="0" rtlCol="0" anchor="ctr"/>
          <a:lstStyle/>
          <a:p>
            <a:pPr algn="ctr" indent="0" marL="0">
              <a:buNone/>
            </a:pPr>
            <a:r>
              <a:rPr lang="en-US" sz="1400" dirty="0">
                <a:solidFill>
                  <a:srgbClr val="B45309"/>
                </a:solidFill>
                <a:latin typeface="Century Gothic" pitchFamily="34" charset="0"/>
                <a:ea typeface="Century Gothic" pitchFamily="34" charset="-122"/>
                <a:cs typeface="Century Gothic" pitchFamily="34" charset="-120"/>
              </a:rPr>
              <a:t>AMBIL</a:t>
            </a:r>
            <a:endParaRPr lang="en-US" sz="1400" dirty="0"/>
          </a:p>
        </p:txBody>
      </p:sp>
      <p:sp>
        <p:nvSpPr>
          <p:cNvPr id="13" name="Text 11"/>
          <p:cNvSpPr txBox="1"/>
          <p:nvPr/>
        </p:nvSpPr>
        <p:spPr>
          <a:xfrm>
            <a:off x="4837176"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[4,7]</a:t>
            </a:r>
            <a:endParaRPr lang="en-US" sz="1000" dirty="0"/>
          </a:p>
        </p:txBody>
      </p:sp>
      <p:sp>
        <p:nvSpPr>
          <p:cNvPr id="14" name="Shape 12"/>
          <p:cNvSpPr/>
          <p:nvPr/>
        </p:nvSpPr>
        <p:spPr>
          <a:xfrm>
            <a:off x="6281928" y="2633472"/>
            <a:ext cx="1371600" cy="566928"/>
          </a:xfrm>
          <a:prstGeom prst="rect">
            <a:avLst/>
          </a:prstGeom>
          <a:solidFill>
            <a:srgbClr val="FFFFFF"/>
          </a:solidFill>
          <a:ln w="9525">
            <a:solidFill>
              <a:srgbClr val="DADDE2"/>
            </a:solidFill>
            <a:prstDash val="solid"/>
          </a:ln>
        </p:spPr>
      </p:sp>
      <p:sp>
        <p:nvSpPr>
          <p:cNvPr id="15" name="Text 13"/>
          <p:cNvSpPr txBox="1"/>
          <p:nvPr/>
        </p:nvSpPr>
        <p:spPr>
          <a:xfrm>
            <a:off x="6281928" y="2633472"/>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6" name="Text 14"/>
          <p:cNvSpPr txBox="1"/>
          <p:nvPr/>
        </p:nvSpPr>
        <p:spPr>
          <a:xfrm>
            <a:off x="6281928"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[1,8]</a:t>
            </a:r>
            <a:endParaRPr lang="en-US" sz="1000" dirty="0"/>
          </a:p>
        </p:txBody>
      </p:sp>
      <p:sp>
        <p:nvSpPr>
          <p:cNvPr id="17" name="Shape 15"/>
          <p:cNvSpPr/>
          <p:nvPr/>
        </p:nvSpPr>
        <p:spPr>
          <a:xfrm>
            <a:off x="7726680" y="2633472"/>
            <a:ext cx="1371600" cy="566928"/>
          </a:xfrm>
          <a:prstGeom prst="rect">
            <a:avLst/>
          </a:prstGeom>
          <a:solidFill>
            <a:srgbClr val="FFFFFF"/>
          </a:solidFill>
          <a:ln w="9525">
            <a:solidFill>
              <a:srgbClr val="DADDE2"/>
            </a:solidFill>
            <a:prstDash val="solid"/>
          </a:ln>
        </p:spPr>
      </p:sp>
      <p:sp>
        <p:nvSpPr>
          <p:cNvPr id="18" name="Text 16"/>
          <p:cNvSpPr txBox="1"/>
          <p:nvPr/>
        </p:nvSpPr>
        <p:spPr>
          <a:xfrm>
            <a:off x="7726680" y="2633472"/>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a:t>
            </a:r>
            <a:endParaRPr lang="en-US" sz="1400" dirty="0"/>
          </a:p>
        </p:txBody>
      </p:sp>
      <p:sp>
        <p:nvSpPr>
          <p:cNvPr id="19" name="Text 17"/>
          <p:cNvSpPr txBox="1"/>
          <p:nvPr/>
        </p:nvSpPr>
        <p:spPr>
          <a:xfrm>
            <a:off x="7726680" y="3273552"/>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[8,10]</a:t>
            </a:r>
            <a:endParaRPr lang="en-US" sz="1000" dirty="0"/>
          </a:p>
        </p:txBody>
      </p:sp>
      <p:sp>
        <p:nvSpPr>
          <p:cNvPr id="20" name="Shape 18"/>
          <p:cNvSpPr/>
          <p:nvPr/>
        </p:nvSpPr>
        <p:spPr>
          <a:xfrm>
            <a:off x="667512" y="3767328"/>
            <a:ext cx="10853928" cy="914400"/>
          </a:xfrm>
          <a:prstGeom prst="rect">
            <a:avLst/>
          </a:prstGeom>
          <a:solidFill>
            <a:srgbClr val="FAFAFA"/>
          </a:solidFill>
          <a:ln/>
        </p:spPr>
      </p:sp>
      <p:sp>
        <p:nvSpPr>
          <p:cNvPr id="21" name="Text 19"/>
          <p:cNvSpPr txBox="1"/>
          <p:nvPr/>
        </p:nvSpPr>
        <p:spPr>
          <a:xfrm>
            <a:off x="941832" y="3858768"/>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[2,5] dilewati karena mulai 2 lebih kecil dari batas 3</a:t>
            </a:r>
            <a:endParaRPr lang="en-US" sz="1300" dirty="0"/>
          </a:p>
        </p:txBody>
      </p:sp>
      <p:sp>
        <p:nvSpPr>
          <p:cNvPr id="22" name="Text 20"/>
          <p:cNvSpPr txBox="1"/>
          <p:nvPr/>
        </p:nvSpPr>
        <p:spPr>
          <a:xfrm>
            <a:off x="941832" y="4206240"/>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Setelah mengambil [1,3], batas menjadi 3. Kegiatan [2,5] bertabrakan sehingga dilewati; [4,7] mulai pada 4 sehingga aman diambil dan batas menjadi 7.</a:t>
            </a:r>
            <a:endParaRPr lang="en-US" sz="1200" dirty="0"/>
          </a:p>
        </p:txBody>
      </p:sp>
      <p:sp>
        <p:nvSpPr>
          <p:cNvPr id="23" name="Shape 21"/>
          <p:cNvSpPr/>
          <p:nvPr/>
        </p:nvSpPr>
        <p:spPr>
          <a:xfrm>
            <a:off x="9692640" y="1975104"/>
            <a:ext cx="1828800" cy="384048"/>
          </a:xfrm>
          <a:prstGeom prst="rect">
            <a:avLst/>
          </a:prstGeom>
          <a:solidFill>
            <a:srgbClr val="F2F7FD"/>
          </a:solidFill>
          <a:ln/>
        </p:spPr>
      </p:sp>
      <p:sp>
        <p:nvSpPr>
          <p:cNvPr id="24" name="Text 22"/>
          <p:cNvSpPr txBox="1"/>
          <p:nvPr/>
        </p:nvSpPr>
        <p:spPr>
          <a:xfrm>
            <a:off x="9692640" y="1975104"/>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 / 3</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Langkah 3 — Hasil Akhir</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Setelah seluruh kegiatan diperiksa, terkumpul tiga kegiatan yang tidak saling bertabrakan.</a:t>
            </a:r>
            <a:endParaRPr lang="en-US" sz="1300" dirty="0"/>
          </a:p>
        </p:txBody>
      </p:sp>
      <p:sp>
        <p:nvSpPr>
          <p:cNvPr id="4" name="Text 2"/>
          <p:cNvSpPr txBox="1"/>
          <p:nvPr/>
        </p:nvSpPr>
        <p:spPr>
          <a:xfrm>
            <a:off x="667512" y="2551176"/>
            <a:ext cx="1280160" cy="256032"/>
          </a:xfrm>
          <a:prstGeom prst="rect">
            <a:avLst/>
          </a:prstGeom>
          <a:noFill/>
          <a:ln/>
        </p:spPr>
        <p:txBody>
          <a:bodyPr wrap="square" lIns="0" tIns="0" rIns="0" bIns="0" rtlCol="0" anchor="ctr"/>
          <a:lstStyle/>
          <a:p>
            <a:pPr algn="l" indent="0" marL="0">
              <a:buNone/>
            </a:pPr>
            <a:r>
              <a:rPr lang="en-US" sz="1250" dirty="0">
                <a:solidFill>
                  <a:srgbClr val="2B2B2B"/>
                </a:solidFill>
                <a:latin typeface="Century Gothic" pitchFamily="34" charset="0"/>
                <a:ea typeface="Century Gothic" pitchFamily="34" charset="-122"/>
                <a:cs typeface="Century Gothic" pitchFamily="34" charset="-120"/>
              </a:rPr>
              <a:t>status</a:t>
            </a:r>
            <a:endParaRPr lang="en-US" sz="1250" dirty="0"/>
          </a:p>
        </p:txBody>
      </p:sp>
      <p:sp>
        <p:nvSpPr>
          <p:cNvPr id="5" name="Shape 3"/>
          <p:cNvSpPr/>
          <p:nvPr/>
        </p:nvSpPr>
        <p:spPr>
          <a:xfrm>
            <a:off x="1947672" y="2395728"/>
            <a:ext cx="1371600" cy="566928"/>
          </a:xfrm>
          <a:prstGeom prst="rect">
            <a:avLst/>
          </a:prstGeom>
          <a:solidFill>
            <a:srgbClr val="E6F2FC"/>
          </a:solidFill>
          <a:ln w="9525">
            <a:solidFill>
              <a:srgbClr val="DADDE2"/>
            </a:solidFill>
            <a:prstDash val="solid"/>
          </a:ln>
        </p:spPr>
      </p:sp>
      <p:sp>
        <p:nvSpPr>
          <p:cNvPr id="6" name="Text 4"/>
          <p:cNvSpPr txBox="1"/>
          <p:nvPr/>
        </p:nvSpPr>
        <p:spPr>
          <a:xfrm>
            <a:off x="1947672" y="2395728"/>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7" name="Text 5"/>
          <p:cNvSpPr txBox="1"/>
          <p:nvPr/>
        </p:nvSpPr>
        <p:spPr>
          <a:xfrm>
            <a:off x="1947672"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[1,3]</a:t>
            </a:r>
            <a:endParaRPr lang="en-US" sz="1000" dirty="0"/>
          </a:p>
        </p:txBody>
      </p:sp>
      <p:sp>
        <p:nvSpPr>
          <p:cNvPr id="8" name="Shape 6"/>
          <p:cNvSpPr/>
          <p:nvPr/>
        </p:nvSpPr>
        <p:spPr>
          <a:xfrm>
            <a:off x="3392424" y="2395728"/>
            <a:ext cx="1371600" cy="566928"/>
          </a:xfrm>
          <a:prstGeom prst="rect">
            <a:avLst/>
          </a:prstGeom>
          <a:solidFill>
            <a:srgbClr val="FFFFFF"/>
          </a:solidFill>
          <a:ln w="9525">
            <a:solidFill>
              <a:srgbClr val="DADDE2"/>
            </a:solidFill>
            <a:prstDash val="solid"/>
          </a:ln>
        </p:spPr>
      </p:sp>
      <p:sp>
        <p:nvSpPr>
          <p:cNvPr id="9" name="Text 7"/>
          <p:cNvSpPr txBox="1"/>
          <p:nvPr/>
        </p:nvSpPr>
        <p:spPr>
          <a:xfrm>
            <a:off x="3392424"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lewati</a:t>
            </a:r>
            <a:endParaRPr lang="en-US" sz="1400" dirty="0"/>
          </a:p>
        </p:txBody>
      </p:sp>
      <p:sp>
        <p:nvSpPr>
          <p:cNvPr id="10" name="Text 8"/>
          <p:cNvSpPr txBox="1"/>
          <p:nvPr/>
        </p:nvSpPr>
        <p:spPr>
          <a:xfrm>
            <a:off x="3392424"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[2,5]</a:t>
            </a:r>
            <a:endParaRPr lang="en-US" sz="1000" dirty="0"/>
          </a:p>
        </p:txBody>
      </p:sp>
      <p:sp>
        <p:nvSpPr>
          <p:cNvPr id="11" name="Shape 9"/>
          <p:cNvSpPr/>
          <p:nvPr/>
        </p:nvSpPr>
        <p:spPr>
          <a:xfrm>
            <a:off x="4837176" y="2395728"/>
            <a:ext cx="1371600" cy="566928"/>
          </a:xfrm>
          <a:prstGeom prst="rect">
            <a:avLst/>
          </a:prstGeom>
          <a:solidFill>
            <a:srgbClr val="E6F2FC"/>
          </a:solidFill>
          <a:ln w="9525">
            <a:solidFill>
              <a:srgbClr val="DADDE2"/>
            </a:solidFill>
            <a:prstDash val="solid"/>
          </a:ln>
        </p:spPr>
      </p:sp>
      <p:sp>
        <p:nvSpPr>
          <p:cNvPr id="12" name="Text 10"/>
          <p:cNvSpPr txBox="1"/>
          <p:nvPr/>
        </p:nvSpPr>
        <p:spPr>
          <a:xfrm>
            <a:off x="4837176" y="2395728"/>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13" name="Text 11"/>
          <p:cNvSpPr txBox="1"/>
          <p:nvPr/>
        </p:nvSpPr>
        <p:spPr>
          <a:xfrm>
            <a:off x="4837176"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[4,7]</a:t>
            </a:r>
            <a:endParaRPr lang="en-US" sz="1000" dirty="0"/>
          </a:p>
        </p:txBody>
      </p:sp>
      <p:sp>
        <p:nvSpPr>
          <p:cNvPr id="14" name="Shape 12"/>
          <p:cNvSpPr/>
          <p:nvPr/>
        </p:nvSpPr>
        <p:spPr>
          <a:xfrm>
            <a:off x="6281928" y="2395728"/>
            <a:ext cx="1371600" cy="566928"/>
          </a:xfrm>
          <a:prstGeom prst="rect">
            <a:avLst/>
          </a:prstGeom>
          <a:solidFill>
            <a:srgbClr val="FFFFFF"/>
          </a:solidFill>
          <a:ln w="9525">
            <a:solidFill>
              <a:srgbClr val="DADDE2"/>
            </a:solidFill>
            <a:prstDash val="solid"/>
          </a:ln>
        </p:spPr>
      </p:sp>
      <p:sp>
        <p:nvSpPr>
          <p:cNvPr id="15" name="Text 13"/>
          <p:cNvSpPr txBox="1"/>
          <p:nvPr/>
        </p:nvSpPr>
        <p:spPr>
          <a:xfrm>
            <a:off x="6281928" y="2395728"/>
            <a:ext cx="1371600" cy="566928"/>
          </a:xfrm>
          <a:prstGeom prst="rect">
            <a:avLst/>
          </a:prstGeom>
          <a:noFill/>
          <a:ln/>
        </p:spPr>
        <p:txBody>
          <a:bodyPr wrap="square" lIns="0" tIns="0" rIns="0" bIns="0" rtlCol="0" anchor="ctr"/>
          <a:lstStyle/>
          <a:p>
            <a:pPr algn="ctr" indent="0" marL="0">
              <a:buNone/>
            </a:pPr>
            <a:r>
              <a:rPr lang="en-US" sz="1400" dirty="0">
                <a:solidFill>
                  <a:srgbClr val="D5D5D5"/>
                </a:solidFill>
                <a:latin typeface="Century Gothic" pitchFamily="34" charset="0"/>
                <a:ea typeface="Century Gothic" pitchFamily="34" charset="-122"/>
                <a:cs typeface="Century Gothic" pitchFamily="34" charset="-120"/>
              </a:rPr>
              <a:t>lewati</a:t>
            </a:r>
            <a:endParaRPr lang="en-US" sz="1400" dirty="0"/>
          </a:p>
        </p:txBody>
      </p:sp>
      <p:sp>
        <p:nvSpPr>
          <p:cNvPr id="16" name="Text 14"/>
          <p:cNvSpPr txBox="1"/>
          <p:nvPr/>
        </p:nvSpPr>
        <p:spPr>
          <a:xfrm>
            <a:off x="6281928"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[1,8]</a:t>
            </a:r>
            <a:endParaRPr lang="en-US" sz="1000" dirty="0"/>
          </a:p>
        </p:txBody>
      </p:sp>
      <p:sp>
        <p:nvSpPr>
          <p:cNvPr id="17" name="Shape 15"/>
          <p:cNvSpPr/>
          <p:nvPr/>
        </p:nvSpPr>
        <p:spPr>
          <a:xfrm>
            <a:off x="7726680" y="2395728"/>
            <a:ext cx="1371600" cy="566928"/>
          </a:xfrm>
          <a:prstGeom prst="rect">
            <a:avLst/>
          </a:prstGeom>
          <a:solidFill>
            <a:srgbClr val="E6F2FC"/>
          </a:solidFill>
          <a:ln w="9525">
            <a:solidFill>
              <a:srgbClr val="DADDE2"/>
            </a:solidFill>
            <a:prstDash val="solid"/>
          </a:ln>
        </p:spPr>
      </p:sp>
      <p:sp>
        <p:nvSpPr>
          <p:cNvPr id="18" name="Text 16"/>
          <p:cNvSpPr txBox="1"/>
          <p:nvPr/>
        </p:nvSpPr>
        <p:spPr>
          <a:xfrm>
            <a:off x="7726680" y="2395728"/>
            <a:ext cx="1371600" cy="566928"/>
          </a:xfrm>
          <a:prstGeom prst="rect">
            <a:avLst/>
          </a:prstGeom>
          <a:noFill/>
          <a:ln/>
        </p:spPr>
        <p:txBody>
          <a:bodyPr wrap="square" lIns="0" tIns="0" rIns="0" bIns="0" rtlCol="0" anchor="ctr"/>
          <a:lstStyle/>
          <a:p>
            <a:pPr algn="ctr" indent="0" marL="0">
              <a:buNone/>
            </a:pPr>
            <a:r>
              <a:rPr lang="en-US" sz="1400" dirty="0">
                <a:solidFill>
                  <a:srgbClr val="1B6CA8"/>
                </a:solidFill>
                <a:latin typeface="Century Gothic" pitchFamily="34" charset="0"/>
                <a:ea typeface="Century Gothic" pitchFamily="34" charset="-122"/>
                <a:cs typeface="Century Gothic" pitchFamily="34" charset="-120"/>
              </a:rPr>
              <a:t>AMBIL</a:t>
            </a:r>
            <a:endParaRPr lang="en-US" sz="1400" dirty="0"/>
          </a:p>
        </p:txBody>
      </p:sp>
      <p:sp>
        <p:nvSpPr>
          <p:cNvPr id="19" name="Text 17"/>
          <p:cNvSpPr txBox="1"/>
          <p:nvPr/>
        </p:nvSpPr>
        <p:spPr>
          <a:xfrm>
            <a:off x="7726680" y="3035808"/>
            <a:ext cx="1371600" cy="256032"/>
          </a:xfrm>
          <a:prstGeom prst="rect">
            <a:avLst/>
          </a:prstGeom>
          <a:noFill/>
          <a:ln/>
        </p:spPr>
        <p:txBody>
          <a:bodyPr wrap="square" lIns="0" tIns="0" rIns="0" bIns="0" rtlCol="0" anchor="ctr"/>
          <a:lstStyle/>
          <a:p>
            <a:pPr algn="ctr" indent="0" marL="0">
              <a:buNone/>
            </a:pPr>
            <a:r>
              <a:rPr lang="en-US" sz="1000" dirty="0">
                <a:solidFill>
                  <a:srgbClr val="A0A6AD"/>
                </a:solidFill>
                <a:latin typeface="Century Gothic" pitchFamily="34" charset="0"/>
                <a:ea typeface="Century Gothic" pitchFamily="34" charset="-122"/>
                <a:cs typeface="Century Gothic" pitchFamily="34" charset="-120"/>
              </a:rPr>
              <a:t>[8,10]</a:t>
            </a:r>
            <a:endParaRPr lang="en-US" sz="1000" dirty="0"/>
          </a:p>
        </p:txBody>
      </p:sp>
      <p:sp>
        <p:nvSpPr>
          <p:cNvPr id="20" name="Shape 18"/>
          <p:cNvSpPr/>
          <p:nvPr/>
        </p:nvSpPr>
        <p:spPr>
          <a:xfrm>
            <a:off x="667512" y="3529584"/>
            <a:ext cx="10853928" cy="914400"/>
          </a:xfrm>
          <a:prstGeom prst="rect">
            <a:avLst/>
          </a:prstGeom>
          <a:solidFill>
            <a:srgbClr val="FAFAFA"/>
          </a:solidFill>
          <a:ln/>
        </p:spPr>
      </p:sp>
      <p:sp>
        <p:nvSpPr>
          <p:cNvPr id="21" name="Text 19"/>
          <p:cNvSpPr txBox="1"/>
          <p:nvPr/>
        </p:nvSpPr>
        <p:spPr>
          <a:xfrm>
            <a:off x="941832" y="3621024"/>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jawaban = 3 kegiatan:  [1,3]  [4,7]  [8,10]</a:t>
            </a:r>
            <a:endParaRPr lang="en-US" sz="1300" dirty="0"/>
          </a:p>
        </p:txBody>
      </p:sp>
      <p:sp>
        <p:nvSpPr>
          <p:cNvPr id="22" name="Text 20"/>
          <p:cNvSpPr txBox="1"/>
          <p:nvPr/>
        </p:nvSpPr>
        <p:spPr>
          <a:xfrm>
            <a:off x="941832" y="3968496"/>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Perhatikan [1,8] yang dilewati meski durasinya paling panjang. Greedy ini memaksimalkan JUMLAH kegiatan, bukan total durasinya.</a:t>
            </a:r>
            <a:endParaRPr lang="en-US" sz="1200" dirty="0"/>
          </a:p>
        </p:txBody>
      </p:sp>
      <p:sp>
        <p:nvSpPr>
          <p:cNvPr id="23" name="Shape 21"/>
          <p:cNvSpPr/>
          <p:nvPr/>
        </p:nvSpPr>
        <p:spPr>
          <a:xfrm>
            <a:off x="9692640" y="1737360"/>
            <a:ext cx="1828800" cy="384048"/>
          </a:xfrm>
          <a:prstGeom prst="rect">
            <a:avLst/>
          </a:prstGeom>
          <a:solidFill>
            <a:srgbClr val="F2F7FD"/>
          </a:solidFill>
          <a:ln/>
        </p:spPr>
      </p:sp>
      <p:sp>
        <p:nvSpPr>
          <p:cNvPr id="24" name="Text 22"/>
          <p:cNvSpPr txBox="1"/>
          <p:nvPr/>
        </p:nvSpPr>
        <p:spPr>
          <a:xfrm>
            <a:off x="9692640" y="1737360"/>
            <a:ext cx="1828800" cy="384048"/>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 / 3</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03</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Varian Lain</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Merging dan sweep line</a:t>
            </a:r>
            <a:endParaRPr lang="en-US" sz="1350" dirty="0"/>
          </a:p>
        </p:txBody>
      </p:sp>
      <p:sp>
        <p:nvSpPr>
          <p:cNvPr id="5" name="Shape 3"/>
          <p:cNvSpPr/>
          <p:nvPr/>
        </p:nvSpPr>
        <p:spPr>
          <a:xfrm>
            <a:off x="5815584" y="4251960"/>
            <a:ext cx="548640" cy="45720"/>
          </a:xfrm>
          <a:prstGeom prst="rect">
            <a:avLst/>
          </a:prstGeom>
          <a:solidFill>
            <a:srgbClr val="5B8DE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Merging Intervals</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Berbeda dengan activity selection, di sini urutannya menurut waktu MULAI. Perhatikan fungsi max di baris perpanjangan.</a:t>
            </a:r>
            <a:endParaRPr lang="en-US" sz="1300" dirty="0"/>
          </a:p>
        </p:txBody>
      </p:sp>
      <p:pic>
        <p:nvPicPr>
          <p:cNvPr id="4" name="Image 0" descr="/tmp/ppt/imgs/c72_16_493.png">    </p:cNvPr>
          <p:cNvPicPr>
            <a:picLocks noChangeAspect="1"/>
          </p:cNvPicPr>
          <p:nvPr/>
        </p:nvPicPr>
        <p:blipFill>
          <a:blip r:embed="rId1"/>
          <a:stretch>
            <a:fillRect/>
          </a:stretch>
        </p:blipFill>
        <p:spPr>
          <a:xfrm>
            <a:off x="1553787" y="1993392"/>
            <a:ext cx="4673970"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4FA8E8"/>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4FA8E8"/>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1165860"/>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Tanpa max, interval yang termuat penuh di dalam interval sebelumnya akan memperpendek hasilnya. Ini bug yang hanya muncul pada data tertentu, sehingga mudah lolos dari pengujian sederhana.</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Sweep Line</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Ubah setiap interval menjadi dua kejadian, lalu sapu dari kiri ke kanan sambil menghitung yang aktif.</a:t>
            </a:r>
            <a:endParaRPr lang="en-US" sz="1300" dirty="0"/>
          </a:p>
        </p:txBody>
      </p:sp>
      <p:pic>
        <p:nvPicPr>
          <p:cNvPr id="4" name="Image 0" descr="/tmp/ppt/imgs/c72_17_494.png">    </p:cNvPr>
          <p:cNvPicPr>
            <a:picLocks noChangeAspect="1"/>
          </p:cNvPicPr>
          <p:nvPr/>
        </p:nvPicPr>
        <p:blipFill>
          <a:blip r:embed="rId1"/>
          <a:stretch>
            <a:fillRect/>
          </a:stretch>
        </p:blipFill>
        <p:spPr>
          <a:xfrm>
            <a:off x="1899837" y="1755648"/>
            <a:ext cx="3981871" cy="4233672"/>
          </a:xfrm>
          <a:prstGeom prst="rect">
            <a:avLst/>
          </a:prstGeom>
        </p:spPr>
      </p:pic>
      <p:sp>
        <p:nvSpPr>
          <p:cNvPr id="5" name="Shape 2"/>
          <p:cNvSpPr/>
          <p:nvPr/>
        </p:nvSpPr>
        <p:spPr>
          <a:xfrm>
            <a:off x="7571232" y="1755648"/>
            <a:ext cx="3950208" cy="4233672"/>
          </a:xfrm>
          <a:prstGeom prst="rect">
            <a:avLst/>
          </a:prstGeom>
          <a:solidFill>
            <a:srgbClr val="FAFAFA"/>
          </a:solidFill>
          <a:ln/>
        </p:spPr>
      </p:sp>
      <p:sp>
        <p:nvSpPr>
          <p:cNvPr id="6" name="Shape 3"/>
          <p:cNvSpPr/>
          <p:nvPr/>
        </p:nvSpPr>
        <p:spPr>
          <a:xfrm>
            <a:off x="7571232" y="1755648"/>
            <a:ext cx="3950208" cy="45720"/>
          </a:xfrm>
          <a:prstGeom prst="rect">
            <a:avLst/>
          </a:prstGeom>
          <a:solidFill>
            <a:srgbClr val="3ECF9E"/>
          </a:solidFill>
          <a:ln/>
        </p:spPr>
      </p:sp>
      <p:sp>
        <p:nvSpPr>
          <p:cNvPr id="7" name="Text 4"/>
          <p:cNvSpPr txBox="1"/>
          <p:nvPr/>
        </p:nvSpPr>
        <p:spPr>
          <a:xfrm>
            <a:off x="7845552" y="1956816"/>
            <a:ext cx="3401568" cy="274320"/>
          </a:xfrm>
          <a:prstGeom prst="rect">
            <a:avLst/>
          </a:prstGeom>
          <a:noFill/>
          <a:ln/>
        </p:spPr>
        <p:txBody>
          <a:bodyPr wrap="square" lIns="0" tIns="0" rIns="0" bIns="0" rtlCol="0" anchor="ctr"/>
          <a:lstStyle/>
          <a:p>
            <a:pPr indent="0" marL="0">
              <a:buNone/>
            </a:pPr>
            <a:r>
              <a:rPr lang="en-US" sz="1050" spc="300" kern="0" dirty="0">
                <a:solidFill>
                  <a:srgbClr val="3ECF9E"/>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359152"/>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Detail terpenting ada di catatan akhir: urutan pemrosesan kejadian pada waktu yang sama menentukan apakah interval yang bersentuhan di ujung dianggap bertabrakan.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Katalog Soal Interval</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bentuk soal interval yang paling sering muncul, masing-masing dengan kunci pengurutan yang berbeda. Satu program, empat jawaban.</a:t>
            </a:r>
            <a:endParaRPr lang="en-US" sz="1300" dirty="0"/>
          </a:p>
        </p:txBody>
      </p:sp>
      <p:pic>
        <p:nvPicPr>
          <p:cNvPr id="4" name="Image 0" descr="/tmp/ppt/imgs/c72_18_495.png">    </p:cNvPr>
          <p:cNvPicPr>
            <a:picLocks noChangeAspect="1"/>
          </p:cNvPicPr>
          <p:nvPr/>
        </p:nvPicPr>
        <p:blipFill>
          <a:blip r:embed="rId1"/>
          <a:stretch>
            <a:fillRect/>
          </a:stretch>
        </p:blipFill>
        <p:spPr>
          <a:xfrm>
            <a:off x="2435958" y="1993392"/>
            <a:ext cx="2909629" cy="3995928"/>
          </a:xfrm>
          <a:prstGeom prst="rect">
            <a:avLst/>
          </a:prstGeom>
        </p:spPr>
      </p:pic>
      <p:sp>
        <p:nvSpPr>
          <p:cNvPr id="5" name="Shape 2"/>
          <p:cNvSpPr/>
          <p:nvPr/>
        </p:nvSpPr>
        <p:spPr>
          <a:xfrm>
            <a:off x="7571232" y="1993392"/>
            <a:ext cx="3950208" cy="3995928"/>
          </a:xfrm>
          <a:prstGeom prst="rect">
            <a:avLst/>
          </a:prstGeom>
          <a:solidFill>
            <a:srgbClr val="FAFAFA"/>
          </a:solidFill>
          <a:ln/>
        </p:spPr>
      </p:sp>
      <p:sp>
        <p:nvSpPr>
          <p:cNvPr id="6" name="Shape 3"/>
          <p:cNvSpPr/>
          <p:nvPr/>
        </p:nvSpPr>
        <p:spPr>
          <a:xfrm>
            <a:off x="7571232" y="1993392"/>
            <a:ext cx="3950208" cy="45720"/>
          </a:xfrm>
          <a:prstGeom prst="rect">
            <a:avLst/>
          </a:prstGeom>
          <a:solidFill>
            <a:srgbClr val="F5A623"/>
          </a:solidFill>
          <a:ln/>
        </p:spPr>
      </p:sp>
      <p:sp>
        <p:nvSpPr>
          <p:cNvPr id="7" name="Text 4"/>
          <p:cNvSpPr txBox="1"/>
          <p:nvPr/>
        </p:nvSpPr>
        <p:spPr>
          <a:xfrm>
            <a:off x="7845552" y="2194560"/>
            <a:ext cx="3401568" cy="274320"/>
          </a:xfrm>
          <a:prstGeom prst="rect">
            <a:avLst/>
          </a:prstGeom>
          <a:noFill/>
          <a:ln/>
        </p:spPr>
        <p:txBody>
          <a:bodyPr wrap="square" lIns="0" tIns="0" rIns="0" bIns="0" rtlCol="0" anchor="ctr"/>
          <a:lstStyle/>
          <a:p>
            <a:pPr indent="0" marL="0">
              <a:buNone/>
            </a:pPr>
            <a:r>
              <a:rPr lang="en-US" sz="1050" spc="300" kern="0" dirty="0">
                <a:solidFill>
                  <a:srgbClr val="F5A623"/>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596896"/>
            <a:ext cx="3401568" cy="1165860"/>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Perhatikan tiga kunci pengurutan yang berbeda dipakai untuk empat pertanyaan: urut waktu selesai untuk pemilihan, urut waktu kejadian untuk tumpang tindih, urut waktu mulai untuk penggabungan.</a:t>
            </a:r>
            <a:endParaRPr lang="en-US" sz="1200" dirty="0"/>
          </a:p>
        </p:txBody>
      </p:sp>
      <p:sp>
        <p:nvSpPr>
          <p:cNvPr id="9" name="Shape 6"/>
          <p:cNvSpPr/>
          <p:nvPr/>
        </p:nvSpPr>
        <p:spPr>
          <a:xfrm>
            <a:off x="7845552" y="4082796"/>
            <a:ext cx="82296" cy="82296"/>
          </a:xfrm>
          <a:prstGeom prst="rect">
            <a:avLst/>
          </a:prstGeom>
          <a:solidFill>
            <a:srgbClr val="F5A623"/>
          </a:solidFill>
          <a:ln/>
        </p:spPr>
      </p:sp>
      <p:sp>
        <p:nvSpPr>
          <p:cNvPr id="10" name="Text 7"/>
          <p:cNvSpPr txBox="1"/>
          <p:nvPr/>
        </p:nvSpPr>
        <p:spPr>
          <a:xfrm>
            <a:off x="8046720" y="3954780"/>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Pemilihan maksimum: urut waktu SELESAI.</a:t>
            </a:r>
            <a:endParaRPr lang="en-US" sz="1150" dirty="0"/>
          </a:p>
        </p:txBody>
      </p:sp>
      <p:sp>
        <p:nvSpPr>
          <p:cNvPr id="11" name="Shape 8"/>
          <p:cNvSpPr/>
          <p:nvPr/>
        </p:nvSpPr>
        <p:spPr>
          <a:xfrm>
            <a:off x="7845552" y="4538853"/>
            <a:ext cx="82296" cy="82296"/>
          </a:xfrm>
          <a:prstGeom prst="rect">
            <a:avLst/>
          </a:prstGeom>
          <a:solidFill>
            <a:srgbClr val="F5A623"/>
          </a:solidFill>
          <a:ln/>
        </p:spPr>
      </p:sp>
      <p:sp>
        <p:nvSpPr>
          <p:cNvPr id="12" name="Text 9"/>
          <p:cNvSpPr txBox="1"/>
          <p:nvPr/>
        </p:nvSpPr>
        <p:spPr>
          <a:xfrm>
            <a:off x="8046720" y="4410837"/>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Penggabungan dan tumpang tindih: urut waktu MULAI.</a:t>
            </a:r>
            <a:endParaRPr lang="en-US" sz="1150" dirty="0"/>
          </a:p>
        </p:txBody>
      </p:sp>
      <p:sp>
        <p:nvSpPr>
          <p:cNvPr id="13" name="Shape 10"/>
          <p:cNvSpPr/>
          <p:nvPr/>
        </p:nvSpPr>
        <p:spPr>
          <a:xfrm>
            <a:off x="7845552" y="4994910"/>
            <a:ext cx="82296" cy="82296"/>
          </a:xfrm>
          <a:prstGeom prst="rect">
            <a:avLst/>
          </a:prstGeom>
          <a:solidFill>
            <a:srgbClr val="F5A623"/>
          </a:solidFill>
          <a:ln/>
        </p:spPr>
      </p:sp>
      <p:sp>
        <p:nvSpPr>
          <p:cNvPr id="14" name="Text 11"/>
          <p:cNvSpPr txBox="1"/>
          <p:nvPr/>
        </p:nvSpPr>
        <p:spPr>
          <a:xfrm>
            <a:off x="8046720" y="4866894"/>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"Minimal dibuang" selalu n dikurangi "terbanyak yang bisa dipilih".</a:t>
            </a:r>
            <a:endParaRPr lang="en-US" sz="1150" dirty="0"/>
          </a:p>
        </p:txBody>
      </p:sp>
      <p:sp>
        <p:nvSpPr>
          <p:cNvPr id="15" name="Shape 12"/>
          <p:cNvSpPr/>
          <p:nvPr/>
        </p:nvSpPr>
        <p:spPr>
          <a:xfrm>
            <a:off x="7845552" y="5450967"/>
            <a:ext cx="82296" cy="82296"/>
          </a:xfrm>
          <a:prstGeom prst="rect">
            <a:avLst/>
          </a:prstGeom>
          <a:solidFill>
            <a:srgbClr val="F5A623"/>
          </a:solidFill>
          <a:ln/>
        </p:spPr>
      </p:sp>
      <p:sp>
        <p:nvSpPr>
          <p:cNvPr id="16" name="Text 13"/>
          <p:cNvSpPr txBox="1"/>
          <p:nvPr/>
        </p:nvSpPr>
        <p:spPr>
          <a:xfrm>
            <a:off x="8046720" y="5322951"/>
            <a:ext cx="3182112" cy="401193"/>
          </a:xfrm>
          <a:prstGeom prst="rect">
            <a:avLst/>
          </a:prstGeom>
          <a:noFill/>
          <a:ln/>
        </p:spPr>
        <p:txBody>
          <a:bodyPr wrap="square" lIns="0" tIns="0" rIns="0" bIns="0" rtlCol="0" anchor="ctr"/>
          <a:lstStyle/>
          <a:p>
            <a:pPr indent="0" marL="0">
              <a:lnSpc>
                <a:spcPct val="124000"/>
              </a:lnSpc>
              <a:buNone/>
            </a:pPr>
            <a:r>
              <a:rPr lang="en-US" sz="1150" dirty="0">
                <a:solidFill>
                  <a:srgbClr val="2B2B2B"/>
                </a:solidFill>
                <a:latin typeface="Century Gothic" pitchFamily="34" charset="0"/>
                <a:ea typeface="Century Gothic" pitchFamily="34" charset="-122"/>
                <a:cs typeface="Century Gothic" pitchFamily="34" charset="-120"/>
              </a:rPr>
              <a:t>Sapuan kejadian (+1 saat mulai, -1 saat selesai) menjawab banyak varian sekaligus.</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Kriteria Pengurutan Menentukan Segalanya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Kesalahan tersering pada soal interval bukan pada kodenya, melainkan pada memilih kriteria urutannya.</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291840"/>
                <a:gridCol w="2926080"/>
                <a:gridCol w="4636008"/>
              </a:tblGrid>
              <a:tr h="566928">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Tujuan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Urutkan menurut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Alasannya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Paling banyak kegiatan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Waktu selesai menaik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Selesai paling awal menyisakan waktu terbanyak.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Gabungkan yang bertumpuk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Waktu mulai menaik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Agar interval bersebelahan bisa langsung dibandingkan.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Ruangan minimum</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pada kejadian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Yang dicari puncak jumlah aktif, bukan pemilihan.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Interval termuat di lain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Mulai menaik, selesai menurun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Agar yang lebih besar selalu diproses lebih dulu.</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66928">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Total panjang gabungan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Waktu mulai menaik</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Gabungkan dulu, baru jumlahkan panjangnya.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04</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Contoh Soal</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pernyataan sampai kode lengkap</a:t>
            </a:r>
            <a:endParaRPr lang="en-US" sz="1350" dirty="0"/>
          </a:p>
        </p:txBody>
      </p:sp>
      <p:sp>
        <p:nvSpPr>
          <p:cNvPr id="5" name="Shape 3"/>
          <p:cNvSpPr/>
          <p:nvPr/>
        </p:nvSpPr>
        <p:spPr>
          <a:xfrm>
            <a:off x="5815584" y="4251960"/>
            <a:ext cx="548640" cy="45720"/>
          </a:xfrm>
          <a:prstGeom prst="rect">
            <a:avLst/>
          </a:prstGeom>
          <a:solidFill>
            <a:srgbClr val="EC6BA8"/>
          </a:solidFill>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Terbimbing</a:t>
            </a:r>
            <a:endParaRPr lang="en-US" sz="3000" dirty="0"/>
          </a:p>
        </p:txBody>
      </p:sp>
      <p:sp>
        <p:nvSpPr>
          <p:cNvPr id="3" name="Shape 1"/>
          <p:cNvSpPr/>
          <p:nvPr/>
        </p:nvSpPr>
        <p:spPr>
          <a:xfrm>
            <a:off x="667512" y="1280160"/>
            <a:ext cx="6035040" cy="4572000"/>
          </a:xfrm>
          <a:prstGeom prst="rect">
            <a:avLst/>
          </a:prstGeom>
          <a:solidFill>
            <a:srgbClr val="FAFAFA"/>
          </a:solidFill>
          <a:ln/>
        </p:spPr>
      </p:sp>
      <p:sp>
        <p:nvSpPr>
          <p:cNvPr id="4" name="Shape 2"/>
          <p:cNvSpPr/>
          <p:nvPr/>
        </p:nvSpPr>
        <p:spPr>
          <a:xfrm>
            <a:off x="667512" y="1280160"/>
            <a:ext cx="6035040" cy="45720"/>
          </a:xfrm>
          <a:prstGeom prst="rect">
            <a:avLst/>
          </a:prstGeom>
          <a:solidFill>
            <a:srgbClr val="F0736A"/>
          </a:solidFill>
          <a:ln/>
        </p:spPr>
      </p:sp>
      <p:sp>
        <p:nvSpPr>
          <p:cNvPr id="5" name="Text 3"/>
          <p:cNvSpPr txBox="1"/>
          <p:nvPr/>
        </p:nvSpPr>
        <p:spPr>
          <a:xfrm>
            <a:off x="923544" y="1463040"/>
            <a:ext cx="2743200"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SOAL</a:t>
            </a:r>
            <a:endParaRPr lang="en-US" sz="1050" dirty="0"/>
          </a:p>
        </p:txBody>
      </p:sp>
      <p:sp>
        <p:nvSpPr>
          <p:cNvPr id="6" name="Text 4"/>
          <p:cNvSpPr txBox="1"/>
          <p:nvPr/>
        </p:nvSpPr>
        <p:spPr>
          <a:xfrm>
            <a:off x="923544" y="1737360"/>
            <a:ext cx="5486400" cy="365760"/>
          </a:xfrm>
          <a:prstGeom prst="rect">
            <a:avLst/>
          </a:prstGeom>
          <a:noFill/>
          <a:ln/>
        </p:spPr>
        <p:txBody>
          <a:bodyPr wrap="square" lIns="0" tIns="0" rIns="0" bIns="0" rtlCol="0" anchor="ctr"/>
          <a:lstStyle/>
          <a:p>
            <a:pPr indent="0" marL="0">
              <a:buNone/>
            </a:pPr>
            <a:r>
              <a:rPr lang="en-US" sz="1600" dirty="0">
                <a:solidFill>
                  <a:srgbClr val="1A1A1A"/>
                </a:solidFill>
                <a:latin typeface="Century Gothic" pitchFamily="34" charset="0"/>
                <a:ea typeface="Century Gothic" pitchFamily="34" charset="-122"/>
                <a:cs typeface="Century Gothic" pitchFamily="34" charset="-120"/>
              </a:rPr>
              <a:t>Jadwal Terbanyak</a:t>
            </a:r>
            <a:endParaRPr lang="en-US" sz="1600" dirty="0"/>
          </a:p>
        </p:txBody>
      </p:sp>
      <p:sp>
        <p:nvSpPr>
          <p:cNvPr id="7" name="Text 5"/>
          <p:cNvSpPr txBox="1"/>
          <p:nvPr/>
        </p:nvSpPr>
        <p:spPr>
          <a:xfrm>
            <a:off x="923544" y="2194560"/>
            <a:ext cx="5486400" cy="2377440"/>
          </a:xfrm>
          <a:prstGeom prst="rect">
            <a:avLst/>
          </a:prstGeom>
          <a:noFill/>
          <a:ln/>
        </p:spPr>
        <p:txBody>
          <a:bodyPr wrap="square" lIns="0" tIns="0" rIns="0" bIns="0" rtlCol="0" anchor="ctr"/>
          <a:lstStyle/>
          <a:p>
            <a:pPr indent="0" marL="0">
              <a:lnSpc>
                <a:spcPct val="130000"/>
              </a:lnSpc>
              <a:buNone/>
            </a:pPr>
            <a:r>
              <a:rPr lang="en-US" sz="1300" dirty="0">
                <a:solidFill>
                  <a:srgbClr val="2B2B2B"/>
                </a:solidFill>
                <a:latin typeface="Century Gothic" pitchFamily="34" charset="0"/>
                <a:ea typeface="Century Gothic" pitchFamily="34" charset="-122"/>
                <a:cs typeface="Century Gothic" pitchFamily="34" charset="-120"/>
              </a:rPr>
              <a:t>Diberikan n kegiatan, masing-masing dengan waktu mulai dan waktu selesai. Kamu hanya bisa mengikuti satu kegiatan pada satu waktu. Kegiatan yang selesai tepat saat kegiatan lain dimulai dianggap TIDAK bertabrakan. Berapa kegiatan terbanyak yang bisa diikuti?</a:t>
            </a:r>
            <a:endParaRPr lang="en-US" sz="1300" dirty="0"/>
          </a:p>
        </p:txBody>
      </p:sp>
      <p:sp>
        <p:nvSpPr>
          <p:cNvPr id="8" name="Text 6"/>
          <p:cNvSpPr txBox="1"/>
          <p:nvPr/>
        </p:nvSpPr>
        <p:spPr>
          <a:xfrm>
            <a:off x="1014984" y="4480560"/>
            <a:ext cx="539496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n &lt;= 200000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mulai &lt; selesai &lt;= 10^9</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batas waktu 1 detik</a:t>
            </a:r>
            <a:endParaRPr lang="en-US" sz="1200" dirty="0"/>
          </a:p>
        </p:txBody>
      </p:sp>
      <p:pic>
        <p:nvPicPr>
          <p:cNvPr id="9" name="Image 0" descr="/tmp/ppt/imgs/c72_21_496.png">    </p:cNvPr>
          <p:cNvPicPr>
            <a:picLocks noChangeAspect="1"/>
          </p:cNvPicPr>
          <p:nvPr/>
        </p:nvPicPr>
        <p:blipFill>
          <a:blip r:embed="rId1"/>
          <a:stretch>
            <a:fillRect/>
          </a:stretch>
        </p:blipFill>
        <p:spPr>
          <a:xfrm>
            <a:off x="7817473" y="1280160"/>
            <a:ext cx="2835934" cy="4572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Pembahasan Lengkap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Seluruh kecerdikannya ada di baris 14 sampai 18: kriteria pengurutan. Sisanya hanya loop sederhana.</a:t>
            </a:r>
            <a:endParaRPr lang="en-US" sz="1300" dirty="0"/>
          </a:p>
        </p:txBody>
      </p:sp>
      <p:pic>
        <p:nvPicPr>
          <p:cNvPr id="4" name="Image 0" descr="/tmp/ppt/imgs/c72_22_497.png">    </p:cNvPr>
          <p:cNvPicPr>
            <a:picLocks noChangeAspect="1"/>
          </p:cNvPicPr>
          <p:nvPr/>
        </p:nvPicPr>
        <p:blipFill>
          <a:blip r:embed="rId1"/>
          <a:stretch>
            <a:fillRect/>
          </a:stretch>
        </p:blipFill>
        <p:spPr>
          <a:xfrm>
            <a:off x="2255699" y="1755648"/>
            <a:ext cx="3270147" cy="4233672"/>
          </a:xfrm>
          <a:prstGeom prst="rect">
            <a:avLst/>
          </a:prstGeom>
        </p:spPr>
      </p:pic>
      <p:sp>
        <p:nvSpPr>
          <p:cNvPr id="5" name="Shape 2"/>
          <p:cNvSpPr/>
          <p:nvPr/>
        </p:nvSpPr>
        <p:spPr>
          <a:xfrm>
            <a:off x="7571232" y="1755648"/>
            <a:ext cx="3950208" cy="4233672"/>
          </a:xfrm>
          <a:prstGeom prst="rect">
            <a:avLst/>
          </a:prstGeom>
          <a:solidFill>
            <a:srgbClr val="FAFAFA"/>
          </a:solidFill>
          <a:ln/>
        </p:spPr>
      </p:sp>
      <p:sp>
        <p:nvSpPr>
          <p:cNvPr id="6" name="Shape 3"/>
          <p:cNvSpPr/>
          <p:nvPr/>
        </p:nvSpPr>
        <p:spPr>
          <a:xfrm>
            <a:off x="7571232" y="1755648"/>
            <a:ext cx="3950208" cy="45720"/>
          </a:xfrm>
          <a:prstGeom prst="rect">
            <a:avLst/>
          </a:prstGeom>
          <a:solidFill>
            <a:srgbClr val="F0736A"/>
          </a:solidFill>
          <a:ln/>
        </p:spPr>
      </p:sp>
      <p:sp>
        <p:nvSpPr>
          <p:cNvPr id="7" name="Text 4"/>
          <p:cNvSpPr txBox="1"/>
          <p:nvPr/>
        </p:nvSpPr>
        <p:spPr>
          <a:xfrm>
            <a:off x="7845552" y="1956816"/>
            <a:ext cx="3401568"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PENJELASAN</a:t>
            </a:r>
            <a:endParaRPr lang="en-US" sz="1050" dirty="0"/>
          </a:p>
        </p:txBody>
      </p:sp>
      <p:sp>
        <p:nvSpPr>
          <p:cNvPr id="8" name="Text 5"/>
          <p:cNvSpPr txBox="1"/>
          <p:nvPr/>
        </p:nvSpPr>
        <p:spPr>
          <a:xfrm>
            <a:off x="7845552" y="2359152"/>
            <a:ext cx="3401568" cy="950976"/>
          </a:xfrm>
          <a:prstGeom prst="rect">
            <a:avLst/>
          </a:prstGeom>
          <a:noFill/>
          <a:ln/>
        </p:spPr>
        <p:txBody>
          <a:bodyPr wrap="square" lIns="0" tIns="0" rIns="0" bIns="0" rtlCol="0" anchor="ctr"/>
          <a:lstStyle/>
          <a:p>
            <a:pPr indent="0" marL="0">
              <a:lnSpc>
                <a:spcPct val="130000"/>
              </a:lnSpc>
              <a:buNone/>
            </a:pPr>
            <a:r>
              <a:rPr lang="en-US" sz="1200" dirty="0">
                <a:solidFill>
                  <a:srgbClr val="2B2B2B"/>
                </a:solidFill>
                <a:latin typeface="Century Gothic" pitchFamily="34" charset="0"/>
                <a:ea typeface="Century Gothic" pitchFamily="34" charset="-122"/>
                <a:cs typeface="Century Gothic" pitchFamily="34" charset="-120"/>
              </a:rPr>
              <a:t>Perhatikan tanda pada perbandingan: l &gt;= batas berarti bersentuhan di ujung dianggap boleh. Bila soal melarangnya, ganti menjadi l &gt; batas.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Mandiri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Kelimanya melatih pemilihan kriteria pengurutan, bukan algoritma yang rumit.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383280"/>
                <a:gridCol w="4480560"/>
                <a:gridCol w="2990088"/>
              </a:tblGrid>
              <a:tr h="548640">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Soal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Yang dilatih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Tingkat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Movie Festival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Activity selection standar</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Restaurant Customers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puncak jumlah aktif</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Room Allocation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Sweep line dengan priority_queue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LeetCode 56 / 57</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Merging intervals dan penyisipan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Movie Festival II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Activity selection dengan k penonton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hal yang perlu terbawa dari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Kriteria pengurutan adalah seluruh soalnya</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Untuk memaksimalkan jumlah kegiatan, urutkan menurut waktu SELESAI. Untuk menggabungkan, urutkan menurut waktu MULAI. Salah memilih membuat jawabannya salah.</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Buat contoh tandingan sebelum submit</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Tiga sampai lima interval biasanya cukup untuk menjatuhkan greedy yang salah. Kebiasaan ini menghemat banyak submission gagal.</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Exchange argument membuktikan greedy</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Ambil solusi optimal apa pun, tukar satu bagiannya dengan pilihan greedy, tunjukkan hasilnya tidak lebih buruk. Pola ini berlaku untuk hampir semua soal greedy.</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Perhatikan ujung yang bersentuhan</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Apakah [1,5] dan [5,9] bertabrakan? Jawabannya menentukan tanda perbandingan, dan urutan pemrosesan kejadian pada sweep line.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2026-09-05T08:51:34Z</dcterms:created>
  <dcterms:modified xsi:type="dcterms:W3CDTF">2026-09-05T08:51:34Z</dcterms:modified>
</cp:coreProperties>
</file>