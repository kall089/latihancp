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notesMasterIdLst>
    <p:notesMasterId r:id="rId2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1.xml"/><Relationship Id="rId3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1371600"/>
            <a:ext cx="76809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4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2-SAT</a:t>
            </a:r>
            <a:endParaRPr lang="en-US" sz="42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402336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Mengubah soal logika menjadi soal graf, lalu diselesaikan dengan SCC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464515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Graf · Day 229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9235440" y="1371600"/>
            <a:ext cx="2286000" cy="2286000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235440" y="1371600"/>
            <a:ext cx="2286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229</a:t>
            </a:r>
            <a:endParaRPr lang="en-US" sz="5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00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Sebelum Mulai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 tentang apa, dan kapan ia dipakai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3ECF9E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Penjelasan Sederhana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2-SAT: memeriksa apakah sekumpulan syarat bisa dipenuhi bersama.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1892808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BAYANGKAN SEPERTI INI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6858000" y="1892808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 DALAM SOAL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667512" y="2276856"/>
            <a:ext cx="4663440" cy="553212"/>
          </a:xfrm>
          <a:prstGeom prst="rect">
            <a:avLst/>
          </a:prstGeom>
          <a:solidFill>
            <a:srgbClr val="FFF8EC"/>
          </a:solidFill>
          <a:ln/>
        </p:spPr>
      </p:sp>
      <p:sp>
        <p:nvSpPr>
          <p:cNvPr id="7" name="Shape 5"/>
          <p:cNvSpPr/>
          <p:nvPr/>
        </p:nvSpPr>
        <p:spPr>
          <a:xfrm>
            <a:off x="667512" y="2276856"/>
            <a:ext cx="54864" cy="55321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23544" y="2276856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Menyusun menu: "harus ada nasi ATAU roti", "tidak boleh nasi DAN kopi bersamaan", dan seterusnya. Bisakah semua syarat dipenuhi?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586984" y="2553462"/>
            <a:ext cx="1014984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6858000" y="2276856"/>
            <a:ext cx="4663440" cy="553212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11" name="Shape 9"/>
          <p:cNvSpPr/>
          <p:nvPr/>
        </p:nvSpPr>
        <p:spPr>
          <a:xfrm>
            <a:off x="6858000" y="2276856"/>
            <a:ext cx="54864" cy="553212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114032" y="2276856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Setiap syarat berbentuk (a ATAU b) dengan dua variabel. Pertanyaannya: adakah kombinasi ya-tidak yang memenuhi semuanya?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67512" y="2958084"/>
            <a:ext cx="4663440" cy="553212"/>
          </a:xfrm>
          <a:prstGeom prst="rect">
            <a:avLst/>
          </a:prstGeom>
          <a:solidFill>
            <a:srgbClr val="FFF8EC"/>
          </a:solidFill>
          <a:ln/>
        </p:spPr>
      </p:sp>
      <p:sp>
        <p:nvSpPr>
          <p:cNvPr id="14" name="Shape 12"/>
          <p:cNvSpPr/>
          <p:nvPr/>
        </p:nvSpPr>
        <p:spPr>
          <a:xfrm>
            <a:off x="667512" y="2958084"/>
            <a:ext cx="54864" cy="55321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923544" y="2958084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Syarat "ada nasi atau roti" bisa dibaca dua arah: kalau TIDAK ada nasi, maka HARUS ada roti. Dan sebaliknya.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586984" y="3234690"/>
            <a:ext cx="1014984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6858000" y="2958084"/>
            <a:ext cx="4663440" cy="553212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18" name="Shape 16"/>
          <p:cNvSpPr/>
          <p:nvPr/>
        </p:nvSpPr>
        <p:spPr>
          <a:xfrm>
            <a:off x="6858000" y="2958084"/>
            <a:ext cx="54864" cy="553212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7114032" y="2958084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(a OR b) menjadi dua sisi berarah: bukan-a mengimplikasikan b, dan bukan-b mengimplikasikan a.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67512" y="3639312"/>
            <a:ext cx="4663440" cy="553212"/>
          </a:xfrm>
          <a:prstGeom prst="rect">
            <a:avLst/>
          </a:prstGeom>
          <a:solidFill>
            <a:srgbClr val="FFF8EC"/>
          </a:solidFill>
          <a:ln/>
        </p:spPr>
      </p:sp>
      <p:sp>
        <p:nvSpPr>
          <p:cNvPr id="21" name="Shape 19"/>
          <p:cNvSpPr/>
          <p:nvPr/>
        </p:nvSpPr>
        <p:spPr>
          <a:xfrm>
            <a:off x="667512" y="3639312"/>
            <a:ext cx="54864" cy="55321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923544" y="3639312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Sekarang seluruh syarat menjadi peta jalan satu arah antara pernyataan-pernyataan.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586984" y="3915918"/>
            <a:ext cx="1014984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6858000" y="3639312"/>
            <a:ext cx="4663440" cy="553212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25" name="Shape 23"/>
          <p:cNvSpPr/>
          <p:nvPr/>
        </p:nvSpPr>
        <p:spPr>
          <a:xfrm>
            <a:off x="6858000" y="3639312"/>
            <a:ext cx="54864" cy="553212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7114032" y="3639312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Implication graph: 2n simpul (tiap variabel dan negasinya), dua sisi per syarat.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67512" y="4320540"/>
            <a:ext cx="4663440" cy="553212"/>
          </a:xfrm>
          <a:prstGeom prst="rect">
            <a:avLst/>
          </a:prstGeom>
          <a:solidFill>
            <a:srgbClr val="FFF8EC"/>
          </a:solidFill>
          <a:ln/>
        </p:spPr>
      </p:sp>
      <p:sp>
        <p:nvSpPr>
          <p:cNvPr id="28" name="Shape 26"/>
          <p:cNvSpPr/>
          <p:nvPr/>
        </p:nvSpPr>
        <p:spPr>
          <a:xfrm>
            <a:off x="667512" y="4320540"/>
            <a:ext cx="54864" cy="55321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923544" y="4320540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Kalau dari "ada nasi" kamu bisa sampai ke "tidak ada nasi" DAN sebaliknya, berarti syaratnya saling bertentangan.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5586984" y="4597146"/>
            <a:ext cx="1014984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6858000" y="4320540"/>
            <a:ext cx="4663440" cy="553212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32" name="Shape 30"/>
          <p:cNvSpPr/>
          <p:nvPr/>
        </p:nvSpPr>
        <p:spPr>
          <a:xfrm>
            <a:off x="6858000" y="4320540"/>
            <a:ext cx="54864" cy="553212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7114032" y="4320540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Bila x dan negasi-x berada di SCC yang sama, tidak ada solusi. Kalau tidak, solusinya ada.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67512" y="5276088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5" name="Shape 33"/>
          <p:cNvSpPr/>
          <p:nvPr/>
        </p:nvSpPr>
        <p:spPr>
          <a:xfrm>
            <a:off x="667512" y="5276088"/>
            <a:ext cx="10853928" cy="4572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941832" y="5422392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INTINYA</a:t>
            </a:r>
            <a:endParaRPr lang="en-US" sz="1000" dirty="0"/>
          </a:p>
        </p:txBody>
      </p:sp>
      <p:sp>
        <p:nvSpPr>
          <p:cNvPr id="37" name="Text 35"/>
          <p:cNvSpPr txBox="1"/>
          <p:nvPr/>
        </p:nvSpPr>
        <p:spPr>
          <a:xfrm>
            <a:off x="941832" y="5660136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2-SAT adalah salah satu penggunaan SCC yang paling elegan: soal logika berubah menjadi soal graf.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 Tentang Apa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2-SAT mengubah soal logika menjadi soal graf: setiap klausa dua literal adalah sepasang implikasi, dan implikasi adalah sisi berarah.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2130552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975104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Klausa dua literal setara dengan dua implikasi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322576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(a atau b) sama artinya dengan "kalau a salah maka b benar" dan "kalau b salah maka a benar". Dari situ terbentuk graf.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3129534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974086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Setiap peubah menempati dua simpul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321558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Simpul 2i untuk x benar, 2i+1 untuk x salah. Dengan penomoran itu, lawan sebuah simpul cukup dicari dengan v XOR 1.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4128516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97306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Tidak ada jawaban bila x dan lawannya satu SCC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4320540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Artinya ada rantai kesimpulan yang memaksa x sekaligus benar dan salah. Satu pemeriksaan per peubah sudah cukup.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5127498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97205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Jawabannya dibaca dari urutan topologi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5319522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Peubah bernilai benar bila komponennya berada lebih belakang daripada komponen lawannya. Tidak perlu mencoba-coba sama sekali.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Kapan Dipakai, Kapan Tidak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Kenali dari soal berisi banyak syarat "salah satu dari dua" atau "tidak boleh bersamaan".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938528"/>
            <a:ext cx="5349240" cy="384048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5" name="Shape 3"/>
          <p:cNvSpPr/>
          <p:nvPr/>
        </p:nvSpPr>
        <p:spPr>
          <a:xfrm>
            <a:off x="667512" y="1938528"/>
            <a:ext cx="5349240" cy="50292"/>
          </a:xfrm>
          <a:prstGeom prst="rect">
            <a:avLst/>
          </a:prstGeom>
          <a:solidFill>
            <a:srgbClr val="2FA97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41832" y="2157984"/>
            <a:ext cx="4800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spc="100" kern="0" dirty="0">
                <a:solidFill>
                  <a:srgbClr val="2FA97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PAKAI KETIKA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941832" y="2734056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41832" y="273405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1353312" y="2670048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Setiap syarat hanya melibatkan dua pilihan biner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941832" y="3483864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41832" y="34838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1353312" y="3419856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Soal bertanya "adakah cara memilih" tanpa meminta yang paling optimal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941832" y="4233672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41832" y="42336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1353312" y="4169664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Ada syarat berpasangan seperti "a dan b tidak boleh bersamaan"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941832" y="4983480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41832" y="49834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1353312" y="4919472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Batasannya besar sehingga mencoba semua kemungkinan mustahil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336792" y="1938528"/>
            <a:ext cx="5349240" cy="3090672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0" name="Shape 18"/>
          <p:cNvSpPr/>
          <p:nvPr/>
        </p:nvSpPr>
        <p:spPr>
          <a:xfrm>
            <a:off x="6336792" y="1938528"/>
            <a:ext cx="5349240" cy="50292"/>
          </a:xfrm>
          <a:prstGeom prst="rect">
            <a:avLst/>
          </a:prstGeom>
          <a:solidFill>
            <a:srgbClr val="D9534F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611112" y="2157984"/>
            <a:ext cx="4800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spc="100" kern="0" dirty="0">
                <a:solidFill>
                  <a:srgbClr val="D9534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JANGAN PAKAI KETIKA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6611112" y="2734056"/>
            <a:ext cx="274320" cy="274320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611112" y="273405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7022592" y="2670048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Ada syarat yang melibatkan tiga pilihan atau lebih — itu 3-SAT dan NP-complete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611112" y="3483864"/>
            <a:ext cx="274320" cy="274320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611112" y="34838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7022592" y="3419856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Yang dicari adalah jawaban paling optimal, bukan sekadar ada atau tidak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6611112" y="4233672"/>
            <a:ext cx="274320" cy="274320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6611112" y="42336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7022592" y="4169664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Pilihannya bukan biner — 2-SAT hanya untuk benar dan salah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667512" y="5870448"/>
            <a:ext cx="10853928" cy="65836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941832" y="5870448"/>
            <a:ext cx="10332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Setiap klausa menambah DUA sisi, bukan satu. Melupakan sisi keduanya membuat grafnya tidak simetris dan jawabannya bisa salah tanpa pesan apa pun.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Posisi Materi Ini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 tidak berdiri sendiri. Di kiri adalah yang sebaiknya sudah kamu kuasai, di kanan adalah yang terbuka setelah materi ini selesai.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200253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PRASYARAT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67512" y="231343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4"/>
          <p:cNvSpPr/>
          <p:nvPr/>
        </p:nvSpPr>
        <p:spPr>
          <a:xfrm>
            <a:off x="667512" y="2313432"/>
            <a:ext cx="54864" cy="676656"/>
          </a:xfrm>
          <a:prstGeom prst="rect">
            <a:avLst/>
          </a:prstGeom>
          <a:solidFill>
            <a:srgbClr val="A0A6AD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05256" y="231343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DFS (Day 113)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67512" y="313639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9" name="Shape 7"/>
          <p:cNvSpPr/>
          <p:nvPr/>
        </p:nvSpPr>
        <p:spPr>
          <a:xfrm>
            <a:off x="667512" y="3136392"/>
            <a:ext cx="54864" cy="676656"/>
          </a:xfrm>
          <a:prstGeom prst="rect">
            <a:avLst/>
          </a:prstGeom>
          <a:solidFill>
            <a:srgbClr val="A0A6AD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05256" y="313639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SCC (Day 225)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67512" y="395935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2" name="Shape 10"/>
          <p:cNvSpPr/>
          <p:nvPr/>
        </p:nvSpPr>
        <p:spPr>
          <a:xfrm>
            <a:off x="667512" y="3959352"/>
            <a:ext cx="54864" cy="676656"/>
          </a:xfrm>
          <a:prstGeom prst="rect">
            <a:avLst/>
          </a:prstGeom>
          <a:solidFill>
            <a:srgbClr val="A0A6AD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905256" y="395935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Bitmask dasar (Day 60)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8403336" y="200253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SETELAH INI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403336" y="231343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6" name="Shape 14"/>
          <p:cNvSpPr/>
          <p:nvPr/>
        </p:nvSpPr>
        <p:spPr>
          <a:xfrm>
            <a:off x="8403336" y="2313432"/>
            <a:ext cx="54864" cy="67665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641080" y="231343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Implikasi dengan segment tree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403336" y="313639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9" name="Shape 17"/>
          <p:cNvSpPr/>
          <p:nvPr/>
        </p:nvSpPr>
        <p:spPr>
          <a:xfrm>
            <a:off x="8403336" y="3136392"/>
            <a:ext cx="54864" cy="67665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641080" y="313639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Block-cut tree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8403336" y="395935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2" name="Shape 20"/>
          <p:cNvSpPr/>
          <p:nvPr/>
        </p:nvSpPr>
        <p:spPr>
          <a:xfrm>
            <a:off x="8403336" y="3959352"/>
            <a:ext cx="54864" cy="67665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8641080" y="395935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Pemodelan flow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352544" y="2313432"/>
            <a:ext cx="3566160" cy="2322576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25" name="Shape 23"/>
          <p:cNvSpPr/>
          <p:nvPr/>
        </p:nvSpPr>
        <p:spPr>
          <a:xfrm>
            <a:off x="4352544" y="2313432"/>
            <a:ext cx="3566160" cy="54864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4626864" y="2551176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</a:t>
            </a:r>
            <a:endParaRPr lang="en-US" sz="1050" dirty="0"/>
          </a:p>
        </p:txBody>
      </p:sp>
      <p:sp>
        <p:nvSpPr>
          <p:cNvPr id="27" name="Text 25"/>
          <p:cNvSpPr txBox="1"/>
          <p:nvPr/>
        </p:nvSpPr>
        <p:spPr>
          <a:xfrm>
            <a:off x="4626864" y="288036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2-SAT</a:t>
            </a:r>
            <a:endParaRPr lang="en-US" sz="2000" dirty="0"/>
          </a:p>
        </p:txBody>
      </p:sp>
      <p:sp>
        <p:nvSpPr>
          <p:cNvPr id="28" name="Text 26"/>
          <p:cNvSpPr txBox="1"/>
          <p:nvPr/>
        </p:nvSpPr>
        <p:spPr>
          <a:xfrm>
            <a:off x="4626864" y="3941064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Soal logika menjadi soal graf, lalu diselesaikan dengan SCC.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3941064" y="3456432"/>
            <a:ext cx="338328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7991856" y="3456432"/>
            <a:ext cx="338328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667512" y="5111496"/>
            <a:ext cx="10853928" cy="82296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941832" y="5111496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Bagian tersulitnya hampir selalu pemodelan, bukan algoritmanya. Kodenya identik di setiap soal; yang berubah hanya klausa yang dimasukkan.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Agenda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28016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01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Masalah 2-SAT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1956816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02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Klausa Menjadi Implikasi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67512" y="2633472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03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Simulasi Graf Implikasi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67512" y="3310128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04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Syarat Ada Jawaban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062472" y="128016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C6B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05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Kenapa Aturannya Benar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6062472" y="1956816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ECDC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06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Kode Lengkap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062472" y="2633472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0736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07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Pola Klausa yang Sering Muncul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6062472" y="3310128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8DE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08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Contoh Soal &amp; Latihan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01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Masalahnya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Dari rumus logika menjadi graf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5B8DEF"/>
          </a:solidFill>
          <a:ln/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Apa itu 2-SAT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Sebelum algoritmanya, pastikan soalnya jelas: cari satu penetapan benar/salah yang memuaskan semua klausa. Untuk n kecil, coba semua.</a:t>
            </a:r>
            <a:endParaRPr lang="en-US" sz="1300" dirty="0"/>
          </a:p>
        </p:txBody>
      </p:sp>
      <p:pic>
        <p:nvPicPr>
          <p:cNvPr id="4" name="Image 0" descr="/tmp/ppt/imgs/c11_8_8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23110" y="1993392"/>
            <a:ext cx="3935324" cy="39959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571232" y="1993392"/>
            <a:ext cx="3950208" cy="3995928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3"/>
          <p:cNvSpPr/>
          <p:nvPr/>
        </p:nvSpPr>
        <p:spPr>
          <a:xfrm>
            <a:off x="7571232" y="1993392"/>
            <a:ext cx="3950208" cy="4572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845552" y="2194560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PENJELASAN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7845552" y="2596896"/>
            <a:ext cx="3401568" cy="9322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75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Setiap klausa berbentuk "a ATAU b" — hanya dua literal, tidak boleh tiga. Batas dua literal inilah yang membuat 2-SAT bisa diselesaikan cepat, sementara 3-SAT termasuk NP-lengkap.</a:t>
            </a:r>
            <a:endParaRPr lang="en-US" sz="1175" dirty="0"/>
          </a:p>
        </p:txBody>
      </p:sp>
      <p:sp>
        <p:nvSpPr>
          <p:cNvPr id="9" name="Shape 6"/>
          <p:cNvSpPr/>
          <p:nvPr/>
        </p:nvSpPr>
        <p:spPr>
          <a:xfrm>
            <a:off x="7845552" y="3794362"/>
            <a:ext cx="73152" cy="73152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8028432" y="3684634"/>
            <a:ext cx="3200400" cy="4935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25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Klausa gagal HANYA bila kedua literalnya salah — itu baris 18.</a:t>
            </a:r>
            <a:endParaRPr lang="en-US" sz="1125" dirty="0"/>
          </a:p>
        </p:txBody>
      </p:sp>
      <p:sp>
        <p:nvSpPr>
          <p:cNvPr id="11" name="Shape 8"/>
          <p:cNvSpPr/>
          <p:nvPr/>
        </p:nvSpPr>
        <p:spPr>
          <a:xfrm>
            <a:off x="7845552" y="4342804"/>
            <a:ext cx="73152" cy="73152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8028432" y="4233076"/>
            <a:ext cx="3200400" cy="4935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25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Coba-semua ini O(2^n * m), jadi hanya untuk n sampai sekitar 20.</a:t>
            </a:r>
            <a:endParaRPr lang="en-US" sz="1125" dirty="0"/>
          </a:p>
        </p:txBody>
      </p:sp>
      <p:sp>
        <p:nvSpPr>
          <p:cNvPr id="13" name="Shape 10"/>
          <p:cNvSpPr/>
          <p:nvPr/>
        </p:nvSpPr>
        <p:spPr>
          <a:xfrm>
            <a:off x="7845552" y="4891245"/>
            <a:ext cx="73152" cy="73152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8028432" y="4781517"/>
            <a:ext cx="3200400" cy="4935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25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Algoritma graf implikasi menyelesaikannya dalam O(n + m).</a:t>
            </a:r>
            <a:endParaRPr lang="en-US" sz="1125" dirty="0"/>
          </a:p>
        </p:txBody>
      </p:sp>
      <p:sp>
        <p:nvSpPr>
          <p:cNvPr id="15" name="Shape 12"/>
          <p:cNvSpPr/>
          <p:nvPr/>
        </p:nvSpPr>
        <p:spPr>
          <a:xfrm>
            <a:off x="7845552" y="5439686"/>
            <a:ext cx="73152" cy="73152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8028432" y="5329958"/>
            <a:ext cx="3200400" cy="4935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25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Pakai versi lambat ini sebagai pembanding saat menguji kode cepatmu.</a:t>
            </a:r>
            <a:endParaRPr lang="en-US" sz="1125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Membangun Graf Implikasi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Satu klausa (a ATAU b) selalu menjadi DUA sisi berarah. Kode ini mencetak grafnya supaya polanya terlihat.</a:t>
            </a:r>
            <a:endParaRPr lang="en-US" sz="1300" dirty="0"/>
          </a:p>
        </p:txBody>
      </p:sp>
      <p:pic>
        <p:nvPicPr>
          <p:cNvPr id="4" name="Image 0" descr="/tmp/ppt/imgs/c11_9_8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38331" y="1993392"/>
            <a:ext cx="3904882" cy="39959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571232" y="1993392"/>
            <a:ext cx="3950208" cy="3995928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3"/>
          <p:cNvSpPr/>
          <p:nvPr/>
        </p:nvSpPr>
        <p:spPr>
          <a:xfrm>
            <a:off x="7571232" y="1993392"/>
            <a:ext cx="3950208" cy="4572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845552" y="2194560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PENJELASAN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7845552" y="2596896"/>
            <a:ext cx="3401568" cy="9322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75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Perhatikan hasilnya berpasangan: setiap sisi u→v selalu punya kembaran !v→!u. Sifat cermin inilah yang membuat SCC bisa dipakai untuk menjawab 2-SAT.</a:t>
            </a:r>
            <a:endParaRPr lang="en-US" sz="1175" dirty="0"/>
          </a:p>
        </p:txBody>
      </p:sp>
      <p:sp>
        <p:nvSpPr>
          <p:cNvPr id="9" name="Shape 6"/>
          <p:cNvSpPr/>
          <p:nvPr/>
        </p:nvSpPr>
        <p:spPr>
          <a:xfrm>
            <a:off x="7845552" y="3794362"/>
            <a:ext cx="73152" cy="73152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8028432" y="3684634"/>
            <a:ext cx="3200400" cy="4935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25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Satu klausa = dua sisi implikasi, bukan satu.</a:t>
            </a:r>
            <a:endParaRPr lang="en-US" sz="1125" dirty="0"/>
          </a:p>
        </p:txBody>
      </p:sp>
      <p:sp>
        <p:nvSpPr>
          <p:cNvPr id="11" name="Shape 8"/>
          <p:cNvSpPr/>
          <p:nvPr/>
        </p:nvSpPr>
        <p:spPr>
          <a:xfrm>
            <a:off x="7845552" y="4342804"/>
            <a:ext cx="73152" cy="73152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8028432" y="4233076"/>
            <a:ext cx="3200400" cy="4935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25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Setiap variabel diwakili DUA simpul: dirinya dan negasinya.</a:t>
            </a:r>
            <a:endParaRPr lang="en-US" sz="1125" dirty="0"/>
          </a:p>
        </p:txBody>
      </p:sp>
      <p:sp>
        <p:nvSpPr>
          <p:cNvPr id="13" name="Shape 10"/>
          <p:cNvSpPr/>
          <p:nvPr/>
        </p:nvSpPr>
        <p:spPr>
          <a:xfrm>
            <a:off x="7845552" y="4891245"/>
            <a:ext cx="73152" cy="73152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8028432" y="4781517"/>
            <a:ext cx="3200400" cy="4935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25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Total simpul 2n, total sisi 2m — tetap linear.</a:t>
            </a:r>
            <a:endParaRPr lang="en-US" sz="1125" dirty="0"/>
          </a:p>
        </p:txBody>
      </p:sp>
      <p:sp>
        <p:nvSpPr>
          <p:cNvPr id="15" name="Shape 12"/>
          <p:cNvSpPr/>
          <p:nvPr/>
        </p:nvSpPr>
        <p:spPr>
          <a:xfrm>
            <a:off x="7845552" y="5439686"/>
            <a:ext cx="73152" cy="73152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8028432" y="5329958"/>
            <a:ext cx="3200400" cy="4935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25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Klausa satu literal (a) ditulis sebagai (a ATAU a), menghasilkan !a -&gt; a.</a:t>
            </a:r>
            <a:endParaRPr lang="en-US" sz="1125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02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Simulasi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Tiga peubah, empat klausa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F5A623"/>
          </a:solidFill>
          <a:ln/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Langkah 1 — Klausa Menjadi Sisi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Tiga klausa pertama diterjemahkan. Setiap klausa memberi tepat dua sisi berarah yang saling berpasangan.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 flipH="1" flipV="1">
            <a:off x="1317117" y="2615565"/>
            <a:ext cx="1572007" cy="1572007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5" name="Shape 3"/>
          <p:cNvSpPr/>
          <p:nvPr/>
        </p:nvSpPr>
        <p:spPr>
          <a:xfrm flipV="1">
            <a:off x="1317117" y="2615565"/>
            <a:ext cx="1572007" cy="1572007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3419856" y="2395728"/>
            <a:ext cx="1389888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 flipH="1">
            <a:off x="3419856" y="4407408"/>
            <a:ext cx="1389888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1375354" y="2534765"/>
            <a:ext cx="3467212" cy="1733606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 flipH="1">
            <a:off x="1375354" y="2534765"/>
            <a:ext cx="3467212" cy="1733606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786384" y="2084832"/>
            <a:ext cx="621792" cy="621792"/>
          </a:xfrm>
          <a:prstGeom prst="ellipse">
            <a:avLst/>
          </a:prstGeom>
          <a:solidFill>
            <a:srgbClr val="EAF4FD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86384" y="2084832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x1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98064" y="2084832"/>
            <a:ext cx="621792" cy="621792"/>
          </a:xfrm>
          <a:prstGeom prst="ellipse">
            <a:avLst/>
          </a:prstGeom>
          <a:solidFill>
            <a:srgbClr val="EAF4FD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798064" y="2084832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x0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809744" y="2084832"/>
            <a:ext cx="621792" cy="621792"/>
          </a:xfrm>
          <a:prstGeom prst="ellipse">
            <a:avLst/>
          </a:prstGeom>
          <a:solidFill>
            <a:srgbClr val="EAF4FD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809744" y="2084832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x2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86384" y="4096512"/>
            <a:ext cx="621792" cy="621792"/>
          </a:xfrm>
          <a:prstGeom prst="ellipse">
            <a:avLst/>
          </a:prstGeom>
          <a:solidFill>
            <a:srgbClr val="EAF4FD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86384" y="4096512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!x1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798064" y="4096512"/>
            <a:ext cx="621792" cy="621792"/>
          </a:xfrm>
          <a:prstGeom prst="ellipse">
            <a:avLst/>
          </a:prstGeom>
          <a:solidFill>
            <a:srgbClr val="EAF4FD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2798064" y="4096512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!x0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809744" y="4096512"/>
            <a:ext cx="621792" cy="621792"/>
          </a:xfrm>
          <a:prstGeom prst="ellipse">
            <a:avLst/>
          </a:prstGeom>
          <a:solidFill>
            <a:srgbClr val="EAF4FD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809744" y="4096512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!x2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949440" y="2350008"/>
            <a:ext cx="4572000" cy="305409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7178040" y="2532888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klausa 1 sampai 3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7178040" y="2916936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(x0 v x1)   -&gt; !x0 -&gt; x1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7178040" y="3300984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-&gt; !x1 -&gt; x0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7178040" y="3685032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(!x0 v x2)  -&gt;  x0 -&gt; x2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7178040" y="4069080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-&gt; !x2 -&gt; !x0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7178040" y="4453128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(!x1 v !x2) -&gt;  x1 -&gt; !x2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7178040" y="4837176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-&gt;  x2 -&gt; !x1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667512" y="5632704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941832" y="5724144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 simpul untuk 3 peubah      setiap klausa menyumbang 2 sisi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941832" y="6071616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Perhatikan pasangan sisinya selalu simetris: bila ada a -&gt; b, pasti ada !b -&gt; !a. Sifat inilah yang nanti menjamin jawabannya konsisten.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 / 3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Langkah 2 — Klausa Keempat &amp; Dua SCC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Klausa (x0 v x2) menambah dua sisi merah, dan barulah kedua komponen saling terhubung satu arah.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 flipH="1" flipV="1">
            <a:off x="1317117" y="2615565"/>
            <a:ext cx="1572007" cy="1572007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5" name="Shape 3"/>
          <p:cNvSpPr/>
          <p:nvPr/>
        </p:nvSpPr>
        <p:spPr>
          <a:xfrm flipV="1">
            <a:off x="1317117" y="2615565"/>
            <a:ext cx="1572007" cy="1572007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3419856" y="2395728"/>
            <a:ext cx="1389888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 flipH="1">
            <a:off x="3419856" y="4407408"/>
            <a:ext cx="1389888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1375354" y="2534765"/>
            <a:ext cx="3467212" cy="1733606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 flipH="1">
            <a:off x="1375354" y="2534765"/>
            <a:ext cx="3467212" cy="1733606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 flipV="1">
            <a:off x="3328797" y="2615565"/>
            <a:ext cx="1572007" cy="1572007"/>
          </a:xfrm>
          <a:prstGeom prst="line">
            <a:avLst/>
          </a:prstGeom>
          <a:noFill/>
          <a:ln w="19050">
            <a:solidFill>
              <a:srgbClr val="F0736A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 flipH="1" flipV="1">
            <a:off x="3328797" y="2615565"/>
            <a:ext cx="1572007" cy="1572007"/>
          </a:xfrm>
          <a:prstGeom prst="line">
            <a:avLst/>
          </a:prstGeom>
          <a:noFill/>
          <a:ln w="19050">
            <a:solidFill>
              <a:srgbClr val="F0736A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786384" y="2084832"/>
            <a:ext cx="621792" cy="621792"/>
          </a:xfrm>
          <a:prstGeom prst="ellipse">
            <a:avLst/>
          </a:prstGeom>
          <a:solidFill>
            <a:srgbClr val="EAF4FD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86384" y="2084832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x1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798064" y="2084832"/>
            <a:ext cx="621792" cy="621792"/>
          </a:xfrm>
          <a:prstGeom prst="ellipse">
            <a:avLst/>
          </a:prstGeom>
          <a:solidFill>
            <a:srgbClr val="EAFBF4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2798064" y="2084832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2805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x0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809744" y="2084832"/>
            <a:ext cx="621792" cy="621792"/>
          </a:xfrm>
          <a:prstGeom prst="ellipse">
            <a:avLst/>
          </a:prstGeom>
          <a:solidFill>
            <a:srgbClr val="EAFBF4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809744" y="2084832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2805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x2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86384" y="4096512"/>
            <a:ext cx="621792" cy="621792"/>
          </a:xfrm>
          <a:prstGeom prst="ellipse">
            <a:avLst/>
          </a:prstGeom>
          <a:solidFill>
            <a:srgbClr val="EAFBF4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86384" y="4096512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2805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!x1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2798064" y="4096512"/>
            <a:ext cx="621792" cy="621792"/>
          </a:xfrm>
          <a:prstGeom prst="ellipse">
            <a:avLst/>
          </a:prstGeom>
          <a:solidFill>
            <a:srgbClr val="EAF4FD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2798064" y="4096512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!x0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809744" y="4096512"/>
            <a:ext cx="621792" cy="621792"/>
          </a:xfrm>
          <a:prstGeom prst="ellipse">
            <a:avLst/>
          </a:prstGeom>
          <a:solidFill>
            <a:srgbClr val="EAF4FD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809744" y="4096512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!x2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949440" y="2350008"/>
            <a:ext cx="4572000" cy="305409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7178040" y="2532888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dua komponen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7178040" y="2916936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= { x0, x2, !x1 }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7178040" y="3300984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 = { !x0, x1, !x2 }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7178040" y="3685032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7178040" y="4069080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sisi merah: B -&gt; A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7178040" y="4453128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tidak ada sisi A -&gt; B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7178040" y="4837176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jadi A LEBIH BELAKANG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667512" y="5632704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941832" y="5724144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x0 -&gt; x2 -&gt; !x1 -&gt; x0 adalah siklus, maka ketiganya satu SCC</a:t>
            </a:r>
            <a:endParaRPr lang="en-US" sz="1300" dirty="0"/>
          </a:p>
        </p:txBody>
      </p:sp>
      <p:sp>
        <p:nvSpPr>
          <p:cNvPr id="34" name="Text 32"/>
          <p:cNvSpPr txBox="1"/>
          <p:nvPr/>
        </p:nvSpPr>
        <p:spPr>
          <a:xfrm>
            <a:off x="941832" y="6071616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Komponen hijau A tidak punya sisi keluar menuju B, sehingga A berada di ujung urutan topologi. Itulah komponen yang akan diberi nilai TRUE.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 / 3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Langkah 3 — Membaca Jawabannya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Tidak ada peubah yang x dan lawannya berada di satu komponen, jadi rumusnya bisa dipenuhi.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 flipH="1" flipV="1">
            <a:off x="1317117" y="2615565"/>
            <a:ext cx="1572007" cy="1572007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5" name="Shape 3"/>
          <p:cNvSpPr/>
          <p:nvPr/>
        </p:nvSpPr>
        <p:spPr>
          <a:xfrm flipV="1">
            <a:off x="1317117" y="2615565"/>
            <a:ext cx="1572007" cy="1572007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3419856" y="2395728"/>
            <a:ext cx="1389888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 flipH="1">
            <a:off x="3419856" y="4407408"/>
            <a:ext cx="1389888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1375354" y="2534765"/>
            <a:ext cx="3467212" cy="1733606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 flipH="1">
            <a:off x="1375354" y="2534765"/>
            <a:ext cx="3467212" cy="1733606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 flipV="1">
            <a:off x="3328797" y="2615565"/>
            <a:ext cx="1572007" cy="1572007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 flipH="1" flipV="1">
            <a:off x="3328797" y="2615565"/>
            <a:ext cx="1572007" cy="1572007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786384" y="2084832"/>
            <a:ext cx="621792" cy="621792"/>
          </a:xfrm>
          <a:prstGeom prst="ellipse">
            <a:avLst/>
          </a:prstGeom>
          <a:solidFill>
            <a:srgbClr val="EAF4FD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86384" y="2084832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x1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798064" y="2084832"/>
            <a:ext cx="621792" cy="621792"/>
          </a:xfrm>
          <a:prstGeom prst="ellipse">
            <a:avLst/>
          </a:prstGeom>
          <a:solidFill>
            <a:srgbClr val="FFF3D6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2798064" y="2084832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x0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2468880" y="2752344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TRUE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809744" y="2084832"/>
            <a:ext cx="621792" cy="621792"/>
          </a:xfrm>
          <a:prstGeom prst="ellipse">
            <a:avLst/>
          </a:prstGeom>
          <a:solidFill>
            <a:srgbClr val="FFF3D6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809744" y="2084832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x2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4480560" y="2752344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TRUE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86384" y="4096512"/>
            <a:ext cx="621792" cy="621792"/>
          </a:xfrm>
          <a:prstGeom prst="ellipse">
            <a:avLst/>
          </a:prstGeom>
          <a:solidFill>
            <a:srgbClr val="FFF3D6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86384" y="4096512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!x1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457200" y="4764024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TRUE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798064" y="4096512"/>
            <a:ext cx="621792" cy="621792"/>
          </a:xfrm>
          <a:prstGeom prst="ellipse">
            <a:avLst/>
          </a:prstGeom>
          <a:solidFill>
            <a:srgbClr val="EAF4FD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2798064" y="4096512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!x0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809744" y="4096512"/>
            <a:ext cx="621792" cy="621792"/>
          </a:xfrm>
          <a:prstGeom prst="ellipse">
            <a:avLst/>
          </a:prstGeom>
          <a:solidFill>
            <a:srgbClr val="EAF4FD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809744" y="4096512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!x2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949440" y="2350008"/>
            <a:ext cx="4572000" cy="305409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7178040" y="2532888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hasil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7178040" y="2916936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comp[x0] setelah comp[!x0]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7178040" y="3300984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-&gt; x0 = TRUE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7178040" y="3685032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comp[x1] sebelum comp[!x1]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7178040" y="4069080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-&gt; x1 = FALSE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7178040" y="4453128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comp[x2] setelah comp[!x2]</a:t>
            </a:r>
            <a:endParaRPr lang="en-US" sz="1200" dirty="0"/>
          </a:p>
        </p:txBody>
      </p:sp>
      <p:sp>
        <p:nvSpPr>
          <p:cNvPr id="34" name="Text 32"/>
          <p:cNvSpPr txBox="1"/>
          <p:nvPr/>
        </p:nvSpPr>
        <p:spPr>
          <a:xfrm>
            <a:off x="7178040" y="4837176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-&gt; x2 = TRUE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667512" y="5632704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941832" y="5724144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x0 = 1   x1 = 0   x2 = 1        keempat klausa terpenuhi</a:t>
            </a:r>
            <a:endParaRPr lang="en-US" sz="1300" dirty="0"/>
          </a:p>
        </p:txBody>
      </p:sp>
      <p:sp>
        <p:nvSpPr>
          <p:cNvPr id="37" name="Text 35"/>
          <p:cNvSpPr txBox="1"/>
          <p:nvPr/>
        </p:nvSpPr>
        <p:spPr>
          <a:xfrm>
            <a:off x="941832" y="6071616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Periksa sendiri: (1 v 0) = 1, (0 v 1) = 1, (1 v 0) = 1, (1 v 1) = 1. Seluruh rumus bernilai true tanpa satu pun klausa yang dilanggar.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39" name="Text 37"/>
          <p:cNvSpPr txBox="1"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 / 3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03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Teori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Kenapa cara ini selalu benar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F0736A"/>
          </a:solidFill>
          <a:ln/>
        </p:spPr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Kapan Tidak Ada Jawaban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Jawaban tidak ada tepat ketika x dan bukan-x berada di SCC yang sama. Kode ini membuktikannya pada rumus yang jelas-jelas bertentangan.</a:t>
            </a:r>
            <a:endParaRPr lang="en-US" sz="1300" dirty="0"/>
          </a:p>
        </p:txBody>
      </p:sp>
      <p:pic>
        <p:nvPicPr>
          <p:cNvPr id="4" name="Image 0" descr="/tmp/ppt/imgs/c11_15_8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61266" y="1993392"/>
            <a:ext cx="3459012" cy="39959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571232" y="1993392"/>
            <a:ext cx="3950208" cy="3995928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3"/>
          <p:cNvSpPr/>
          <p:nvPr/>
        </p:nvSpPr>
        <p:spPr>
          <a:xfrm>
            <a:off x="7571232" y="1993392"/>
            <a:ext cx="3950208" cy="45720"/>
          </a:xfrm>
          <a:prstGeom prst="rect">
            <a:avLst/>
          </a:prstGeom>
          <a:solidFill>
            <a:srgbClr val="5B8DEF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845552" y="2194560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5B8DE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PENJELASAN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7845552" y="2596896"/>
            <a:ext cx="3401568" cy="9322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75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Sekelompok berarti x bisa mencapai !x DAN !x bisa mencapai x. Menetapkan x benar memaksa x salah, dan sebaliknya — jadi tidak ada penetapan yang konsisten.</a:t>
            </a:r>
            <a:endParaRPr lang="en-US" sz="1175" dirty="0"/>
          </a:p>
        </p:txBody>
      </p:sp>
      <p:sp>
        <p:nvSpPr>
          <p:cNvPr id="9" name="Shape 6"/>
          <p:cNvSpPr/>
          <p:nvPr/>
        </p:nvSpPr>
        <p:spPr>
          <a:xfrm>
            <a:off x="7845552" y="3794362"/>
            <a:ext cx="73152" cy="73152"/>
          </a:xfrm>
          <a:prstGeom prst="rect">
            <a:avLst/>
          </a:prstGeom>
          <a:solidFill>
            <a:srgbClr val="5B8DEF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8028432" y="3684634"/>
            <a:ext cx="3200400" cy="4935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25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Cukup periksa n variabel: apakah komp[2v] sama dengan komp[2v+1].</a:t>
            </a:r>
            <a:endParaRPr lang="en-US" sz="1125" dirty="0"/>
          </a:p>
        </p:txBody>
      </p:sp>
      <p:sp>
        <p:nvSpPr>
          <p:cNvPr id="11" name="Shape 8"/>
          <p:cNvSpPr/>
          <p:nvPr/>
        </p:nvSpPr>
        <p:spPr>
          <a:xfrm>
            <a:off x="7845552" y="4342804"/>
            <a:ext cx="73152" cy="73152"/>
          </a:xfrm>
          <a:prstGeom prst="rect">
            <a:avLst/>
          </a:prstGeom>
          <a:solidFill>
            <a:srgbClr val="5B8DEF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8028432" y="4233076"/>
            <a:ext cx="3200400" cy="4935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25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Kalau berbeda, jawaban PASTI ada — tidak perlu diuji lagi.</a:t>
            </a:r>
            <a:endParaRPr lang="en-US" sz="1125" dirty="0"/>
          </a:p>
        </p:txBody>
      </p:sp>
      <p:sp>
        <p:nvSpPr>
          <p:cNvPr id="13" name="Shape 10"/>
          <p:cNvSpPr/>
          <p:nvPr/>
        </p:nvSpPr>
        <p:spPr>
          <a:xfrm>
            <a:off x="7845552" y="4891245"/>
            <a:ext cx="73152" cy="73152"/>
          </a:xfrm>
          <a:prstGeom prst="rect">
            <a:avLst/>
          </a:prstGeom>
          <a:solidFill>
            <a:srgbClr val="5B8DEF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8028432" y="4781517"/>
            <a:ext cx="3200400" cy="4935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25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Pemeriksaan ini O(n) setelah SCC selesai dihitung.</a:t>
            </a:r>
            <a:endParaRPr lang="en-US" sz="1125" dirty="0"/>
          </a:p>
        </p:txBody>
      </p:sp>
      <p:sp>
        <p:nvSpPr>
          <p:cNvPr id="15" name="Shape 12"/>
          <p:cNvSpPr/>
          <p:nvPr/>
        </p:nvSpPr>
        <p:spPr>
          <a:xfrm>
            <a:off x="7845552" y="5439686"/>
            <a:ext cx="73152" cy="73152"/>
          </a:xfrm>
          <a:prstGeom prst="rect">
            <a:avLst/>
          </a:prstGeom>
          <a:solidFill>
            <a:srgbClr val="5B8DEF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8028432" y="5329958"/>
            <a:ext cx="3200400" cy="4935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25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Rumus bertentangan seperti ini muncul saat syarat soalnya mustahil.</a:t>
            </a:r>
            <a:endParaRPr lang="en-US" sz="1125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Kenapa Aturannya Benar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Aturan pemilihan nilainya satu baris: ambil literal yang komponennya belakangan dalam urutan topologis. Jalankan dan periksa hasilnya.</a:t>
            </a:r>
            <a:endParaRPr lang="en-US" sz="1300" dirty="0"/>
          </a:p>
        </p:txBody>
      </p:sp>
      <p:pic>
        <p:nvPicPr>
          <p:cNvPr id="4" name="Image 0" descr="/tmp/ppt/imgs/c11_16_8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09816" y="1993392"/>
            <a:ext cx="3361912" cy="39959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571232" y="1993392"/>
            <a:ext cx="3950208" cy="3995928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3"/>
          <p:cNvSpPr/>
          <p:nvPr/>
        </p:nvSpPr>
        <p:spPr>
          <a:xfrm>
            <a:off x="7571232" y="1993392"/>
            <a:ext cx="3950208" cy="4572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845552" y="2194560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PENJELASAN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7845552" y="2596896"/>
            <a:ext cx="3401568" cy="9322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75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Nomor komponen dari Kosaraju sudah urut topologis, jadi komponen bernomor lebih besar berada lebih "hilir". Memilih literal yang lebih hilir tidak pernah memaksa apa pun yang bertentangan.</a:t>
            </a:r>
            <a:endParaRPr lang="en-US" sz="1175" dirty="0"/>
          </a:p>
        </p:txBody>
      </p:sp>
      <p:sp>
        <p:nvSpPr>
          <p:cNvPr id="9" name="Shape 6"/>
          <p:cNvSpPr/>
          <p:nvPr/>
        </p:nvSpPr>
        <p:spPr>
          <a:xfrm>
            <a:off x="7845552" y="3794362"/>
            <a:ext cx="73152" cy="73152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8028432" y="3684634"/>
            <a:ext cx="3200400" cy="4935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25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Kalau memakai Tarjan, nomornya terbalik — tandanya jadi lebih kecil.</a:t>
            </a:r>
            <a:endParaRPr lang="en-US" sz="1125" dirty="0"/>
          </a:p>
        </p:txBody>
      </p:sp>
      <p:sp>
        <p:nvSpPr>
          <p:cNvPr id="11" name="Shape 8"/>
          <p:cNvSpPr/>
          <p:nvPr/>
        </p:nvSpPr>
        <p:spPr>
          <a:xfrm>
            <a:off x="7845552" y="4342804"/>
            <a:ext cx="73152" cy="73152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8028432" y="4233076"/>
            <a:ext cx="3200400" cy="4935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25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Kedua variabel dipilih sendiri-sendiri; tidak perlu menelusuri ulang.</a:t>
            </a:r>
            <a:endParaRPr lang="en-US" sz="1125" dirty="0"/>
          </a:p>
        </p:txBody>
      </p:sp>
      <p:sp>
        <p:nvSpPr>
          <p:cNvPr id="13" name="Shape 10"/>
          <p:cNvSpPr/>
          <p:nvPr/>
        </p:nvSpPr>
        <p:spPr>
          <a:xfrm>
            <a:off x="7845552" y="4891245"/>
            <a:ext cx="73152" cy="73152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8028432" y="4781517"/>
            <a:ext cx="3200400" cy="4935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25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Hasil yang keluar dijamin memenuhi seluruh klausa, bukan sekadar mungkin.</a:t>
            </a:r>
            <a:endParaRPr lang="en-US" sz="1125" dirty="0"/>
          </a:p>
        </p:txBody>
      </p:sp>
      <p:sp>
        <p:nvSpPr>
          <p:cNvPr id="15" name="Shape 12"/>
          <p:cNvSpPr/>
          <p:nvPr/>
        </p:nvSpPr>
        <p:spPr>
          <a:xfrm>
            <a:off x="7845552" y="5439686"/>
            <a:ext cx="73152" cy="73152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8028432" y="5329958"/>
            <a:ext cx="3200400" cy="4935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25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Selalu uji hasilnya dengan pemeriksa klausa sederhana sebelum submit.</a:t>
            </a:r>
            <a:endParaRPr lang="en-US" sz="1125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Kode Lengkap — Bagian Pertama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Fungsi tambahKlausa adalah satu-satunya tempat klausa diterjemahkan menjadi sisi. Ia selalu menambah dua.</a:t>
            </a:r>
            <a:endParaRPr lang="en-US" sz="1300" dirty="0"/>
          </a:p>
        </p:txBody>
      </p:sp>
      <p:pic>
        <p:nvPicPr>
          <p:cNvPr id="4" name="Image 0" descr="/tmp/ppt/imgs/c11_17_9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16319" y="1755648"/>
            <a:ext cx="4011747" cy="418795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178040" y="1801368"/>
            <a:ext cx="310896" cy="310896"/>
          </a:xfrm>
          <a:prstGeom prst="ellipse">
            <a:avLst/>
          </a:prstGeom>
          <a:solidFill>
            <a:srgbClr val="4FA8E8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7178040" y="18013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7607808" y="1746504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Ukuran array adalah 2n, bukan n. Setiap peubah menempati dua simpul.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7178040" y="2620670"/>
            <a:ext cx="310896" cy="310896"/>
          </a:xfrm>
          <a:prstGeom prst="ellipse">
            <a:avLst/>
          </a:prstGeom>
          <a:solidFill>
            <a:srgbClr val="3ECF9E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7178040" y="262067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7607808" y="2565806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VAR(i) memberi simpul untuk x[i] bernilai true; NOT(v) memberi lawannya lewat XOR dengan 1.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7178040" y="3439973"/>
            <a:ext cx="310896" cy="310896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7178040" y="3439973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7607808" y="3385109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Setiap klausa menambah DUA sisi. Melupakan yang kedua adalah kesalahan paling sering pada materi ini.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7178040" y="4259275"/>
            <a:ext cx="310896" cy="310896"/>
          </a:xfrm>
          <a:prstGeom prst="ellipse">
            <a:avLst/>
          </a:prstGeom>
          <a:solidFill>
            <a:srgbClr val="A78BFA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7178040" y="4259275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7607808" y="4204411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Sisi ditambahkan sekaligus ke graf biasa dan graf kebalikannya, karena Kosaraju membutuhkan keduanya.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7178040" y="5078578"/>
            <a:ext cx="310896" cy="310896"/>
          </a:xfrm>
          <a:prstGeom prst="ellipse">
            <a:avLst/>
          </a:prstGeom>
          <a:solidFill>
            <a:srgbClr val="EC6BA8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7178040" y="507857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7607808" y="5023714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dfs1 menyusun urutan selesai; dfs2 mewarnai komponen pada graf kebalikan. Ini Kosaraju standar dari Day 225.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Kode Lengkap — Bagian Kedua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Perhatikan baris 19 dan 21: pemeriksaan kontradiksi dan pembacaan jawaban hanya dua baris.</a:t>
            </a:r>
            <a:endParaRPr lang="en-US" sz="1300" dirty="0"/>
          </a:p>
        </p:txBody>
      </p:sp>
      <p:pic>
        <p:nvPicPr>
          <p:cNvPr id="4" name="Image 0" descr="/tmp/ppt/imgs/c11_18_9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34125" y="1755648"/>
            <a:ext cx="4513293" cy="423367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571232" y="1755648"/>
            <a:ext cx="3950208" cy="4233672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3"/>
          <p:cNvSpPr/>
          <p:nvPr/>
        </p:nvSpPr>
        <p:spPr>
          <a:xfrm>
            <a:off x="7571232" y="1755648"/>
            <a:ext cx="3950208" cy="4572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845552" y="1956816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PENJELASAN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7845552" y="2359152"/>
            <a:ext cx="3401568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Catatan di baris 26 sampai 28 penting sekali. Kosaraju dan Tarjan menomori komponen dengan arah berlawanan, jadi tanda pembandingnya ikut berbeda.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04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Pemodelan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Menerjemahkan kalimat soal menjadi klausa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A78BFA"/>
          </a:solidFill>
          <a:ln/>
        </p:spPr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Pola Klausa yang Sering Muncul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Bagian tersulit soal 2-SAT bukan algoritmanya, melainkan menerjemahkan kalimat soal menjadi klausa. Lima pola ini menutupi hampir semuanya.</a:t>
            </a:r>
            <a:endParaRPr lang="en-US" sz="1300" dirty="0"/>
          </a:p>
        </p:txBody>
      </p:sp>
      <p:pic>
        <p:nvPicPr>
          <p:cNvPr id="4" name="Image 0" descr="/tmp/ppt/imgs/c11_20_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79202" y="1993392"/>
            <a:ext cx="3623140" cy="39959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571232" y="1993392"/>
            <a:ext cx="3950208" cy="3995928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3"/>
          <p:cNvSpPr/>
          <p:nvPr/>
        </p:nvSpPr>
        <p:spPr>
          <a:xfrm>
            <a:off x="7571232" y="1993392"/>
            <a:ext cx="3950208" cy="45720"/>
          </a:xfrm>
          <a:prstGeom prst="rect">
            <a:avLst/>
          </a:prstGeom>
          <a:solidFill>
            <a:srgbClr val="EC6BA8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845552" y="2194560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EC6B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PENJELASAN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7845552" y="2596896"/>
            <a:ext cx="3401568" cy="9322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75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Keluarannya membaca x1..x6 = 0,1,0,1,1,0 — perhatikan x4 benar (karena dipaksa), dan tepat satu dari x5, x6 yang benar. Semua syarat terpenuhi sekaligus.</a:t>
            </a:r>
            <a:endParaRPr lang="en-US" sz="1175" dirty="0"/>
          </a:p>
        </p:txBody>
      </p:sp>
      <p:sp>
        <p:nvSpPr>
          <p:cNvPr id="9" name="Shape 6"/>
          <p:cNvSpPr/>
          <p:nvPr/>
        </p:nvSpPr>
        <p:spPr>
          <a:xfrm>
            <a:off x="7845552" y="3794362"/>
            <a:ext cx="73152" cy="73152"/>
          </a:xfrm>
          <a:prstGeom prst="rect">
            <a:avLst/>
          </a:prstGeom>
          <a:solidFill>
            <a:srgbClr val="EC6BA8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8028432" y="3684634"/>
            <a:ext cx="3200400" cy="4935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25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"Kalau a maka b" adalah klausa (!a ATAU b) — pola paling sering.</a:t>
            </a:r>
            <a:endParaRPr lang="en-US" sz="1125" dirty="0"/>
          </a:p>
        </p:txBody>
      </p:sp>
      <p:sp>
        <p:nvSpPr>
          <p:cNvPr id="11" name="Shape 8"/>
          <p:cNvSpPr/>
          <p:nvPr/>
        </p:nvSpPr>
        <p:spPr>
          <a:xfrm>
            <a:off x="7845552" y="4342804"/>
            <a:ext cx="73152" cy="73152"/>
          </a:xfrm>
          <a:prstGeom prst="rect">
            <a:avLst/>
          </a:prstGeom>
          <a:solidFill>
            <a:srgbClr val="EC6BA8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8028432" y="4233076"/>
            <a:ext cx="3200400" cy="4935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25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"Tidak boleh bersama" adalah (!a ATAU !b).</a:t>
            </a:r>
            <a:endParaRPr lang="en-US" sz="1125" dirty="0"/>
          </a:p>
        </p:txBody>
      </p:sp>
      <p:sp>
        <p:nvSpPr>
          <p:cNvPr id="13" name="Shape 10"/>
          <p:cNvSpPr/>
          <p:nvPr/>
        </p:nvSpPr>
        <p:spPr>
          <a:xfrm>
            <a:off x="7845552" y="4891245"/>
            <a:ext cx="73152" cy="73152"/>
          </a:xfrm>
          <a:prstGeom prst="rect">
            <a:avLst/>
          </a:prstGeom>
          <a:solidFill>
            <a:srgbClr val="EC6BA8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8028432" y="4781517"/>
            <a:ext cx="3200400" cy="4935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25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"Harus benar" ditulis (a ATAU a); "harus salah" ditulis (!a ATAU !a).</a:t>
            </a:r>
            <a:endParaRPr lang="en-US" sz="1125" dirty="0"/>
          </a:p>
        </p:txBody>
      </p:sp>
      <p:sp>
        <p:nvSpPr>
          <p:cNvPr id="15" name="Shape 12"/>
          <p:cNvSpPr/>
          <p:nvPr/>
        </p:nvSpPr>
        <p:spPr>
          <a:xfrm>
            <a:off x="7845552" y="5439686"/>
            <a:ext cx="73152" cy="73152"/>
          </a:xfrm>
          <a:prstGeom prst="rect">
            <a:avLst/>
          </a:prstGeom>
          <a:solidFill>
            <a:srgbClr val="EC6BA8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8028432" y="5329958"/>
            <a:ext cx="3200400" cy="4935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25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"Tepat satu" butuh DUA klausa: minimal satu, dan tidak keduanya.</a:t>
            </a:r>
            <a:endParaRPr lang="en-US" sz="1125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Jebakan yang Sering Terjadi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Empat kesalahan yang menyumbang hampir seluruh bug pada materi ini.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892808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73736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Hanya menambah satu sisi per klausa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08483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Klausa (u atau w) memberi !u -&gt; w DAN !w -&gt; u. Menambah satu saja membuat grafnya tidak simetris dan hasilnya bisa salah tanpa pesan error apa pun.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2898648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74320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Salah arah pembandingan nomor komponen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09067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Kosaraju memberi nomor mengikuti urutan topologi, Tarjan memberikannya terbalik. Pastikan tandanya cocok dengan implementasi SCC yang kamu pakai.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3904488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74904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Ukuran array hanya n, bukan 2n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409651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Setiap peubah memakai dua simpul. Melupakannya menyebabkan akses di luar batas yang sering baru muncul pada uji kasus besar.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4910328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7548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Lupa klausa untuk memaksa satu nilai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510235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Untuk memaksa a bernilai true, tambahkan klausa (a v a). Bentuk ini sah dan sering dibutuhkan pada soal dengan syarat tetap.</a:t>
            </a:r>
            <a:endParaRPr lang="en-US" sz="12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05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Contoh Soal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Dari pernyataan sampai kode lengkap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F0736A"/>
          </a:solidFill>
          <a:ln/>
        </p:spPr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Latihan Terbimbing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67512" y="1280160"/>
            <a:ext cx="6035040" cy="45720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4" name="Shape 2"/>
          <p:cNvSpPr/>
          <p:nvPr/>
        </p:nvSpPr>
        <p:spPr>
          <a:xfrm>
            <a:off x="667512" y="1280160"/>
            <a:ext cx="6035040" cy="45720"/>
          </a:xfrm>
          <a:prstGeom prst="rect">
            <a:avLst/>
          </a:prstGeom>
          <a:solidFill>
            <a:srgbClr val="F0736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23544" y="1463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F0736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SOAL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923544" y="17373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Menyelesaikan Rumus 2-SAT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923544" y="2194560"/>
            <a:ext cx="54864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Diberikan n peubah dan m klausa, masing-masing berisi dua literal. Literal ditulis sebagai bilangan bulat: nilai positif berarti peubah itu sendiri, nilai negatif berarti negasinya. Tentukan apakah rumusnya bisa dipenuhi, dan bila ya keluarkan satu jawabannya.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14984" y="4480560"/>
            <a:ext cx="5394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 &lt;= n, m &lt;= 100000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literal berupa bilangan tak nol dengan nilai mutlak &lt;= n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jawaban mana pun yang sah diterima</a:t>
            </a:r>
            <a:endParaRPr lang="en-US" sz="1200" dirty="0"/>
          </a:p>
        </p:txBody>
      </p:sp>
      <p:pic>
        <p:nvPicPr>
          <p:cNvPr id="9" name="Image 0" descr="/tmp/ppt/imgs/c11_23_9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3499" y="1280160"/>
            <a:ext cx="2923883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Pembahasan Lengkap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Fungsi lit di baris 10 adalah seluruh penerjemahan masukannya: bilangan bertanda menjadi nomor simpul.</a:t>
            </a:r>
            <a:endParaRPr lang="en-US" sz="1300" dirty="0"/>
          </a:p>
        </p:txBody>
      </p:sp>
      <p:pic>
        <p:nvPicPr>
          <p:cNvPr id="4" name="Image 0" descr="/tmp/ppt/imgs/c11_24_9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45535" y="1755648"/>
            <a:ext cx="2490475" cy="423367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571232" y="1755648"/>
            <a:ext cx="3950208" cy="4233672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3"/>
          <p:cNvSpPr/>
          <p:nvPr/>
        </p:nvSpPr>
        <p:spPr>
          <a:xfrm>
            <a:off x="7571232" y="1755648"/>
            <a:ext cx="3950208" cy="4572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845552" y="1956816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PENJELASAN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7845552" y="2359152"/>
            <a:ext cx="3401568" cy="7360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Kompleksitas O(n + m). Perhatikan baris 52 memakai tanda &gt;, sesuai dengan penomoran Kosaraju yang mengikuti urutan topologi.</a:t>
            </a:r>
            <a:endParaRPr lang="en-US" sz="12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Latihan Mandiri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Dua soal pertama melatih pemodelan dasar; tiga berikutnya butuh terjemahan yang lebih kreatif.</a:t>
            </a:r>
            <a:endParaRPr lang="en-US" sz="1300" dirty="0"/>
          </a:p>
        </p:txBody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7512" y="1755648"/>
          <a:ext cx="10853928" cy="914400"/>
        </p:xfrm>
        <a:graphic>
          <a:graphicData uri="http://schemas.openxmlformats.org/drawingml/2006/table">
            <a:tbl>
              <a:tblPr/>
              <a:tblGrid>
                <a:gridCol w="3383280"/>
                <a:gridCol w="4480560"/>
                <a:gridCol w="2990088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Soal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Yang dilatih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Tingkat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CSES — Giant Pizza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Pemodelan 2-SAT paling langsung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Menengah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Codeforces 228E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Menyalakan lampu dengan syarat berpasangan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Menengah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Codeforces 1215F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2-SAT dengan implikasi bertingkat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Sulit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Codeforces 776D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Menyalakan pintu dan kunci berpasangan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Sulit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Codeforces 1451F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2-SAT dengan pengurutan interval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Sulit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Ringkasan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Empat hal yang perlu terbawa dari materi ini.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892808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73736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Klausa dua literal adalah sepasang implikasi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08483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(u atau w) sama dengan !u -&gt; w dan !w -&gt; u. Dari situ soal logika berubah menjadi soal graf berarah.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2898648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74320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Tidak ada jawaban bila x dan !x satu SCC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09067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Artinya ada rantai kesimpulan yang memaksa x sekaligus benar dan salah. Satu pemeriksaan per peubah sudah cukup.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3904488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74904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Ambil komponen yang lebih belakang pada urutan topologi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409651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Dengan begitu tidak ada satu pun sisi a -&gt; b yang dilanggar. Perhatikan arah penomoran Kosaraju dan Tarjan berbeda.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4910328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7548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Yang sulit adalah pemodelannya, bukan algoritmanya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510235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Kodenya identik di setiap soal. Kuasai tujuh pola klausa dasarnya dan sebagian besar soal 2-SAT langsung terbuka.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2026-09-11T16:59:27Z</dcterms:created>
  <dcterms:modified xsi:type="dcterms:W3CDTF">2026-09-11T16:59:27Z</dcterms:modified>
</cp:coreProperties>
</file>