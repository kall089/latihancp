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1371600"/>
            <a:ext cx="7680960" cy="2468880"/>
          </a:xfrm>
          <a:prstGeom prst="rect">
            <a:avLst/>
          </a:prstGeom>
          <a:noFill/>
          <a:ln/>
        </p:spPr>
        <p:txBody>
          <a:bodyPr wrap="square" lIns="0" tIns="0" rIns="0" bIns="0" rtlCol="0" anchor="ctr"/>
          <a:lstStyle/>
          <a:p>
            <a:pPr indent="0" marL="0">
              <a:lnSpc>
                <a:spcPct val="116000"/>
              </a:lnSpc>
              <a:buNone/>
            </a:pPr>
            <a:r>
              <a:rPr lang="en-US" sz="4200" dirty="0">
                <a:solidFill>
                  <a:srgbClr val="1A1A1A"/>
                </a:solidFill>
                <a:latin typeface="Century Gothic" pitchFamily="34" charset="0"/>
                <a:ea typeface="Century Gothic" pitchFamily="34" charset="-122"/>
                <a:cs typeface="Century Gothic" pitchFamily="34" charset="-120"/>
              </a:rPr>
              <a:t>Aliran Biaya Minimum</a:t>
            </a:r>
            <a:endParaRPr lang="en-US" sz="4200" dirty="0"/>
          </a:p>
          <a:p>
            <a:pPr indent="0" marL="0">
              <a:lnSpc>
                <a:spcPct val="116000"/>
              </a:lnSpc>
              <a:buNone/>
            </a:pPr>
            <a:r>
              <a:rPr lang="en-US" sz="4200" dirty="0">
                <a:solidFill>
                  <a:srgbClr val="1A1A1A"/>
                </a:solidFill>
                <a:latin typeface="Century Gothic" pitchFamily="34" charset="0"/>
                <a:ea typeface="Century Gothic" pitchFamily="34" charset="-122"/>
                <a:cs typeface="Century Gothic" pitchFamily="34" charset="-120"/>
              </a:rPr>
              <a:t>&amp; Penugasan</a:t>
            </a:r>
            <a:endParaRPr lang="en-US" sz="4200" dirty="0"/>
          </a:p>
        </p:txBody>
      </p:sp>
      <p:sp>
        <p:nvSpPr>
          <p:cNvPr id="3" name="Text 1"/>
          <p:cNvSpPr txBox="1"/>
          <p:nvPr/>
        </p:nvSpPr>
        <p:spPr>
          <a:xfrm>
            <a:off x="667512" y="4023360"/>
            <a:ext cx="7680960" cy="457200"/>
          </a:xfrm>
          <a:prstGeom prst="rect">
            <a:avLst/>
          </a:prstGeom>
          <a:noFill/>
          <a:ln/>
        </p:spPr>
        <p:txBody>
          <a:bodyPr wrap="square" lIns="0" tIns="0" rIns="0" bIns="0" rtlCol="0" anchor="ctr"/>
          <a:lstStyle/>
          <a:p>
            <a:pPr indent="0" marL="0">
              <a:buNone/>
            </a:pPr>
            <a:r>
              <a:rPr lang="en-US" sz="1400" dirty="0">
                <a:solidFill>
                  <a:srgbClr val="7F7F7F"/>
                </a:solidFill>
                <a:latin typeface="Century Gothic" pitchFamily="34" charset="0"/>
                <a:ea typeface="Century Gothic" pitchFamily="34" charset="-122"/>
                <a:cs typeface="Century Gothic" pitchFamily="34" charset="-120"/>
              </a:rPr>
              <a:t>Ketika yang dicari bukan aliran terbesar, melainkan yang termurah</a:t>
            </a:r>
            <a:endParaRPr lang="en-US" sz="1400" dirty="0"/>
          </a:p>
        </p:txBody>
      </p:sp>
      <p:sp>
        <p:nvSpPr>
          <p:cNvPr id="4" name="Text 2"/>
          <p:cNvSpPr txBox="1"/>
          <p:nvPr/>
        </p:nvSpPr>
        <p:spPr>
          <a:xfrm>
            <a:off x="667512" y="4645152"/>
            <a:ext cx="7315200" cy="365760"/>
          </a:xfrm>
          <a:prstGeom prst="rect">
            <a:avLst/>
          </a:prstGeom>
          <a:noFill/>
          <a:ln/>
        </p:spPr>
        <p:txBody>
          <a:bodyPr wrap="square" lIns="0" tIns="0" rIns="0" bIns="0" rtlCol="0" anchor="ctr"/>
          <a:lstStyle/>
          <a:p>
            <a:pPr indent="0" marL="0">
              <a:buNone/>
            </a:pPr>
            <a:r>
              <a:rPr lang="en-US" sz="1200" dirty="0">
                <a:solidFill>
                  <a:srgbClr val="4FA8E8"/>
                </a:solidFill>
                <a:latin typeface="Century Gothic" pitchFamily="34" charset="0"/>
                <a:ea typeface="Century Gothic" pitchFamily="34" charset="-122"/>
                <a:cs typeface="Century Gothic" pitchFamily="34" charset="-120"/>
              </a:rPr>
              <a:t>Graf · Day 234</a:t>
            </a:r>
            <a:endParaRPr lang="en-US" sz="1200" dirty="0"/>
          </a:p>
        </p:txBody>
      </p:sp>
      <p:sp>
        <p:nvSpPr>
          <p:cNvPr id="5" name="Shape 3"/>
          <p:cNvSpPr/>
          <p:nvPr/>
        </p:nvSpPr>
        <p:spPr>
          <a:xfrm>
            <a:off x="9235440" y="1371600"/>
            <a:ext cx="2286000" cy="2286000"/>
          </a:xfrm>
          <a:prstGeom prst="rect">
            <a:avLst/>
          </a:prstGeom>
          <a:solidFill>
            <a:srgbClr val="F2F7FD"/>
          </a:solidFill>
          <a:ln/>
        </p:spPr>
      </p:sp>
      <p:sp>
        <p:nvSpPr>
          <p:cNvPr id="6" name="Text 4"/>
          <p:cNvSpPr txBox="1"/>
          <p:nvPr/>
        </p:nvSpPr>
        <p:spPr>
          <a:xfrm>
            <a:off x="9235440" y="1371600"/>
            <a:ext cx="2286000" cy="2286000"/>
          </a:xfrm>
          <a:prstGeom prst="rect">
            <a:avLst/>
          </a:prstGeom>
          <a:noFill/>
          <a:ln/>
        </p:spPr>
        <p:txBody>
          <a:bodyPr wrap="square" lIns="0" tIns="0" rIns="0" bIns="0" rtlCol="0" anchor="ctr"/>
          <a:lstStyle/>
          <a:p>
            <a:pPr algn="ctr" indent="0" marL="0">
              <a:buNone/>
            </a:pPr>
            <a:r>
              <a:rPr lang="en-US" sz="5600" dirty="0">
                <a:solidFill>
                  <a:srgbClr val="4FA8E8"/>
                </a:solidFill>
                <a:latin typeface="Century Gothic" pitchFamily="34" charset="0"/>
                <a:ea typeface="Century Gothic" pitchFamily="34" charset="-122"/>
                <a:cs typeface="Century Gothic" pitchFamily="34" charset="-120"/>
              </a:rPr>
              <a:t>234</a:t>
            </a:r>
            <a:endParaRPr lang="en-US" sz="5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00</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Sebelum Mulai</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Materi ini tentang apa, dan kapan ia dipakai</a:t>
            </a:r>
            <a:endParaRPr lang="en-US" sz="1350" dirty="0"/>
          </a:p>
        </p:txBody>
      </p:sp>
      <p:sp>
        <p:nvSpPr>
          <p:cNvPr id="5" name="Shape 3"/>
          <p:cNvSpPr/>
          <p:nvPr/>
        </p:nvSpPr>
        <p:spPr>
          <a:xfrm>
            <a:off x="5815584" y="4251960"/>
            <a:ext cx="548640" cy="45720"/>
          </a:xfrm>
          <a:prstGeom prst="rect">
            <a:avLst/>
          </a:prstGeom>
          <a:solidFill>
            <a:srgbClr val="3ECF9E"/>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Penjelasan Sederhana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Bayangkan membagi tugas ke beberapa orang, di mana setiap orang punya ongkos berbeda untuk tiap tugas, dan kamu ingin total ongkosnya paling murah.</a:t>
            </a:r>
            <a:endParaRPr lang="en-US" sz="1300" dirty="0"/>
          </a:p>
        </p:txBody>
      </p:sp>
      <p:sp>
        <p:nvSpPr>
          <p:cNvPr id="4" name="Text 2"/>
          <p:cNvSpPr txBox="1"/>
          <p:nvPr/>
        </p:nvSpPr>
        <p:spPr>
          <a:xfrm>
            <a:off x="667512" y="2130552"/>
            <a:ext cx="4663440" cy="274320"/>
          </a:xfrm>
          <a:prstGeom prst="rect">
            <a:avLst/>
          </a:prstGeom>
          <a:noFill/>
          <a:ln/>
        </p:spPr>
        <p:txBody>
          <a:bodyPr wrap="square" lIns="0" tIns="0" rIns="0" bIns="0" rtlCol="0" anchor="ctr"/>
          <a:lstStyle/>
          <a:p>
            <a:pPr indent="0" marL="0">
              <a:buNone/>
            </a:pPr>
            <a:r>
              <a:rPr lang="en-US" sz="1050" spc="200" kern="0" dirty="0">
                <a:solidFill>
                  <a:srgbClr val="F5A623"/>
                </a:solidFill>
                <a:latin typeface="Century Gothic" pitchFamily="34" charset="0"/>
                <a:ea typeface="Century Gothic" pitchFamily="34" charset="-122"/>
                <a:cs typeface="Century Gothic" pitchFamily="34" charset="-120"/>
              </a:rPr>
              <a:t>BAYANGKAN SEPERTI INI</a:t>
            </a:r>
            <a:endParaRPr lang="en-US" sz="1050" dirty="0"/>
          </a:p>
        </p:txBody>
      </p:sp>
      <p:sp>
        <p:nvSpPr>
          <p:cNvPr id="5" name="Text 3"/>
          <p:cNvSpPr txBox="1"/>
          <p:nvPr/>
        </p:nvSpPr>
        <p:spPr>
          <a:xfrm>
            <a:off x="6858000" y="2130552"/>
            <a:ext cx="4663440" cy="274320"/>
          </a:xfrm>
          <a:prstGeom prst="rect">
            <a:avLst/>
          </a:prstGeom>
          <a:noFill/>
          <a:ln/>
        </p:spPr>
        <p:txBody>
          <a:bodyPr wrap="square" lIns="0" tIns="0" rIns="0" bIns="0" rtlCol="0" anchor="ctr"/>
          <a:lstStyle/>
          <a:p>
            <a:pPr indent="0" marL="0">
              <a:buNone/>
            </a:pPr>
            <a:r>
              <a:rPr lang="en-US" sz="1050" spc="200" kern="0" dirty="0">
                <a:solidFill>
                  <a:srgbClr val="4FA8E8"/>
                </a:solidFill>
                <a:latin typeface="Century Gothic" pitchFamily="34" charset="0"/>
                <a:ea typeface="Century Gothic" pitchFamily="34" charset="-122"/>
                <a:cs typeface="Century Gothic" pitchFamily="34" charset="-120"/>
              </a:rPr>
              <a:t>DI DALAM SOAL</a:t>
            </a:r>
            <a:endParaRPr lang="en-US" sz="1050" dirty="0"/>
          </a:p>
        </p:txBody>
      </p:sp>
      <p:sp>
        <p:nvSpPr>
          <p:cNvPr id="6" name="Shape 4"/>
          <p:cNvSpPr/>
          <p:nvPr/>
        </p:nvSpPr>
        <p:spPr>
          <a:xfrm>
            <a:off x="667512" y="2514600"/>
            <a:ext cx="4663440" cy="493776"/>
          </a:xfrm>
          <a:prstGeom prst="rect">
            <a:avLst/>
          </a:prstGeom>
          <a:solidFill>
            <a:srgbClr val="FFF8EC"/>
          </a:solidFill>
          <a:ln/>
        </p:spPr>
      </p:sp>
      <p:sp>
        <p:nvSpPr>
          <p:cNvPr id="7" name="Shape 5"/>
          <p:cNvSpPr/>
          <p:nvPr/>
        </p:nvSpPr>
        <p:spPr>
          <a:xfrm>
            <a:off x="667512" y="2514600"/>
            <a:ext cx="54864" cy="493776"/>
          </a:xfrm>
          <a:prstGeom prst="rect">
            <a:avLst/>
          </a:prstGeom>
          <a:solidFill>
            <a:srgbClr val="F5A623"/>
          </a:solidFill>
          <a:ln/>
        </p:spPr>
      </p:sp>
      <p:sp>
        <p:nvSpPr>
          <p:cNvPr id="8" name="Text 6"/>
          <p:cNvSpPr txBox="1"/>
          <p:nvPr/>
        </p:nvSpPr>
        <p:spPr>
          <a:xfrm>
            <a:off x="923544" y="2514600"/>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Ambil pasangan termurah dulu terasa masuk akal</a:t>
            </a:r>
            <a:endParaRPr lang="en-US" sz="1200" dirty="0"/>
          </a:p>
        </p:txBody>
      </p:sp>
      <p:sp>
        <p:nvSpPr>
          <p:cNvPr id="9" name="Shape 7"/>
          <p:cNvSpPr/>
          <p:nvPr/>
        </p:nvSpPr>
        <p:spPr>
          <a:xfrm>
            <a:off x="5586984" y="2761488"/>
            <a:ext cx="1014984" cy="914"/>
          </a:xfrm>
          <a:prstGeom prst="line">
            <a:avLst/>
          </a:prstGeom>
          <a:noFill/>
          <a:ln w="19050">
            <a:solidFill>
              <a:srgbClr val="C8CDD4"/>
            </a:solidFill>
            <a:prstDash val="solid"/>
            <a:tailEnd type="triangle"/>
          </a:ln>
        </p:spPr>
      </p:sp>
      <p:sp>
        <p:nvSpPr>
          <p:cNvPr id="10" name="Shape 8"/>
          <p:cNvSpPr/>
          <p:nvPr/>
        </p:nvSpPr>
        <p:spPr>
          <a:xfrm>
            <a:off x="6858000" y="2514600"/>
            <a:ext cx="4663440" cy="493776"/>
          </a:xfrm>
          <a:prstGeom prst="rect">
            <a:avLst/>
          </a:prstGeom>
          <a:solidFill>
            <a:srgbClr val="F2F7FD"/>
          </a:solidFill>
          <a:ln/>
        </p:spPr>
      </p:sp>
      <p:sp>
        <p:nvSpPr>
          <p:cNvPr id="11" name="Shape 9"/>
          <p:cNvSpPr/>
          <p:nvPr/>
        </p:nvSpPr>
        <p:spPr>
          <a:xfrm>
            <a:off x="6858000" y="2514600"/>
            <a:ext cx="54864" cy="493776"/>
          </a:xfrm>
          <a:prstGeom prst="rect">
            <a:avLst/>
          </a:prstGeom>
          <a:solidFill>
            <a:srgbClr val="4FA8E8"/>
          </a:solidFill>
          <a:ln/>
        </p:spPr>
      </p:sp>
      <p:sp>
        <p:nvSpPr>
          <p:cNvPr id="12" name="Text 10"/>
          <p:cNvSpPr txBox="1"/>
          <p:nvPr/>
        </p:nvSpPr>
        <p:spPr>
          <a:xfrm>
            <a:off x="7114032" y="2514600"/>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Rakus: pilih biaya terkecil lebih dulu</a:t>
            </a:r>
            <a:endParaRPr lang="en-US" sz="1200" dirty="0"/>
          </a:p>
        </p:txBody>
      </p:sp>
      <p:sp>
        <p:nvSpPr>
          <p:cNvPr id="13" name="Shape 11"/>
          <p:cNvSpPr/>
          <p:nvPr/>
        </p:nvSpPr>
        <p:spPr>
          <a:xfrm>
            <a:off x="667512" y="3136392"/>
            <a:ext cx="4663440" cy="493776"/>
          </a:xfrm>
          <a:prstGeom prst="rect">
            <a:avLst/>
          </a:prstGeom>
          <a:solidFill>
            <a:srgbClr val="FFF8EC"/>
          </a:solidFill>
          <a:ln/>
        </p:spPr>
      </p:sp>
      <p:sp>
        <p:nvSpPr>
          <p:cNvPr id="14" name="Shape 12"/>
          <p:cNvSpPr/>
          <p:nvPr/>
        </p:nvSpPr>
        <p:spPr>
          <a:xfrm>
            <a:off x="667512" y="3136392"/>
            <a:ext cx="54864" cy="493776"/>
          </a:xfrm>
          <a:prstGeom prst="rect">
            <a:avLst/>
          </a:prstGeom>
          <a:solidFill>
            <a:srgbClr val="F5A623"/>
          </a:solidFill>
          <a:ln/>
        </p:spPr>
      </p:sp>
      <p:sp>
        <p:nvSpPr>
          <p:cNvPr id="15" name="Text 13"/>
          <p:cNvSpPr txBox="1"/>
          <p:nvPr/>
        </p:nvSpPr>
        <p:spPr>
          <a:xfrm>
            <a:off x="923544" y="3136392"/>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Tetapi sisanya jadi terpaksa yang termahal</a:t>
            </a:r>
            <a:endParaRPr lang="en-US" sz="1200" dirty="0"/>
          </a:p>
        </p:txBody>
      </p:sp>
      <p:sp>
        <p:nvSpPr>
          <p:cNvPr id="16" name="Shape 14"/>
          <p:cNvSpPr/>
          <p:nvPr/>
        </p:nvSpPr>
        <p:spPr>
          <a:xfrm>
            <a:off x="5586984" y="3383280"/>
            <a:ext cx="1014984" cy="914"/>
          </a:xfrm>
          <a:prstGeom prst="line">
            <a:avLst/>
          </a:prstGeom>
          <a:noFill/>
          <a:ln w="19050">
            <a:solidFill>
              <a:srgbClr val="C8CDD4"/>
            </a:solidFill>
            <a:prstDash val="solid"/>
            <a:tailEnd type="triangle"/>
          </a:ln>
        </p:spPr>
      </p:sp>
      <p:sp>
        <p:nvSpPr>
          <p:cNvPr id="17" name="Shape 15"/>
          <p:cNvSpPr/>
          <p:nvPr/>
        </p:nvSpPr>
        <p:spPr>
          <a:xfrm>
            <a:off x="6858000" y="3136392"/>
            <a:ext cx="4663440" cy="493776"/>
          </a:xfrm>
          <a:prstGeom prst="rect">
            <a:avLst/>
          </a:prstGeom>
          <a:solidFill>
            <a:srgbClr val="F2F7FD"/>
          </a:solidFill>
          <a:ln/>
        </p:spPr>
      </p:sp>
      <p:sp>
        <p:nvSpPr>
          <p:cNvPr id="18" name="Shape 16"/>
          <p:cNvSpPr/>
          <p:nvPr/>
        </p:nvSpPr>
        <p:spPr>
          <a:xfrm>
            <a:off x="6858000" y="3136392"/>
            <a:ext cx="54864" cy="493776"/>
          </a:xfrm>
          <a:prstGeom prst="rect">
            <a:avLst/>
          </a:prstGeom>
          <a:solidFill>
            <a:srgbClr val="4FA8E8"/>
          </a:solidFill>
          <a:ln/>
        </p:spPr>
      </p:sp>
      <p:sp>
        <p:nvSpPr>
          <p:cNvPr id="19" name="Text 17"/>
          <p:cNvSpPr txBox="1"/>
          <p:nvPr/>
        </p:nvSpPr>
        <p:spPr>
          <a:xfrm>
            <a:off x="7114032" y="3136392"/>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Rakus bisa jauh dari optimal</a:t>
            </a:r>
            <a:endParaRPr lang="en-US" sz="1200" dirty="0"/>
          </a:p>
        </p:txBody>
      </p:sp>
      <p:sp>
        <p:nvSpPr>
          <p:cNvPr id="20" name="Shape 18"/>
          <p:cNvSpPr/>
          <p:nvPr/>
        </p:nvSpPr>
        <p:spPr>
          <a:xfrm>
            <a:off x="667512" y="3758184"/>
            <a:ext cx="4663440" cy="493776"/>
          </a:xfrm>
          <a:prstGeom prst="rect">
            <a:avLst/>
          </a:prstGeom>
          <a:solidFill>
            <a:srgbClr val="FFF8EC"/>
          </a:solidFill>
          <a:ln/>
        </p:spPr>
      </p:sp>
      <p:sp>
        <p:nvSpPr>
          <p:cNvPr id="21" name="Shape 19"/>
          <p:cNvSpPr/>
          <p:nvPr/>
        </p:nvSpPr>
        <p:spPr>
          <a:xfrm>
            <a:off x="667512" y="3758184"/>
            <a:ext cx="54864" cy="493776"/>
          </a:xfrm>
          <a:prstGeom prst="rect">
            <a:avLst/>
          </a:prstGeom>
          <a:solidFill>
            <a:srgbClr val="F5A623"/>
          </a:solidFill>
          <a:ln/>
        </p:spPr>
      </p:sp>
      <p:sp>
        <p:nvSpPr>
          <p:cNvPr id="22" name="Text 20"/>
          <p:cNvSpPr txBox="1"/>
          <p:nvPr/>
        </p:nvSpPr>
        <p:spPr>
          <a:xfrm>
            <a:off x="923544" y="3758184"/>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Harus bisa menarik kembali keputusan lama</a:t>
            </a:r>
            <a:endParaRPr lang="en-US" sz="1200" dirty="0"/>
          </a:p>
        </p:txBody>
      </p:sp>
      <p:sp>
        <p:nvSpPr>
          <p:cNvPr id="23" name="Shape 21"/>
          <p:cNvSpPr/>
          <p:nvPr/>
        </p:nvSpPr>
        <p:spPr>
          <a:xfrm>
            <a:off x="5586984" y="4005072"/>
            <a:ext cx="1014984" cy="914"/>
          </a:xfrm>
          <a:prstGeom prst="line">
            <a:avLst/>
          </a:prstGeom>
          <a:noFill/>
          <a:ln w="19050">
            <a:solidFill>
              <a:srgbClr val="C8CDD4"/>
            </a:solidFill>
            <a:prstDash val="solid"/>
            <a:tailEnd type="triangle"/>
          </a:ln>
        </p:spPr>
      </p:sp>
      <p:sp>
        <p:nvSpPr>
          <p:cNvPr id="24" name="Shape 22"/>
          <p:cNvSpPr/>
          <p:nvPr/>
        </p:nvSpPr>
        <p:spPr>
          <a:xfrm>
            <a:off x="6858000" y="3758184"/>
            <a:ext cx="4663440" cy="493776"/>
          </a:xfrm>
          <a:prstGeom prst="rect">
            <a:avLst/>
          </a:prstGeom>
          <a:solidFill>
            <a:srgbClr val="F2F7FD"/>
          </a:solidFill>
          <a:ln/>
        </p:spPr>
      </p:sp>
      <p:sp>
        <p:nvSpPr>
          <p:cNvPr id="25" name="Shape 23"/>
          <p:cNvSpPr/>
          <p:nvPr/>
        </p:nvSpPr>
        <p:spPr>
          <a:xfrm>
            <a:off x="6858000" y="3758184"/>
            <a:ext cx="54864" cy="493776"/>
          </a:xfrm>
          <a:prstGeom prst="rect">
            <a:avLst/>
          </a:prstGeom>
          <a:solidFill>
            <a:srgbClr val="4FA8E8"/>
          </a:solidFill>
          <a:ln/>
        </p:spPr>
      </p:sp>
      <p:sp>
        <p:nvSpPr>
          <p:cNvPr id="26" name="Text 24"/>
          <p:cNvSpPr txBox="1"/>
          <p:nvPr/>
        </p:nvSpPr>
        <p:spPr>
          <a:xfrm>
            <a:off x="7114032" y="3758184"/>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Sisi balik berbiaya negatif</a:t>
            </a:r>
            <a:endParaRPr lang="en-US" sz="1200" dirty="0"/>
          </a:p>
        </p:txBody>
      </p:sp>
      <p:sp>
        <p:nvSpPr>
          <p:cNvPr id="27" name="Shape 25"/>
          <p:cNvSpPr/>
          <p:nvPr/>
        </p:nvSpPr>
        <p:spPr>
          <a:xfrm>
            <a:off x="667512" y="4379976"/>
            <a:ext cx="4663440" cy="493776"/>
          </a:xfrm>
          <a:prstGeom prst="rect">
            <a:avLst/>
          </a:prstGeom>
          <a:solidFill>
            <a:srgbClr val="FFF8EC"/>
          </a:solidFill>
          <a:ln/>
        </p:spPr>
      </p:sp>
      <p:sp>
        <p:nvSpPr>
          <p:cNvPr id="28" name="Shape 26"/>
          <p:cNvSpPr/>
          <p:nvPr/>
        </p:nvSpPr>
        <p:spPr>
          <a:xfrm>
            <a:off x="667512" y="4379976"/>
            <a:ext cx="54864" cy="493776"/>
          </a:xfrm>
          <a:prstGeom prst="rect">
            <a:avLst/>
          </a:prstGeom>
          <a:solidFill>
            <a:srgbClr val="F5A623"/>
          </a:solidFill>
          <a:ln/>
        </p:spPr>
      </p:sp>
      <p:sp>
        <p:nvSpPr>
          <p:cNvPr id="29" name="Text 27"/>
          <p:cNvSpPr txBox="1"/>
          <p:nvPr/>
        </p:nvSpPr>
        <p:spPr>
          <a:xfrm>
            <a:off x="923544" y="4379976"/>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Setiap kali, pilih jalur yang paling murah</a:t>
            </a:r>
            <a:endParaRPr lang="en-US" sz="1200" dirty="0"/>
          </a:p>
        </p:txBody>
      </p:sp>
      <p:sp>
        <p:nvSpPr>
          <p:cNvPr id="30" name="Shape 28"/>
          <p:cNvSpPr/>
          <p:nvPr/>
        </p:nvSpPr>
        <p:spPr>
          <a:xfrm>
            <a:off x="5586984" y="4626864"/>
            <a:ext cx="1014984" cy="914"/>
          </a:xfrm>
          <a:prstGeom prst="line">
            <a:avLst/>
          </a:prstGeom>
          <a:noFill/>
          <a:ln w="19050">
            <a:solidFill>
              <a:srgbClr val="C8CDD4"/>
            </a:solidFill>
            <a:prstDash val="solid"/>
            <a:tailEnd type="triangle"/>
          </a:ln>
        </p:spPr>
      </p:sp>
      <p:sp>
        <p:nvSpPr>
          <p:cNvPr id="31" name="Shape 29"/>
          <p:cNvSpPr/>
          <p:nvPr/>
        </p:nvSpPr>
        <p:spPr>
          <a:xfrm>
            <a:off x="6858000" y="4379976"/>
            <a:ext cx="4663440" cy="493776"/>
          </a:xfrm>
          <a:prstGeom prst="rect">
            <a:avLst/>
          </a:prstGeom>
          <a:solidFill>
            <a:srgbClr val="F2F7FD"/>
          </a:solidFill>
          <a:ln/>
        </p:spPr>
      </p:sp>
      <p:sp>
        <p:nvSpPr>
          <p:cNvPr id="32" name="Shape 30"/>
          <p:cNvSpPr/>
          <p:nvPr/>
        </p:nvSpPr>
        <p:spPr>
          <a:xfrm>
            <a:off x="6858000" y="4379976"/>
            <a:ext cx="54864" cy="493776"/>
          </a:xfrm>
          <a:prstGeom prst="rect">
            <a:avLst/>
          </a:prstGeom>
          <a:solidFill>
            <a:srgbClr val="4FA8E8"/>
          </a:solidFill>
          <a:ln/>
        </p:spPr>
      </p:sp>
      <p:sp>
        <p:nvSpPr>
          <p:cNvPr id="33" name="Text 31"/>
          <p:cNvSpPr txBox="1"/>
          <p:nvPr/>
        </p:nvSpPr>
        <p:spPr>
          <a:xfrm>
            <a:off x="7114032" y="4379976"/>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Jalur penambah termurah, bukan mana saja</a:t>
            </a:r>
            <a:endParaRPr lang="en-US" sz="1200" dirty="0"/>
          </a:p>
        </p:txBody>
      </p:sp>
      <p:sp>
        <p:nvSpPr>
          <p:cNvPr id="34" name="Shape 32"/>
          <p:cNvSpPr/>
          <p:nvPr/>
        </p:nvSpPr>
        <p:spPr>
          <a:xfrm>
            <a:off x="667512" y="5001768"/>
            <a:ext cx="4663440" cy="493776"/>
          </a:xfrm>
          <a:prstGeom prst="rect">
            <a:avLst/>
          </a:prstGeom>
          <a:solidFill>
            <a:srgbClr val="FFF8EC"/>
          </a:solidFill>
          <a:ln/>
        </p:spPr>
      </p:sp>
      <p:sp>
        <p:nvSpPr>
          <p:cNvPr id="35" name="Shape 33"/>
          <p:cNvSpPr/>
          <p:nvPr/>
        </p:nvSpPr>
        <p:spPr>
          <a:xfrm>
            <a:off x="667512" y="5001768"/>
            <a:ext cx="54864" cy="493776"/>
          </a:xfrm>
          <a:prstGeom prst="rect">
            <a:avLst/>
          </a:prstGeom>
          <a:solidFill>
            <a:srgbClr val="F5A623"/>
          </a:solidFill>
          <a:ln/>
        </p:spPr>
      </p:sp>
      <p:sp>
        <p:nvSpPr>
          <p:cNvPr id="36" name="Text 34"/>
          <p:cNvSpPr txBox="1"/>
          <p:nvPr/>
        </p:nvSpPr>
        <p:spPr>
          <a:xfrm>
            <a:off x="923544" y="5001768"/>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Selesai ketika tidak ada jalur murah lagi</a:t>
            </a:r>
            <a:endParaRPr lang="en-US" sz="1200" dirty="0"/>
          </a:p>
        </p:txBody>
      </p:sp>
      <p:sp>
        <p:nvSpPr>
          <p:cNvPr id="37" name="Shape 35"/>
          <p:cNvSpPr/>
          <p:nvPr/>
        </p:nvSpPr>
        <p:spPr>
          <a:xfrm>
            <a:off x="5586984" y="5248656"/>
            <a:ext cx="1014984" cy="914"/>
          </a:xfrm>
          <a:prstGeom prst="line">
            <a:avLst/>
          </a:prstGeom>
          <a:noFill/>
          <a:ln w="19050">
            <a:solidFill>
              <a:srgbClr val="C8CDD4"/>
            </a:solidFill>
            <a:prstDash val="solid"/>
            <a:tailEnd type="triangle"/>
          </a:ln>
        </p:spPr>
      </p:sp>
      <p:sp>
        <p:nvSpPr>
          <p:cNvPr id="38" name="Shape 36"/>
          <p:cNvSpPr/>
          <p:nvPr/>
        </p:nvSpPr>
        <p:spPr>
          <a:xfrm>
            <a:off x="6858000" y="5001768"/>
            <a:ext cx="4663440" cy="493776"/>
          </a:xfrm>
          <a:prstGeom prst="rect">
            <a:avLst/>
          </a:prstGeom>
          <a:solidFill>
            <a:srgbClr val="F2F7FD"/>
          </a:solidFill>
          <a:ln/>
        </p:spPr>
      </p:sp>
      <p:sp>
        <p:nvSpPr>
          <p:cNvPr id="39" name="Shape 37"/>
          <p:cNvSpPr/>
          <p:nvPr/>
        </p:nvSpPr>
        <p:spPr>
          <a:xfrm>
            <a:off x="6858000" y="5001768"/>
            <a:ext cx="54864" cy="493776"/>
          </a:xfrm>
          <a:prstGeom prst="rect">
            <a:avLst/>
          </a:prstGeom>
          <a:solidFill>
            <a:srgbClr val="4FA8E8"/>
          </a:solidFill>
          <a:ln/>
        </p:spPr>
      </p:sp>
      <p:sp>
        <p:nvSpPr>
          <p:cNvPr id="40" name="Text 38"/>
          <p:cNvSpPr txBox="1"/>
          <p:nvPr/>
        </p:nvSpPr>
        <p:spPr>
          <a:xfrm>
            <a:off x="7114032" y="5001768"/>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Berhenti saat tujuan tak terjangkau</a:t>
            </a:r>
            <a:endParaRPr lang="en-US" sz="1200" dirty="0"/>
          </a:p>
        </p:txBody>
      </p:sp>
      <p:sp>
        <p:nvSpPr>
          <p:cNvPr id="41" name="Shape 39"/>
          <p:cNvSpPr/>
          <p:nvPr/>
        </p:nvSpPr>
        <p:spPr>
          <a:xfrm>
            <a:off x="667512" y="5532120"/>
            <a:ext cx="10853928" cy="914400"/>
          </a:xfrm>
          <a:prstGeom prst="rect">
            <a:avLst/>
          </a:prstGeom>
          <a:solidFill>
            <a:srgbClr val="FAFAFA"/>
          </a:solidFill>
          <a:ln/>
        </p:spPr>
      </p:sp>
      <p:sp>
        <p:nvSpPr>
          <p:cNvPr id="42" name="Shape 40"/>
          <p:cNvSpPr/>
          <p:nvPr/>
        </p:nvSpPr>
        <p:spPr>
          <a:xfrm>
            <a:off x="667512" y="5532120"/>
            <a:ext cx="10853928" cy="45720"/>
          </a:xfrm>
          <a:prstGeom prst="rect">
            <a:avLst/>
          </a:prstGeom>
          <a:solidFill>
            <a:srgbClr val="3ECF9E"/>
          </a:solidFill>
          <a:ln/>
        </p:spPr>
      </p:sp>
      <p:sp>
        <p:nvSpPr>
          <p:cNvPr id="43" name="Text 41"/>
          <p:cNvSpPr txBox="1"/>
          <p:nvPr/>
        </p:nvSpPr>
        <p:spPr>
          <a:xfrm>
            <a:off x="941832" y="5678424"/>
            <a:ext cx="1828800" cy="237744"/>
          </a:xfrm>
          <a:prstGeom prst="rect">
            <a:avLst/>
          </a:prstGeom>
          <a:noFill/>
          <a:ln/>
        </p:spPr>
        <p:txBody>
          <a:bodyPr wrap="square" lIns="0" tIns="0" rIns="0" bIns="0" rtlCol="0" anchor="ctr"/>
          <a:lstStyle/>
          <a:p>
            <a:pPr indent="0" marL="0">
              <a:buNone/>
            </a:pPr>
            <a:r>
              <a:rPr lang="en-US" sz="1000" spc="200" kern="0" dirty="0">
                <a:solidFill>
                  <a:srgbClr val="3ECF9E"/>
                </a:solidFill>
                <a:latin typeface="Century Gothic" pitchFamily="34" charset="0"/>
                <a:ea typeface="Century Gothic" pitchFamily="34" charset="-122"/>
                <a:cs typeface="Century Gothic" pitchFamily="34" charset="-120"/>
              </a:rPr>
              <a:t>INTINYA</a:t>
            </a:r>
            <a:endParaRPr lang="en-US" sz="1000" dirty="0"/>
          </a:p>
        </p:txBody>
      </p:sp>
      <p:sp>
        <p:nvSpPr>
          <p:cNvPr id="44" name="Text 42"/>
          <p:cNvSpPr txBox="1"/>
          <p:nvPr/>
        </p:nvSpPr>
        <p:spPr>
          <a:xfrm>
            <a:off x="941832" y="5916168"/>
            <a:ext cx="10332720" cy="457200"/>
          </a:xfrm>
          <a:prstGeom prst="rect">
            <a:avLst/>
          </a:prstGeom>
          <a:noFill/>
          <a:ln/>
        </p:spPr>
        <p:txBody>
          <a:bodyPr wrap="square" lIns="0" tIns="0" rIns="0" bIns="0" rtlCol="0" anchor="ctr"/>
          <a:lstStyle/>
          <a:p>
            <a:pPr indent="0" marL="0">
              <a:lnSpc>
                <a:spcPct val="120000"/>
              </a:lnSpc>
              <a:buNone/>
            </a:pPr>
            <a:r>
              <a:rPr lang="en-US" sz="1300" dirty="0">
                <a:solidFill>
                  <a:srgbClr val="1A1A1A"/>
                </a:solidFill>
                <a:latin typeface="Century Gothic" pitchFamily="34" charset="0"/>
                <a:ea typeface="Century Gothic" pitchFamily="34" charset="-122"/>
                <a:cs typeface="Century Gothic" pitchFamily="34" charset="-120"/>
              </a:rPr>
              <a:t>Aliran maksimum memilih jalur penambah mana saja. Aliran biaya minimum memilih yang TERMURAH, dan sisi baliknya yang berbiaya negatif membuatnya bisa membatalkan keputusan yang ternyata salah.</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Materi Ini Tentang Apa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Materi ini menambahkan satu hal pada aliran maksimum: setiap sisi punya biaya per satuan. Yang dicari bukan lagi aliran terbesar saja, melainkan aliran terbesar yang termurah.</a:t>
            </a:r>
            <a:endParaRPr lang="en-US" sz="1300" dirty="0"/>
          </a:p>
        </p:txBody>
      </p:sp>
      <p:sp>
        <p:nvSpPr>
          <p:cNvPr id="4" name="Shape 2"/>
          <p:cNvSpPr/>
          <p:nvPr/>
        </p:nvSpPr>
        <p:spPr>
          <a:xfrm>
            <a:off x="667512" y="2130552"/>
            <a:ext cx="91440" cy="91440"/>
          </a:xfrm>
          <a:prstGeom prst="rect">
            <a:avLst/>
          </a:prstGeom>
          <a:solidFill>
            <a:srgbClr val="4FA8E8"/>
          </a:solidFill>
          <a:ln/>
        </p:spPr>
      </p:sp>
      <p:sp>
        <p:nvSpPr>
          <p:cNvPr id="5" name="Text 3"/>
          <p:cNvSpPr txBox="1"/>
          <p:nvPr/>
        </p:nvSpPr>
        <p:spPr>
          <a:xfrm>
            <a:off x="960120" y="1975104"/>
            <a:ext cx="10332720" cy="365760"/>
          </a:xfrm>
          <a:prstGeom prst="rect">
            <a:avLst/>
          </a:prstGeom>
          <a:noFill/>
          <a:ln/>
        </p:spPr>
        <p:txBody>
          <a:bodyPr wrap="square" lIns="0" tIns="0" rIns="0" bIns="0" rtlCol="0" anchor="ctr"/>
          <a:lstStyle/>
          <a:p>
            <a:pPr indent="0" marL="0">
              <a:buNone/>
            </a:pPr>
            <a:r>
              <a:rPr lang="en-US" sz="1500" dirty="0">
                <a:solidFill>
                  <a:srgbClr val="4FA8E8"/>
                </a:solidFill>
                <a:latin typeface="Century Gothic" pitchFamily="34" charset="0"/>
                <a:ea typeface="Century Gothic" pitchFamily="34" charset="-122"/>
                <a:cs typeface="Century Gothic" pitchFamily="34" charset="-120"/>
              </a:rPr>
              <a:t>Sisi punya kapasitas dan biaya sekaligus</a:t>
            </a:r>
            <a:endParaRPr lang="en-US" sz="1500" dirty="0"/>
          </a:p>
        </p:txBody>
      </p:sp>
      <p:sp>
        <p:nvSpPr>
          <p:cNvPr id="6" name="Text 4"/>
          <p:cNvSpPr txBox="1"/>
          <p:nvPr/>
        </p:nvSpPr>
        <p:spPr>
          <a:xfrm>
            <a:off x="960120" y="2322576"/>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Mengalirkan f satuan lewat sisi berbiaya c menambah f dikali c pada total. Yang dicari: aliran maksimum dengan total biaya terkecil.</a:t>
            </a:r>
            <a:endParaRPr lang="en-US" sz="1250" dirty="0"/>
          </a:p>
        </p:txBody>
      </p:sp>
      <p:sp>
        <p:nvSpPr>
          <p:cNvPr id="7" name="Shape 5"/>
          <p:cNvSpPr/>
          <p:nvPr/>
        </p:nvSpPr>
        <p:spPr>
          <a:xfrm>
            <a:off x="667512" y="3129534"/>
            <a:ext cx="91440" cy="91440"/>
          </a:xfrm>
          <a:prstGeom prst="rect">
            <a:avLst/>
          </a:prstGeom>
          <a:solidFill>
            <a:srgbClr val="3ECF9E"/>
          </a:solidFill>
          <a:ln/>
        </p:spPr>
      </p:sp>
      <p:sp>
        <p:nvSpPr>
          <p:cNvPr id="8" name="Text 6"/>
          <p:cNvSpPr txBox="1"/>
          <p:nvPr/>
        </p:nvSpPr>
        <p:spPr>
          <a:xfrm>
            <a:off x="960120" y="2974086"/>
            <a:ext cx="10332720" cy="365760"/>
          </a:xfrm>
          <a:prstGeom prst="rect">
            <a:avLst/>
          </a:prstGeom>
          <a:noFill/>
          <a:ln/>
        </p:spPr>
        <p:txBody>
          <a:bodyPr wrap="square" lIns="0" tIns="0" rIns="0" bIns="0" rtlCol="0" anchor="ctr"/>
          <a:lstStyle/>
          <a:p>
            <a:pPr indent="0" marL="0">
              <a:buNone/>
            </a:pPr>
            <a:r>
              <a:rPr lang="en-US" sz="1500" dirty="0">
                <a:solidFill>
                  <a:srgbClr val="3ECF9E"/>
                </a:solidFill>
                <a:latin typeface="Century Gothic" pitchFamily="34" charset="0"/>
                <a:ea typeface="Century Gothic" pitchFamily="34" charset="-122"/>
                <a:cs typeface="Century Gothic" pitchFamily="34" charset="-120"/>
              </a:rPr>
              <a:t>Jalur penambah dipilih yang terpendek menurut biaya</a:t>
            </a:r>
            <a:endParaRPr lang="en-US" sz="1500" dirty="0"/>
          </a:p>
        </p:txBody>
      </p:sp>
      <p:sp>
        <p:nvSpPr>
          <p:cNvPr id="9" name="Text 7"/>
          <p:cNvSpPr txBox="1"/>
          <p:nvPr/>
        </p:nvSpPr>
        <p:spPr>
          <a:xfrm>
            <a:off x="960120" y="3321558"/>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Kalau setiap langkah memakai jalur termurah, hasil akhirnya terbukti optimal. Itulah seluruh perubahan dari Dinic.</a:t>
            </a:r>
            <a:endParaRPr lang="en-US" sz="1250" dirty="0"/>
          </a:p>
        </p:txBody>
      </p:sp>
      <p:sp>
        <p:nvSpPr>
          <p:cNvPr id="10" name="Shape 8"/>
          <p:cNvSpPr/>
          <p:nvPr/>
        </p:nvSpPr>
        <p:spPr>
          <a:xfrm>
            <a:off x="667512" y="4128516"/>
            <a:ext cx="91440" cy="91440"/>
          </a:xfrm>
          <a:prstGeom prst="rect">
            <a:avLst/>
          </a:prstGeom>
          <a:solidFill>
            <a:srgbClr val="F5A623"/>
          </a:solidFill>
          <a:ln/>
        </p:spPr>
      </p:sp>
      <p:sp>
        <p:nvSpPr>
          <p:cNvPr id="11" name="Text 9"/>
          <p:cNvSpPr txBox="1"/>
          <p:nvPr/>
        </p:nvSpPr>
        <p:spPr>
          <a:xfrm>
            <a:off x="960120" y="3973068"/>
            <a:ext cx="10332720" cy="365760"/>
          </a:xfrm>
          <a:prstGeom prst="rect">
            <a:avLst/>
          </a:prstGeom>
          <a:noFill/>
          <a:ln/>
        </p:spPr>
        <p:txBody>
          <a:bodyPr wrap="square" lIns="0" tIns="0" rIns="0" bIns="0" rtlCol="0" anchor="ctr"/>
          <a:lstStyle/>
          <a:p>
            <a:pPr indent="0" marL="0">
              <a:buNone/>
            </a:pPr>
            <a:r>
              <a:rPr lang="en-US" sz="1500" dirty="0">
                <a:solidFill>
                  <a:srgbClr val="F5A623"/>
                </a:solidFill>
                <a:latin typeface="Century Gothic" pitchFamily="34" charset="0"/>
                <a:ea typeface="Century Gothic" pitchFamily="34" charset="-122"/>
                <a:cs typeface="Century Gothic" pitchFamily="34" charset="-120"/>
              </a:rPr>
              <a:t>Sisi balik berbiaya negatif, jadi dipakai SPFA</a:t>
            </a:r>
            <a:endParaRPr lang="en-US" sz="1500" dirty="0"/>
          </a:p>
        </p:txBody>
      </p:sp>
      <p:sp>
        <p:nvSpPr>
          <p:cNvPr id="12" name="Text 10"/>
          <p:cNvSpPr txBox="1"/>
          <p:nvPr/>
        </p:nvSpPr>
        <p:spPr>
          <a:xfrm>
            <a:off x="960120" y="4320540"/>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Sisi balik dari b ke a berbiaya minus biaya sisi majunya. Karena ada bobot negatif, Dijkstra biasa gugur kecuali dipasangi potensial Johnson.</a:t>
            </a:r>
            <a:endParaRPr lang="en-US" sz="1250" dirty="0"/>
          </a:p>
        </p:txBody>
      </p:sp>
      <p:sp>
        <p:nvSpPr>
          <p:cNvPr id="13" name="Shape 11"/>
          <p:cNvSpPr/>
          <p:nvPr/>
        </p:nvSpPr>
        <p:spPr>
          <a:xfrm>
            <a:off x="667512" y="5127498"/>
            <a:ext cx="91440" cy="91440"/>
          </a:xfrm>
          <a:prstGeom prst="rect">
            <a:avLst/>
          </a:prstGeom>
          <a:solidFill>
            <a:srgbClr val="A78BFA"/>
          </a:solidFill>
          <a:ln/>
        </p:spPr>
      </p:sp>
      <p:sp>
        <p:nvSpPr>
          <p:cNvPr id="14" name="Text 12"/>
          <p:cNvSpPr txBox="1"/>
          <p:nvPr/>
        </p:nvSpPr>
        <p:spPr>
          <a:xfrm>
            <a:off x="960120" y="4972050"/>
            <a:ext cx="10332720" cy="365760"/>
          </a:xfrm>
          <a:prstGeom prst="rect">
            <a:avLst/>
          </a:prstGeom>
          <a:noFill/>
          <a:ln/>
        </p:spPr>
        <p:txBody>
          <a:bodyPr wrap="square" lIns="0" tIns="0" rIns="0" bIns="0" rtlCol="0" anchor="ctr"/>
          <a:lstStyle/>
          <a:p>
            <a:pPr indent="0" marL="0">
              <a:buNone/>
            </a:pPr>
            <a:r>
              <a:rPr lang="en-US" sz="1500" dirty="0">
                <a:solidFill>
                  <a:srgbClr val="A78BFA"/>
                </a:solidFill>
                <a:latin typeface="Century Gothic" pitchFamily="34" charset="0"/>
                <a:ea typeface="Century Gothic" pitchFamily="34" charset="-122"/>
                <a:cs typeface="Century Gothic" pitchFamily="34" charset="-120"/>
              </a:rPr>
              <a:t>Soal penugasan punya algoritma sendiri</a:t>
            </a:r>
            <a:endParaRPr lang="en-US" sz="1500" dirty="0"/>
          </a:p>
        </p:txBody>
      </p:sp>
      <p:sp>
        <p:nvSpPr>
          <p:cNvPr id="15" name="Text 13"/>
          <p:cNvSpPr txBox="1"/>
          <p:nvPr/>
        </p:nvSpPr>
        <p:spPr>
          <a:xfrm>
            <a:off x="960120" y="5319522"/>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Untuk n pekerja dan n tugas satu-satu, Hungarian menyelesaikannya dalam O(n^3) murni tanpa membangun graf — jauh lebih cepat daripada MCMF.</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Kapan Dipakai, Kapan Tidak</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Penandanya adalah adanya BIAYA di samping kapasitas. Kalau soal hanya bicara kapasitas, aliran maksimum biasa sudah cukup.</a:t>
            </a:r>
            <a:endParaRPr lang="en-US" sz="1300" dirty="0"/>
          </a:p>
        </p:txBody>
      </p:sp>
      <p:sp>
        <p:nvSpPr>
          <p:cNvPr id="4" name="Shape 2"/>
          <p:cNvSpPr/>
          <p:nvPr/>
        </p:nvSpPr>
        <p:spPr>
          <a:xfrm>
            <a:off x="667512" y="2176272"/>
            <a:ext cx="5349240" cy="3840480"/>
          </a:xfrm>
          <a:prstGeom prst="rect">
            <a:avLst/>
          </a:prstGeom>
          <a:solidFill>
            <a:srgbClr val="FAFAFA"/>
          </a:solidFill>
          <a:ln/>
        </p:spPr>
      </p:sp>
      <p:sp>
        <p:nvSpPr>
          <p:cNvPr id="5" name="Shape 3"/>
          <p:cNvSpPr/>
          <p:nvPr/>
        </p:nvSpPr>
        <p:spPr>
          <a:xfrm>
            <a:off x="667512" y="2176272"/>
            <a:ext cx="5349240" cy="50292"/>
          </a:xfrm>
          <a:prstGeom prst="rect">
            <a:avLst/>
          </a:prstGeom>
          <a:solidFill>
            <a:srgbClr val="2FA97B"/>
          </a:solidFill>
          <a:ln/>
        </p:spPr>
      </p:sp>
      <p:sp>
        <p:nvSpPr>
          <p:cNvPr id="6" name="Text 4"/>
          <p:cNvSpPr txBox="1"/>
          <p:nvPr/>
        </p:nvSpPr>
        <p:spPr>
          <a:xfrm>
            <a:off x="941832" y="2395728"/>
            <a:ext cx="4800600" cy="347472"/>
          </a:xfrm>
          <a:prstGeom prst="rect">
            <a:avLst/>
          </a:prstGeom>
          <a:noFill/>
          <a:ln/>
        </p:spPr>
        <p:txBody>
          <a:bodyPr wrap="square" lIns="0" tIns="0" rIns="0" bIns="0" rtlCol="0" anchor="ctr"/>
          <a:lstStyle/>
          <a:p>
            <a:pPr indent="0" marL="0">
              <a:buNone/>
            </a:pPr>
            <a:r>
              <a:rPr lang="en-US" sz="1450" spc="100" kern="0" dirty="0">
                <a:solidFill>
                  <a:srgbClr val="2FA97B"/>
                </a:solidFill>
                <a:latin typeface="Century Gothic" pitchFamily="34" charset="0"/>
                <a:ea typeface="Century Gothic" pitchFamily="34" charset="-122"/>
                <a:cs typeface="Century Gothic" pitchFamily="34" charset="-120"/>
              </a:rPr>
              <a:t>PAKAI KETIKA</a:t>
            </a:r>
            <a:endParaRPr lang="en-US" sz="1450" dirty="0"/>
          </a:p>
        </p:txBody>
      </p:sp>
      <p:sp>
        <p:nvSpPr>
          <p:cNvPr id="7" name="Shape 5"/>
          <p:cNvSpPr/>
          <p:nvPr/>
        </p:nvSpPr>
        <p:spPr>
          <a:xfrm>
            <a:off x="941832" y="2971800"/>
            <a:ext cx="274320" cy="274320"/>
          </a:xfrm>
          <a:prstGeom prst="ellipse">
            <a:avLst/>
          </a:prstGeom>
          <a:solidFill>
            <a:srgbClr val="2FA97B"/>
          </a:solidFill>
          <a:ln/>
        </p:spPr>
      </p:sp>
      <p:sp>
        <p:nvSpPr>
          <p:cNvPr id="8" name="Text 6"/>
          <p:cNvSpPr txBox="1"/>
          <p:nvPr/>
        </p:nvSpPr>
        <p:spPr>
          <a:xfrm>
            <a:off x="941832" y="297180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9" name="Text 7"/>
          <p:cNvSpPr txBox="1"/>
          <p:nvPr/>
        </p:nvSpPr>
        <p:spPr>
          <a:xfrm>
            <a:off x="1353312" y="2907792"/>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Ada biaya per satuan di samping kapasitas</a:t>
            </a:r>
            <a:endParaRPr lang="en-US" sz="1250" dirty="0"/>
          </a:p>
        </p:txBody>
      </p:sp>
      <p:sp>
        <p:nvSpPr>
          <p:cNvPr id="10" name="Shape 8"/>
          <p:cNvSpPr/>
          <p:nvPr/>
        </p:nvSpPr>
        <p:spPr>
          <a:xfrm>
            <a:off x="941832" y="3721608"/>
            <a:ext cx="274320" cy="274320"/>
          </a:xfrm>
          <a:prstGeom prst="ellipse">
            <a:avLst/>
          </a:prstGeom>
          <a:solidFill>
            <a:srgbClr val="2FA97B"/>
          </a:solidFill>
          <a:ln/>
        </p:spPr>
      </p:sp>
      <p:sp>
        <p:nvSpPr>
          <p:cNvPr id="11" name="Text 9"/>
          <p:cNvSpPr txBox="1"/>
          <p:nvPr/>
        </p:nvSpPr>
        <p:spPr>
          <a:xfrm>
            <a:off x="941832" y="3721608"/>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12" name="Text 10"/>
          <p:cNvSpPr txBox="1"/>
          <p:nvPr/>
        </p:nvSpPr>
        <p:spPr>
          <a:xfrm>
            <a:off x="1353312" y="3657600"/>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Soal meminta total biaya terkecil untuk memenuhi sejumlah permintaan</a:t>
            </a:r>
            <a:endParaRPr lang="en-US" sz="1250" dirty="0"/>
          </a:p>
        </p:txBody>
      </p:sp>
      <p:sp>
        <p:nvSpPr>
          <p:cNvPr id="13" name="Shape 11"/>
          <p:cNvSpPr/>
          <p:nvPr/>
        </p:nvSpPr>
        <p:spPr>
          <a:xfrm>
            <a:off x="941832" y="4471416"/>
            <a:ext cx="274320" cy="274320"/>
          </a:xfrm>
          <a:prstGeom prst="ellipse">
            <a:avLst/>
          </a:prstGeom>
          <a:solidFill>
            <a:srgbClr val="2FA97B"/>
          </a:solidFill>
          <a:ln/>
        </p:spPr>
      </p:sp>
      <p:sp>
        <p:nvSpPr>
          <p:cNvPr id="14" name="Text 12"/>
          <p:cNvSpPr txBox="1"/>
          <p:nvPr/>
        </p:nvSpPr>
        <p:spPr>
          <a:xfrm>
            <a:off x="941832" y="447141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15" name="Text 13"/>
          <p:cNvSpPr txBox="1"/>
          <p:nvPr/>
        </p:nvSpPr>
        <p:spPr>
          <a:xfrm>
            <a:off x="1353312" y="4407408"/>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Bentuknya penugasan: n pekerja, n tugas, satu-satu</a:t>
            </a:r>
            <a:endParaRPr lang="en-US" sz="1250" dirty="0"/>
          </a:p>
        </p:txBody>
      </p:sp>
      <p:sp>
        <p:nvSpPr>
          <p:cNvPr id="16" name="Shape 14"/>
          <p:cNvSpPr/>
          <p:nvPr/>
        </p:nvSpPr>
        <p:spPr>
          <a:xfrm>
            <a:off x="941832" y="5221224"/>
            <a:ext cx="274320" cy="274320"/>
          </a:xfrm>
          <a:prstGeom prst="ellipse">
            <a:avLst/>
          </a:prstGeom>
          <a:solidFill>
            <a:srgbClr val="2FA97B"/>
          </a:solidFill>
          <a:ln/>
        </p:spPr>
      </p:sp>
      <p:sp>
        <p:nvSpPr>
          <p:cNvPr id="17" name="Text 15"/>
          <p:cNvSpPr txBox="1"/>
          <p:nvPr/>
        </p:nvSpPr>
        <p:spPr>
          <a:xfrm>
            <a:off x="941832" y="5221224"/>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18" name="Text 16"/>
          <p:cNvSpPr txBox="1"/>
          <p:nvPr/>
        </p:nvSpPr>
        <p:spPr>
          <a:xfrm>
            <a:off x="1353312" y="5157216"/>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Soal transportasi: barang dari beberapa gudang ke beberapa toko</a:t>
            </a:r>
            <a:endParaRPr lang="en-US" sz="1250" dirty="0"/>
          </a:p>
        </p:txBody>
      </p:sp>
      <p:sp>
        <p:nvSpPr>
          <p:cNvPr id="19" name="Shape 17"/>
          <p:cNvSpPr/>
          <p:nvPr/>
        </p:nvSpPr>
        <p:spPr>
          <a:xfrm>
            <a:off x="6336792" y="2176272"/>
            <a:ext cx="5349240" cy="3090672"/>
          </a:xfrm>
          <a:prstGeom prst="rect">
            <a:avLst/>
          </a:prstGeom>
          <a:solidFill>
            <a:srgbClr val="FAFAFA"/>
          </a:solidFill>
          <a:ln/>
        </p:spPr>
      </p:sp>
      <p:sp>
        <p:nvSpPr>
          <p:cNvPr id="20" name="Shape 18"/>
          <p:cNvSpPr/>
          <p:nvPr/>
        </p:nvSpPr>
        <p:spPr>
          <a:xfrm>
            <a:off x="6336792" y="2176272"/>
            <a:ext cx="5349240" cy="50292"/>
          </a:xfrm>
          <a:prstGeom prst="rect">
            <a:avLst/>
          </a:prstGeom>
          <a:solidFill>
            <a:srgbClr val="D9534F"/>
          </a:solidFill>
          <a:ln/>
        </p:spPr>
      </p:sp>
      <p:sp>
        <p:nvSpPr>
          <p:cNvPr id="21" name="Text 19"/>
          <p:cNvSpPr txBox="1"/>
          <p:nvPr/>
        </p:nvSpPr>
        <p:spPr>
          <a:xfrm>
            <a:off x="6611112" y="2395728"/>
            <a:ext cx="4800600" cy="347472"/>
          </a:xfrm>
          <a:prstGeom prst="rect">
            <a:avLst/>
          </a:prstGeom>
          <a:noFill/>
          <a:ln/>
        </p:spPr>
        <p:txBody>
          <a:bodyPr wrap="square" lIns="0" tIns="0" rIns="0" bIns="0" rtlCol="0" anchor="ctr"/>
          <a:lstStyle/>
          <a:p>
            <a:pPr indent="0" marL="0">
              <a:buNone/>
            </a:pPr>
            <a:r>
              <a:rPr lang="en-US" sz="1450" spc="100" kern="0" dirty="0">
                <a:solidFill>
                  <a:srgbClr val="D9534F"/>
                </a:solidFill>
                <a:latin typeface="Century Gothic" pitchFamily="34" charset="0"/>
                <a:ea typeface="Century Gothic" pitchFamily="34" charset="-122"/>
                <a:cs typeface="Century Gothic" pitchFamily="34" charset="-120"/>
              </a:rPr>
              <a:t>JANGAN PAKAI KETIKA</a:t>
            </a:r>
            <a:endParaRPr lang="en-US" sz="1450" dirty="0"/>
          </a:p>
        </p:txBody>
      </p:sp>
      <p:sp>
        <p:nvSpPr>
          <p:cNvPr id="22" name="Shape 20"/>
          <p:cNvSpPr/>
          <p:nvPr/>
        </p:nvSpPr>
        <p:spPr>
          <a:xfrm>
            <a:off x="6611112" y="2971800"/>
            <a:ext cx="274320" cy="274320"/>
          </a:xfrm>
          <a:prstGeom prst="ellipse">
            <a:avLst/>
          </a:prstGeom>
          <a:solidFill>
            <a:srgbClr val="D9534F"/>
          </a:solidFill>
          <a:ln/>
        </p:spPr>
      </p:sp>
      <p:sp>
        <p:nvSpPr>
          <p:cNvPr id="23" name="Text 21"/>
          <p:cNvSpPr txBox="1"/>
          <p:nvPr/>
        </p:nvSpPr>
        <p:spPr>
          <a:xfrm>
            <a:off x="6611112" y="297180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x</a:t>
            </a:r>
            <a:endParaRPr lang="en-US" sz="1100" dirty="0"/>
          </a:p>
        </p:txBody>
      </p:sp>
      <p:sp>
        <p:nvSpPr>
          <p:cNvPr id="24" name="Text 22"/>
          <p:cNvSpPr txBox="1"/>
          <p:nvPr/>
        </p:nvSpPr>
        <p:spPr>
          <a:xfrm>
            <a:off x="7022592" y="2907792"/>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Hanya kapasitas tanpa biaya — pakai Dinic</a:t>
            </a:r>
            <a:endParaRPr lang="en-US" sz="1250" dirty="0"/>
          </a:p>
        </p:txBody>
      </p:sp>
      <p:sp>
        <p:nvSpPr>
          <p:cNvPr id="25" name="Shape 23"/>
          <p:cNvSpPr/>
          <p:nvPr/>
        </p:nvSpPr>
        <p:spPr>
          <a:xfrm>
            <a:off x="6611112" y="3721608"/>
            <a:ext cx="274320" cy="274320"/>
          </a:xfrm>
          <a:prstGeom prst="ellipse">
            <a:avLst/>
          </a:prstGeom>
          <a:solidFill>
            <a:srgbClr val="D9534F"/>
          </a:solidFill>
          <a:ln/>
        </p:spPr>
      </p:sp>
      <p:sp>
        <p:nvSpPr>
          <p:cNvPr id="26" name="Text 24"/>
          <p:cNvSpPr txBox="1"/>
          <p:nvPr/>
        </p:nvSpPr>
        <p:spPr>
          <a:xfrm>
            <a:off x="6611112" y="3721608"/>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x</a:t>
            </a:r>
            <a:endParaRPr lang="en-US" sz="1100" dirty="0"/>
          </a:p>
        </p:txBody>
      </p:sp>
      <p:sp>
        <p:nvSpPr>
          <p:cNvPr id="27" name="Text 25"/>
          <p:cNvSpPr txBox="1"/>
          <p:nvPr/>
        </p:nvSpPr>
        <p:spPr>
          <a:xfrm>
            <a:off x="7022592" y="3657600"/>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Biayanya sama untuk semua sisi — itu soal jumlah langkah, bukan biaya</a:t>
            </a:r>
            <a:endParaRPr lang="en-US" sz="1250" dirty="0"/>
          </a:p>
        </p:txBody>
      </p:sp>
      <p:sp>
        <p:nvSpPr>
          <p:cNvPr id="28" name="Shape 26"/>
          <p:cNvSpPr/>
          <p:nvPr/>
        </p:nvSpPr>
        <p:spPr>
          <a:xfrm>
            <a:off x="6611112" y="4471416"/>
            <a:ext cx="274320" cy="274320"/>
          </a:xfrm>
          <a:prstGeom prst="ellipse">
            <a:avLst/>
          </a:prstGeom>
          <a:solidFill>
            <a:srgbClr val="D9534F"/>
          </a:solidFill>
          <a:ln/>
        </p:spPr>
      </p:sp>
      <p:sp>
        <p:nvSpPr>
          <p:cNvPr id="29" name="Text 27"/>
          <p:cNvSpPr txBox="1"/>
          <p:nvPr/>
        </p:nvSpPr>
        <p:spPr>
          <a:xfrm>
            <a:off x="6611112" y="447141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x</a:t>
            </a:r>
            <a:endParaRPr lang="en-US" sz="1100" dirty="0"/>
          </a:p>
        </p:txBody>
      </p:sp>
      <p:sp>
        <p:nvSpPr>
          <p:cNvPr id="30" name="Text 28"/>
          <p:cNvSpPr txBox="1"/>
          <p:nvPr/>
        </p:nvSpPr>
        <p:spPr>
          <a:xfrm>
            <a:off x="7022592" y="4407408"/>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Bentuknya penugasan berukuran ratusan — pakai Hungarian, bukan MCMF</a:t>
            </a:r>
            <a:endParaRPr lang="en-US" sz="1250" dirty="0"/>
          </a:p>
        </p:txBody>
      </p:sp>
      <p:sp>
        <p:nvSpPr>
          <p:cNvPr id="31" name="Shape 29"/>
          <p:cNvSpPr/>
          <p:nvPr/>
        </p:nvSpPr>
        <p:spPr>
          <a:xfrm>
            <a:off x="667512" y="5870448"/>
            <a:ext cx="10853928" cy="658368"/>
          </a:xfrm>
          <a:prstGeom prst="rect">
            <a:avLst/>
          </a:prstGeom>
          <a:solidFill>
            <a:srgbClr val="F2F7FD"/>
          </a:solidFill>
          <a:ln/>
        </p:spPr>
      </p:sp>
      <p:sp>
        <p:nvSpPr>
          <p:cNvPr id="32" name="Text 30"/>
          <p:cNvSpPr txBox="1"/>
          <p:nvPr/>
        </p:nvSpPr>
        <p:spPr>
          <a:xfrm>
            <a:off x="941832" y="5870448"/>
            <a:ext cx="10332720" cy="658368"/>
          </a:xfrm>
          <a:prstGeom prst="rect">
            <a:avLst/>
          </a:prstGeom>
          <a:noFill/>
          <a:ln/>
        </p:spPr>
        <p:txBody>
          <a:bodyPr wrap="square" lIns="0" tIns="0" rIns="0" bIns="0" rtlCol="0" anchor="ctr"/>
          <a:lstStyle/>
          <a:p>
            <a:pPr indent="0" marL="0">
              <a:lnSpc>
                <a:spcPct val="120000"/>
              </a:lnSpc>
              <a:buNone/>
            </a:pPr>
            <a:r>
              <a:rPr lang="en-US" sz="1250" dirty="0">
                <a:solidFill>
                  <a:srgbClr val="1B6CA8"/>
                </a:solidFill>
                <a:latin typeface="Century Gothic" pitchFamily="34" charset="0"/>
                <a:ea typeface="Century Gothic" pitchFamily="34" charset="-122"/>
                <a:cs typeface="Century Gothic" pitchFamily="34" charset="-120"/>
              </a:rPr>
              <a:t>Kalau soalnya penugasan n kali n dengan n sampai ratusan, jangan bangun graf. Hungarian O(n^3) selesai seketika sementara MCMF sudah terengah pada n = 300.</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Posisi Materi Ini</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Materi ini tidak berdiri sendiri. Di kiri adalah yang sebaiknya sudah kamu kuasai, di kanan adalah yang terbuka setelah materi ini selesai.</a:t>
            </a:r>
            <a:endParaRPr lang="en-US" sz="1300" dirty="0"/>
          </a:p>
        </p:txBody>
      </p:sp>
      <p:sp>
        <p:nvSpPr>
          <p:cNvPr id="4" name="Text 2"/>
          <p:cNvSpPr txBox="1"/>
          <p:nvPr/>
        </p:nvSpPr>
        <p:spPr>
          <a:xfrm>
            <a:off x="667512" y="2002536"/>
            <a:ext cx="3200400" cy="274320"/>
          </a:xfrm>
          <a:prstGeom prst="rect">
            <a:avLst/>
          </a:prstGeom>
          <a:noFill/>
          <a:ln/>
        </p:spPr>
        <p:txBody>
          <a:bodyPr wrap="square" lIns="0" tIns="0" rIns="0" bIns="0" rtlCol="0" anchor="ctr"/>
          <a:lstStyle/>
          <a:p>
            <a:pPr indent="0" marL="0">
              <a:buNone/>
            </a:pPr>
            <a:r>
              <a:rPr lang="en-US" sz="1100" spc="200" kern="0" dirty="0">
                <a:solidFill>
                  <a:srgbClr val="A0A6AD"/>
                </a:solidFill>
                <a:latin typeface="Century Gothic" pitchFamily="34" charset="0"/>
                <a:ea typeface="Century Gothic" pitchFamily="34" charset="-122"/>
                <a:cs typeface="Century Gothic" pitchFamily="34" charset="-120"/>
              </a:rPr>
              <a:t>PRASYARAT</a:t>
            </a:r>
            <a:endParaRPr lang="en-US" sz="1100" dirty="0"/>
          </a:p>
        </p:txBody>
      </p:sp>
      <p:sp>
        <p:nvSpPr>
          <p:cNvPr id="5" name="Shape 3"/>
          <p:cNvSpPr/>
          <p:nvPr/>
        </p:nvSpPr>
        <p:spPr>
          <a:xfrm>
            <a:off x="667512" y="2313432"/>
            <a:ext cx="3200400" cy="676656"/>
          </a:xfrm>
          <a:prstGeom prst="rect">
            <a:avLst/>
          </a:prstGeom>
          <a:solidFill>
            <a:srgbClr val="FAFAFA"/>
          </a:solidFill>
          <a:ln/>
        </p:spPr>
      </p:sp>
      <p:sp>
        <p:nvSpPr>
          <p:cNvPr id="6" name="Shape 4"/>
          <p:cNvSpPr/>
          <p:nvPr/>
        </p:nvSpPr>
        <p:spPr>
          <a:xfrm>
            <a:off x="667512" y="2313432"/>
            <a:ext cx="54864" cy="676656"/>
          </a:xfrm>
          <a:prstGeom prst="rect">
            <a:avLst/>
          </a:prstGeom>
          <a:solidFill>
            <a:srgbClr val="A0A6AD"/>
          </a:solidFill>
          <a:ln/>
        </p:spPr>
      </p:sp>
      <p:sp>
        <p:nvSpPr>
          <p:cNvPr id="7" name="Text 5"/>
          <p:cNvSpPr txBox="1"/>
          <p:nvPr/>
        </p:nvSpPr>
        <p:spPr>
          <a:xfrm>
            <a:off x="905256" y="231343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Aliran maksimum &amp; min cut (Day 231)</a:t>
            </a:r>
            <a:endParaRPr lang="en-US" sz="1200" dirty="0"/>
          </a:p>
        </p:txBody>
      </p:sp>
      <p:sp>
        <p:nvSpPr>
          <p:cNvPr id="8" name="Shape 6"/>
          <p:cNvSpPr/>
          <p:nvPr/>
        </p:nvSpPr>
        <p:spPr>
          <a:xfrm>
            <a:off x="667512" y="3136392"/>
            <a:ext cx="3200400" cy="676656"/>
          </a:xfrm>
          <a:prstGeom prst="rect">
            <a:avLst/>
          </a:prstGeom>
          <a:solidFill>
            <a:srgbClr val="FAFAFA"/>
          </a:solidFill>
          <a:ln/>
        </p:spPr>
      </p:sp>
      <p:sp>
        <p:nvSpPr>
          <p:cNvPr id="9" name="Shape 7"/>
          <p:cNvSpPr/>
          <p:nvPr/>
        </p:nvSpPr>
        <p:spPr>
          <a:xfrm>
            <a:off x="667512" y="3136392"/>
            <a:ext cx="54864" cy="676656"/>
          </a:xfrm>
          <a:prstGeom prst="rect">
            <a:avLst/>
          </a:prstGeom>
          <a:solidFill>
            <a:srgbClr val="A0A6AD"/>
          </a:solidFill>
          <a:ln/>
        </p:spPr>
      </p:sp>
      <p:sp>
        <p:nvSpPr>
          <p:cNvPr id="10" name="Text 8"/>
          <p:cNvSpPr txBox="1"/>
          <p:nvPr/>
        </p:nvSpPr>
        <p:spPr>
          <a:xfrm>
            <a:off x="905256" y="313639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Pencocokan bipartit (Day 233)</a:t>
            </a:r>
            <a:endParaRPr lang="en-US" sz="1200" dirty="0"/>
          </a:p>
        </p:txBody>
      </p:sp>
      <p:sp>
        <p:nvSpPr>
          <p:cNvPr id="11" name="Shape 9"/>
          <p:cNvSpPr/>
          <p:nvPr/>
        </p:nvSpPr>
        <p:spPr>
          <a:xfrm>
            <a:off x="667512" y="3959352"/>
            <a:ext cx="3200400" cy="676656"/>
          </a:xfrm>
          <a:prstGeom prst="rect">
            <a:avLst/>
          </a:prstGeom>
          <a:solidFill>
            <a:srgbClr val="FAFAFA"/>
          </a:solidFill>
          <a:ln/>
        </p:spPr>
      </p:sp>
      <p:sp>
        <p:nvSpPr>
          <p:cNvPr id="12" name="Shape 10"/>
          <p:cNvSpPr/>
          <p:nvPr/>
        </p:nvSpPr>
        <p:spPr>
          <a:xfrm>
            <a:off x="667512" y="3959352"/>
            <a:ext cx="54864" cy="676656"/>
          </a:xfrm>
          <a:prstGeom prst="rect">
            <a:avLst/>
          </a:prstGeom>
          <a:solidFill>
            <a:srgbClr val="A0A6AD"/>
          </a:solidFill>
          <a:ln/>
        </p:spPr>
      </p:sp>
      <p:sp>
        <p:nvSpPr>
          <p:cNvPr id="13" name="Text 11"/>
          <p:cNvSpPr txBox="1"/>
          <p:nvPr/>
        </p:nvSpPr>
        <p:spPr>
          <a:xfrm>
            <a:off x="905256" y="395935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Bellman-Ford (Day 129)</a:t>
            </a:r>
            <a:endParaRPr lang="en-US" sz="1200" dirty="0"/>
          </a:p>
        </p:txBody>
      </p:sp>
      <p:sp>
        <p:nvSpPr>
          <p:cNvPr id="14" name="Text 12"/>
          <p:cNvSpPr txBox="1"/>
          <p:nvPr/>
        </p:nvSpPr>
        <p:spPr>
          <a:xfrm>
            <a:off x="8403336" y="2002536"/>
            <a:ext cx="3200400" cy="274320"/>
          </a:xfrm>
          <a:prstGeom prst="rect">
            <a:avLst/>
          </a:prstGeom>
          <a:noFill/>
          <a:ln/>
        </p:spPr>
        <p:txBody>
          <a:bodyPr wrap="square" lIns="0" tIns="0" rIns="0" bIns="0" rtlCol="0" anchor="ctr"/>
          <a:lstStyle/>
          <a:p>
            <a:pPr indent="0" marL="0">
              <a:buNone/>
            </a:pPr>
            <a:r>
              <a:rPr lang="en-US" sz="1100" spc="200" kern="0" dirty="0">
                <a:solidFill>
                  <a:srgbClr val="A0A6AD"/>
                </a:solidFill>
                <a:latin typeface="Century Gothic" pitchFamily="34" charset="0"/>
                <a:ea typeface="Century Gothic" pitchFamily="34" charset="-122"/>
                <a:cs typeface="Century Gothic" pitchFamily="34" charset="-120"/>
              </a:rPr>
              <a:t>SETELAH INI</a:t>
            </a:r>
            <a:endParaRPr lang="en-US" sz="1100" dirty="0"/>
          </a:p>
        </p:txBody>
      </p:sp>
      <p:sp>
        <p:nvSpPr>
          <p:cNvPr id="15" name="Shape 13"/>
          <p:cNvSpPr/>
          <p:nvPr/>
        </p:nvSpPr>
        <p:spPr>
          <a:xfrm>
            <a:off x="8403336" y="2313432"/>
            <a:ext cx="3200400" cy="676656"/>
          </a:xfrm>
          <a:prstGeom prst="rect">
            <a:avLst/>
          </a:prstGeom>
          <a:solidFill>
            <a:srgbClr val="FAFAFA"/>
          </a:solidFill>
          <a:ln/>
        </p:spPr>
      </p:sp>
      <p:sp>
        <p:nvSpPr>
          <p:cNvPr id="16" name="Shape 14"/>
          <p:cNvSpPr/>
          <p:nvPr/>
        </p:nvSpPr>
        <p:spPr>
          <a:xfrm>
            <a:off x="8403336" y="2313432"/>
            <a:ext cx="54864" cy="676656"/>
          </a:xfrm>
          <a:prstGeom prst="rect">
            <a:avLst/>
          </a:prstGeom>
          <a:solidFill>
            <a:srgbClr val="A78BFA"/>
          </a:solidFill>
          <a:ln/>
        </p:spPr>
      </p:sp>
      <p:sp>
        <p:nvSpPr>
          <p:cNvPr id="17" name="Text 15"/>
          <p:cNvSpPr txBox="1"/>
          <p:nvPr/>
        </p:nvSpPr>
        <p:spPr>
          <a:xfrm>
            <a:off x="8641080" y="231343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Teori permainan (Day 236)</a:t>
            </a:r>
            <a:endParaRPr lang="en-US" sz="1200" dirty="0"/>
          </a:p>
        </p:txBody>
      </p:sp>
      <p:sp>
        <p:nvSpPr>
          <p:cNvPr id="18" name="Shape 16"/>
          <p:cNvSpPr/>
          <p:nvPr/>
        </p:nvSpPr>
        <p:spPr>
          <a:xfrm>
            <a:off x="8403336" y="3136392"/>
            <a:ext cx="3200400" cy="676656"/>
          </a:xfrm>
          <a:prstGeom prst="rect">
            <a:avLst/>
          </a:prstGeom>
          <a:solidFill>
            <a:srgbClr val="FAFAFA"/>
          </a:solidFill>
          <a:ln/>
        </p:spPr>
      </p:sp>
      <p:sp>
        <p:nvSpPr>
          <p:cNvPr id="19" name="Shape 17"/>
          <p:cNvSpPr/>
          <p:nvPr/>
        </p:nvSpPr>
        <p:spPr>
          <a:xfrm>
            <a:off x="8403336" y="3136392"/>
            <a:ext cx="54864" cy="676656"/>
          </a:xfrm>
          <a:prstGeom prst="rect">
            <a:avLst/>
          </a:prstGeom>
          <a:solidFill>
            <a:srgbClr val="A78BFA"/>
          </a:solidFill>
          <a:ln/>
        </p:spPr>
      </p:sp>
      <p:sp>
        <p:nvSpPr>
          <p:cNvPr id="20" name="Text 18"/>
          <p:cNvSpPr txBox="1"/>
          <p:nvPr/>
        </p:nvSpPr>
        <p:spPr>
          <a:xfrm>
            <a:off x="8641080" y="313639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Convex hull trick (Day 244)</a:t>
            </a:r>
            <a:endParaRPr lang="en-US" sz="1200" dirty="0"/>
          </a:p>
        </p:txBody>
      </p:sp>
      <p:sp>
        <p:nvSpPr>
          <p:cNvPr id="21" name="Shape 19"/>
          <p:cNvSpPr/>
          <p:nvPr/>
        </p:nvSpPr>
        <p:spPr>
          <a:xfrm>
            <a:off x="4352544" y="2313432"/>
            <a:ext cx="3566160" cy="2322576"/>
          </a:xfrm>
          <a:prstGeom prst="rect">
            <a:avLst/>
          </a:prstGeom>
          <a:solidFill>
            <a:srgbClr val="F2F7FD"/>
          </a:solidFill>
          <a:ln/>
        </p:spPr>
      </p:sp>
      <p:sp>
        <p:nvSpPr>
          <p:cNvPr id="22" name="Shape 20"/>
          <p:cNvSpPr/>
          <p:nvPr/>
        </p:nvSpPr>
        <p:spPr>
          <a:xfrm>
            <a:off x="4352544" y="2313432"/>
            <a:ext cx="3566160" cy="54864"/>
          </a:xfrm>
          <a:prstGeom prst="rect">
            <a:avLst/>
          </a:prstGeom>
          <a:solidFill>
            <a:srgbClr val="4FA8E8"/>
          </a:solidFill>
          <a:ln/>
        </p:spPr>
      </p:sp>
      <p:sp>
        <p:nvSpPr>
          <p:cNvPr id="23" name="Text 21"/>
          <p:cNvSpPr txBox="1"/>
          <p:nvPr/>
        </p:nvSpPr>
        <p:spPr>
          <a:xfrm>
            <a:off x="4626864" y="2551176"/>
            <a:ext cx="3017520" cy="256032"/>
          </a:xfrm>
          <a:prstGeom prst="rect">
            <a:avLst/>
          </a:prstGeom>
          <a:noFill/>
          <a:ln/>
        </p:spPr>
        <p:txBody>
          <a:bodyPr wrap="square" lIns="0" tIns="0" rIns="0" bIns="0" rtlCol="0" anchor="ctr"/>
          <a:lstStyle/>
          <a:p>
            <a:pPr indent="0" marL="0">
              <a:buNone/>
            </a:pPr>
            <a:r>
              <a:rPr lang="en-US" sz="1050" spc="200" kern="0" dirty="0">
                <a:solidFill>
                  <a:srgbClr val="4FA8E8"/>
                </a:solidFill>
                <a:latin typeface="Century Gothic" pitchFamily="34" charset="0"/>
                <a:ea typeface="Century Gothic" pitchFamily="34" charset="-122"/>
                <a:cs typeface="Century Gothic" pitchFamily="34" charset="-120"/>
              </a:rPr>
              <a:t>MATERI INI</a:t>
            </a:r>
            <a:endParaRPr lang="en-US" sz="1050" dirty="0"/>
          </a:p>
        </p:txBody>
      </p:sp>
      <p:sp>
        <p:nvSpPr>
          <p:cNvPr id="24" name="Text 22"/>
          <p:cNvSpPr txBox="1"/>
          <p:nvPr/>
        </p:nvSpPr>
        <p:spPr>
          <a:xfrm>
            <a:off x="4626864" y="2880360"/>
            <a:ext cx="3017520" cy="914400"/>
          </a:xfrm>
          <a:prstGeom prst="rect">
            <a:avLst/>
          </a:prstGeom>
          <a:noFill/>
          <a:ln/>
        </p:spPr>
        <p:txBody>
          <a:bodyPr wrap="square" lIns="0" tIns="0" rIns="0" bIns="0" rtlCol="0" anchor="ctr"/>
          <a:lstStyle/>
          <a:p>
            <a:pPr indent="0" marL="0">
              <a:lnSpc>
                <a:spcPct val="110000"/>
              </a:lnSpc>
              <a:buNone/>
            </a:pPr>
            <a:r>
              <a:rPr lang="en-US" sz="2000" dirty="0">
                <a:solidFill>
                  <a:srgbClr val="1A1A1A"/>
                </a:solidFill>
                <a:latin typeface="Century Gothic" pitchFamily="34" charset="0"/>
                <a:ea typeface="Century Gothic" pitchFamily="34" charset="-122"/>
                <a:cs typeface="Century Gothic" pitchFamily="34" charset="-120"/>
              </a:rPr>
              <a:t>Aliran Biaya Minimum</a:t>
            </a:r>
            <a:endParaRPr lang="en-US" sz="2000" dirty="0"/>
          </a:p>
          <a:p>
            <a:pPr indent="0" marL="0">
              <a:lnSpc>
                <a:spcPct val="110000"/>
              </a:lnSpc>
              <a:buNone/>
            </a:pPr>
            <a:r>
              <a:rPr lang="en-US" sz="2000" dirty="0">
                <a:solidFill>
                  <a:srgbClr val="1A1A1A"/>
                </a:solidFill>
                <a:latin typeface="Century Gothic" pitchFamily="34" charset="0"/>
                <a:ea typeface="Century Gothic" pitchFamily="34" charset="-122"/>
                <a:cs typeface="Century Gothic" pitchFamily="34" charset="-120"/>
              </a:rPr>
              <a:t>&amp; Penugasan</a:t>
            </a:r>
            <a:endParaRPr lang="en-US" sz="2000" dirty="0"/>
          </a:p>
        </p:txBody>
      </p:sp>
      <p:sp>
        <p:nvSpPr>
          <p:cNvPr id="25" name="Text 23"/>
          <p:cNvSpPr txBox="1"/>
          <p:nvPr/>
        </p:nvSpPr>
        <p:spPr>
          <a:xfrm>
            <a:off x="4626864" y="3941064"/>
            <a:ext cx="3017520" cy="640080"/>
          </a:xfrm>
          <a:prstGeom prst="rect">
            <a:avLst/>
          </a:prstGeom>
          <a:noFill/>
          <a:ln/>
        </p:spPr>
        <p:txBody>
          <a:bodyPr wrap="square" lIns="0" tIns="0" rIns="0" bIns="0" rtlCol="0" anchor="ctr"/>
          <a:lstStyle/>
          <a:p>
            <a:pPr indent="0" marL="0">
              <a:lnSpc>
                <a:spcPct val="125000"/>
              </a:lnSpc>
              <a:buNone/>
            </a:pPr>
            <a:r>
              <a:rPr lang="en-US" sz="1200" dirty="0">
                <a:solidFill>
                  <a:srgbClr val="7F7F7F"/>
                </a:solidFill>
                <a:latin typeface="Century Gothic" pitchFamily="34" charset="0"/>
                <a:ea typeface="Century Gothic" pitchFamily="34" charset="-122"/>
                <a:cs typeface="Century Gothic" pitchFamily="34" charset="-120"/>
              </a:rPr>
              <a:t>Aliran terbesar yang paling murah.</a:t>
            </a:r>
            <a:endParaRPr lang="en-US" sz="1200" dirty="0"/>
          </a:p>
        </p:txBody>
      </p:sp>
      <p:sp>
        <p:nvSpPr>
          <p:cNvPr id="26" name="Shape 24"/>
          <p:cNvSpPr/>
          <p:nvPr/>
        </p:nvSpPr>
        <p:spPr>
          <a:xfrm>
            <a:off x="3941064" y="3456432"/>
            <a:ext cx="338328" cy="914"/>
          </a:xfrm>
          <a:prstGeom prst="line">
            <a:avLst/>
          </a:prstGeom>
          <a:noFill/>
          <a:ln w="19050">
            <a:solidFill>
              <a:srgbClr val="C8CDD4"/>
            </a:solidFill>
            <a:prstDash val="solid"/>
            <a:tailEnd type="triangle"/>
          </a:ln>
        </p:spPr>
      </p:sp>
      <p:sp>
        <p:nvSpPr>
          <p:cNvPr id="27" name="Shape 25"/>
          <p:cNvSpPr/>
          <p:nvPr/>
        </p:nvSpPr>
        <p:spPr>
          <a:xfrm>
            <a:off x="7991856" y="3456432"/>
            <a:ext cx="338328" cy="914"/>
          </a:xfrm>
          <a:prstGeom prst="line">
            <a:avLst/>
          </a:prstGeom>
          <a:noFill/>
          <a:ln w="19050">
            <a:solidFill>
              <a:srgbClr val="C8CDD4"/>
            </a:solidFill>
            <a:prstDash val="solid"/>
            <a:tailEnd type="triangle"/>
          </a:ln>
        </p:spPr>
      </p:sp>
      <p:sp>
        <p:nvSpPr>
          <p:cNvPr id="28" name="Shape 26"/>
          <p:cNvSpPr/>
          <p:nvPr/>
        </p:nvSpPr>
        <p:spPr>
          <a:xfrm>
            <a:off x="667512" y="5111496"/>
            <a:ext cx="10853928" cy="822960"/>
          </a:xfrm>
          <a:prstGeom prst="rect">
            <a:avLst/>
          </a:prstGeom>
          <a:solidFill>
            <a:srgbClr val="FAFAFA"/>
          </a:solidFill>
          <a:ln/>
        </p:spPr>
      </p:sp>
      <p:sp>
        <p:nvSpPr>
          <p:cNvPr id="29" name="Text 27"/>
          <p:cNvSpPr txBox="1"/>
          <p:nvPr/>
        </p:nvSpPr>
        <p:spPr>
          <a:xfrm>
            <a:off x="941832" y="5111496"/>
            <a:ext cx="10332720" cy="822960"/>
          </a:xfrm>
          <a:prstGeom prst="rect">
            <a:avLst/>
          </a:prstGeom>
          <a:noFill/>
          <a:ln/>
        </p:spPr>
        <p:txBody>
          <a:bodyPr wrap="square" lIns="0" tIns="0" rIns="0" bIns="0" rtlCol="0" anchor="ctr"/>
          <a:lstStyle/>
          <a:p>
            <a:pPr indent="0" marL="0">
              <a:lnSpc>
                <a:spcPct val="125000"/>
              </a:lnSpc>
              <a:buNone/>
            </a:pPr>
            <a:r>
              <a:rPr lang="en-US" sz="1200" dirty="0">
                <a:solidFill>
                  <a:srgbClr val="2B2B2B"/>
                </a:solidFill>
                <a:latin typeface="Century Gothic" pitchFamily="34" charset="0"/>
                <a:ea typeface="Century Gothic" pitchFamily="34" charset="-122"/>
                <a:cs typeface="Century Gothic" pitchFamily="34" charset="-120"/>
              </a:rPr>
              <a:t>Day 233 menyelesaikan pencocokan tanpa bobot. Materi ini adalah versi berbobotnya, dan itulah sebabnya ia datang setelahnya.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Agenda</a:t>
            </a:r>
            <a:endParaRPr lang="en-US" sz="3000" dirty="0"/>
          </a:p>
        </p:txBody>
      </p:sp>
      <p:sp>
        <p:nvSpPr>
          <p:cNvPr id="3" name="Text 1"/>
          <p:cNvSpPr txBox="1"/>
          <p:nvPr/>
        </p:nvSpPr>
        <p:spPr>
          <a:xfrm>
            <a:off x="667512" y="1280160"/>
            <a:ext cx="5120640" cy="457200"/>
          </a:xfrm>
          <a:prstGeom prst="rect">
            <a:avLst/>
          </a:prstGeom>
          <a:noFill/>
          <a:ln/>
        </p:spPr>
        <p:txBody>
          <a:bodyPr wrap="square" lIns="0" tIns="0" rIns="0" bIns="0" rtlCol="0" anchor="ctr"/>
          <a:lstStyle/>
          <a:p>
            <a:pPr indent="0" marL="0">
              <a:buNone/>
            </a:pPr>
            <a:r>
              <a:rPr lang="en-US" sz="1600" dirty="0">
                <a:solidFill>
                  <a:srgbClr val="4FA8E8"/>
                </a:solidFill>
                <a:latin typeface="Century Gothic" pitchFamily="34" charset="0"/>
                <a:ea typeface="Century Gothic" pitchFamily="34" charset="-122"/>
                <a:cs typeface="Century Gothic" pitchFamily="34" charset="-120"/>
              </a:rPr>
              <a:t>01   </a:t>
            </a:r>
            <a:pPr indent="0" marL="0">
              <a:buNone/>
            </a:pPr>
            <a:r>
              <a:rPr lang="en-US" sz="1600" dirty="0">
                <a:solidFill>
                  <a:srgbClr val="2B2B2B"/>
                </a:solidFill>
                <a:latin typeface="Century Gothic" pitchFamily="34" charset="0"/>
                <a:ea typeface="Century Gothic" pitchFamily="34" charset="-122"/>
                <a:cs typeface="Century Gothic" pitchFamily="34" charset="-120"/>
              </a:rPr>
              <a:t>Dari Aliran Maksimum ke Biaya Minimum</a:t>
            </a:r>
            <a:endParaRPr lang="en-US" sz="1600" dirty="0"/>
          </a:p>
        </p:txBody>
      </p:sp>
      <p:sp>
        <p:nvSpPr>
          <p:cNvPr id="4" name="Text 2"/>
          <p:cNvSpPr txBox="1"/>
          <p:nvPr/>
        </p:nvSpPr>
        <p:spPr>
          <a:xfrm>
            <a:off x="667512" y="1956816"/>
            <a:ext cx="5120640" cy="457200"/>
          </a:xfrm>
          <a:prstGeom prst="rect">
            <a:avLst/>
          </a:prstGeom>
          <a:noFill/>
          <a:ln/>
        </p:spPr>
        <p:txBody>
          <a:bodyPr wrap="square" lIns="0" tIns="0" rIns="0" bIns="0" rtlCol="0" anchor="ctr"/>
          <a:lstStyle/>
          <a:p>
            <a:pPr indent="0" marL="0">
              <a:buNone/>
            </a:pPr>
            <a:r>
              <a:rPr lang="en-US" sz="1600" dirty="0">
                <a:solidFill>
                  <a:srgbClr val="3ECF9E"/>
                </a:solidFill>
                <a:latin typeface="Century Gothic" pitchFamily="34" charset="0"/>
                <a:ea typeface="Century Gothic" pitchFamily="34" charset="-122"/>
                <a:cs typeface="Century Gothic" pitchFamily="34" charset="-120"/>
              </a:rPr>
              <a:t>02   </a:t>
            </a:r>
            <a:pPr indent="0" marL="0">
              <a:buNone/>
            </a:pPr>
            <a:r>
              <a:rPr lang="en-US" sz="1600" dirty="0">
                <a:solidFill>
                  <a:srgbClr val="2B2B2B"/>
                </a:solidFill>
                <a:latin typeface="Century Gothic" pitchFamily="34" charset="0"/>
                <a:ea typeface="Century Gothic" pitchFamily="34" charset="-122"/>
                <a:cs typeface="Century Gothic" pitchFamily="34" charset="-120"/>
              </a:rPr>
              <a:t>Simulasi: Sisi Balik yang Membatalkan Pilihan</a:t>
            </a:r>
            <a:endParaRPr lang="en-US" sz="1600" dirty="0"/>
          </a:p>
        </p:txBody>
      </p:sp>
      <p:sp>
        <p:nvSpPr>
          <p:cNvPr id="5" name="Text 3"/>
          <p:cNvSpPr txBox="1"/>
          <p:nvPr/>
        </p:nvSpPr>
        <p:spPr>
          <a:xfrm>
            <a:off x="667512" y="2633472"/>
            <a:ext cx="5120640" cy="457200"/>
          </a:xfrm>
          <a:prstGeom prst="rect">
            <a:avLst/>
          </a:prstGeom>
          <a:noFill/>
          <a:ln/>
        </p:spPr>
        <p:txBody>
          <a:bodyPr wrap="square" lIns="0" tIns="0" rIns="0" bIns="0" rtlCol="0" anchor="ctr"/>
          <a:lstStyle/>
          <a:p>
            <a:pPr indent="0" marL="0">
              <a:buNone/>
            </a:pPr>
            <a:r>
              <a:rPr lang="en-US" sz="1600" dirty="0">
                <a:solidFill>
                  <a:srgbClr val="F5A623"/>
                </a:solidFill>
                <a:latin typeface="Century Gothic" pitchFamily="34" charset="0"/>
                <a:ea typeface="Century Gothic" pitchFamily="34" charset="-122"/>
                <a:cs typeface="Century Gothic" pitchFamily="34" charset="-120"/>
              </a:rPr>
              <a:t>03   </a:t>
            </a:r>
            <a:pPr indent="0" marL="0">
              <a:buNone/>
            </a:pPr>
            <a:r>
              <a:rPr lang="en-US" sz="1600" dirty="0">
                <a:solidFill>
                  <a:srgbClr val="2B2B2B"/>
                </a:solidFill>
                <a:latin typeface="Century Gothic" pitchFamily="34" charset="0"/>
                <a:ea typeface="Century Gothic" pitchFamily="34" charset="-122"/>
                <a:cs typeface="Century Gothic" pitchFamily="34" charset="-120"/>
              </a:rPr>
              <a:t>Aliran Biaya Minimum dengan SPFA</a:t>
            </a:r>
            <a:endParaRPr lang="en-US" sz="1600" dirty="0"/>
          </a:p>
        </p:txBody>
      </p:sp>
      <p:sp>
        <p:nvSpPr>
          <p:cNvPr id="6" name="Text 4"/>
          <p:cNvSpPr txBox="1"/>
          <p:nvPr/>
        </p:nvSpPr>
        <p:spPr>
          <a:xfrm>
            <a:off x="667512" y="3310128"/>
            <a:ext cx="5120640" cy="457200"/>
          </a:xfrm>
          <a:prstGeom prst="rect">
            <a:avLst/>
          </a:prstGeom>
          <a:noFill/>
          <a:ln/>
        </p:spPr>
        <p:txBody>
          <a:bodyPr wrap="square" lIns="0" tIns="0" rIns="0" bIns="0" rtlCol="0" anchor="ctr"/>
          <a:lstStyle/>
          <a:p>
            <a:pPr indent="0" marL="0">
              <a:buNone/>
            </a:pPr>
            <a:r>
              <a:rPr lang="en-US" sz="1600" dirty="0">
                <a:solidFill>
                  <a:srgbClr val="A78BFA"/>
                </a:solidFill>
                <a:latin typeface="Century Gothic" pitchFamily="34" charset="0"/>
                <a:ea typeface="Century Gothic" pitchFamily="34" charset="-122"/>
                <a:cs typeface="Century Gothic" pitchFamily="34" charset="-120"/>
              </a:rPr>
              <a:t>04   </a:t>
            </a:r>
            <a:pPr indent="0" marL="0">
              <a:buNone/>
            </a:pPr>
            <a:r>
              <a:rPr lang="en-US" sz="1600" dirty="0">
                <a:solidFill>
                  <a:srgbClr val="2B2B2B"/>
                </a:solidFill>
                <a:latin typeface="Century Gothic" pitchFamily="34" charset="0"/>
                <a:ea typeface="Century Gothic" pitchFamily="34" charset="-122"/>
                <a:cs typeface="Century Gothic" pitchFamily="34" charset="-120"/>
              </a:rPr>
              <a:t>Algoritma Hungarian untuk Penugasan</a:t>
            </a:r>
            <a:endParaRPr lang="en-US" sz="1600" dirty="0"/>
          </a:p>
        </p:txBody>
      </p:sp>
      <p:sp>
        <p:nvSpPr>
          <p:cNvPr id="7" name="Text 5"/>
          <p:cNvSpPr txBox="1"/>
          <p:nvPr/>
        </p:nvSpPr>
        <p:spPr>
          <a:xfrm>
            <a:off x="6062472" y="1280160"/>
            <a:ext cx="5120640" cy="457200"/>
          </a:xfrm>
          <a:prstGeom prst="rect">
            <a:avLst/>
          </a:prstGeom>
          <a:noFill/>
          <a:ln/>
        </p:spPr>
        <p:txBody>
          <a:bodyPr wrap="square" lIns="0" tIns="0" rIns="0" bIns="0" rtlCol="0" anchor="ctr"/>
          <a:lstStyle/>
          <a:p>
            <a:pPr indent="0" marL="0">
              <a:buNone/>
            </a:pPr>
            <a:r>
              <a:rPr lang="en-US" sz="1600" dirty="0">
                <a:solidFill>
                  <a:srgbClr val="EC6BA8"/>
                </a:solidFill>
                <a:latin typeface="Century Gothic" pitchFamily="34" charset="0"/>
                <a:ea typeface="Century Gothic" pitchFamily="34" charset="-122"/>
                <a:cs typeface="Century Gothic" pitchFamily="34" charset="-120"/>
              </a:rPr>
              <a:t>05   </a:t>
            </a:r>
            <a:pPr indent="0" marL="0">
              <a:buNone/>
            </a:pPr>
            <a:r>
              <a:rPr lang="en-US" sz="1600" dirty="0">
                <a:solidFill>
                  <a:srgbClr val="2B2B2B"/>
                </a:solidFill>
                <a:latin typeface="Century Gothic" pitchFamily="34" charset="0"/>
                <a:ea typeface="Century Gothic" pitchFamily="34" charset="-122"/>
                <a:cs typeface="Century Gothic" pitchFamily="34" charset="-120"/>
              </a:rPr>
              <a:t>Jebakan yang Sering Terjadi</a:t>
            </a:r>
            <a:endParaRPr lang="en-US" sz="1600" dirty="0"/>
          </a:p>
        </p:txBody>
      </p:sp>
      <p:sp>
        <p:nvSpPr>
          <p:cNvPr id="8" name="Text 6"/>
          <p:cNvSpPr txBox="1"/>
          <p:nvPr/>
        </p:nvSpPr>
        <p:spPr>
          <a:xfrm>
            <a:off x="6062472" y="1956816"/>
            <a:ext cx="5120640" cy="457200"/>
          </a:xfrm>
          <a:prstGeom prst="rect">
            <a:avLst/>
          </a:prstGeom>
          <a:noFill/>
          <a:ln/>
        </p:spPr>
        <p:txBody>
          <a:bodyPr wrap="square" lIns="0" tIns="0" rIns="0" bIns="0" rtlCol="0" anchor="ctr"/>
          <a:lstStyle/>
          <a:p>
            <a:pPr indent="0" marL="0">
              <a:buNone/>
            </a:pPr>
            <a:r>
              <a:rPr lang="en-US" sz="1600" dirty="0">
                <a:solidFill>
                  <a:srgbClr val="4ECDC4"/>
                </a:solidFill>
                <a:latin typeface="Century Gothic" pitchFamily="34" charset="0"/>
                <a:ea typeface="Century Gothic" pitchFamily="34" charset="-122"/>
                <a:cs typeface="Century Gothic" pitchFamily="34" charset="-120"/>
              </a:rPr>
              <a:t>06   </a:t>
            </a:r>
            <a:pPr indent="0" marL="0">
              <a:buNone/>
            </a:pPr>
            <a:r>
              <a:rPr lang="en-US" sz="1600" dirty="0">
                <a:solidFill>
                  <a:srgbClr val="2B2B2B"/>
                </a:solidFill>
                <a:latin typeface="Century Gothic" pitchFamily="34" charset="0"/>
                <a:ea typeface="Century Gothic" pitchFamily="34" charset="-122"/>
                <a:cs typeface="Century Gothic" pitchFamily="34" charset="-120"/>
              </a:rPr>
              <a:t>Contoh Soal &amp; Latihan</a:t>
            </a:r>
            <a:endParaRPr lang="en-US" sz="1600" dirty="0"/>
          </a:p>
        </p:txBody>
      </p:sp>
      <p:sp>
        <p:nvSpPr>
          <p:cNvPr id="9" name="Text 7"/>
          <p:cNvSpPr txBox="1"/>
          <p:nvPr/>
        </p:nvSpPr>
        <p:spPr>
          <a:xfrm>
            <a:off x="6062472" y="2633472"/>
            <a:ext cx="5120640" cy="457200"/>
          </a:xfrm>
          <a:prstGeom prst="rect">
            <a:avLst/>
          </a:prstGeom>
          <a:noFill/>
          <a:ln/>
        </p:spPr>
        <p:txBody>
          <a:bodyPr wrap="square" lIns="0" tIns="0" rIns="0" bIns="0" rtlCol="0" anchor="ctr"/>
          <a:lstStyle/>
          <a:p>
            <a:pPr indent="0" marL="0">
              <a:buNone/>
            </a:pPr>
            <a:r>
              <a:rPr lang="en-US" sz="1600" dirty="0">
                <a:solidFill>
                  <a:srgbClr val="F0736A"/>
                </a:solidFill>
                <a:latin typeface="Century Gothic" pitchFamily="34" charset="0"/>
                <a:ea typeface="Century Gothic" pitchFamily="34" charset="-122"/>
                <a:cs typeface="Century Gothic" pitchFamily="34" charset="-120"/>
              </a:rPr>
              <a:t>07   </a:t>
            </a:r>
            <a:pPr indent="0" marL="0">
              <a:buNone/>
            </a:pPr>
            <a:r>
              <a:rPr lang="en-US" sz="1600" dirty="0">
                <a:solidFill>
                  <a:srgbClr val="2B2B2B"/>
                </a:solidFill>
                <a:latin typeface="Century Gothic" pitchFamily="34" charset="0"/>
                <a:ea typeface="Century Gothic" pitchFamily="34" charset="-122"/>
                <a:cs typeface="Century Gothic" pitchFamily="34" charset="-120"/>
              </a:rPr>
              <a:t>Ringkasan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01</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Gagasannya</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Jalur terpendek, bukan jalur mana saja</a:t>
            </a:r>
            <a:endParaRPr lang="en-US" sz="1350" dirty="0"/>
          </a:p>
        </p:txBody>
      </p:sp>
      <p:sp>
        <p:nvSpPr>
          <p:cNvPr id="5" name="Shape 3"/>
          <p:cNvSpPr/>
          <p:nvPr/>
        </p:nvSpPr>
        <p:spPr>
          <a:xfrm>
            <a:off x="5815584" y="4251960"/>
            <a:ext cx="548640" cy="45720"/>
          </a:xfrm>
          <a:prstGeom prst="rect">
            <a:avLst/>
          </a:prstGeom>
          <a:solidFill>
            <a:srgbClr val="5B8DEF"/>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Dari Aliran Maksimum ke Biaya Minimum</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Dinic mencari jalur penambah mana pun. MCMF mencari jalur penambah TERMURAH. Perubahannya satu kalimat, tetapi membuka kelas soal yang sama sekali baru.</a:t>
            </a:r>
            <a:endParaRPr lang="en-US" sz="1300" dirty="0"/>
          </a:p>
        </p:txBody>
      </p:sp>
      <p:sp>
        <p:nvSpPr>
          <p:cNvPr id="4" name="Shape 2"/>
          <p:cNvSpPr/>
          <p:nvPr/>
        </p:nvSpPr>
        <p:spPr>
          <a:xfrm>
            <a:off x="667512" y="2130552"/>
            <a:ext cx="91440" cy="91440"/>
          </a:xfrm>
          <a:prstGeom prst="rect">
            <a:avLst/>
          </a:prstGeom>
          <a:solidFill>
            <a:srgbClr val="4FA8E8"/>
          </a:solidFill>
          <a:ln/>
        </p:spPr>
      </p:sp>
      <p:sp>
        <p:nvSpPr>
          <p:cNvPr id="5" name="Text 3"/>
          <p:cNvSpPr txBox="1"/>
          <p:nvPr/>
        </p:nvSpPr>
        <p:spPr>
          <a:xfrm>
            <a:off x="960120" y="1975104"/>
            <a:ext cx="10332720" cy="365760"/>
          </a:xfrm>
          <a:prstGeom prst="rect">
            <a:avLst/>
          </a:prstGeom>
          <a:noFill/>
          <a:ln/>
        </p:spPr>
        <p:txBody>
          <a:bodyPr wrap="square" lIns="0" tIns="0" rIns="0" bIns="0" rtlCol="0" anchor="ctr"/>
          <a:lstStyle/>
          <a:p>
            <a:pPr indent="0" marL="0">
              <a:buNone/>
            </a:pPr>
            <a:r>
              <a:rPr lang="en-US" sz="1500" dirty="0">
                <a:solidFill>
                  <a:srgbClr val="4FA8E8"/>
                </a:solidFill>
                <a:latin typeface="Century Gothic" pitchFamily="34" charset="0"/>
                <a:ea typeface="Century Gothic" pitchFamily="34" charset="-122"/>
                <a:cs typeface="Century Gothic" pitchFamily="34" charset="-120"/>
              </a:rPr>
              <a:t>Setiap sisi kini punya kapasitas DAN biaya per satuan</a:t>
            </a:r>
            <a:endParaRPr lang="en-US" sz="1500" dirty="0"/>
          </a:p>
        </p:txBody>
      </p:sp>
      <p:sp>
        <p:nvSpPr>
          <p:cNvPr id="6" name="Text 4"/>
          <p:cNvSpPr txBox="1"/>
          <p:nvPr/>
        </p:nvSpPr>
        <p:spPr>
          <a:xfrm>
            <a:off x="960120" y="2322576"/>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Mengalirkan f satuan lewat sisi berbiaya c menambah f dikali c pada total. Yang dicari: aliran maksimum dengan total biaya terkecil.</a:t>
            </a:r>
            <a:endParaRPr lang="en-US" sz="1250" dirty="0"/>
          </a:p>
        </p:txBody>
      </p:sp>
      <p:sp>
        <p:nvSpPr>
          <p:cNvPr id="7" name="Shape 5"/>
          <p:cNvSpPr/>
          <p:nvPr/>
        </p:nvSpPr>
        <p:spPr>
          <a:xfrm>
            <a:off x="667512" y="3129534"/>
            <a:ext cx="91440" cy="91440"/>
          </a:xfrm>
          <a:prstGeom prst="rect">
            <a:avLst/>
          </a:prstGeom>
          <a:solidFill>
            <a:srgbClr val="3ECF9E"/>
          </a:solidFill>
          <a:ln/>
        </p:spPr>
      </p:sp>
      <p:sp>
        <p:nvSpPr>
          <p:cNvPr id="8" name="Text 6"/>
          <p:cNvSpPr txBox="1"/>
          <p:nvPr/>
        </p:nvSpPr>
        <p:spPr>
          <a:xfrm>
            <a:off x="960120" y="2974086"/>
            <a:ext cx="10332720" cy="365760"/>
          </a:xfrm>
          <a:prstGeom prst="rect">
            <a:avLst/>
          </a:prstGeom>
          <a:noFill/>
          <a:ln/>
        </p:spPr>
        <p:txBody>
          <a:bodyPr wrap="square" lIns="0" tIns="0" rIns="0" bIns="0" rtlCol="0" anchor="ctr"/>
          <a:lstStyle/>
          <a:p>
            <a:pPr indent="0" marL="0">
              <a:buNone/>
            </a:pPr>
            <a:r>
              <a:rPr lang="en-US" sz="1500" dirty="0">
                <a:solidFill>
                  <a:srgbClr val="3ECF9E"/>
                </a:solidFill>
                <a:latin typeface="Century Gothic" pitchFamily="34" charset="0"/>
                <a:ea typeface="Century Gothic" pitchFamily="34" charset="-122"/>
                <a:cs typeface="Century Gothic" pitchFamily="34" charset="-120"/>
              </a:rPr>
              <a:t>Jalur penambah dipilih yang termurah</a:t>
            </a:r>
            <a:endParaRPr lang="en-US" sz="1500" dirty="0"/>
          </a:p>
        </p:txBody>
      </p:sp>
      <p:sp>
        <p:nvSpPr>
          <p:cNvPr id="9" name="Text 7"/>
          <p:cNvSpPr txBox="1"/>
          <p:nvPr/>
        </p:nvSpPr>
        <p:spPr>
          <a:xfrm>
            <a:off x="960120" y="3321558"/>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Kalau di setiap langkah dipakai jalur terpendek menurut biaya, hasil akhirnya terbukti optimal. Itulah seluruh algoritmanya.</a:t>
            </a:r>
            <a:endParaRPr lang="en-US" sz="1250" dirty="0"/>
          </a:p>
        </p:txBody>
      </p:sp>
      <p:sp>
        <p:nvSpPr>
          <p:cNvPr id="10" name="Shape 8"/>
          <p:cNvSpPr/>
          <p:nvPr/>
        </p:nvSpPr>
        <p:spPr>
          <a:xfrm>
            <a:off x="667512" y="4128516"/>
            <a:ext cx="91440" cy="91440"/>
          </a:xfrm>
          <a:prstGeom prst="rect">
            <a:avLst/>
          </a:prstGeom>
          <a:solidFill>
            <a:srgbClr val="F5A623"/>
          </a:solidFill>
          <a:ln/>
        </p:spPr>
      </p:sp>
      <p:sp>
        <p:nvSpPr>
          <p:cNvPr id="11" name="Text 9"/>
          <p:cNvSpPr txBox="1"/>
          <p:nvPr/>
        </p:nvSpPr>
        <p:spPr>
          <a:xfrm>
            <a:off x="960120" y="3973068"/>
            <a:ext cx="10332720" cy="365760"/>
          </a:xfrm>
          <a:prstGeom prst="rect">
            <a:avLst/>
          </a:prstGeom>
          <a:noFill/>
          <a:ln/>
        </p:spPr>
        <p:txBody>
          <a:bodyPr wrap="square" lIns="0" tIns="0" rIns="0" bIns="0" rtlCol="0" anchor="ctr"/>
          <a:lstStyle/>
          <a:p>
            <a:pPr indent="0" marL="0">
              <a:buNone/>
            </a:pPr>
            <a:r>
              <a:rPr lang="en-US" sz="1500" dirty="0">
                <a:solidFill>
                  <a:srgbClr val="F5A623"/>
                </a:solidFill>
                <a:latin typeface="Century Gothic" pitchFamily="34" charset="0"/>
                <a:ea typeface="Century Gothic" pitchFamily="34" charset="-122"/>
                <a:cs typeface="Century Gothic" pitchFamily="34" charset="-120"/>
              </a:rPr>
              <a:t>Sisi balik berbiaya negatif, jadi Dijkstra biasa gugur</a:t>
            </a:r>
            <a:endParaRPr lang="en-US" sz="1500" dirty="0"/>
          </a:p>
        </p:txBody>
      </p:sp>
      <p:sp>
        <p:nvSpPr>
          <p:cNvPr id="12" name="Text 10"/>
          <p:cNvSpPr txBox="1"/>
          <p:nvPr/>
        </p:nvSpPr>
        <p:spPr>
          <a:xfrm>
            <a:off x="960120" y="4320540"/>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Sisi balik dari b ke a berbiaya minus biaya sisi majunya. Karena ada bobot negatif, dipakai SPFA — Bellman-Ford yang diantrekan.</a:t>
            </a:r>
            <a:endParaRPr lang="en-US" sz="1250" dirty="0"/>
          </a:p>
        </p:txBody>
      </p:sp>
      <p:sp>
        <p:nvSpPr>
          <p:cNvPr id="13" name="Shape 11"/>
          <p:cNvSpPr/>
          <p:nvPr/>
        </p:nvSpPr>
        <p:spPr>
          <a:xfrm>
            <a:off x="667512" y="5127498"/>
            <a:ext cx="91440" cy="91440"/>
          </a:xfrm>
          <a:prstGeom prst="rect">
            <a:avLst/>
          </a:prstGeom>
          <a:solidFill>
            <a:srgbClr val="A78BFA"/>
          </a:solidFill>
          <a:ln/>
        </p:spPr>
      </p:sp>
      <p:sp>
        <p:nvSpPr>
          <p:cNvPr id="14" name="Text 12"/>
          <p:cNvSpPr txBox="1"/>
          <p:nvPr/>
        </p:nvSpPr>
        <p:spPr>
          <a:xfrm>
            <a:off x="960120" y="4972050"/>
            <a:ext cx="10332720" cy="365760"/>
          </a:xfrm>
          <a:prstGeom prst="rect">
            <a:avLst/>
          </a:prstGeom>
          <a:noFill/>
          <a:ln/>
        </p:spPr>
        <p:txBody>
          <a:bodyPr wrap="square" lIns="0" tIns="0" rIns="0" bIns="0" rtlCol="0" anchor="ctr"/>
          <a:lstStyle/>
          <a:p>
            <a:pPr indent="0" marL="0">
              <a:buNone/>
            </a:pPr>
            <a:r>
              <a:rPr lang="en-US" sz="1500" dirty="0">
                <a:solidFill>
                  <a:srgbClr val="A78BFA"/>
                </a:solidFill>
                <a:latin typeface="Century Gothic" pitchFamily="34" charset="0"/>
                <a:ea typeface="Century Gothic" pitchFamily="34" charset="-122"/>
                <a:cs typeface="Century Gothic" pitchFamily="34" charset="-120"/>
              </a:rPr>
              <a:t>Soal penugasan adalah kasus khususnya</a:t>
            </a:r>
            <a:endParaRPr lang="en-US" sz="1500" dirty="0"/>
          </a:p>
        </p:txBody>
      </p:sp>
      <p:sp>
        <p:nvSpPr>
          <p:cNvPr id="15" name="Text 13"/>
          <p:cNvSpPr txBox="1"/>
          <p:nvPr/>
        </p:nvSpPr>
        <p:spPr>
          <a:xfrm>
            <a:off x="960120" y="5319522"/>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n pekerja, n tugas, satu-satu. Bisa diselesaikan dengan MCMF, tetapi Hungarian menyelesaikan hal yang sama dalam O(n^3) murni.</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02</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Simulasi</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Dua pekerja, dua tugas, dan satu keputusan yang dibatalkan</a:t>
            </a:r>
            <a:endParaRPr lang="en-US" sz="1350" dirty="0"/>
          </a:p>
        </p:txBody>
      </p:sp>
      <p:sp>
        <p:nvSpPr>
          <p:cNvPr id="5" name="Shape 3"/>
          <p:cNvSpPr/>
          <p:nvPr/>
        </p:nvSpPr>
        <p:spPr>
          <a:xfrm>
            <a:off x="5815584" y="4251960"/>
            <a:ext cx="548640" cy="45720"/>
          </a:xfrm>
          <a:prstGeom prst="rect">
            <a:avLst/>
          </a:prstGeom>
          <a:solidFill>
            <a:srgbClr val="3ECF9E"/>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Langkah 1 — Jaringannya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Sumber ke tiap pekerja berkapasitas 1 dan berbiaya 0. Tiap tugas ke tujuan juga. Yang berbiaya hanya sisi pekerja-ke-tugas.</a:t>
            </a:r>
            <a:endParaRPr lang="en-US" sz="1300" dirty="0"/>
          </a:p>
        </p:txBody>
      </p:sp>
      <p:sp>
        <p:nvSpPr>
          <p:cNvPr id="4" name="Shape 2"/>
          <p:cNvSpPr/>
          <p:nvPr/>
        </p:nvSpPr>
        <p:spPr>
          <a:xfrm flipV="1">
            <a:off x="1437105" y="2887063"/>
            <a:ext cx="966269" cy="452939"/>
          </a:xfrm>
          <a:prstGeom prst="line">
            <a:avLst/>
          </a:prstGeom>
          <a:noFill/>
          <a:ln w="19050">
            <a:solidFill>
              <a:srgbClr val="C8CDD4"/>
            </a:solidFill>
            <a:prstDash val="solid"/>
            <a:tailEnd type="triangle"/>
          </a:ln>
        </p:spPr>
      </p:sp>
      <p:sp>
        <p:nvSpPr>
          <p:cNvPr id="5" name="Shape 3"/>
          <p:cNvSpPr/>
          <p:nvPr/>
        </p:nvSpPr>
        <p:spPr>
          <a:xfrm>
            <a:off x="1682496" y="2967228"/>
            <a:ext cx="475488" cy="292608"/>
          </a:xfrm>
          <a:prstGeom prst="rect">
            <a:avLst/>
          </a:prstGeom>
          <a:solidFill>
            <a:srgbClr val="FFFFFF"/>
          </a:solidFill>
          <a:ln w="6350">
            <a:solidFill>
              <a:srgbClr val="FFFFFF"/>
            </a:solidFill>
            <a:prstDash val="solid"/>
          </a:ln>
        </p:spPr>
      </p:sp>
      <p:sp>
        <p:nvSpPr>
          <p:cNvPr id="6" name="Text 4"/>
          <p:cNvSpPr txBox="1"/>
          <p:nvPr/>
        </p:nvSpPr>
        <p:spPr>
          <a:xfrm>
            <a:off x="1645920" y="2976372"/>
            <a:ext cx="548640" cy="274320"/>
          </a:xfrm>
          <a:prstGeom prst="rect">
            <a:avLst/>
          </a:prstGeom>
          <a:noFill/>
          <a:ln/>
        </p:spPr>
        <p:txBody>
          <a:bodyPr wrap="square" lIns="0" tIns="0" rIns="0" bIns="0" rtlCol="0" anchor="ctr"/>
          <a:lstStyle/>
          <a:p>
            <a:pPr algn="ctr" indent="0" marL="0">
              <a:buNone/>
            </a:pPr>
            <a:r>
              <a:rPr lang="en-US" sz="1150" dirty="0">
                <a:solidFill>
                  <a:srgbClr val="6B7280"/>
                </a:solidFill>
                <a:latin typeface="Century Gothic" pitchFamily="34" charset="0"/>
                <a:ea typeface="Century Gothic" pitchFamily="34" charset="-122"/>
                <a:cs typeface="Century Gothic" pitchFamily="34" charset="-120"/>
              </a:rPr>
              <a:t>0</a:t>
            </a:r>
            <a:endParaRPr lang="en-US" sz="1150" dirty="0"/>
          </a:p>
        </p:txBody>
      </p:sp>
      <p:sp>
        <p:nvSpPr>
          <p:cNvPr id="7" name="Shape 5"/>
          <p:cNvSpPr/>
          <p:nvPr/>
        </p:nvSpPr>
        <p:spPr>
          <a:xfrm>
            <a:off x="1437105" y="3572863"/>
            <a:ext cx="966269" cy="452939"/>
          </a:xfrm>
          <a:prstGeom prst="line">
            <a:avLst/>
          </a:prstGeom>
          <a:noFill/>
          <a:ln w="19050">
            <a:solidFill>
              <a:srgbClr val="C8CDD4"/>
            </a:solidFill>
            <a:prstDash val="solid"/>
            <a:tailEnd type="triangle"/>
          </a:ln>
        </p:spPr>
      </p:sp>
      <p:sp>
        <p:nvSpPr>
          <p:cNvPr id="8" name="Shape 6"/>
          <p:cNvSpPr/>
          <p:nvPr/>
        </p:nvSpPr>
        <p:spPr>
          <a:xfrm>
            <a:off x="1682496" y="3653028"/>
            <a:ext cx="475488" cy="292608"/>
          </a:xfrm>
          <a:prstGeom prst="rect">
            <a:avLst/>
          </a:prstGeom>
          <a:solidFill>
            <a:srgbClr val="FFFFFF"/>
          </a:solidFill>
          <a:ln w="6350">
            <a:solidFill>
              <a:srgbClr val="FFFFFF"/>
            </a:solidFill>
            <a:prstDash val="solid"/>
          </a:ln>
        </p:spPr>
      </p:sp>
      <p:sp>
        <p:nvSpPr>
          <p:cNvPr id="9" name="Text 7"/>
          <p:cNvSpPr txBox="1"/>
          <p:nvPr/>
        </p:nvSpPr>
        <p:spPr>
          <a:xfrm>
            <a:off x="1645920" y="3662172"/>
            <a:ext cx="548640" cy="274320"/>
          </a:xfrm>
          <a:prstGeom prst="rect">
            <a:avLst/>
          </a:prstGeom>
          <a:noFill/>
          <a:ln/>
        </p:spPr>
        <p:txBody>
          <a:bodyPr wrap="square" lIns="0" tIns="0" rIns="0" bIns="0" rtlCol="0" anchor="ctr"/>
          <a:lstStyle/>
          <a:p>
            <a:pPr algn="ctr" indent="0" marL="0">
              <a:buNone/>
            </a:pPr>
            <a:r>
              <a:rPr lang="en-US" sz="1150" dirty="0">
                <a:solidFill>
                  <a:srgbClr val="6B7280"/>
                </a:solidFill>
                <a:latin typeface="Century Gothic" pitchFamily="34" charset="0"/>
                <a:ea typeface="Century Gothic" pitchFamily="34" charset="-122"/>
                <a:cs typeface="Century Gothic" pitchFamily="34" charset="-120"/>
              </a:rPr>
              <a:t>0</a:t>
            </a:r>
            <a:endParaRPr lang="en-US" sz="1150" dirty="0"/>
          </a:p>
        </p:txBody>
      </p:sp>
      <p:sp>
        <p:nvSpPr>
          <p:cNvPr id="10" name="Shape 8"/>
          <p:cNvSpPr/>
          <p:nvPr/>
        </p:nvSpPr>
        <p:spPr>
          <a:xfrm>
            <a:off x="2926080" y="2770632"/>
            <a:ext cx="1097280" cy="914"/>
          </a:xfrm>
          <a:prstGeom prst="line">
            <a:avLst/>
          </a:prstGeom>
          <a:noFill/>
          <a:ln w="19050">
            <a:solidFill>
              <a:srgbClr val="C8CDD4"/>
            </a:solidFill>
            <a:prstDash val="solid"/>
            <a:tailEnd type="triangle"/>
          </a:ln>
        </p:spPr>
      </p:sp>
      <p:sp>
        <p:nvSpPr>
          <p:cNvPr id="11" name="Shape 9"/>
          <p:cNvSpPr/>
          <p:nvPr/>
        </p:nvSpPr>
        <p:spPr>
          <a:xfrm>
            <a:off x="3236976" y="2624328"/>
            <a:ext cx="475488" cy="292608"/>
          </a:xfrm>
          <a:prstGeom prst="rect">
            <a:avLst/>
          </a:prstGeom>
          <a:solidFill>
            <a:srgbClr val="FFFFFF"/>
          </a:solidFill>
          <a:ln w="6350">
            <a:solidFill>
              <a:srgbClr val="FFFFFF"/>
            </a:solidFill>
            <a:prstDash val="solid"/>
          </a:ln>
        </p:spPr>
      </p:sp>
      <p:sp>
        <p:nvSpPr>
          <p:cNvPr id="12" name="Text 10"/>
          <p:cNvSpPr txBox="1"/>
          <p:nvPr/>
        </p:nvSpPr>
        <p:spPr>
          <a:xfrm>
            <a:off x="3200400" y="2633472"/>
            <a:ext cx="548640" cy="274320"/>
          </a:xfrm>
          <a:prstGeom prst="rect">
            <a:avLst/>
          </a:prstGeom>
          <a:noFill/>
          <a:ln/>
        </p:spPr>
        <p:txBody>
          <a:bodyPr wrap="square" lIns="0" tIns="0" rIns="0" bIns="0" rtlCol="0" anchor="ctr"/>
          <a:lstStyle/>
          <a:p>
            <a:pPr algn="ctr" indent="0" marL="0">
              <a:buNone/>
            </a:pPr>
            <a:r>
              <a:rPr lang="en-US" sz="1150" dirty="0">
                <a:solidFill>
                  <a:srgbClr val="6B7280"/>
                </a:solidFill>
                <a:latin typeface="Century Gothic" pitchFamily="34" charset="0"/>
                <a:ea typeface="Century Gothic" pitchFamily="34" charset="-122"/>
                <a:cs typeface="Century Gothic" pitchFamily="34" charset="-120"/>
              </a:rPr>
              <a:t>1</a:t>
            </a:r>
            <a:endParaRPr lang="en-US" sz="1150" dirty="0"/>
          </a:p>
        </p:txBody>
      </p:sp>
      <p:sp>
        <p:nvSpPr>
          <p:cNvPr id="13" name="Shape 11"/>
          <p:cNvSpPr/>
          <p:nvPr/>
        </p:nvSpPr>
        <p:spPr>
          <a:xfrm>
            <a:off x="2862498" y="2946247"/>
            <a:ext cx="1224443" cy="1020369"/>
          </a:xfrm>
          <a:prstGeom prst="line">
            <a:avLst/>
          </a:prstGeom>
          <a:noFill/>
          <a:ln w="19050">
            <a:solidFill>
              <a:srgbClr val="C8CDD4"/>
            </a:solidFill>
            <a:prstDash val="solid"/>
            <a:tailEnd type="triangle"/>
          </a:ln>
        </p:spPr>
      </p:sp>
      <p:sp>
        <p:nvSpPr>
          <p:cNvPr id="14" name="Shape 12"/>
          <p:cNvSpPr/>
          <p:nvPr/>
        </p:nvSpPr>
        <p:spPr>
          <a:xfrm>
            <a:off x="3236976" y="3310128"/>
            <a:ext cx="475488" cy="292608"/>
          </a:xfrm>
          <a:prstGeom prst="rect">
            <a:avLst/>
          </a:prstGeom>
          <a:solidFill>
            <a:srgbClr val="FFFFFF"/>
          </a:solidFill>
          <a:ln w="6350">
            <a:solidFill>
              <a:srgbClr val="FFFFFF"/>
            </a:solidFill>
            <a:prstDash val="solid"/>
          </a:ln>
        </p:spPr>
      </p:sp>
      <p:sp>
        <p:nvSpPr>
          <p:cNvPr id="15" name="Text 13"/>
          <p:cNvSpPr txBox="1"/>
          <p:nvPr/>
        </p:nvSpPr>
        <p:spPr>
          <a:xfrm>
            <a:off x="3200400" y="3319272"/>
            <a:ext cx="548640" cy="274320"/>
          </a:xfrm>
          <a:prstGeom prst="rect">
            <a:avLst/>
          </a:prstGeom>
          <a:noFill/>
          <a:ln/>
        </p:spPr>
        <p:txBody>
          <a:bodyPr wrap="square" lIns="0" tIns="0" rIns="0" bIns="0" rtlCol="0" anchor="ctr"/>
          <a:lstStyle/>
          <a:p>
            <a:pPr algn="ctr" indent="0" marL="0">
              <a:buNone/>
            </a:pPr>
            <a:r>
              <a:rPr lang="en-US" sz="1150" dirty="0">
                <a:solidFill>
                  <a:srgbClr val="6B7280"/>
                </a:solidFill>
                <a:latin typeface="Century Gothic" pitchFamily="34" charset="0"/>
                <a:ea typeface="Century Gothic" pitchFamily="34" charset="-122"/>
                <a:cs typeface="Century Gothic" pitchFamily="34" charset="-120"/>
              </a:rPr>
              <a:t>2</a:t>
            </a:r>
            <a:endParaRPr lang="en-US" sz="1150" dirty="0"/>
          </a:p>
        </p:txBody>
      </p:sp>
      <p:sp>
        <p:nvSpPr>
          <p:cNvPr id="16" name="Shape 14"/>
          <p:cNvSpPr/>
          <p:nvPr/>
        </p:nvSpPr>
        <p:spPr>
          <a:xfrm flipV="1">
            <a:off x="2862498" y="2946247"/>
            <a:ext cx="1224443" cy="1020369"/>
          </a:xfrm>
          <a:prstGeom prst="line">
            <a:avLst/>
          </a:prstGeom>
          <a:noFill/>
          <a:ln w="19050">
            <a:solidFill>
              <a:srgbClr val="C8CDD4"/>
            </a:solidFill>
            <a:prstDash val="solid"/>
            <a:tailEnd type="triangle"/>
          </a:ln>
        </p:spPr>
      </p:sp>
      <p:sp>
        <p:nvSpPr>
          <p:cNvPr id="17" name="Shape 15"/>
          <p:cNvSpPr/>
          <p:nvPr/>
        </p:nvSpPr>
        <p:spPr>
          <a:xfrm>
            <a:off x="3236976" y="3310128"/>
            <a:ext cx="475488" cy="292608"/>
          </a:xfrm>
          <a:prstGeom prst="rect">
            <a:avLst/>
          </a:prstGeom>
          <a:solidFill>
            <a:srgbClr val="FFFFFF"/>
          </a:solidFill>
          <a:ln w="6350">
            <a:solidFill>
              <a:srgbClr val="FFFFFF"/>
            </a:solidFill>
            <a:prstDash val="solid"/>
          </a:ln>
        </p:spPr>
      </p:sp>
      <p:sp>
        <p:nvSpPr>
          <p:cNvPr id="18" name="Text 16"/>
          <p:cNvSpPr txBox="1"/>
          <p:nvPr/>
        </p:nvSpPr>
        <p:spPr>
          <a:xfrm>
            <a:off x="3200400" y="3319272"/>
            <a:ext cx="548640" cy="274320"/>
          </a:xfrm>
          <a:prstGeom prst="rect">
            <a:avLst/>
          </a:prstGeom>
          <a:noFill/>
          <a:ln/>
        </p:spPr>
        <p:txBody>
          <a:bodyPr wrap="square" lIns="0" tIns="0" rIns="0" bIns="0" rtlCol="0" anchor="ctr"/>
          <a:lstStyle/>
          <a:p>
            <a:pPr algn="ctr" indent="0" marL="0">
              <a:buNone/>
            </a:pPr>
            <a:r>
              <a:rPr lang="en-US" sz="1150" dirty="0">
                <a:solidFill>
                  <a:srgbClr val="6B7280"/>
                </a:solidFill>
                <a:latin typeface="Century Gothic" pitchFamily="34" charset="0"/>
                <a:ea typeface="Century Gothic" pitchFamily="34" charset="-122"/>
                <a:cs typeface="Century Gothic" pitchFamily="34" charset="-120"/>
              </a:rPr>
              <a:t>1</a:t>
            </a:r>
            <a:endParaRPr lang="en-US" sz="1150" dirty="0"/>
          </a:p>
        </p:txBody>
      </p:sp>
      <p:sp>
        <p:nvSpPr>
          <p:cNvPr id="19" name="Shape 17"/>
          <p:cNvSpPr/>
          <p:nvPr/>
        </p:nvSpPr>
        <p:spPr>
          <a:xfrm>
            <a:off x="2926080" y="4142232"/>
            <a:ext cx="1097280" cy="914"/>
          </a:xfrm>
          <a:prstGeom prst="line">
            <a:avLst/>
          </a:prstGeom>
          <a:noFill/>
          <a:ln w="19050">
            <a:solidFill>
              <a:srgbClr val="C8CDD4"/>
            </a:solidFill>
            <a:prstDash val="solid"/>
            <a:tailEnd type="triangle"/>
          </a:ln>
        </p:spPr>
      </p:sp>
      <p:sp>
        <p:nvSpPr>
          <p:cNvPr id="20" name="Shape 18"/>
          <p:cNvSpPr/>
          <p:nvPr/>
        </p:nvSpPr>
        <p:spPr>
          <a:xfrm>
            <a:off x="3236976" y="3995928"/>
            <a:ext cx="475488" cy="292608"/>
          </a:xfrm>
          <a:prstGeom prst="rect">
            <a:avLst/>
          </a:prstGeom>
          <a:solidFill>
            <a:srgbClr val="FFFFFF"/>
          </a:solidFill>
          <a:ln w="6350">
            <a:solidFill>
              <a:srgbClr val="FFFFFF"/>
            </a:solidFill>
            <a:prstDash val="solid"/>
          </a:ln>
        </p:spPr>
      </p:sp>
      <p:sp>
        <p:nvSpPr>
          <p:cNvPr id="21" name="Text 19"/>
          <p:cNvSpPr txBox="1"/>
          <p:nvPr/>
        </p:nvSpPr>
        <p:spPr>
          <a:xfrm>
            <a:off x="3200400" y="4005072"/>
            <a:ext cx="548640" cy="274320"/>
          </a:xfrm>
          <a:prstGeom prst="rect">
            <a:avLst/>
          </a:prstGeom>
          <a:noFill/>
          <a:ln/>
        </p:spPr>
        <p:txBody>
          <a:bodyPr wrap="square" lIns="0" tIns="0" rIns="0" bIns="0" rtlCol="0" anchor="ctr"/>
          <a:lstStyle/>
          <a:p>
            <a:pPr algn="ctr" indent="0" marL="0">
              <a:buNone/>
            </a:pPr>
            <a:r>
              <a:rPr lang="en-US" sz="1150" dirty="0">
                <a:solidFill>
                  <a:srgbClr val="6B7280"/>
                </a:solidFill>
                <a:latin typeface="Century Gothic" pitchFamily="34" charset="0"/>
                <a:ea typeface="Century Gothic" pitchFamily="34" charset="-122"/>
                <a:cs typeface="Century Gothic" pitchFamily="34" charset="-120"/>
              </a:rPr>
              <a:t>9</a:t>
            </a:r>
            <a:endParaRPr lang="en-US" sz="1150" dirty="0"/>
          </a:p>
        </p:txBody>
      </p:sp>
      <p:sp>
        <p:nvSpPr>
          <p:cNvPr id="22" name="Shape 20"/>
          <p:cNvSpPr/>
          <p:nvPr/>
        </p:nvSpPr>
        <p:spPr>
          <a:xfrm>
            <a:off x="4546065" y="2887063"/>
            <a:ext cx="966269" cy="452939"/>
          </a:xfrm>
          <a:prstGeom prst="line">
            <a:avLst/>
          </a:prstGeom>
          <a:noFill/>
          <a:ln w="19050">
            <a:solidFill>
              <a:srgbClr val="C8CDD4"/>
            </a:solidFill>
            <a:prstDash val="solid"/>
            <a:tailEnd type="triangle"/>
          </a:ln>
        </p:spPr>
      </p:sp>
      <p:sp>
        <p:nvSpPr>
          <p:cNvPr id="23" name="Shape 21"/>
          <p:cNvSpPr/>
          <p:nvPr/>
        </p:nvSpPr>
        <p:spPr>
          <a:xfrm>
            <a:off x="4791456" y="2967228"/>
            <a:ext cx="475488" cy="292608"/>
          </a:xfrm>
          <a:prstGeom prst="rect">
            <a:avLst/>
          </a:prstGeom>
          <a:solidFill>
            <a:srgbClr val="FFFFFF"/>
          </a:solidFill>
          <a:ln w="6350">
            <a:solidFill>
              <a:srgbClr val="FFFFFF"/>
            </a:solidFill>
            <a:prstDash val="solid"/>
          </a:ln>
        </p:spPr>
      </p:sp>
      <p:sp>
        <p:nvSpPr>
          <p:cNvPr id="24" name="Text 22"/>
          <p:cNvSpPr txBox="1"/>
          <p:nvPr/>
        </p:nvSpPr>
        <p:spPr>
          <a:xfrm>
            <a:off x="4754880" y="2976372"/>
            <a:ext cx="548640" cy="274320"/>
          </a:xfrm>
          <a:prstGeom prst="rect">
            <a:avLst/>
          </a:prstGeom>
          <a:noFill/>
          <a:ln/>
        </p:spPr>
        <p:txBody>
          <a:bodyPr wrap="square" lIns="0" tIns="0" rIns="0" bIns="0" rtlCol="0" anchor="ctr"/>
          <a:lstStyle/>
          <a:p>
            <a:pPr algn="ctr" indent="0" marL="0">
              <a:buNone/>
            </a:pPr>
            <a:r>
              <a:rPr lang="en-US" sz="1150" dirty="0">
                <a:solidFill>
                  <a:srgbClr val="6B7280"/>
                </a:solidFill>
                <a:latin typeface="Century Gothic" pitchFamily="34" charset="0"/>
                <a:ea typeface="Century Gothic" pitchFamily="34" charset="-122"/>
                <a:cs typeface="Century Gothic" pitchFamily="34" charset="-120"/>
              </a:rPr>
              <a:t>0</a:t>
            </a:r>
            <a:endParaRPr lang="en-US" sz="1150" dirty="0"/>
          </a:p>
        </p:txBody>
      </p:sp>
      <p:sp>
        <p:nvSpPr>
          <p:cNvPr id="25" name="Shape 23"/>
          <p:cNvSpPr/>
          <p:nvPr/>
        </p:nvSpPr>
        <p:spPr>
          <a:xfrm flipV="1">
            <a:off x="4546065" y="3572863"/>
            <a:ext cx="966269" cy="452939"/>
          </a:xfrm>
          <a:prstGeom prst="line">
            <a:avLst/>
          </a:prstGeom>
          <a:noFill/>
          <a:ln w="19050">
            <a:solidFill>
              <a:srgbClr val="C8CDD4"/>
            </a:solidFill>
            <a:prstDash val="solid"/>
            <a:tailEnd type="triangle"/>
          </a:ln>
        </p:spPr>
      </p:sp>
      <p:sp>
        <p:nvSpPr>
          <p:cNvPr id="26" name="Shape 24"/>
          <p:cNvSpPr/>
          <p:nvPr/>
        </p:nvSpPr>
        <p:spPr>
          <a:xfrm>
            <a:off x="4791456" y="3653028"/>
            <a:ext cx="475488" cy="292608"/>
          </a:xfrm>
          <a:prstGeom prst="rect">
            <a:avLst/>
          </a:prstGeom>
          <a:solidFill>
            <a:srgbClr val="FFFFFF"/>
          </a:solidFill>
          <a:ln w="6350">
            <a:solidFill>
              <a:srgbClr val="FFFFFF"/>
            </a:solidFill>
            <a:prstDash val="solid"/>
          </a:ln>
        </p:spPr>
      </p:sp>
      <p:sp>
        <p:nvSpPr>
          <p:cNvPr id="27" name="Text 25"/>
          <p:cNvSpPr txBox="1"/>
          <p:nvPr/>
        </p:nvSpPr>
        <p:spPr>
          <a:xfrm>
            <a:off x="4754880" y="3662172"/>
            <a:ext cx="548640" cy="274320"/>
          </a:xfrm>
          <a:prstGeom prst="rect">
            <a:avLst/>
          </a:prstGeom>
          <a:noFill/>
          <a:ln/>
        </p:spPr>
        <p:txBody>
          <a:bodyPr wrap="square" lIns="0" tIns="0" rIns="0" bIns="0" rtlCol="0" anchor="ctr"/>
          <a:lstStyle/>
          <a:p>
            <a:pPr algn="ctr" indent="0" marL="0">
              <a:buNone/>
            </a:pPr>
            <a:r>
              <a:rPr lang="en-US" sz="1150" dirty="0">
                <a:solidFill>
                  <a:srgbClr val="6B7280"/>
                </a:solidFill>
                <a:latin typeface="Century Gothic" pitchFamily="34" charset="0"/>
                <a:ea typeface="Century Gothic" pitchFamily="34" charset="-122"/>
                <a:cs typeface="Century Gothic" pitchFamily="34" charset="-120"/>
              </a:rPr>
              <a:t>0</a:t>
            </a:r>
            <a:endParaRPr lang="en-US" sz="1150" dirty="0"/>
          </a:p>
        </p:txBody>
      </p:sp>
      <p:sp>
        <p:nvSpPr>
          <p:cNvPr id="28" name="Shape 26"/>
          <p:cNvSpPr/>
          <p:nvPr/>
        </p:nvSpPr>
        <p:spPr>
          <a:xfrm>
            <a:off x="914400" y="3182112"/>
            <a:ext cx="548640" cy="548640"/>
          </a:xfrm>
          <a:prstGeom prst="ellipse">
            <a:avLst/>
          </a:prstGeom>
          <a:solidFill>
            <a:srgbClr val="EAF4FD"/>
          </a:solidFill>
          <a:ln w="9525">
            <a:solidFill>
              <a:srgbClr val="D5DAE1"/>
            </a:solidFill>
            <a:prstDash val="solid"/>
          </a:ln>
        </p:spPr>
      </p:sp>
      <p:sp>
        <p:nvSpPr>
          <p:cNvPr id="29" name="Text 27"/>
          <p:cNvSpPr txBox="1"/>
          <p:nvPr/>
        </p:nvSpPr>
        <p:spPr>
          <a:xfrm>
            <a:off x="914400" y="3182112"/>
            <a:ext cx="548640" cy="548640"/>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S</a:t>
            </a:r>
            <a:endParaRPr lang="en-US" sz="1200" dirty="0"/>
          </a:p>
        </p:txBody>
      </p:sp>
      <p:sp>
        <p:nvSpPr>
          <p:cNvPr id="30" name="Shape 28"/>
          <p:cNvSpPr/>
          <p:nvPr/>
        </p:nvSpPr>
        <p:spPr>
          <a:xfrm>
            <a:off x="2377440" y="2496312"/>
            <a:ext cx="548640" cy="548640"/>
          </a:xfrm>
          <a:prstGeom prst="ellipse">
            <a:avLst/>
          </a:prstGeom>
          <a:solidFill>
            <a:srgbClr val="EAF4FD"/>
          </a:solidFill>
          <a:ln w="9525">
            <a:solidFill>
              <a:srgbClr val="D5DAE1"/>
            </a:solidFill>
            <a:prstDash val="solid"/>
          </a:ln>
        </p:spPr>
      </p:sp>
      <p:sp>
        <p:nvSpPr>
          <p:cNvPr id="31" name="Text 29"/>
          <p:cNvSpPr txBox="1"/>
          <p:nvPr/>
        </p:nvSpPr>
        <p:spPr>
          <a:xfrm>
            <a:off x="2377440" y="2496312"/>
            <a:ext cx="548640" cy="548640"/>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p1</a:t>
            </a:r>
            <a:endParaRPr lang="en-US" sz="1200" dirty="0"/>
          </a:p>
        </p:txBody>
      </p:sp>
      <p:sp>
        <p:nvSpPr>
          <p:cNvPr id="32" name="Shape 30"/>
          <p:cNvSpPr/>
          <p:nvPr/>
        </p:nvSpPr>
        <p:spPr>
          <a:xfrm>
            <a:off x="2377440" y="3867912"/>
            <a:ext cx="548640" cy="548640"/>
          </a:xfrm>
          <a:prstGeom prst="ellipse">
            <a:avLst/>
          </a:prstGeom>
          <a:solidFill>
            <a:srgbClr val="EAF4FD"/>
          </a:solidFill>
          <a:ln w="9525">
            <a:solidFill>
              <a:srgbClr val="D5DAE1"/>
            </a:solidFill>
            <a:prstDash val="solid"/>
          </a:ln>
        </p:spPr>
      </p:sp>
      <p:sp>
        <p:nvSpPr>
          <p:cNvPr id="33" name="Text 31"/>
          <p:cNvSpPr txBox="1"/>
          <p:nvPr/>
        </p:nvSpPr>
        <p:spPr>
          <a:xfrm>
            <a:off x="2377440" y="3867912"/>
            <a:ext cx="548640" cy="548640"/>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p2</a:t>
            </a:r>
            <a:endParaRPr lang="en-US" sz="1200" dirty="0"/>
          </a:p>
        </p:txBody>
      </p:sp>
      <p:sp>
        <p:nvSpPr>
          <p:cNvPr id="34" name="Shape 32"/>
          <p:cNvSpPr/>
          <p:nvPr/>
        </p:nvSpPr>
        <p:spPr>
          <a:xfrm>
            <a:off x="4023360" y="2496312"/>
            <a:ext cx="548640" cy="548640"/>
          </a:xfrm>
          <a:prstGeom prst="ellipse">
            <a:avLst/>
          </a:prstGeom>
          <a:solidFill>
            <a:srgbClr val="EAF4FD"/>
          </a:solidFill>
          <a:ln w="9525">
            <a:solidFill>
              <a:srgbClr val="D5DAE1"/>
            </a:solidFill>
            <a:prstDash val="solid"/>
          </a:ln>
        </p:spPr>
      </p:sp>
      <p:sp>
        <p:nvSpPr>
          <p:cNvPr id="35" name="Text 33"/>
          <p:cNvSpPr txBox="1"/>
          <p:nvPr/>
        </p:nvSpPr>
        <p:spPr>
          <a:xfrm>
            <a:off x="4023360" y="2496312"/>
            <a:ext cx="548640" cy="548640"/>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t1</a:t>
            </a:r>
            <a:endParaRPr lang="en-US" sz="1200" dirty="0"/>
          </a:p>
        </p:txBody>
      </p:sp>
      <p:sp>
        <p:nvSpPr>
          <p:cNvPr id="36" name="Shape 34"/>
          <p:cNvSpPr/>
          <p:nvPr/>
        </p:nvSpPr>
        <p:spPr>
          <a:xfrm>
            <a:off x="4023360" y="3867912"/>
            <a:ext cx="548640" cy="548640"/>
          </a:xfrm>
          <a:prstGeom prst="ellipse">
            <a:avLst/>
          </a:prstGeom>
          <a:solidFill>
            <a:srgbClr val="EAF4FD"/>
          </a:solidFill>
          <a:ln w="9525">
            <a:solidFill>
              <a:srgbClr val="D5DAE1"/>
            </a:solidFill>
            <a:prstDash val="solid"/>
          </a:ln>
        </p:spPr>
      </p:sp>
      <p:sp>
        <p:nvSpPr>
          <p:cNvPr id="37" name="Text 35"/>
          <p:cNvSpPr txBox="1"/>
          <p:nvPr/>
        </p:nvSpPr>
        <p:spPr>
          <a:xfrm>
            <a:off x="4023360" y="3867912"/>
            <a:ext cx="548640" cy="548640"/>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t2</a:t>
            </a:r>
            <a:endParaRPr lang="en-US" sz="1200" dirty="0"/>
          </a:p>
        </p:txBody>
      </p:sp>
      <p:sp>
        <p:nvSpPr>
          <p:cNvPr id="38" name="Shape 36"/>
          <p:cNvSpPr/>
          <p:nvPr/>
        </p:nvSpPr>
        <p:spPr>
          <a:xfrm>
            <a:off x="5486400" y="3182112"/>
            <a:ext cx="548640" cy="548640"/>
          </a:xfrm>
          <a:prstGeom prst="ellipse">
            <a:avLst/>
          </a:prstGeom>
          <a:solidFill>
            <a:srgbClr val="EAF4FD"/>
          </a:solidFill>
          <a:ln w="9525">
            <a:solidFill>
              <a:srgbClr val="D5DAE1"/>
            </a:solidFill>
            <a:prstDash val="solid"/>
          </a:ln>
        </p:spPr>
      </p:sp>
      <p:sp>
        <p:nvSpPr>
          <p:cNvPr id="39" name="Text 37"/>
          <p:cNvSpPr txBox="1"/>
          <p:nvPr/>
        </p:nvSpPr>
        <p:spPr>
          <a:xfrm>
            <a:off x="5486400" y="3182112"/>
            <a:ext cx="548640" cy="548640"/>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T</a:t>
            </a:r>
            <a:endParaRPr lang="en-US" sz="1200" dirty="0"/>
          </a:p>
        </p:txBody>
      </p:sp>
      <p:sp>
        <p:nvSpPr>
          <p:cNvPr id="40" name="Shape 38"/>
          <p:cNvSpPr/>
          <p:nvPr/>
        </p:nvSpPr>
        <p:spPr>
          <a:xfrm>
            <a:off x="6949440" y="2587752"/>
            <a:ext cx="4572000" cy="3328416"/>
          </a:xfrm>
          <a:prstGeom prst="rect">
            <a:avLst/>
          </a:prstGeom>
          <a:solidFill>
            <a:srgbClr val="FAFAFA"/>
          </a:solidFill>
          <a:ln/>
        </p:spPr>
      </p:sp>
      <p:sp>
        <p:nvSpPr>
          <p:cNvPr id="41" name="Text 39"/>
          <p:cNvSpPr txBox="1"/>
          <p:nvPr/>
        </p:nvSpPr>
        <p:spPr>
          <a:xfrm>
            <a:off x="7178040" y="2770632"/>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entury Gothic" pitchFamily="34" charset="0"/>
                <a:ea typeface="Century Gothic" pitchFamily="34" charset="-122"/>
                <a:cs typeface="Century Gothic" pitchFamily="34" charset="-120"/>
              </a:rPr>
              <a:t>BIAYA PENUGASAN</a:t>
            </a:r>
            <a:endParaRPr lang="en-US" sz="1150" dirty="0"/>
          </a:p>
        </p:txBody>
      </p:sp>
      <p:sp>
        <p:nvSpPr>
          <p:cNvPr id="42" name="Text 40"/>
          <p:cNvSpPr txBox="1"/>
          <p:nvPr/>
        </p:nvSpPr>
        <p:spPr>
          <a:xfrm>
            <a:off x="7178040" y="3099816"/>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p1 -&gt; t1 : 1    p1 -&gt; t2 : 2</a:t>
            </a:r>
            <a:endParaRPr lang="en-US" sz="1150" dirty="0"/>
          </a:p>
        </p:txBody>
      </p:sp>
      <p:sp>
        <p:nvSpPr>
          <p:cNvPr id="43" name="Text 41"/>
          <p:cNvSpPr txBox="1"/>
          <p:nvPr/>
        </p:nvSpPr>
        <p:spPr>
          <a:xfrm>
            <a:off x="7178040" y="3429000"/>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p2 -&gt; t1 : 1    p2 -&gt; t2 : 9</a:t>
            </a:r>
            <a:endParaRPr lang="en-US" sz="1150" dirty="0"/>
          </a:p>
        </p:txBody>
      </p:sp>
      <p:sp>
        <p:nvSpPr>
          <p:cNvPr id="44" name="Text 42"/>
          <p:cNvSpPr txBox="1"/>
          <p:nvPr/>
        </p:nvSpPr>
        <p:spPr>
          <a:xfrm>
            <a:off x="7178040" y="3758184"/>
            <a:ext cx="4206240" cy="292608"/>
          </a:xfrm>
          <a:prstGeom prst="rect">
            <a:avLst/>
          </a:prstGeom>
          <a:noFill/>
          <a:ln/>
        </p:spPr>
        <p:txBody>
          <a:bodyPr wrap="square" lIns="0" tIns="0" rIns="0" bIns="0" rtlCol="0" anchor="ctr"/>
          <a:lstStyle/>
          <a:p>
            <a:pPr indent="0" marL="0">
              <a:buNone/>
            </a:pPr>
            <a:endParaRPr lang="en-US" sz="1150" dirty="0"/>
          </a:p>
        </p:txBody>
      </p:sp>
      <p:sp>
        <p:nvSpPr>
          <p:cNvPr id="45" name="Text 43"/>
          <p:cNvSpPr txBox="1"/>
          <p:nvPr/>
        </p:nvSpPr>
        <p:spPr>
          <a:xfrm>
            <a:off x="7178040" y="4087368"/>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rakus: ambil termurah dulu</a:t>
            </a:r>
            <a:endParaRPr lang="en-US" sz="1150" dirty="0"/>
          </a:p>
        </p:txBody>
      </p:sp>
      <p:sp>
        <p:nvSpPr>
          <p:cNvPr id="46" name="Text 44"/>
          <p:cNvSpPr txBox="1"/>
          <p:nvPr/>
        </p:nvSpPr>
        <p:spPr>
          <a:xfrm>
            <a:off x="7178040" y="4416552"/>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  p1-t1 (1), lalu p2-t2 (9)</a:t>
            </a:r>
            <a:endParaRPr lang="en-US" sz="1150" dirty="0"/>
          </a:p>
        </p:txBody>
      </p:sp>
      <p:sp>
        <p:nvSpPr>
          <p:cNvPr id="47" name="Text 45"/>
          <p:cNvSpPr txBox="1"/>
          <p:nvPr/>
        </p:nvSpPr>
        <p:spPr>
          <a:xfrm>
            <a:off x="7178040" y="4745736"/>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  total 10</a:t>
            </a:r>
            <a:endParaRPr lang="en-US" sz="1150" dirty="0"/>
          </a:p>
        </p:txBody>
      </p:sp>
      <p:sp>
        <p:nvSpPr>
          <p:cNvPr id="48" name="Text 46"/>
          <p:cNvSpPr txBox="1"/>
          <p:nvPr/>
        </p:nvSpPr>
        <p:spPr>
          <a:xfrm>
            <a:off x="7178040" y="5074920"/>
            <a:ext cx="4206240" cy="292608"/>
          </a:xfrm>
          <a:prstGeom prst="rect">
            <a:avLst/>
          </a:prstGeom>
          <a:noFill/>
          <a:ln/>
        </p:spPr>
        <p:txBody>
          <a:bodyPr wrap="square" lIns="0" tIns="0" rIns="0" bIns="0" rtlCol="0" anchor="ctr"/>
          <a:lstStyle/>
          <a:p>
            <a:pPr indent="0" marL="0">
              <a:buNone/>
            </a:pPr>
            <a:endParaRPr lang="en-US" sz="1150" dirty="0"/>
          </a:p>
        </p:txBody>
      </p:sp>
      <p:sp>
        <p:nvSpPr>
          <p:cNvPr id="49" name="Text 47"/>
          <p:cNvSpPr txBox="1"/>
          <p:nvPr/>
        </p:nvSpPr>
        <p:spPr>
          <a:xfrm>
            <a:off x="7178040" y="5404104"/>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optimal: 3</a:t>
            </a:r>
            <a:endParaRPr lang="en-US" sz="1150" dirty="0"/>
          </a:p>
        </p:txBody>
      </p:sp>
      <p:sp>
        <p:nvSpPr>
          <p:cNvPr id="50" name="Shape 48"/>
          <p:cNvSpPr/>
          <p:nvPr/>
        </p:nvSpPr>
        <p:spPr>
          <a:xfrm>
            <a:off x="667512" y="5742432"/>
            <a:ext cx="10853928" cy="914400"/>
          </a:xfrm>
          <a:prstGeom prst="rect">
            <a:avLst/>
          </a:prstGeom>
          <a:solidFill>
            <a:srgbClr val="FAFAFA"/>
          </a:solidFill>
          <a:ln/>
        </p:spPr>
      </p:sp>
      <p:sp>
        <p:nvSpPr>
          <p:cNvPr id="51" name="Text 49"/>
          <p:cNvSpPr txBox="1"/>
          <p:nvPr/>
        </p:nvSpPr>
        <p:spPr>
          <a:xfrm>
            <a:off x="941832" y="5833872"/>
            <a:ext cx="10332720" cy="310896"/>
          </a:xfrm>
          <a:prstGeom prst="rect">
            <a:avLst/>
          </a:prstGeom>
          <a:noFill/>
          <a:ln/>
        </p:spPr>
        <p:txBody>
          <a:bodyPr wrap="square" lIns="0" tIns="0" rIns="0" bIns="0" rtlCol="0" anchor="ctr"/>
          <a:lstStyle/>
          <a:p>
            <a:pPr indent="0" marL="0">
              <a:buNone/>
            </a:pPr>
            <a:r>
              <a:rPr lang="en-US" sz="1300" dirty="0">
                <a:solidFill>
                  <a:srgbClr val="2B2B2B"/>
                </a:solidFill>
                <a:latin typeface="Consolas" pitchFamily="34" charset="0"/>
                <a:ea typeface="Consolas" pitchFamily="34" charset="-122"/>
                <a:cs typeface="Consolas" pitchFamily="34" charset="-120"/>
              </a:rPr>
              <a:t>seluruh kapasitas 1, jadi tiap pekerja mengerjakan tepat satu tugas</a:t>
            </a:r>
            <a:endParaRPr lang="en-US" sz="1300" dirty="0"/>
          </a:p>
        </p:txBody>
      </p:sp>
      <p:sp>
        <p:nvSpPr>
          <p:cNvPr id="52" name="Text 50"/>
          <p:cNvSpPr txBox="1"/>
          <p:nvPr/>
        </p:nvSpPr>
        <p:spPr>
          <a:xfrm>
            <a:off x="941832" y="6181344"/>
            <a:ext cx="10332720" cy="384048"/>
          </a:xfrm>
          <a:prstGeom prst="rect">
            <a:avLst/>
          </a:prstGeom>
          <a:noFill/>
          <a:ln/>
        </p:spPr>
        <p:txBody>
          <a:bodyPr wrap="square" lIns="0" tIns="0" rIns="0" bIns="0" rtlCol="0" anchor="ct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Perhatikan kenapa rakus gagal: mengambil pasangan termurah lebih dulu memaksa sisa pasangannya menjadi yang termahal. MCMF tidak mengalami itu karena keputusannya bisa dibatalkan.</a:t>
            </a:r>
            <a:endParaRPr lang="en-US" sz="1200" dirty="0"/>
          </a:p>
        </p:txBody>
      </p:sp>
      <p:sp>
        <p:nvSpPr>
          <p:cNvPr id="53" name="Shape 51"/>
          <p:cNvSpPr/>
          <p:nvPr/>
        </p:nvSpPr>
        <p:spPr>
          <a:xfrm>
            <a:off x="9692640" y="1975104"/>
            <a:ext cx="1828800" cy="384048"/>
          </a:xfrm>
          <a:prstGeom prst="rect">
            <a:avLst/>
          </a:prstGeom>
          <a:solidFill>
            <a:srgbClr val="F2F7FD"/>
          </a:solidFill>
          <a:ln/>
        </p:spPr>
      </p:sp>
      <p:sp>
        <p:nvSpPr>
          <p:cNvPr id="54" name="Text 52"/>
          <p:cNvSpPr txBox="1"/>
          <p:nvPr/>
        </p:nvSpPr>
        <p:spPr>
          <a:xfrm>
            <a:off x="9692640" y="1975104"/>
            <a:ext cx="1828800" cy="384048"/>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1 / 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Langkah 2 — Jalur Termurah Pertama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SPFA mencari jalur berbiaya terkecil dari sumber ke tujuan. Yang ditemukan berbiaya 1, lewat p1 dan t1.</a:t>
            </a:r>
            <a:endParaRPr lang="en-US" sz="1300" dirty="0"/>
          </a:p>
        </p:txBody>
      </p:sp>
      <p:sp>
        <p:nvSpPr>
          <p:cNvPr id="4" name="Shape 2"/>
          <p:cNvSpPr/>
          <p:nvPr/>
        </p:nvSpPr>
        <p:spPr>
          <a:xfrm flipV="1">
            <a:off x="1437105" y="2649319"/>
            <a:ext cx="966269" cy="452939"/>
          </a:xfrm>
          <a:prstGeom prst="line">
            <a:avLst/>
          </a:prstGeom>
          <a:noFill/>
          <a:ln w="19050">
            <a:solidFill>
              <a:srgbClr val="B45309"/>
            </a:solidFill>
            <a:prstDash val="solid"/>
            <a:tailEnd type="triangle"/>
          </a:ln>
        </p:spPr>
      </p:sp>
      <p:sp>
        <p:nvSpPr>
          <p:cNvPr id="5" name="Shape 3"/>
          <p:cNvSpPr/>
          <p:nvPr/>
        </p:nvSpPr>
        <p:spPr>
          <a:xfrm>
            <a:off x="1682496" y="2729484"/>
            <a:ext cx="475488" cy="292608"/>
          </a:xfrm>
          <a:prstGeom prst="rect">
            <a:avLst/>
          </a:prstGeom>
          <a:solidFill>
            <a:srgbClr val="FFFFFF"/>
          </a:solidFill>
          <a:ln w="6350">
            <a:solidFill>
              <a:srgbClr val="FFFFFF"/>
            </a:solidFill>
            <a:prstDash val="solid"/>
          </a:ln>
        </p:spPr>
      </p:sp>
      <p:sp>
        <p:nvSpPr>
          <p:cNvPr id="6" name="Text 4"/>
          <p:cNvSpPr txBox="1"/>
          <p:nvPr/>
        </p:nvSpPr>
        <p:spPr>
          <a:xfrm>
            <a:off x="1645920" y="2738628"/>
            <a:ext cx="548640" cy="274320"/>
          </a:xfrm>
          <a:prstGeom prst="rect">
            <a:avLst/>
          </a:prstGeom>
          <a:noFill/>
          <a:ln/>
        </p:spPr>
        <p:txBody>
          <a:bodyPr wrap="square" lIns="0" tIns="0" rIns="0" bIns="0" rtlCol="0" anchor="ctr"/>
          <a:lstStyle/>
          <a:p>
            <a:pPr algn="ctr" indent="0" marL="0">
              <a:buNone/>
            </a:pPr>
            <a:r>
              <a:rPr lang="en-US" sz="1150" dirty="0">
                <a:solidFill>
                  <a:srgbClr val="B45309"/>
                </a:solidFill>
                <a:latin typeface="Century Gothic" pitchFamily="34" charset="0"/>
                <a:ea typeface="Century Gothic" pitchFamily="34" charset="-122"/>
                <a:cs typeface="Century Gothic" pitchFamily="34" charset="-120"/>
              </a:rPr>
              <a:t>0</a:t>
            </a:r>
            <a:endParaRPr lang="en-US" sz="1150" dirty="0"/>
          </a:p>
        </p:txBody>
      </p:sp>
      <p:sp>
        <p:nvSpPr>
          <p:cNvPr id="7" name="Shape 5"/>
          <p:cNvSpPr/>
          <p:nvPr/>
        </p:nvSpPr>
        <p:spPr>
          <a:xfrm>
            <a:off x="1437105" y="3335119"/>
            <a:ext cx="966269" cy="452939"/>
          </a:xfrm>
          <a:prstGeom prst="line">
            <a:avLst/>
          </a:prstGeom>
          <a:noFill/>
          <a:ln w="19050">
            <a:solidFill>
              <a:srgbClr val="C8CDD4"/>
            </a:solidFill>
            <a:prstDash val="solid"/>
            <a:tailEnd type="triangle"/>
          </a:ln>
        </p:spPr>
      </p:sp>
      <p:sp>
        <p:nvSpPr>
          <p:cNvPr id="8" name="Shape 6"/>
          <p:cNvSpPr/>
          <p:nvPr/>
        </p:nvSpPr>
        <p:spPr>
          <a:xfrm>
            <a:off x="1682496" y="3415284"/>
            <a:ext cx="475488" cy="292608"/>
          </a:xfrm>
          <a:prstGeom prst="rect">
            <a:avLst/>
          </a:prstGeom>
          <a:solidFill>
            <a:srgbClr val="FFFFFF"/>
          </a:solidFill>
          <a:ln w="6350">
            <a:solidFill>
              <a:srgbClr val="FFFFFF"/>
            </a:solidFill>
            <a:prstDash val="solid"/>
          </a:ln>
        </p:spPr>
      </p:sp>
      <p:sp>
        <p:nvSpPr>
          <p:cNvPr id="9" name="Text 7"/>
          <p:cNvSpPr txBox="1"/>
          <p:nvPr/>
        </p:nvSpPr>
        <p:spPr>
          <a:xfrm>
            <a:off x="1645920" y="3424428"/>
            <a:ext cx="548640" cy="274320"/>
          </a:xfrm>
          <a:prstGeom prst="rect">
            <a:avLst/>
          </a:prstGeom>
          <a:noFill/>
          <a:ln/>
        </p:spPr>
        <p:txBody>
          <a:bodyPr wrap="square" lIns="0" tIns="0" rIns="0" bIns="0" rtlCol="0" anchor="ctr"/>
          <a:lstStyle/>
          <a:p>
            <a:pPr algn="ctr" indent="0" marL="0">
              <a:buNone/>
            </a:pPr>
            <a:r>
              <a:rPr lang="en-US" sz="1150" dirty="0">
                <a:solidFill>
                  <a:srgbClr val="6B7280"/>
                </a:solidFill>
                <a:latin typeface="Century Gothic" pitchFamily="34" charset="0"/>
                <a:ea typeface="Century Gothic" pitchFamily="34" charset="-122"/>
                <a:cs typeface="Century Gothic" pitchFamily="34" charset="-120"/>
              </a:rPr>
              <a:t>0</a:t>
            </a:r>
            <a:endParaRPr lang="en-US" sz="1150" dirty="0"/>
          </a:p>
        </p:txBody>
      </p:sp>
      <p:sp>
        <p:nvSpPr>
          <p:cNvPr id="10" name="Shape 8"/>
          <p:cNvSpPr/>
          <p:nvPr/>
        </p:nvSpPr>
        <p:spPr>
          <a:xfrm>
            <a:off x="2926080" y="2532888"/>
            <a:ext cx="1097280" cy="914"/>
          </a:xfrm>
          <a:prstGeom prst="line">
            <a:avLst/>
          </a:prstGeom>
          <a:noFill/>
          <a:ln w="19050">
            <a:solidFill>
              <a:srgbClr val="B45309"/>
            </a:solidFill>
            <a:prstDash val="solid"/>
            <a:tailEnd type="triangle"/>
          </a:ln>
        </p:spPr>
      </p:sp>
      <p:sp>
        <p:nvSpPr>
          <p:cNvPr id="11" name="Shape 9"/>
          <p:cNvSpPr/>
          <p:nvPr/>
        </p:nvSpPr>
        <p:spPr>
          <a:xfrm>
            <a:off x="3236976" y="2386584"/>
            <a:ext cx="475488" cy="292608"/>
          </a:xfrm>
          <a:prstGeom prst="rect">
            <a:avLst/>
          </a:prstGeom>
          <a:solidFill>
            <a:srgbClr val="FFFFFF"/>
          </a:solidFill>
          <a:ln w="6350">
            <a:solidFill>
              <a:srgbClr val="FFFFFF"/>
            </a:solidFill>
            <a:prstDash val="solid"/>
          </a:ln>
        </p:spPr>
      </p:sp>
      <p:sp>
        <p:nvSpPr>
          <p:cNvPr id="12" name="Text 10"/>
          <p:cNvSpPr txBox="1"/>
          <p:nvPr/>
        </p:nvSpPr>
        <p:spPr>
          <a:xfrm>
            <a:off x="3200400" y="2395728"/>
            <a:ext cx="548640" cy="274320"/>
          </a:xfrm>
          <a:prstGeom prst="rect">
            <a:avLst/>
          </a:prstGeom>
          <a:noFill/>
          <a:ln/>
        </p:spPr>
        <p:txBody>
          <a:bodyPr wrap="square" lIns="0" tIns="0" rIns="0" bIns="0" rtlCol="0" anchor="ctr"/>
          <a:lstStyle/>
          <a:p>
            <a:pPr algn="ctr" indent="0" marL="0">
              <a:buNone/>
            </a:pPr>
            <a:r>
              <a:rPr lang="en-US" sz="1150" dirty="0">
                <a:solidFill>
                  <a:srgbClr val="B45309"/>
                </a:solidFill>
                <a:latin typeface="Century Gothic" pitchFamily="34" charset="0"/>
                <a:ea typeface="Century Gothic" pitchFamily="34" charset="-122"/>
                <a:cs typeface="Century Gothic" pitchFamily="34" charset="-120"/>
              </a:rPr>
              <a:t>1</a:t>
            </a:r>
            <a:endParaRPr lang="en-US" sz="1150" dirty="0"/>
          </a:p>
        </p:txBody>
      </p:sp>
      <p:sp>
        <p:nvSpPr>
          <p:cNvPr id="13" name="Shape 11"/>
          <p:cNvSpPr/>
          <p:nvPr/>
        </p:nvSpPr>
        <p:spPr>
          <a:xfrm>
            <a:off x="2862498" y="2708503"/>
            <a:ext cx="1224443" cy="1020369"/>
          </a:xfrm>
          <a:prstGeom prst="line">
            <a:avLst/>
          </a:prstGeom>
          <a:noFill/>
          <a:ln w="19050">
            <a:solidFill>
              <a:srgbClr val="C8CDD4"/>
            </a:solidFill>
            <a:prstDash val="solid"/>
            <a:tailEnd type="triangle"/>
          </a:ln>
        </p:spPr>
      </p:sp>
      <p:sp>
        <p:nvSpPr>
          <p:cNvPr id="14" name="Shape 12"/>
          <p:cNvSpPr/>
          <p:nvPr/>
        </p:nvSpPr>
        <p:spPr>
          <a:xfrm>
            <a:off x="3236976" y="3072384"/>
            <a:ext cx="475488" cy="292608"/>
          </a:xfrm>
          <a:prstGeom prst="rect">
            <a:avLst/>
          </a:prstGeom>
          <a:solidFill>
            <a:srgbClr val="FFFFFF"/>
          </a:solidFill>
          <a:ln w="6350">
            <a:solidFill>
              <a:srgbClr val="FFFFFF"/>
            </a:solidFill>
            <a:prstDash val="solid"/>
          </a:ln>
        </p:spPr>
      </p:sp>
      <p:sp>
        <p:nvSpPr>
          <p:cNvPr id="15" name="Text 13"/>
          <p:cNvSpPr txBox="1"/>
          <p:nvPr/>
        </p:nvSpPr>
        <p:spPr>
          <a:xfrm>
            <a:off x="3200400" y="3081528"/>
            <a:ext cx="548640" cy="274320"/>
          </a:xfrm>
          <a:prstGeom prst="rect">
            <a:avLst/>
          </a:prstGeom>
          <a:noFill/>
          <a:ln/>
        </p:spPr>
        <p:txBody>
          <a:bodyPr wrap="square" lIns="0" tIns="0" rIns="0" bIns="0" rtlCol="0" anchor="ctr"/>
          <a:lstStyle/>
          <a:p>
            <a:pPr algn="ctr" indent="0" marL="0">
              <a:buNone/>
            </a:pPr>
            <a:r>
              <a:rPr lang="en-US" sz="1150" dirty="0">
                <a:solidFill>
                  <a:srgbClr val="6B7280"/>
                </a:solidFill>
                <a:latin typeface="Century Gothic" pitchFamily="34" charset="0"/>
                <a:ea typeface="Century Gothic" pitchFamily="34" charset="-122"/>
                <a:cs typeface="Century Gothic" pitchFamily="34" charset="-120"/>
              </a:rPr>
              <a:t>2</a:t>
            </a:r>
            <a:endParaRPr lang="en-US" sz="1150" dirty="0"/>
          </a:p>
        </p:txBody>
      </p:sp>
      <p:sp>
        <p:nvSpPr>
          <p:cNvPr id="16" name="Shape 14"/>
          <p:cNvSpPr/>
          <p:nvPr/>
        </p:nvSpPr>
        <p:spPr>
          <a:xfrm flipV="1">
            <a:off x="2862498" y="2708503"/>
            <a:ext cx="1224443" cy="1020369"/>
          </a:xfrm>
          <a:prstGeom prst="line">
            <a:avLst/>
          </a:prstGeom>
          <a:noFill/>
          <a:ln w="19050">
            <a:solidFill>
              <a:srgbClr val="C8CDD4"/>
            </a:solidFill>
            <a:prstDash val="solid"/>
            <a:tailEnd type="triangle"/>
          </a:ln>
        </p:spPr>
      </p:sp>
      <p:sp>
        <p:nvSpPr>
          <p:cNvPr id="17" name="Shape 15"/>
          <p:cNvSpPr/>
          <p:nvPr/>
        </p:nvSpPr>
        <p:spPr>
          <a:xfrm>
            <a:off x="3236976" y="3072384"/>
            <a:ext cx="475488" cy="292608"/>
          </a:xfrm>
          <a:prstGeom prst="rect">
            <a:avLst/>
          </a:prstGeom>
          <a:solidFill>
            <a:srgbClr val="FFFFFF"/>
          </a:solidFill>
          <a:ln w="6350">
            <a:solidFill>
              <a:srgbClr val="FFFFFF"/>
            </a:solidFill>
            <a:prstDash val="solid"/>
          </a:ln>
        </p:spPr>
      </p:sp>
      <p:sp>
        <p:nvSpPr>
          <p:cNvPr id="18" name="Text 16"/>
          <p:cNvSpPr txBox="1"/>
          <p:nvPr/>
        </p:nvSpPr>
        <p:spPr>
          <a:xfrm>
            <a:off x="3200400" y="3081528"/>
            <a:ext cx="548640" cy="274320"/>
          </a:xfrm>
          <a:prstGeom prst="rect">
            <a:avLst/>
          </a:prstGeom>
          <a:noFill/>
          <a:ln/>
        </p:spPr>
        <p:txBody>
          <a:bodyPr wrap="square" lIns="0" tIns="0" rIns="0" bIns="0" rtlCol="0" anchor="ctr"/>
          <a:lstStyle/>
          <a:p>
            <a:pPr algn="ctr" indent="0" marL="0">
              <a:buNone/>
            </a:pPr>
            <a:r>
              <a:rPr lang="en-US" sz="1150" dirty="0">
                <a:solidFill>
                  <a:srgbClr val="6B7280"/>
                </a:solidFill>
                <a:latin typeface="Century Gothic" pitchFamily="34" charset="0"/>
                <a:ea typeface="Century Gothic" pitchFamily="34" charset="-122"/>
                <a:cs typeface="Century Gothic" pitchFamily="34" charset="-120"/>
              </a:rPr>
              <a:t>1</a:t>
            </a:r>
            <a:endParaRPr lang="en-US" sz="1150" dirty="0"/>
          </a:p>
        </p:txBody>
      </p:sp>
      <p:sp>
        <p:nvSpPr>
          <p:cNvPr id="19" name="Shape 17"/>
          <p:cNvSpPr/>
          <p:nvPr/>
        </p:nvSpPr>
        <p:spPr>
          <a:xfrm>
            <a:off x="2926080" y="3904488"/>
            <a:ext cx="1097280" cy="914"/>
          </a:xfrm>
          <a:prstGeom prst="line">
            <a:avLst/>
          </a:prstGeom>
          <a:noFill/>
          <a:ln w="19050">
            <a:solidFill>
              <a:srgbClr val="C8CDD4"/>
            </a:solidFill>
            <a:prstDash val="solid"/>
            <a:tailEnd type="triangle"/>
          </a:ln>
        </p:spPr>
      </p:sp>
      <p:sp>
        <p:nvSpPr>
          <p:cNvPr id="20" name="Shape 18"/>
          <p:cNvSpPr/>
          <p:nvPr/>
        </p:nvSpPr>
        <p:spPr>
          <a:xfrm>
            <a:off x="3236976" y="3758184"/>
            <a:ext cx="475488" cy="292608"/>
          </a:xfrm>
          <a:prstGeom prst="rect">
            <a:avLst/>
          </a:prstGeom>
          <a:solidFill>
            <a:srgbClr val="FFFFFF"/>
          </a:solidFill>
          <a:ln w="6350">
            <a:solidFill>
              <a:srgbClr val="FFFFFF"/>
            </a:solidFill>
            <a:prstDash val="solid"/>
          </a:ln>
        </p:spPr>
      </p:sp>
      <p:sp>
        <p:nvSpPr>
          <p:cNvPr id="21" name="Text 19"/>
          <p:cNvSpPr txBox="1"/>
          <p:nvPr/>
        </p:nvSpPr>
        <p:spPr>
          <a:xfrm>
            <a:off x="3200400" y="3767328"/>
            <a:ext cx="548640" cy="274320"/>
          </a:xfrm>
          <a:prstGeom prst="rect">
            <a:avLst/>
          </a:prstGeom>
          <a:noFill/>
          <a:ln/>
        </p:spPr>
        <p:txBody>
          <a:bodyPr wrap="square" lIns="0" tIns="0" rIns="0" bIns="0" rtlCol="0" anchor="ctr"/>
          <a:lstStyle/>
          <a:p>
            <a:pPr algn="ctr" indent="0" marL="0">
              <a:buNone/>
            </a:pPr>
            <a:r>
              <a:rPr lang="en-US" sz="1150" dirty="0">
                <a:solidFill>
                  <a:srgbClr val="6B7280"/>
                </a:solidFill>
                <a:latin typeface="Century Gothic" pitchFamily="34" charset="0"/>
                <a:ea typeface="Century Gothic" pitchFamily="34" charset="-122"/>
                <a:cs typeface="Century Gothic" pitchFamily="34" charset="-120"/>
              </a:rPr>
              <a:t>9</a:t>
            </a:r>
            <a:endParaRPr lang="en-US" sz="1150" dirty="0"/>
          </a:p>
        </p:txBody>
      </p:sp>
      <p:sp>
        <p:nvSpPr>
          <p:cNvPr id="22" name="Shape 20"/>
          <p:cNvSpPr/>
          <p:nvPr/>
        </p:nvSpPr>
        <p:spPr>
          <a:xfrm>
            <a:off x="4546065" y="2649319"/>
            <a:ext cx="966269" cy="452939"/>
          </a:xfrm>
          <a:prstGeom prst="line">
            <a:avLst/>
          </a:prstGeom>
          <a:noFill/>
          <a:ln w="19050">
            <a:solidFill>
              <a:srgbClr val="B45309"/>
            </a:solidFill>
            <a:prstDash val="solid"/>
            <a:tailEnd type="triangle"/>
          </a:ln>
        </p:spPr>
      </p:sp>
      <p:sp>
        <p:nvSpPr>
          <p:cNvPr id="23" name="Shape 21"/>
          <p:cNvSpPr/>
          <p:nvPr/>
        </p:nvSpPr>
        <p:spPr>
          <a:xfrm>
            <a:off x="4791456" y="2729484"/>
            <a:ext cx="475488" cy="292608"/>
          </a:xfrm>
          <a:prstGeom prst="rect">
            <a:avLst/>
          </a:prstGeom>
          <a:solidFill>
            <a:srgbClr val="FFFFFF"/>
          </a:solidFill>
          <a:ln w="6350">
            <a:solidFill>
              <a:srgbClr val="FFFFFF"/>
            </a:solidFill>
            <a:prstDash val="solid"/>
          </a:ln>
        </p:spPr>
      </p:sp>
      <p:sp>
        <p:nvSpPr>
          <p:cNvPr id="24" name="Text 22"/>
          <p:cNvSpPr txBox="1"/>
          <p:nvPr/>
        </p:nvSpPr>
        <p:spPr>
          <a:xfrm>
            <a:off x="4754880" y="2738628"/>
            <a:ext cx="548640" cy="274320"/>
          </a:xfrm>
          <a:prstGeom prst="rect">
            <a:avLst/>
          </a:prstGeom>
          <a:noFill/>
          <a:ln/>
        </p:spPr>
        <p:txBody>
          <a:bodyPr wrap="square" lIns="0" tIns="0" rIns="0" bIns="0" rtlCol="0" anchor="ctr"/>
          <a:lstStyle/>
          <a:p>
            <a:pPr algn="ctr" indent="0" marL="0">
              <a:buNone/>
            </a:pPr>
            <a:r>
              <a:rPr lang="en-US" sz="1150" dirty="0">
                <a:solidFill>
                  <a:srgbClr val="B45309"/>
                </a:solidFill>
                <a:latin typeface="Century Gothic" pitchFamily="34" charset="0"/>
                <a:ea typeface="Century Gothic" pitchFamily="34" charset="-122"/>
                <a:cs typeface="Century Gothic" pitchFamily="34" charset="-120"/>
              </a:rPr>
              <a:t>0</a:t>
            </a:r>
            <a:endParaRPr lang="en-US" sz="1150" dirty="0"/>
          </a:p>
        </p:txBody>
      </p:sp>
      <p:sp>
        <p:nvSpPr>
          <p:cNvPr id="25" name="Shape 23"/>
          <p:cNvSpPr/>
          <p:nvPr/>
        </p:nvSpPr>
        <p:spPr>
          <a:xfrm flipV="1">
            <a:off x="4546065" y="3335119"/>
            <a:ext cx="966269" cy="452939"/>
          </a:xfrm>
          <a:prstGeom prst="line">
            <a:avLst/>
          </a:prstGeom>
          <a:noFill/>
          <a:ln w="19050">
            <a:solidFill>
              <a:srgbClr val="C8CDD4"/>
            </a:solidFill>
            <a:prstDash val="solid"/>
            <a:tailEnd type="triangle"/>
          </a:ln>
        </p:spPr>
      </p:sp>
      <p:sp>
        <p:nvSpPr>
          <p:cNvPr id="26" name="Shape 24"/>
          <p:cNvSpPr/>
          <p:nvPr/>
        </p:nvSpPr>
        <p:spPr>
          <a:xfrm>
            <a:off x="4791456" y="3415284"/>
            <a:ext cx="475488" cy="292608"/>
          </a:xfrm>
          <a:prstGeom prst="rect">
            <a:avLst/>
          </a:prstGeom>
          <a:solidFill>
            <a:srgbClr val="FFFFFF"/>
          </a:solidFill>
          <a:ln w="6350">
            <a:solidFill>
              <a:srgbClr val="FFFFFF"/>
            </a:solidFill>
            <a:prstDash val="solid"/>
          </a:ln>
        </p:spPr>
      </p:sp>
      <p:sp>
        <p:nvSpPr>
          <p:cNvPr id="27" name="Text 25"/>
          <p:cNvSpPr txBox="1"/>
          <p:nvPr/>
        </p:nvSpPr>
        <p:spPr>
          <a:xfrm>
            <a:off x="4754880" y="3424428"/>
            <a:ext cx="548640" cy="274320"/>
          </a:xfrm>
          <a:prstGeom prst="rect">
            <a:avLst/>
          </a:prstGeom>
          <a:noFill/>
          <a:ln/>
        </p:spPr>
        <p:txBody>
          <a:bodyPr wrap="square" lIns="0" tIns="0" rIns="0" bIns="0" rtlCol="0" anchor="ctr"/>
          <a:lstStyle/>
          <a:p>
            <a:pPr algn="ctr" indent="0" marL="0">
              <a:buNone/>
            </a:pPr>
            <a:r>
              <a:rPr lang="en-US" sz="1150" dirty="0">
                <a:solidFill>
                  <a:srgbClr val="6B7280"/>
                </a:solidFill>
                <a:latin typeface="Century Gothic" pitchFamily="34" charset="0"/>
                <a:ea typeface="Century Gothic" pitchFamily="34" charset="-122"/>
                <a:cs typeface="Century Gothic" pitchFamily="34" charset="-120"/>
              </a:rPr>
              <a:t>0</a:t>
            </a:r>
            <a:endParaRPr lang="en-US" sz="1150" dirty="0"/>
          </a:p>
        </p:txBody>
      </p:sp>
      <p:sp>
        <p:nvSpPr>
          <p:cNvPr id="28" name="Shape 26"/>
          <p:cNvSpPr/>
          <p:nvPr/>
        </p:nvSpPr>
        <p:spPr>
          <a:xfrm>
            <a:off x="914400" y="2944368"/>
            <a:ext cx="548640" cy="548640"/>
          </a:xfrm>
          <a:prstGeom prst="ellipse">
            <a:avLst/>
          </a:prstGeom>
          <a:solidFill>
            <a:srgbClr val="FFF3D6"/>
          </a:solidFill>
          <a:ln w="9525">
            <a:solidFill>
              <a:srgbClr val="D5DAE1"/>
            </a:solidFill>
            <a:prstDash val="solid"/>
          </a:ln>
        </p:spPr>
      </p:sp>
      <p:sp>
        <p:nvSpPr>
          <p:cNvPr id="29" name="Text 27"/>
          <p:cNvSpPr txBox="1"/>
          <p:nvPr/>
        </p:nvSpPr>
        <p:spPr>
          <a:xfrm>
            <a:off x="914400" y="2944368"/>
            <a:ext cx="548640" cy="548640"/>
          </a:xfrm>
          <a:prstGeom prst="rect">
            <a:avLst/>
          </a:prstGeom>
          <a:noFill/>
          <a:ln/>
        </p:spPr>
        <p:txBody>
          <a:bodyPr wrap="square" lIns="0" tIns="0" rIns="0" bIns="0" rtlCol="0" anchor="ctr"/>
          <a:lstStyle/>
          <a:p>
            <a:pPr algn="ctr" indent="0" marL="0">
              <a:buNone/>
            </a:pPr>
            <a:r>
              <a:rPr lang="en-US" sz="1200" dirty="0">
                <a:solidFill>
                  <a:srgbClr val="B45309"/>
                </a:solidFill>
                <a:latin typeface="Century Gothic" pitchFamily="34" charset="0"/>
                <a:ea typeface="Century Gothic" pitchFamily="34" charset="-122"/>
                <a:cs typeface="Century Gothic" pitchFamily="34" charset="-120"/>
              </a:rPr>
              <a:t>S</a:t>
            </a:r>
            <a:endParaRPr lang="en-US" sz="1200" dirty="0"/>
          </a:p>
        </p:txBody>
      </p:sp>
      <p:sp>
        <p:nvSpPr>
          <p:cNvPr id="30" name="Shape 28"/>
          <p:cNvSpPr/>
          <p:nvPr/>
        </p:nvSpPr>
        <p:spPr>
          <a:xfrm>
            <a:off x="2377440" y="2258568"/>
            <a:ext cx="548640" cy="548640"/>
          </a:xfrm>
          <a:prstGeom prst="ellipse">
            <a:avLst/>
          </a:prstGeom>
          <a:solidFill>
            <a:srgbClr val="FFF3D6"/>
          </a:solidFill>
          <a:ln w="9525">
            <a:solidFill>
              <a:srgbClr val="D5DAE1"/>
            </a:solidFill>
            <a:prstDash val="solid"/>
          </a:ln>
        </p:spPr>
      </p:sp>
      <p:sp>
        <p:nvSpPr>
          <p:cNvPr id="31" name="Text 29"/>
          <p:cNvSpPr txBox="1"/>
          <p:nvPr/>
        </p:nvSpPr>
        <p:spPr>
          <a:xfrm>
            <a:off x="2377440" y="2258568"/>
            <a:ext cx="548640" cy="548640"/>
          </a:xfrm>
          <a:prstGeom prst="rect">
            <a:avLst/>
          </a:prstGeom>
          <a:noFill/>
          <a:ln/>
        </p:spPr>
        <p:txBody>
          <a:bodyPr wrap="square" lIns="0" tIns="0" rIns="0" bIns="0" rtlCol="0" anchor="ctr"/>
          <a:lstStyle/>
          <a:p>
            <a:pPr algn="ctr" indent="0" marL="0">
              <a:buNone/>
            </a:pPr>
            <a:r>
              <a:rPr lang="en-US" sz="1200" dirty="0">
                <a:solidFill>
                  <a:srgbClr val="B45309"/>
                </a:solidFill>
                <a:latin typeface="Century Gothic" pitchFamily="34" charset="0"/>
                <a:ea typeface="Century Gothic" pitchFamily="34" charset="-122"/>
                <a:cs typeface="Century Gothic" pitchFamily="34" charset="-120"/>
              </a:rPr>
              <a:t>p1</a:t>
            </a:r>
            <a:endParaRPr lang="en-US" sz="1200" dirty="0"/>
          </a:p>
        </p:txBody>
      </p:sp>
      <p:sp>
        <p:nvSpPr>
          <p:cNvPr id="32" name="Shape 30"/>
          <p:cNvSpPr/>
          <p:nvPr/>
        </p:nvSpPr>
        <p:spPr>
          <a:xfrm>
            <a:off x="2377440" y="3630168"/>
            <a:ext cx="548640" cy="548640"/>
          </a:xfrm>
          <a:prstGeom prst="ellipse">
            <a:avLst/>
          </a:prstGeom>
          <a:solidFill>
            <a:srgbClr val="EAF4FD"/>
          </a:solidFill>
          <a:ln w="9525">
            <a:solidFill>
              <a:srgbClr val="D5DAE1"/>
            </a:solidFill>
            <a:prstDash val="solid"/>
          </a:ln>
        </p:spPr>
      </p:sp>
      <p:sp>
        <p:nvSpPr>
          <p:cNvPr id="33" name="Text 31"/>
          <p:cNvSpPr txBox="1"/>
          <p:nvPr/>
        </p:nvSpPr>
        <p:spPr>
          <a:xfrm>
            <a:off x="2377440" y="3630168"/>
            <a:ext cx="548640" cy="548640"/>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p2</a:t>
            </a:r>
            <a:endParaRPr lang="en-US" sz="1200" dirty="0"/>
          </a:p>
        </p:txBody>
      </p:sp>
      <p:sp>
        <p:nvSpPr>
          <p:cNvPr id="34" name="Shape 32"/>
          <p:cNvSpPr/>
          <p:nvPr/>
        </p:nvSpPr>
        <p:spPr>
          <a:xfrm>
            <a:off x="4023360" y="2258568"/>
            <a:ext cx="548640" cy="548640"/>
          </a:xfrm>
          <a:prstGeom prst="ellipse">
            <a:avLst/>
          </a:prstGeom>
          <a:solidFill>
            <a:srgbClr val="FFF3D6"/>
          </a:solidFill>
          <a:ln w="9525">
            <a:solidFill>
              <a:srgbClr val="D5DAE1"/>
            </a:solidFill>
            <a:prstDash val="solid"/>
          </a:ln>
        </p:spPr>
      </p:sp>
      <p:sp>
        <p:nvSpPr>
          <p:cNvPr id="35" name="Text 33"/>
          <p:cNvSpPr txBox="1"/>
          <p:nvPr/>
        </p:nvSpPr>
        <p:spPr>
          <a:xfrm>
            <a:off x="4023360" y="2258568"/>
            <a:ext cx="548640" cy="548640"/>
          </a:xfrm>
          <a:prstGeom prst="rect">
            <a:avLst/>
          </a:prstGeom>
          <a:noFill/>
          <a:ln/>
        </p:spPr>
        <p:txBody>
          <a:bodyPr wrap="square" lIns="0" tIns="0" rIns="0" bIns="0" rtlCol="0" anchor="ctr"/>
          <a:lstStyle/>
          <a:p>
            <a:pPr algn="ctr" indent="0" marL="0">
              <a:buNone/>
            </a:pPr>
            <a:r>
              <a:rPr lang="en-US" sz="1200" dirty="0">
                <a:solidFill>
                  <a:srgbClr val="B45309"/>
                </a:solidFill>
                <a:latin typeface="Century Gothic" pitchFamily="34" charset="0"/>
                <a:ea typeface="Century Gothic" pitchFamily="34" charset="-122"/>
                <a:cs typeface="Century Gothic" pitchFamily="34" charset="-120"/>
              </a:rPr>
              <a:t>t1</a:t>
            </a:r>
            <a:endParaRPr lang="en-US" sz="1200" dirty="0"/>
          </a:p>
        </p:txBody>
      </p:sp>
      <p:sp>
        <p:nvSpPr>
          <p:cNvPr id="36" name="Shape 34"/>
          <p:cNvSpPr/>
          <p:nvPr/>
        </p:nvSpPr>
        <p:spPr>
          <a:xfrm>
            <a:off x="4023360" y="3630168"/>
            <a:ext cx="548640" cy="548640"/>
          </a:xfrm>
          <a:prstGeom prst="ellipse">
            <a:avLst/>
          </a:prstGeom>
          <a:solidFill>
            <a:srgbClr val="EAF4FD"/>
          </a:solidFill>
          <a:ln w="9525">
            <a:solidFill>
              <a:srgbClr val="D5DAE1"/>
            </a:solidFill>
            <a:prstDash val="solid"/>
          </a:ln>
        </p:spPr>
      </p:sp>
      <p:sp>
        <p:nvSpPr>
          <p:cNvPr id="37" name="Text 35"/>
          <p:cNvSpPr txBox="1"/>
          <p:nvPr/>
        </p:nvSpPr>
        <p:spPr>
          <a:xfrm>
            <a:off x="4023360" y="3630168"/>
            <a:ext cx="548640" cy="548640"/>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t2</a:t>
            </a:r>
            <a:endParaRPr lang="en-US" sz="1200" dirty="0"/>
          </a:p>
        </p:txBody>
      </p:sp>
      <p:sp>
        <p:nvSpPr>
          <p:cNvPr id="38" name="Shape 36"/>
          <p:cNvSpPr/>
          <p:nvPr/>
        </p:nvSpPr>
        <p:spPr>
          <a:xfrm>
            <a:off x="5486400" y="2944368"/>
            <a:ext cx="548640" cy="548640"/>
          </a:xfrm>
          <a:prstGeom prst="ellipse">
            <a:avLst/>
          </a:prstGeom>
          <a:solidFill>
            <a:srgbClr val="FFF3D6"/>
          </a:solidFill>
          <a:ln w="9525">
            <a:solidFill>
              <a:srgbClr val="D5DAE1"/>
            </a:solidFill>
            <a:prstDash val="solid"/>
          </a:ln>
        </p:spPr>
      </p:sp>
      <p:sp>
        <p:nvSpPr>
          <p:cNvPr id="39" name="Text 37"/>
          <p:cNvSpPr txBox="1"/>
          <p:nvPr/>
        </p:nvSpPr>
        <p:spPr>
          <a:xfrm>
            <a:off x="5486400" y="2944368"/>
            <a:ext cx="548640" cy="548640"/>
          </a:xfrm>
          <a:prstGeom prst="rect">
            <a:avLst/>
          </a:prstGeom>
          <a:noFill/>
          <a:ln/>
        </p:spPr>
        <p:txBody>
          <a:bodyPr wrap="square" lIns="0" tIns="0" rIns="0" bIns="0" rtlCol="0" anchor="ctr"/>
          <a:lstStyle/>
          <a:p>
            <a:pPr algn="ctr" indent="0" marL="0">
              <a:buNone/>
            </a:pPr>
            <a:r>
              <a:rPr lang="en-US" sz="1200" dirty="0">
                <a:solidFill>
                  <a:srgbClr val="B45309"/>
                </a:solidFill>
                <a:latin typeface="Century Gothic" pitchFamily="34" charset="0"/>
                <a:ea typeface="Century Gothic" pitchFamily="34" charset="-122"/>
                <a:cs typeface="Century Gothic" pitchFamily="34" charset="-120"/>
              </a:rPr>
              <a:t>T</a:t>
            </a:r>
            <a:endParaRPr lang="en-US" sz="1200" dirty="0"/>
          </a:p>
        </p:txBody>
      </p:sp>
      <p:sp>
        <p:nvSpPr>
          <p:cNvPr id="40" name="Shape 38"/>
          <p:cNvSpPr/>
          <p:nvPr/>
        </p:nvSpPr>
        <p:spPr>
          <a:xfrm>
            <a:off x="6949440" y="2350008"/>
            <a:ext cx="4572000" cy="3054096"/>
          </a:xfrm>
          <a:prstGeom prst="rect">
            <a:avLst/>
          </a:prstGeom>
          <a:solidFill>
            <a:srgbClr val="FAFAFA"/>
          </a:solidFill>
          <a:ln/>
        </p:spPr>
      </p:sp>
      <p:sp>
        <p:nvSpPr>
          <p:cNvPr id="41" name="Text 39"/>
          <p:cNvSpPr txBox="1"/>
          <p:nvPr/>
        </p:nvSpPr>
        <p:spPr>
          <a:xfrm>
            <a:off x="7178040" y="2532888"/>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ITERASI 1</a:t>
            </a:r>
            <a:endParaRPr lang="en-US" sz="1200" dirty="0"/>
          </a:p>
        </p:txBody>
      </p:sp>
      <p:sp>
        <p:nvSpPr>
          <p:cNvPr id="42" name="Text 40"/>
          <p:cNvSpPr txBox="1"/>
          <p:nvPr/>
        </p:nvSpPr>
        <p:spPr>
          <a:xfrm>
            <a:off x="7178040" y="2916936"/>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jalur : S p1 t1 T</a:t>
            </a:r>
            <a:endParaRPr lang="en-US" sz="1200" dirty="0"/>
          </a:p>
        </p:txBody>
      </p:sp>
      <p:sp>
        <p:nvSpPr>
          <p:cNvPr id="43" name="Text 41"/>
          <p:cNvSpPr txBox="1"/>
          <p:nvPr/>
        </p:nvSpPr>
        <p:spPr>
          <a:xfrm>
            <a:off x="7178040" y="3300984"/>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biaya : 0 + 1 + 0 = 1</a:t>
            </a:r>
            <a:endParaRPr lang="en-US" sz="1200" dirty="0"/>
          </a:p>
        </p:txBody>
      </p:sp>
      <p:sp>
        <p:nvSpPr>
          <p:cNvPr id="44" name="Text 42"/>
          <p:cNvSpPr txBox="1"/>
          <p:nvPr/>
        </p:nvSpPr>
        <p:spPr>
          <a:xfrm>
            <a:off x="7178040" y="3685032"/>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aliran: 1 satuan</a:t>
            </a:r>
            <a:endParaRPr lang="en-US" sz="1200" dirty="0"/>
          </a:p>
        </p:txBody>
      </p:sp>
      <p:sp>
        <p:nvSpPr>
          <p:cNvPr id="45" name="Text 43"/>
          <p:cNvSpPr txBox="1"/>
          <p:nvPr/>
        </p:nvSpPr>
        <p:spPr>
          <a:xfrm>
            <a:off x="7178040" y="4069080"/>
            <a:ext cx="4206240" cy="347472"/>
          </a:xfrm>
          <a:prstGeom prst="rect">
            <a:avLst/>
          </a:prstGeom>
          <a:noFill/>
          <a:ln/>
        </p:spPr>
        <p:txBody>
          <a:bodyPr wrap="square" lIns="0" tIns="0" rIns="0" bIns="0" rtlCol="0" anchor="ctr"/>
          <a:lstStyle/>
          <a:p>
            <a:pPr indent="0" marL="0">
              <a:buNone/>
            </a:pPr>
            <a:endParaRPr lang="en-US" sz="1200" dirty="0"/>
          </a:p>
        </p:txBody>
      </p:sp>
      <p:sp>
        <p:nvSpPr>
          <p:cNvPr id="46" name="Text 44"/>
          <p:cNvSpPr txBox="1"/>
          <p:nvPr/>
        </p:nvSpPr>
        <p:spPr>
          <a:xfrm>
            <a:off x="7178040" y="4453128"/>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total sementara</a:t>
            </a:r>
            <a:endParaRPr lang="en-US" sz="1200" dirty="0"/>
          </a:p>
        </p:txBody>
      </p:sp>
      <p:sp>
        <p:nvSpPr>
          <p:cNvPr id="47" name="Text 45"/>
          <p:cNvSpPr txBox="1"/>
          <p:nvPr/>
        </p:nvSpPr>
        <p:spPr>
          <a:xfrm>
            <a:off x="7178040" y="4837176"/>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  aliran 1, biaya 1</a:t>
            </a:r>
            <a:endParaRPr lang="en-US" sz="1200" dirty="0"/>
          </a:p>
        </p:txBody>
      </p:sp>
      <p:sp>
        <p:nvSpPr>
          <p:cNvPr id="48" name="Shape 46"/>
          <p:cNvSpPr/>
          <p:nvPr/>
        </p:nvSpPr>
        <p:spPr>
          <a:xfrm>
            <a:off x="667512" y="5632704"/>
            <a:ext cx="10853928" cy="914400"/>
          </a:xfrm>
          <a:prstGeom prst="rect">
            <a:avLst/>
          </a:prstGeom>
          <a:solidFill>
            <a:srgbClr val="FAFAFA"/>
          </a:solidFill>
          <a:ln/>
        </p:spPr>
      </p:sp>
      <p:sp>
        <p:nvSpPr>
          <p:cNvPr id="49" name="Text 47"/>
          <p:cNvSpPr txBox="1"/>
          <p:nvPr/>
        </p:nvSpPr>
        <p:spPr>
          <a:xfrm>
            <a:off x="941832" y="5724144"/>
            <a:ext cx="10332720" cy="310896"/>
          </a:xfrm>
          <a:prstGeom prst="rect">
            <a:avLst/>
          </a:prstGeom>
          <a:noFill/>
          <a:ln/>
        </p:spPr>
        <p:txBody>
          <a:bodyPr wrap="square" lIns="0" tIns="0" rIns="0" bIns="0" rtlCol="0" anchor="ctr"/>
          <a:lstStyle/>
          <a:p>
            <a:pPr indent="0" marL="0">
              <a:buNone/>
            </a:pPr>
            <a:r>
              <a:rPr lang="en-US" sz="1300" dirty="0">
                <a:solidFill>
                  <a:srgbClr val="2B2B2B"/>
                </a:solidFill>
                <a:latin typeface="Consolas" pitchFamily="34" charset="0"/>
                <a:ea typeface="Consolas" pitchFamily="34" charset="-122"/>
                <a:cs typeface="Consolas" pitchFamily="34" charset="-120"/>
              </a:rPr>
              <a:t>setelah dialirkan, sisi S-p1, p1-t1, dan t1-T habis kapasitasnya</a:t>
            </a:r>
            <a:endParaRPr lang="en-US" sz="1300" dirty="0"/>
          </a:p>
        </p:txBody>
      </p:sp>
      <p:sp>
        <p:nvSpPr>
          <p:cNvPr id="50" name="Text 48"/>
          <p:cNvSpPr txBox="1"/>
          <p:nvPr/>
        </p:nvSpPr>
        <p:spPr>
          <a:xfrm>
            <a:off x="941832" y="6071616"/>
            <a:ext cx="10332720" cy="384048"/>
          </a:xfrm>
          <a:prstGeom prst="rect">
            <a:avLst/>
          </a:prstGeom>
          <a:noFill/>
          <a:ln/>
        </p:spPr>
        <p:txBody>
          <a:bodyPr wrap="square" lIns="0" tIns="0" rIns="0" bIns="0" rtlCol="0" anchor="ct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Sampai di sini persis sama dengan yang dilakukan pendekatan rakus. Bedanya baru terlihat pada iterasi berikutnya.</a:t>
            </a:r>
            <a:endParaRPr lang="en-US" sz="1200" dirty="0"/>
          </a:p>
        </p:txBody>
      </p:sp>
      <p:sp>
        <p:nvSpPr>
          <p:cNvPr id="51" name="Shape 49"/>
          <p:cNvSpPr/>
          <p:nvPr/>
        </p:nvSpPr>
        <p:spPr>
          <a:xfrm>
            <a:off x="9692640" y="1737360"/>
            <a:ext cx="1828800" cy="384048"/>
          </a:xfrm>
          <a:prstGeom prst="rect">
            <a:avLst/>
          </a:prstGeom>
          <a:solidFill>
            <a:srgbClr val="F2F7FD"/>
          </a:solidFill>
          <a:ln/>
        </p:spPr>
      </p:sp>
      <p:sp>
        <p:nvSpPr>
          <p:cNvPr id="52" name="Text 50"/>
          <p:cNvSpPr txBox="1"/>
          <p:nvPr/>
        </p:nvSpPr>
        <p:spPr>
          <a:xfrm>
            <a:off x="9692640" y="1737360"/>
            <a:ext cx="1828800" cy="384048"/>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2 / 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Langkah 3 — Sisi Balik Membatalkan Keputusan</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Iterasi kedua menemukan jalur berbiaya 2 yang MELEWATI sisi balik t1-p1. Sisi itu berbiaya minus satu, dan efeknya membatalkan penugasan p1 ke t1.</a:t>
            </a:r>
            <a:endParaRPr lang="en-US" sz="1300" dirty="0"/>
          </a:p>
        </p:txBody>
      </p:sp>
      <p:sp>
        <p:nvSpPr>
          <p:cNvPr id="4" name="Shape 2"/>
          <p:cNvSpPr/>
          <p:nvPr/>
        </p:nvSpPr>
        <p:spPr>
          <a:xfrm>
            <a:off x="1437105" y="3572863"/>
            <a:ext cx="966269" cy="452939"/>
          </a:xfrm>
          <a:prstGeom prst="line">
            <a:avLst/>
          </a:prstGeom>
          <a:noFill/>
          <a:ln w="19050">
            <a:solidFill>
              <a:srgbClr val="B45309"/>
            </a:solidFill>
            <a:prstDash val="solid"/>
            <a:tailEnd type="triangle"/>
          </a:ln>
        </p:spPr>
      </p:sp>
      <p:sp>
        <p:nvSpPr>
          <p:cNvPr id="5" name="Shape 3"/>
          <p:cNvSpPr/>
          <p:nvPr/>
        </p:nvSpPr>
        <p:spPr>
          <a:xfrm>
            <a:off x="1682496" y="3653028"/>
            <a:ext cx="475488" cy="292608"/>
          </a:xfrm>
          <a:prstGeom prst="rect">
            <a:avLst/>
          </a:prstGeom>
          <a:solidFill>
            <a:srgbClr val="FFFFFF"/>
          </a:solidFill>
          <a:ln w="6350">
            <a:solidFill>
              <a:srgbClr val="FFFFFF"/>
            </a:solidFill>
            <a:prstDash val="solid"/>
          </a:ln>
        </p:spPr>
      </p:sp>
      <p:sp>
        <p:nvSpPr>
          <p:cNvPr id="6" name="Text 4"/>
          <p:cNvSpPr txBox="1"/>
          <p:nvPr/>
        </p:nvSpPr>
        <p:spPr>
          <a:xfrm>
            <a:off x="1645920" y="3662172"/>
            <a:ext cx="548640" cy="274320"/>
          </a:xfrm>
          <a:prstGeom prst="rect">
            <a:avLst/>
          </a:prstGeom>
          <a:noFill/>
          <a:ln/>
        </p:spPr>
        <p:txBody>
          <a:bodyPr wrap="square" lIns="0" tIns="0" rIns="0" bIns="0" rtlCol="0" anchor="ctr"/>
          <a:lstStyle/>
          <a:p>
            <a:pPr algn="ctr" indent="0" marL="0">
              <a:buNone/>
            </a:pPr>
            <a:r>
              <a:rPr lang="en-US" sz="1150" dirty="0">
                <a:solidFill>
                  <a:srgbClr val="B45309"/>
                </a:solidFill>
                <a:latin typeface="Century Gothic" pitchFamily="34" charset="0"/>
                <a:ea typeface="Century Gothic" pitchFamily="34" charset="-122"/>
                <a:cs typeface="Century Gothic" pitchFamily="34" charset="-120"/>
              </a:rPr>
              <a:t>0</a:t>
            </a:r>
            <a:endParaRPr lang="en-US" sz="1150" dirty="0"/>
          </a:p>
        </p:txBody>
      </p:sp>
      <p:sp>
        <p:nvSpPr>
          <p:cNvPr id="7" name="Shape 5"/>
          <p:cNvSpPr/>
          <p:nvPr/>
        </p:nvSpPr>
        <p:spPr>
          <a:xfrm flipV="1">
            <a:off x="2862498" y="2946247"/>
            <a:ext cx="1224443" cy="1020369"/>
          </a:xfrm>
          <a:prstGeom prst="line">
            <a:avLst/>
          </a:prstGeom>
          <a:noFill/>
          <a:ln w="19050">
            <a:solidFill>
              <a:srgbClr val="B45309"/>
            </a:solidFill>
            <a:prstDash val="solid"/>
            <a:tailEnd type="triangle"/>
          </a:ln>
        </p:spPr>
      </p:sp>
      <p:sp>
        <p:nvSpPr>
          <p:cNvPr id="8" name="Shape 6"/>
          <p:cNvSpPr/>
          <p:nvPr/>
        </p:nvSpPr>
        <p:spPr>
          <a:xfrm>
            <a:off x="3236976" y="3310128"/>
            <a:ext cx="475488" cy="292608"/>
          </a:xfrm>
          <a:prstGeom prst="rect">
            <a:avLst/>
          </a:prstGeom>
          <a:solidFill>
            <a:srgbClr val="FFFFFF"/>
          </a:solidFill>
          <a:ln w="6350">
            <a:solidFill>
              <a:srgbClr val="FFFFFF"/>
            </a:solidFill>
            <a:prstDash val="solid"/>
          </a:ln>
        </p:spPr>
      </p:sp>
      <p:sp>
        <p:nvSpPr>
          <p:cNvPr id="9" name="Text 7"/>
          <p:cNvSpPr txBox="1"/>
          <p:nvPr/>
        </p:nvSpPr>
        <p:spPr>
          <a:xfrm>
            <a:off x="3200400" y="3319272"/>
            <a:ext cx="548640" cy="274320"/>
          </a:xfrm>
          <a:prstGeom prst="rect">
            <a:avLst/>
          </a:prstGeom>
          <a:noFill/>
          <a:ln/>
        </p:spPr>
        <p:txBody>
          <a:bodyPr wrap="square" lIns="0" tIns="0" rIns="0" bIns="0" rtlCol="0" anchor="ctr"/>
          <a:lstStyle/>
          <a:p>
            <a:pPr algn="ctr" indent="0" marL="0">
              <a:buNone/>
            </a:pPr>
            <a:r>
              <a:rPr lang="en-US" sz="1150" dirty="0">
                <a:solidFill>
                  <a:srgbClr val="B45309"/>
                </a:solidFill>
                <a:latin typeface="Century Gothic" pitchFamily="34" charset="0"/>
                <a:ea typeface="Century Gothic" pitchFamily="34" charset="-122"/>
                <a:cs typeface="Century Gothic" pitchFamily="34" charset="-120"/>
              </a:rPr>
              <a:t>1</a:t>
            </a:r>
            <a:endParaRPr lang="en-US" sz="1150" dirty="0"/>
          </a:p>
        </p:txBody>
      </p:sp>
      <p:sp>
        <p:nvSpPr>
          <p:cNvPr id="10" name="Shape 8"/>
          <p:cNvSpPr/>
          <p:nvPr/>
        </p:nvSpPr>
        <p:spPr>
          <a:xfrm flipH="1">
            <a:off x="2926080" y="2770632"/>
            <a:ext cx="1097280" cy="914"/>
          </a:xfrm>
          <a:prstGeom prst="line">
            <a:avLst/>
          </a:prstGeom>
          <a:noFill/>
          <a:ln w="19050">
            <a:solidFill>
              <a:srgbClr val="12805C"/>
            </a:solidFill>
            <a:prstDash val="solid"/>
            <a:tailEnd type="triangle"/>
          </a:ln>
        </p:spPr>
      </p:sp>
      <p:sp>
        <p:nvSpPr>
          <p:cNvPr id="11" name="Shape 9"/>
          <p:cNvSpPr/>
          <p:nvPr/>
        </p:nvSpPr>
        <p:spPr>
          <a:xfrm>
            <a:off x="3236976" y="2624328"/>
            <a:ext cx="475488" cy="292608"/>
          </a:xfrm>
          <a:prstGeom prst="rect">
            <a:avLst/>
          </a:prstGeom>
          <a:solidFill>
            <a:srgbClr val="FFFFFF"/>
          </a:solidFill>
          <a:ln w="6350">
            <a:solidFill>
              <a:srgbClr val="FFFFFF"/>
            </a:solidFill>
            <a:prstDash val="solid"/>
          </a:ln>
        </p:spPr>
      </p:sp>
      <p:sp>
        <p:nvSpPr>
          <p:cNvPr id="12" name="Text 10"/>
          <p:cNvSpPr txBox="1"/>
          <p:nvPr/>
        </p:nvSpPr>
        <p:spPr>
          <a:xfrm>
            <a:off x="3200400" y="2633472"/>
            <a:ext cx="548640" cy="274320"/>
          </a:xfrm>
          <a:prstGeom prst="rect">
            <a:avLst/>
          </a:prstGeom>
          <a:noFill/>
          <a:ln/>
        </p:spPr>
        <p:txBody>
          <a:bodyPr wrap="square" lIns="0" tIns="0" rIns="0" bIns="0" rtlCol="0" anchor="ctr"/>
          <a:lstStyle/>
          <a:p>
            <a:pPr algn="ctr" indent="0" marL="0">
              <a:buNone/>
            </a:pPr>
            <a:r>
              <a:rPr lang="en-US" sz="1150" dirty="0">
                <a:solidFill>
                  <a:srgbClr val="12805C"/>
                </a:solidFill>
                <a:latin typeface="Century Gothic" pitchFamily="34" charset="0"/>
                <a:ea typeface="Century Gothic" pitchFamily="34" charset="-122"/>
                <a:cs typeface="Century Gothic" pitchFamily="34" charset="-120"/>
              </a:rPr>
              <a:t>-1</a:t>
            </a:r>
            <a:endParaRPr lang="en-US" sz="1150" dirty="0"/>
          </a:p>
        </p:txBody>
      </p:sp>
      <p:sp>
        <p:nvSpPr>
          <p:cNvPr id="13" name="Shape 11"/>
          <p:cNvSpPr/>
          <p:nvPr/>
        </p:nvSpPr>
        <p:spPr>
          <a:xfrm>
            <a:off x="2862498" y="2946247"/>
            <a:ext cx="1224443" cy="1020369"/>
          </a:xfrm>
          <a:prstGeom prst="line">
            <a:avLst/>
          </a:prstGeom>
          <a:noFill/>
          <a:ln w="19050">
            <a:solidFill>
              <a:srgbClr val="B45309"/>
            </a:solidFill>
            <a:prstDash val="solid"/>
            <a:tailEnd type="triangle"/>
          </a:ln>
        </p:spPr>
      </p:sp>
      <p:sp>
        <p:nvSpPr>
          <p:cNvPr id="14" name="Shape 12"/>
          <p:cNvSpPr/>
          <p:nvPr/>
        </p:nvSpPr>
        <p:spPr>
          <a:xfrm>
            <a:off x="3236976" y="3310128"/>
            <a:ext cx="475488" cy="292608"/>
          </a:xfrm>
          <a:prstGeom prst="rect">
            <a:avLst/>
          </a:prstGeom>
          <a:solidFill>
            <a:srgbClr val="FFFFFF"/>
          </a:solidFill>
          <a:ln w="6350">
            <a:solidFill>
              <a:srgbClr val="FFFFFF"/>
            </a:solidFill>
            <a:prstDash val="solid"/>
          </a:ln>
        </p:spPr>
      </p:sp>
      <p:sp>
        <p:nvSpPr>
          <p:cNvPr id="15" name="Text 13"/>
          <p:cNvSpPr txBox="1"/>
          <p:nvPr/>
        </p:nvSpPr>
        <p:spPr>
          <a:xfrm>
            <a:off x="3200400" y="3319272"/>
            <a:ext cx="548640" cy="274320"/>
          </a:xfrm>
          <a:prstGeom prst="rect">
            <a:avLst/>
          </a:prstGeom>
          <a:noFill/>
          <a:ln/>
        </p:spPr>
        <p:txBody>
          <a:bodyPr wrap="square" lIns="0" tIns="0" rIns="0" bIns="0" rtlCol="0" anchor="ctr"/>
          <a:lstStyle/>
          <a:p>
            <a:pPr algn="ctr" indent="0" marL="0">
              <a:buNone/>
            </a:pPr>
            <a:r>
              <a:rPr lang="en-US" sz="1150" dirty="0">
                <a:solidFill>
                  <a:srgbClr val="B45309"/>
                </a:solidFill>
                <a:latin typeface="Century Gothic" pitchFamily="34" charset="0"/>
                <a:ea typeface="Century Gothic" pitchFamily="34" charset="-122"/>
                <a:cs typeface="Century Gothic" pitchFamily="34" charset="-120"/>
              </a:rPr>
              <a:t>2</a:t>
            </a:r>
            <a:endParaRPr lang="en-US" sz="1150" dirty="0"/>
          </a:p>
        </p:txBody>
      </p:sp>
      <p:sp>
        <p:nvSpPr>
          <p:cNvPr id="16" name="Shape 14"/>
          <p:cNvSpPr/>
          <p:nvPr/>
        </p:nvSpPr>
        <p:spPr>
          <a:xfrm flipV="1">
            <a:off x="4546065" y="3572863"/>
            <a:ext cx="966269" cy="452939"/>
          </a:xfrm>
          <a:prstGeom prst="line">
            <a:avLst/>
          </a:prstGeom>
          <a:noFill/>
          <a:ln w="19050">
            <a:solidFill>
              <a:srgbClr val="B45309"/>
            </a:solidFill>
            <a:prstDash val="solid"/>
            <a:tailEnd type="triangle"/>
          </a:ln>
        </p:spPr>
      </p:sp>
      <p:sp>
        <p:nvSpPr>
          <p:cNvPr id="17" name="Shape 15"/>
          <p:cNvSpPr/>
          <p:nvPr/>
        </p:nvSpPr>
        <p:spPr>
          <a:xfrm>
            <a:off x="4791456" y="3653028"/>
            <a:ext cx="475488" cy="292608"/>
          </a:xfrm>
          <a:prstGeom prst="rect">
            <a:avLst/>
          </a:prstGeom>
          <a:solidFill>
            <a:srgbClr val="FFFFFF"/>
          </a:solidFill>
          <a:ln w="6350">
            <a:solidFill>
              <a:srgbClr val="FFFFFF"/>
            </a:solidFill>
            <a:prstDash val="solid"/>
          </a:ln>
        </p:spPr>
      </p:sp>
      <p:sp>
        <p:nvSpPr>
          <p:cNvPr id="18" name="Text 16"/>
          <p:cNvSpPr txBox="1"/>
          <p:nvPr/>
        </p:nvSpPr>
        <p:spPr>
          <a:xfrm>
            <a:off x="4754880" y="3662172"/>
            <a:ext cx="548640" cy="274320"/>
          </a:xfrm>
          <a:prstGeom prst="rect">
            <a:avLst/>
          </a:prstGeom>
          <a:noFill/>
          <a:ln/>
        </p:spPr>
        <p:txBody>
          <a:bodyPr wrap="square" lIns="0" tIns="0" rIns="0" bIns="0" rtlCol="0" anchor="ctr"/>
          <a:lstStyle/>
          <a:p>
            <a:pPr algn="ctr" indent="0" marL="0">
              <a:buNone/>
            </a:pPr>
            <a:r>
              <a:rPr lang="en-US" sz="1150" dirty="0">
                <a:solidFill>
                  <a:srgbClr val="B45309"/>
                </a:solidFill>
                <a:latin typeface="Century Gothic" pitchFamily="34" charset="0"/>
                <a:ea typeface="Century Gothic" pitchFamily="34" charset="-122"/>
                <a:cs typeface="Century Gothic" pitchFamily="34" charset="-120"/>
              </a:rPr>
              <a:t>0</a:t>
            </a:r>
            <a:endParaRPr lang="en-US" sz="1150" dirty="0"/>
          </a:p>
        </p:txBody>
      </p:sp>
      <p:sp>
        <p:nvSpPr>
          <p:cNvPr id="19" name="Shape 17"/>
          <p:cNvSpPr/>
          <p:nvPr/>
        </p:nvSpPr>
        <p:spPr>
          <a:xfrm>
            <a:off x="914400" y="3182112"/>
            <a:ext cx="548640" cy="548640"/>
          </a:xfrm>
          <a:prstGeom prst="ellipse">
            <a:avLst/>
          </a:prstGeom>
          <a:solidFill>
            <a:srgbClr val="FFF3D6"/>
          </a:solidFill>
          <a:ln w="9525">
            <a:solidFill>
              <a:srgbClr val="D5DAE1"/>
            </a:solidFill>
            <a:prstDash val="solid"/>
          </a:ln>
        </p:spPr>
      </p:sp>
      <p:sp>
        <p:nvSpPr>
          <p:cNvPr id="20" name="Text 18"/>
          <p:cNvSpPr txBox="1"/>
          <p:nvPr/>
        </p:nvSpPr>
        <p:spPr>
          <a:xfrm>
            <a:off x="914400" y="3182112"/>
            <a:ext cx="548640" cy="548640"/>
          </a:xfrm>
          <a:prstGeom prst="rect">
            <a:avLst/>
          </a:prstGeom>
          <a:noFill/>
          <a:ln/>
        </p:spPr>
        <p:txBody>
          <a:bodyPr wrap="square" lIns="0" tIns="0" rIns="0" bIns="0" rtlCol="0" anchor="ctr"/>
          <a:lstStyle/>
          <a:p>
            <a:pPr algn="ctr" indent="0" marL="0">
              <a:buNone/>
            </a:pPr>
            <a:r>
              <a:rPr lang="en-US" sz="1200" dirty="0">
                <a:solidFill>
                  <a:srgbClr val="B45309"/>
                </a:solidFill>
                <a:latin typeface="Century Gothic" pitchFamily="34" charset="0"/>
                <a:ea typeface="Century Gothic" pitchFamily="34" charset="-122"/>
                <a:cs typeface="Century Gothic" pitchFamily="34" charset="-120"/>
              </a:rPr>
              <a:t>S</a:t>
            </a:r>
            <a:endParaRPr lang="en-US" sz="1200" dirty="0"/>
          </a:p>
        </p:txBody>
      </p:sp>
      <p:sp>
        <p:nvSpPr>
          <p:cNvPr id="21" name="Shape 19"/>
          <p:cNvSpPr/>
          <p:nvPr/>
        </p:nvSpPr>
        <p:spPr>
          <a:xfrm>
            <a:off x="2377440" y="2496312"/>
            <a:ext cx="548640" cy="548640"/>
          </a:xfrm>
          <a:prstGeom prst="ellipse">
            <a:avLst/>
          </a:prstGeom>
          <a:solidFill>
            <a:srgbClr val="EAFBF4"/>
          </a:solidFill>
          <a:ln w="9525">
            <a:solidFill>
              <a:srgbClr val="D5DAE1"/>
            </a:solidFill>
            <a:prstDash val="solid"/>
          </a:ln>
        </p:spPr>
      </p:sp>
      <p:sp>
        <p:nvSpPr>
          <p:cNvPr id="22" name="Text 20"/>
          <p:cNvSpPr txBox="1"/>
          <p:nvPr/>
        </p:nvSpPr>
        <p:spPr>
          <a:xfrm>
            <a:off x="2377440" y="2496312"/>
            <a:ext cx="548640" cy="548640"/>
          </a:xfrm>
          <a:prstGeom prst="rect">
            <a:avLst/>
          </a:prstGeom>
          <a:noFill/>
          <a:ln/>
        </p:spPr>
        <p:txBody>
          <a:bodyPr wrap="square" lIns="0" tIns="0" rIns="0" bIns="0" rtlCol="0" anchor="ctr"/>
          <a:lstStyle/>
          <a:p>
            <a:pPr algn="ctr" indent="0" marL="0">
              <a:buNone/>
            </a:pPr>
            <a:r>
              <a:rPr lang="en-US" sz="1200" dirty="0">
                <a:solidFill>
                  <a:srgbClr val="12805C"/>
                </a:solidFill>
                <a:latin typeface="Century Gothic" pitchFamily="34" charset="0"/>
                <a:ea typeface="Century Gothic" pitchFamily="34" charset="-122"/>
                <a:cs typeface="Century Gothic" pitchFamily="34" charset="-120"/>
              </a:rPr>
              <a:t>p1</a:t>
            </a:r>
            <a:endParaRPr lang="en-US" sz="1200" dirty="0"/>
          </a:p>
        </p:txBody>
      </p:sp>
      <p:sp>
        <p:nvSpPr>
          <p:cNvPr id="23" name="Shape 21"/>
          <p:cNvSpPr/>
          <p:nvPr/>
        </p:nvSpPr>
        <p:spPr>
          <a:xfrm>
            <a:off x="2377440" y="3867912"/>
            <a:ext cx="548640" cy="548640"/>
          </a:xfrm>
          <a:prstGeom prst="ellipse">
            <a:avLst/>
          </a:prstGeom>
          <a:solidFill>
            <a:srgbClr val="FFF3D6"/>
          </a:solidFill>
          <a:ln w="9525">
            <a:solidFill>
              <a:srgbClr val="D5DAE1"/>
            </a:solidFill>
            <a:prstDash val="solid"/>
          </a:ln>
        </p:spPr>
      </p:sp>
      <p:sp>
        <p:nvSpPr>
          <p:cNvPr id="24" name="Text 22"/>
          <p:cNvSpPr txBox="1"/>
          <p:nvPr/>
        </p:nvSpPr>
        <p:spPr>
          <a:xfrm>
            <a:off x="2377440" y="3867912"/>
            <a:ext cx="548640" cy="548640"/>
          </a:xfrm>
          <a:prstGeom prst="rect">
            <a:avLst/>
          </a:prstGeom>
          <a:noFill/>
          <a:ln/>
        </p:spPr>
        <p:txBody>
          <a:bodyPr wrap="square" lIns="0" tIns="0" rIns="0" bIns="0" rtlCol="0" anchor="ctr"/>
          <a:lstStyle/>
          <a:p>
            <a:pPr algn="ctr" indent="0" marL="0">
              <a:buNone/>
            </a:pPr>
            <a:r>
              <a:rPr lang="en-US" sz="1200" dirty="0">
                <a:solidFill>
                  <a:srgbClr val="B45309"/>
                </a:solidFill>
                <a:latin typeface="Century Gothic" pitchFamily="34" charset="0"/>
                <a:ea typeface="Century Gothic" pitchFamily="34" charset="-122"/>
                <a:cs typeface="Century Gothic" pitchFamily="34" charset="-120"/>
              </a:rPr>
              <a:t>p2</a:t>
            </a:r>
            <a:endParaRPr lang="en-US" sz="1200" dirty="0"/>
          </a:p>
        </p:txBody>
      </p:sp>
      <p:sp>
        <p:nvSpPr>
          <p:cNvPr id="25" name="Shape 23"/>
          <p:cNvSpPr/>
          <p:nvPr/>
        </p:nvSpPr>
        <p:spPr>
          <a:xfrm>
            <a:off x="4023360" y="2496312"/>
            <a:ext cx="548640" cy="548640"/>
          </a:xfrm>
          <a:prstGeom prst="ellipse">
            <a:avLst/>
          </a:prstGeom>
          <a:solidFill>
            <a:srgbClr val="EAFBF4"/>
          </a:solidFill>
          <a:ln w="9525">
            <a:solidFill>
              <a:srgbClr val="D5DAE1"/>
            </a:solidFill>
            <a:prstDash val="solid"/>
          </a:ln>
        </p:spPr>
      </p:sp>
      <p:sp>
        <p:nvSpPr>
          <p:cNvPr id="26" name="Text 24"/>
          <p:cNvSpPr txBox="1"/>
          <p:nvPr/>
        </p:nvSpPr>
        <p:spPr>
          <a:xfrm>
            <a:off x="4023360" y="2496312"/>
            <a:ext cx="548640" cy="548640"/>
          </a:xfrm>
          <a:prstGeom prst="rect">
            <a:avLst/>
          </a:prstGeom>
          <a:noFill/>
          <a:ln/>
        </p:spPr>
        <p:txBody>
          <a:bodyPr wrap="square" lIns="0" tIns="0" rIns="0" bIns="0" rtlCol="0" anchor="ctr"/>
          <a:lstStyle/>
          <a:p>
            <a:pPr algn="ctr" indent="0" marL="0">
              <a:buNone/>
            </a:pPr>
            <a:r>
              <a:rPr lang="en-US" sz="1200" dirty="0">
                <a:solidFill>
                  <a:srgbClr val="12805C"/>
                </a:solidFill>
                <a:latin typeface="Century Gothic" pitchFamily="34" charset="0"/>
                <a:ea typeface="Century Gothic" pitchFamily="34" charset="-122"/>
                <a:cs typeface="Century Gothic" pitchFamily="34" charset="-120"/>
              </a:rPr>
              <a:t>t1</a:t>
            </a:r>
            <a:endParaRPr lang="en-US" sz="1200" dirty="0"/>
          </a:p>
        </p:txBody>
      </p:sp>
      <p:sp>
        <p:nvSpPr>
          <p:cNvPr id="27" name="Shape 25"/>
          <p:cNvSpPr/>
          <p:nvPr/>
        </p:nvSpPr>
        <p:spPr>
          <a:xfrm>
            <a:off x="4023360" y="3867912"/>
            <a:ext cx="548640" cy="548640"/>
          </a:xfrm>
          <a:prstGeom prst="ellipse">
            <a:avLst/>
          </a:prstGeom>
          <a:solidFill>
            <a:srgbClr val="FFF3D6"/>
          </a:solidFill>
          <a:ln w="9525">
            <a:solidFill>
              <a:srgbClr val="D5DAE1"/>
            </a:solidFill>
            <a:prstDash val="solid"/>
          </a:ln>
        </p:spPr>
      </p:sp>
      <p:sp>
        <p:nvSpPr>
          <p:cNvPr id="28" name="Text 26"/>
          <p:cNvSpPr txBox="1"/>
          <p:nvPr/>
        </p:nvSpPr>
        <p:spPr>
          <a:xfrm>
            <a:off x="4023360" y="3867912"/>
            <a:ext cx="548640" cy="548640"/>
          </a:xfrm>
          <a:prstGeom prst="rect">
            <a:avLst/>
          </a:prstGeom>
          <a:noFill/>
          <a:ln/>
        </p:spPr>
        <p:txBody>
          <a:bodyPr wrap="square" lIns="0" tIns="0" rIns="0" bIns="0" rtlCol="0" anchor="ctr"/>
          <a:lstStyle/>
          <a:p>
            <a:pPr algn="ctr" indent="0" marL="0">
              <a:buNone/>
            </a:pPr>
            <a:r>
              <a:rPr lang="en-US" sz="1200" dirty="0">
                <a:solidFill>
                  <a:srgbClr val="B45309"/>
                </a:solidFill>
                <a:latin typeface="Century Gothic" pitchFamily="34" charset="0"/>
                <a:ea typeface="Century Gothic" pitchFamily="34" charset="-122"/>
                <a:cs typeface="Century Gothic" pitchFamily="34" charset="-120"/>
              </a:rPr>
              <a:t>t2</a:t>
            </a:r>
            <a:endParaRPr lang="en-US" sz="1200" dirty="0"/>
          </a:p>
        </p:txBody>
      </p:sp>
      <p:sp>
        <p:nvSpPr>
          <p:cNvPr id="29" name="Shape 27"/>
          <p:cNvSpPr/>
          <p:nvPr/>
        </p:nvSpPr>
        <p:spPr>
          <a:xfrm>
            <a:off x="5486400" y="3182112"/>
            <a:ext cx="548640" cy="548640"/>
          </a:xfrm>
          <a:prstGeom prst="ellipse">
            <a:avLst/>
          </a:prstGeom>
          <a:solidFill>
            <a:srgbClr val="FFF3D6"/>
          </a:solidFill>
          <a:ln w="9525">
            <a:solidFill>
              <a:srgbClr val="D5DAE1"/>
            </a:solidFill>
            <a:prstDash val="solid"/>
          </a:ln>
        </p:spPr>
      </p:sp>
      <p:sp>
        <p:nvSpPr>
          <p:cNvPr id="30" name="Text 28"/>
          <p:cNvSpPr txBox="1"/>
          <p:nvPr/>
        </p:nvSpPr>
        <p:spPr>
          <a:xfrm>
            <a:off x="5486400" y="3182112"/>
            <a:ext cx="548640" cy="548640"/>
          </a:xfrm>
          <a:prstGeom prst="rect">
            <a:avLst/>
          </a:prstGeom>
          <a:noFill/>
          <a:ln/>
        </p:spPr>
        <p:txBody>
          <a:bodyPr wrap="square" lIns="0" tIns="0" rIns="0" bIns="0" rtlCol="0" anchor="ctr"/>
          <a:lstStyle/>
          <a:p>
            <a:pPr algn="ctr" indent="0" marL="0">
              <a:buNone/>
            </a:pPr>
            <a:r>
              <a:rPr lang="en-US" sz="1200" dirty="0">
                <a:solidFill>
                  <a:srgbClr val="B45309"/>
                </a:solidFill>
                <a:latin typeface="Century Gothic" pitchFamily="34" charset="0"/>
                <a:ea typeface="Century Gothic" pitchFamily="34" charset="-122"/>
                <a:cs typeface="Century Gothic" pitchFamily="34" charset="-120"/>
              </a:rPr>
              <a:t>T</a:t>
            </a:r>
            <a:endParaRPr lang="en-US" sz="1200" dirty="0"/>
          </a:p>
        </p:txBody>
      </p:sp>
      <p:sp>
        <p:nvSpPr>
          <p:cNvPr id="31" name="Shape 29"/>
          <p:cNvSpPr/>
          <p:nvPr/>
        </p:nvSpPr>
        <p:spPr>
          <a:xfrm>
            <a:off x="6949440" y="2587752"/>
            <a:ext cx="4572000" cy="2999232"/>
          </a:xfrm>
          <a:prstGeom prst="rect">
            <a:avLst/>
          </a:prstGeom>
          <a:solidFill>
            <a:srgbClr val="FAFAFA"/>
          </a:solidFill>
          <a:ln/>
        </p:spPr>
      </p:sp>
      <p:sp>
        <p:nvSpPr>
          <p:cNvPr id="32" name="Text 30"/>
          <p:cNvSpPr txBox="1"/>
          <p:nvPr/>
        </p:nvSpPr>
        <p:spPr>
          <a:xfrm>
            <a:off x="7178040" y="2770632"/>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entury Gothic" pitchFamily="34" charset="0"/>
                <a:ea typeface="Century Gothic" pitchFamily="34" charset="-122"/>
                <a:cs typeface="Century Gothic" pitchFamily="34" charset="-120"/>
              </a:rPr>
              <a:t>ITERASI 2</a:t>
            </a:r>
            <a:endParaRPr lang="en-US" sz="1150" dirty="0"/>
          </a:p>
        </p:txBody>
      </p:sp>
      <p:sp>
        <p:nvSpPr>
          <p:cNvPr id="33" name="Text 31"/>
          <p:cNvSpPr txBox="1"/>
          <p:nvPr/>
        </p:nvSpPr>
        <p:spPr>
          <a:xfrm>
            <a:off x="7178040" y="3099816"/>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jalur : S p2 t1 p1 t2 T</a:t>
            </a:r>
            <a:endParaRPr lang="en-US" sz="1150" dirty="0"/>
          </a:p>
        </p:txBody>
      </p:sp>
      <p:sp>
        <p:nvSpPr>
          <p:cNvPr id="34" name="Text 32"/>
          <p:cNvSpPr txBox="1"/>
          <p:nvPr/>
        </p:nvSpPr>
        <p:spPr>
          <a:xfrm>
            <a:off x="7178040" y="3429000"/>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biaya : 1 + (-1) + 2 = 2</a:t>
            </a:r>
            <a:endParaRPr lang="en-US" sz="1150" dirty="0"/>
          </a:p>
        </p:txBody>
      </p:sp>
      <p:sp>
        <p:nvSpPr>
          <p:cNvPr id="35" name="Text 33"/>
          <p:cNvSpPr txBox="1"/>
          <p:nvPr/>
        </p:nvSpPr>
        <p:spPr>
          <a:xfrm>
            <a:off x="7178040" y="3758184"/>
            <a:ext cx="4206240" cy="292608"/>
          </a:xfrm>
          <a:prstGeom prst="rect">
            <a:avLst/>
          </a:prstGeom>
          <a:noFill/>
          <a:ln/>
        </p:spPr>
        <p:txBody>
          <a:bodyPr wrap="square" lIns="0" tIns="0" rIns="0" bIns="0" rtlCol="0" anchor="ctr"/>
          <a:lstStyle/>
          <a:p>
            <a:pPr indent="0" marL="0">
              <a:buNone/>
            </a:pPr>
            <a:endParaRPr lang="en-US" sz="1150" dirty="0"/>
          </a:p>
        </p:txBody>
      </p:sp>
      <p:sp>
        <p:nvSpPr>
          <p:cNvPr id="36" name="Text 34"/>
          <p:cNvSpPr txBox="1"/>
          <p:nvPr/>
        </p:nvSpPr>
        <p:spPr>
          <a:xfrm>
            <a:off x="7178040" y="4087368"/>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hasil akhir</a:t>
            </a:r>
            <a:endParaRPr lang="en-US" sz="1150" dirty="0"/>
          </a:p>
        </p:txBody>
      </p:sp>
      <p:sp>
        <p:nvSpPr>
          <p:cNvPr id="37" name="Text 35"/>
          <p:cNvSpPr txBox="1"/>
          <p:nvPr/>
        </p:nvSpPr>
        <p:spPr>
          <a:xfrm>
            <a:off x="7178040" y="4416552"/>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  p1 -&gt; t2  biaya 2</a:t>
            </a:r>
            <a:endParaRPr lang="en-US" sz="1150" dirty="0"/>
          </a:p>
        </p:txBody>
      </p:sp>
      <p:sp>
        <p:nvSpPr>
          <p:cNvPr id="38" name="Text 36"/>
          <p:cNvSpPr txBox="1"/>
          <p:nvPr/>
        </p:nvSpPr>
        <p:spPr>
          <a:xfrm>
            <a:off x="7178040" y="4745736"/>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  p2 -&gt; t1  biaya 1</a:t>
            </a:r>
            <a:endParaRPr lang="en-US" sz="1150" dirty="0"/>
          </a:p>
        </p:txBody>
      </p:sp>
      <p:sp>
        <p:nvSpPr>
          <p:cNvPr id="39" name="Text 37"/>
          <p:cNvSpPr txBox="1"/>
          <p:nvPr/>
        </p:nvSpPr>
        <p:spPr>
          <a:xfrm>
            <a:off x="7178040" y="5074920"/>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  total 3</a:t>
            </a:r>
            <a:endParaRPr lang="en-US" sz="1150" dirty="0"/>
          </a:p>
        </p:txBody>
      </p:sp>
      <p:sp>
        <p:nvSpPr>
          <p:cNvPr id="40" name="Shape 38"/>
          <p:cNvSpPr/>
          <p:nvPr/>
        </p:nvSpPr>
        <p:spPr>
          <a:xfrm>
            <a:off x="667512" y="5742432"/>
            <a:ext cx="10853928" cy="914400"/>
          </a:xfrm>
          <a:prstGeom prst="rect">
            <a:avLst/>
          </a:prstGeom>
          <a:solidFill>
            <a:srgbClr val="FAFAFA"/>
          </a:solidFill>
          <a:ln/>
        </p:spPr>
      </p:sp>
      <p:sp>
        <p:nvSpPr>
          <p:cNvPr id="41" name="Text 39"/>
          <p:cNvSpPr txBox="1"/>
          <p:nvPr/>
        </p:nvSpPr>
        <p:spPr>
          <a:xfrm>
            <a:off x="941832" y="5833872"/>
            <a:ext cx="10332720" cy="310896"/>
          </a:xfrm>
          <a:prstGeom prst="rect">
            <a:avLst/>
          </a:prstGeom>
          <a:noFill/>
          <a:ln/>
        </p:spPr>
        <p:txBody>
          <a:bodyPr wrap="square" lIns="0" tIns="0" rIns="0" bIns="0" rtlCol="0" anchor="ctr"/>
          <a:lstStyle/>
          <a:p>
            <a:pPr indent="0" marL="0">
              <a:buNone/>
            </a:pPr>
            <a:r>
              <a:rPr lang="en-US" sz="1300" dirty="0">
                <a:solidFill>
                  <a:srgbClr val="2B2B2B"/>
                </a:solidFill>
                <a:latin typeface="Consolas" pitchFamily="34" charset="0"/>
                <a:ea typeface="Consolas" pitchFamily="34" charset="-122"/>
                <a:cs typeface="Consolas" pitchFamily="34" charset="-120"/>
              </a:rPr>
              <a:t>sisi balik t1 -&gt; p1 berbiaya -1, tepat kebalikan sisi majunya</a:t>
            </a:r>
            <a:endParaRPr lang="en-US" sz="1300" dirty="0"/>
          </a:p>
        </p:txBody>
      </p:sp>
      <p:sp>
        <p:nvSpPr>
          <p:cNvPr id="42" name="Text 40"/>
          <p:cNvSpPr txBox="1"/>
          <p:nvPr/>
        </p:nvSpPr>
        <p:spPr>
          <a:xfrm>
            <a:off x="941832" y="6181344"/>
            <a:ext cx="10332720" cy="384048"/>
          </a:xfrm>
          <a:prstGeom prst="rect">
            <a:avLst/>
          </a:prstGeom>
          <a:noFill/>
          <a:ln/>
        </p:spPr>
        <p:txBody>
          <a:bodyPr wrap="square" lIns="0" tIns="0" rIns="0" bIns="0" rtlCol="0" anchor="ct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Inilah alasan Dijkstra biasa tidak boleh dipakai: bobot -1 itu nyata dan diperlukan. Sisi balik bukan trik teknis, melainkan cara algoritma ini menarik kembali keputusan yang ternyata salah.</a:t>
            </a:r>
            <a:endParaRPr lang="en-US" sz="1200" dirty="0"/>
          </a:p>
        </p:txBody>
      </p:sp>
      <p:sp>
        <p:nvSpPr>
          <p:cNvPr id="43" name="Shape 41"/>
          <p:cNvSpPr/>
          <p:nvPr/>
        </p:nvSpPr>
        <p:spPr>
          <a:xfrm>
            <a:off x="9692640" y="1975104"/>
            <a:ext cx="1828800" cy="384048"/>
          </a:xfrm>
          <a:prstGeom prst="rect">
            <a:avLst/>
          </a:prstGeom>
          <a:solidFill>
            <a:srgbClr val="F2F7FD"/>
          </a:solidFill>
          <a:ln/>
        </p:spPr>
      </p:sp>
      <p:sp>
        <p:nvSpPr>
          <p:cNvPr id="44" name="Text 42"/>
          <p:cNvSpPr txBox="1"/>
          <p:nvPr/>
        </p:nvSpPr>
        <p:spPr>
          <a:xfrm>
            <a:off x="9692640" y="1975104"/>
            <a:ext cx="1828800" cy="384048"/>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3 / 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03</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Implementasi</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Dua cara untuk soal yang sama</a:t>
            </a:r>
            <a:endParaRPr lang="en-US" sz="1350" dirty="0"/>
          </a:p>
        </p:txBody>
      </p:sp>
      <p:sp>
        <p:nvSpPr>
          <p:cNvPr id="5" name="Shape 3"/>
          <p:cNvSpPr/>
          <p:nvPr/>
        </p:nvSpPr>
        <p:spPr>
          <a:xfrm>
            <a:off x="5815584" y="4251960"/>
            <a:ext cx="548640" cy="45720"/>
          </a:xfrm>
          <a:prstGeom prst="rect">
            <a:avLst/>
          </a:prstGeom>
          <a:solidFill>
            <a:srgbClr val="4ECDC4"/>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Aliran Biaya Minimum dengan SPFA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Cari jalur termurah, alirkan sebanyak mungkin, ulangi sampai tujuan tidak terjangkau lagi.</a:t>
            </a:r>
            <a:endParaRPr lang="en-US" sz="1300" dirty="0"/>
          </a:p>
        </p:txBody>
      </p:sp>
      <p:pic>
        <p:nvPicPr>
          <p:cNvPr id="4" name="Image 0" descr="/tmp/ppt/imgs/c14_14_110.png">    </p:cNvPr>
          <p:cNvPicPr>
            <a:picLocks noChangeAspect="1"/>
          </p:cNvPicPr>
          <p:nvPr/>
        </p:nvPicPr>
        <p:blipFill>
          <a:blip r:embed="rId1"/>
          <a:stretch>
            <a:fillRect/>
          </a:stretch>
        </p:blipFill>
        <p:spPr>
          <a:xfrm>
            <a:off x="2700850" y="1755648"/>
            <a:ext cx="2379843" cy="4233672"/>
          </a:xfrm>
          <a:prstGeom prst="rect">
            <a:avLst/>
          </a:prstGeom>
        </p:spPr>
      </p:pic>
      <p:sp>
        <p:nvSpPr>
          <p:cNvPr id="5" name="Shape 2"/>
          <p:cNvSpPr/>
          <p:nvPr/>
        </p:nvSpPr>
        <p:spPr>
          <a:xfrm>
            <a:off x="7571232" y="1755648"/>
            <a:ext cx="3950208" cy="4233672"/>
          </a:xfrm>
          <a:prstGeom prst="rect">
            <a:avLst/>
          </a:prstGeom>
          <a:solidFill>
            <a:srgbClr val="FAFAFA"/>
          </a:solidFill>
          <a:ln/>
        </p:spPr>
      </p:sp>
      <p:sp>
        <p:nvSpPr>
          <p:cNvPr id="6" name="Shape 3"/>
          <p:cNvSpPr/>
          <p:nvPr/>
        </p:nvSpPr>
        <p:spPr>
          <a:xfrm>
            <a:off x="7571232" y="1755648"/>
            <a:ext cx="3950208" cy="45720"/>
          </a:xfrm>
          <a:prstGeom prst="rect">
            <a:avLst/>
          </a:prstGeom>
          <a:solidFill>
            <a:srgbClr val="F0736A"/>
          </a:solidFill>
          <a:ln/>
        </p:spPr>
      </p:sp>
      <p:sp>
        <p:nvSpPr>
          <p:cNvPr id="7" name="Text 4"/>
          <p:cNvSpPr txBox="1"/>
          <p:nvPr/>
        </p:nvSpPr>
        <p:spPr>
          <a:xfrm>
            <a:off x="7845552" y="1956816"/>
            <a:ext cx="3401568" cy="274320"/>
          </a:xfrm>
          <a:prstGeom prst="rect">
            <a:avLst/>
          </a:prstGeom>
          <a:noFill/>
          <a:ln/>
        </p:spPr>
        <p:txBody>
          <a:bodyPr wrap="square" lIns="0" tIns="0" rIns="0" bIns="0" rtlCol="0" anchor="ctr"/>
          <a:lstStyle/>
          <a:p>
            <a:pPr indent="0" marL="0">
              <a:buNone/>
            </a:pPr>
            <a:r>
              <a:rPr lang="en-US" sz="1050" spc="300" kern="0" dirty="0">
                <a:solidFill>
                  <a:srgbClr val="F0736A"/>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359152"/>
            <a:ext cx="3401568" cy="708064"/>
          </a:xfrm>
          <a:prstGeom prst="rect">
            <a:avLst/>
          </a:prstGeom>
          <a:noFill/>
          <a:ln/>
        </p:spPr>
        <p:txBody>
          <a:bodyPr wrap="square" lIns="0" tIns="0" rIns="0" bIns="0" rtlCol="0" anchor="ctr"/>
          <a:lstStyle/>
          <a:p>
            <a:pPr indent="0" marL="0">
              <a:lnSpc>
                <a:spcPct val="130000"/>
              </a:lnSpc>
              <a:buNone/>
            </a:pPr>
            <a:r>
              <a:rPr lang="en-US" sz="1150" dirty="0">
                <a:solidFill>
                  <a:srgbClr val="2B2B2B"/>
                </a:solidFill>
                <a:latin typeface="Century Gothic" pitchFamily="34" charset="0"/>
                <a:ea typeface="Century Gothic" pitchFamily="34" charset="-122"/>
                <a:cs typeface="Century Gothic" pitchFamily="34" charset="-120"/>
              </a:rPr>
              <a:t>Dua ratus kasus penugasan acak berukuran 2 sampai 7 dijalankan, dan setiap hasilnya dibandingkan dengan mencoba SELURUH permutasi. Nol perbedaan.</a:t>
            </a:r>
            <a:endParaRPr lang="en-US" sz="1150" dirty="0"/>
          </a:p>
        </p:txBody>
      </p:sp>
      <p:sp>
        <p:nvSpPr>
          <p:cNvPr id="9" name="Shape 6"/>
          <p:cNvSpPr/>
          <p:nvPr/>
        </p:nvSpPr>
        <p:spPr>
          <a:xfrm>
            <a:off x="7845552" y="3332392"/>
            <a:ext cx="73152" cy="73152"/>
          </a:xfrm>
          <a:prstGeom prst="rect">
            <a:avLst/>
          </a:prstGeom>
          <a:solidFill>
            <a:srgbClr val="F0736A"/>
          </a:solidFill>
          <a:ln/>
        </p:spPr>
      </p:sp>
      <p:sp>
        <p:nvSpPr>
          <p:cNvPr id="10" name="Text 7"/>
          <p:cNvSpPr txBox="1"/>
          <p:nvPr/>
        </p:nvSpPr>
        <p:spPr>
          <a:xfrm>
            <a:off x="8028432" y="3222664"/>
            <a:ext cx="3200400" cy="484234"/>
          </a:xfrm>
          <a:prstGeom prst="rect">
            <a:avLst/>
          </a:prstGeom>
          <a:noFill/>
          <a:ln/>
        </p:spPr>
        <p:txBody>
          <a:bodyPr wrap="square" lIns="0" tIns="0" rIns="0" bIns="0" rtlCol="0" anchor="ctr"/>
          <a:lstStyle/>
          <a:p>
            <a:pPr indent="0" marL="0">
              <a:lnSpc>
                <a:spcPct val="124000"/>
              </a:lnSpc>
              <a:buNone/>
            </a:pPr>
            <a:r>
              <a:rPr lang="en-US" sz="1100" dirty="0">
                <a:solidFill>
                  <a:srgbClr val="2B2B2B"/>
                </a:solidFill>
                <a:latin typeface="Century Gothic" pitchFamily="34" charset="0"/>
                <a:ea typeface="Century Gothic" pitchFamily="34" charset="-122"/>
                <a:cs typeface="Century Gothic" pitchFamily="34" charset="-120"/>
              </a:rPr>
              <a:t>Sisi dan sisi baliknya disimpan berpasangan, jadi id XOR 1 memberi pasangannya.</a:t>
            </a:r>
            <a:endParaRPr lang="en-US" sz="1100" dirty="0"/>
          </a:p>
        </p:txBody>
      </p:sp>
      <p:sp>
        <p:nvSpPr>
          <p:cNvPr id="11" name="Shape 8"/>
          <p:cNvSpPr/>
          <p:nvPr/>
        </p:nvSpPr>
        <p:spPr>
          <a:xfrm>
            <a:off x="7845552" y="3871490"/>
            <a:ext cx="73152" cy="73152"/>
          </a:xfrm>
          <a:prstGeom prst="rect">
            <a:avLst/>
          </a:prstGeom>
          <a:solidFill>
            <a:srgbClr val="F0736A"/>
          </a:solidFill>
          <a:ln/>
        </p:spPr>
      </p:sp>
      <p:sp>
        <p:nvSpPr>
          <p:cNvPr id="12" name="Text 9"/>
          <p:cNvSpPr txBox="1"/>
          <p:nvPr/>
        </p:nvSpPr>
        <p:spPr>
          <a:xfrm>
            <a:off x="8028432" y="3761762"/>
            <a:ext cx="3200400" cy="484234"/>
          </a:xfrm>
          <a:prstGeom prst="rect">
            <a:avLst/>
          </a:prstGeom>
          <a:noFill/>
          <a:ln/>
        </p:spPr>
        <p:txBody>
          <a:bodyPr wrap="square" lIns="0" tIns="0" rIns="0" bIns="0" rtlCol="0" anchor="ctr"/>
          <a:lstStyle/>
          <a:p>
            <a:pPr indent="0" marL="0">
              <a:lnSpc>
                <a:spcPct val="124000"/>
              </a:lnSpc>
              <a:buNone/>
            </a:pPr>
            <a:r>
              <a:rPr lang="en-US" sz="1100" dirty="0">
                <a:solidFill>
                  <a:srgbClr val="2B2B2B"/>
                </a:solidFill>
                <a:latin typeface="Century Gothic" pitchFamily="34" charset="0"/>
                <a:ea typeface="Century Gothic" pitchFamily="34" charset="-122"/>
                <a:cs typeface="Century Gothic" pitchFamily="34" charset="-120"/>
              </a:rPr>
              <a:t>Biaya sisi balik adalah minus biaya sisi majunya — wajib, bukan pilihan.</a:t>
            </a:r>
            <a:endParaRPr lang="en-US" sz="1100" dirty="0"/>
          </a:p>
        </p:txBody>
      </p:sp>
      <p:sp>
        <p:nvSpPr>
          <p:cNvPr id="13" name="Shape 10"/>
          <p:cNvSpPr/>
          <p:nvPr/>
        </p:nvSpPr>
        <p:spPr>
          <a:xfrm>
            <a:off x="7845552" y="4410589"/>
            <a:ext cx="73152" cy="73152"/>
          </a:xfrm>
          <a:prstGeom prst="rect">
            <a:avLst/>
          </a:prstGeom>
          <a:solidFill>
            <a:srgbClr val="F0736A"/>
          </a:solidFill>
          <a:ln/>
        </p:spPr>
      </p:sp>
      <p:sp>
        <p:nvSpPr>
          <p:cNvPr id="14" name="Text 11"/>
          <p:cNvSpPr txBox="1"/>
          <p:nvPr/>
        </p:nvSpPr>
        <p:spPr>
          <a:xfrm>
            <a:off x="8028432" y="4300861"/>
            <a:ext cx="3200400" cy="689776"/>
          </a:xfrm>
          <a:prstGeom prst="rect">
            <a:avLst/>
          </a:prstGeom>
          <a:noFill/>
          <a:ln/>
        </p:spPr>
        <p:txBody>
          <a:bodyPr wrap="square" lIns="0" tIns="0" rIns="0" bIns="0" rtlCol="0" anchor="ctr"/>
          <a:lstStyle/>
          <a:p>
            <a:pPr indent="0" marL="0">
              <a:lnSpc>
                <a:spcPct val="124000"/>
              </a:lnSpc>
              <a:buNone/>
            </a:pPr>
            <a:r>
              <a:rPr lang="en-US" sz="1100" dirty="0">
                <a:solidFill>
                  <a:srgbClr val="2B2B2B"/>
                </a:solidFill>
                <a:latin typeface="Century Gothic" pitchFamily="34" charset="0"/>
                <a:ea typeface="Century Gothic" pitchFamily="34" charset="-122"/>
                <a:cs typeface="Century Gothic" pitchFamily="34" charset="-120"/>
              </a:rPr>
              <a:t>SPFA dipakai karena ada bobot negatif; Dijkstra hanya sah dengan potensial Johnson.</a:t>
            </a:r>
            <a:endParaRPr lang="en-US" sz="1100" dirty="0"/>
          </a:p>
        </p:txBody>
      </p:sp>
      <p:sp>
        <p:nvSpPr>
          <p:cNvPr id="15" name="Shape 12"/>
          <p:cNvSpPr/>
          <p:nvPr/>
        </p:nvSpPr>
        <p:spPr>
          <a:xfrm>
            <a:off x="7845552" y="5155228"/>
            <a:ext cx="73152" cy="73152"/>
          </a:xfrm>
          <a:prstGeom prst="rect">
            <a:avLst/>
          </a:prstGeom>
          <a:solidFill>
            <a:srgbClr val="F0736A"/>
          </a:solidFill>
          <a:ln/>
        </p:spPr>
      </p:sp>
      <p:sp>
        <p:nvSpPr>
          <p:cNvPr id="16" name="Text 13"/>
          <p:cNvSpPr txBox="1"/>
          <p:nvPr/>
        </p:nvSpPr>
        <p:spPr>
          <a:xfrm>
            <a:off x="8028432" y="5045500"/>
            <a:ext cx="3200400" cy="484234"/>
          </a:xfrm>
          <a:prstGeom prst="rect">
            <a:avLst/>
          </a:prstGeom>
          <a:noFill/>
          <a:ln/>
        </p:spPr>
        <p:txBody>
          <a:bodyPr wrap="square" lIns="0" tIns="0" rIns="0" bIns="0" rtlCol="0" anchor="ctr"/>
          <a:lstStyle/>
          <a:p>
            <a:pPr indent="0" marL="0">
              <a:lnSpc>
                <a:spcPct val="124000"/>
              </a:lnSpc>
              <a:buNone/>
            </a:pPr>
            <a:r>
              <a:rPr lang="en-US" sz="1100" dirty="0">
                <a:solidFill>
                  <a:srgbClr val="2B2B2B"/>
                </a:solidFill>
                <a:latin typeface="Century Gothic" pitchFamily="34" charset="0"/>
                <a:ea typeface="Century Gothic" pitchFamily="34" charset="-122"/>
                <a:cs typeface="Century Gothic" pitchFamily="34" charset="-120"/>
              </a:rPr>
              <a:t>Kompleksitasnya sekitar O(aliran x V x E) — cukup untuk graf berukuran ratusan.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Algoritma Hungarian untuk Penugasan</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Untuk soal penugasan n kali n, ada cara yang jauh lebih cepat: O(n^3) murni, tanpa membangun graf sama sekali.</a:t>
            </a:r>
            <a:endParaRPr lang="en-US" sz="1300" dirty="0"/>
          </a:p>
        </p:txBody>
      </p:sp>
      <p:pic>
        <p:nvPicPr>
          <p:cNvPr id="4" name="Image 0" descr="/tmp/ppt/imgs/c14_15_111.png">    </p:cNvPr>
          <p:cNvPicPr>
            <a:picLocks noChangeAspect="1"/>
          </p:cNvPicPr>
          <p:nvPr/>
        </p:nvPicPr>
        <p:blipFill>
          <a:blip r:embed="rId1"/>
          <a:stretch>
            <a:fillRect/>
          </a:stretch>
        </p:blipFill>
        <p:spPr>
          <a:xfrm>
            <a:off x="2747836" y="1993392"/>
            <a:ext cx="2285871" cy="3995928"/>
          </a:xfrm>
          <a:prstGeom prst="rect">
            <a:avLst/>
          </a:prstGeom>
        </p:spPr>
      </p:pic>
      <p:sp>
        <p:nvSpPr>
          <p:cNvPr id="5" name="Shape 2"/>
          <p:cNvSpPr/>
          <p:nvPr/>
        </p:nvSpPr>
        <p:spPr>
          <a:xfrm>
            <a:off x="7571232" y="1993392"/>
            <a:ext cx="3950208" cy="3995928"/>
          </a:xfrm>
          <a:prstGeom prst="rect">
            <a:avLst/>
          </a:prstGeom>
          <a:solidFill>
            <a:srgbClr val="FAFAFA"/>
          </a:solidFill>
          <a:ln/>
        </p:spPr>
      </p:sp>
      <p:sp>
        <p:nvSpPr>
          <p:cNvPr id="6" name="Shape 3"/>
          <p:cNvSpPr/>
          <p:nvPr/>
        </p:nvSpPr>
        <p:spPr>
          <a:xfrm>
            <a:off x="7571232" y="1993392"/>
            <a:ext cx="3950208" cy="45720"/>
          </a:xfrm>
          <a:prstGeom prst="rect">
            <a:avLst/>
          </a:prstGeom>
          <a:solidFill>
            <a:srgbClr val="5B8DEF"/>
          </a:solidFill>
          <a:ln/>
        </p:spPr>
      </p:sp>
      <p:sp>
        <p:nvSpPr>
          <p:cNvPr id="7" name="Text 4"/>
          <p:cNvSpPr txBox="1"/>
          <p:nvPr/>
        </p:nvSpPr>
        <p:spPr>
          <a:xfrm>
            <a:off x="7845552" y="2194560"/>
            <a:ext cx="3401568" cy="274320"/>
          </a:xfrm>
          <a:prstGeom prst="rect">
            <a:avLst/>
          </a:prstGeom>
          <a:noFill/>
          <a:ln/>
        </p:spPr>
        <p:txBody>
          <a:bodyPr wrap="square" lIns="0" tIns="0" rIns="0" bIns="0" rtlCol="0" anchor="ctr"/>
          <a:lstStyle/>
          <a:p>
            <a:pPr indent="0" marL="0">
              <a:buNone/>
            </a:pPr>
            <a:r>
              <a:rPr lang="en-US" sz="1050" spc="300" kern="0" dirty="0">
                <a:solidFill>
                  <a:srgbClr val="5B8DEF"/>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596896"/>
            <a:ext cx="3401568" cy="932290"/>
          </a:xfrm>
          <a:prstGeom prst="rect">
            <a:avLst/>
          </a:prstGeom>
          <a:noFill/>
          <a:ln/>
        </p:spPr>
        <p:txBody>
          <a:bodyPr wrap="square" lIns="0" tIns="0" rIns="0" bIns="0" rtlCol="0" anchor="ctr"/>
          <a:lstStyle/>
          <a:p>
            <a:pPr indent="0" marL="0">
              <a:lnSpc>
                <a:spcPct val="130000"/>
              </a:lnSpc>
              <a:buNone/>
            </a:pPr>
            <a:r>
              <a:rPr lang="en-US" sz="1175" dirty="0">
                <a:solidFill>
                  <a:srgbClr val="2B2B2B"/>
                </a:solidFill>
                <a:latin typeface="Century Gothic" pitchFamily="34" charset="0"/>
                <a:ea typeface="Century Gothic" pitchFamily="34" charset="-122"/>
                <a:cs typeface="Century Gothic" pitchFamily="34" charset="-120"/>
              </a:rPr>
              <a:t>Tiga ratus kasus acak berukuran 1 sampai 7 dibandingkan dengan seluruh permutasi — nol perbedaan. Contoh matriks 3x3 di akhir memberi biaya minimum 5, yang bisa dicek dengan tangan.</a:t>
            </a:r>
            <a:endParaRPr lang="en-US" sz="1175" dirty="0"/>
          </a:p>
        </p:txBody>
      </p:sp>
      <p:sp>
        <p:nvSpPr>
          <p:cNvPr id="9" name="Shape 6"/>
          <p:cNvSpPr/>
          <p:nvPr/>
        </p:nvSpPr>
        <p:spPr>
          <a:xfrm>
            <a:off x="7845552" y="3794362"/>
            <a:ext cx="73152" cy="73152"/>
          </a:xfrm>
          <a:prstGeom prst="rect">
            <a:avLst/>
          </a:prstGeom>
          <a:solidFill>
            <a:srgbClr val="5B8DEF"/>
          </a:solidFill>
          <a:ln/>
        </p:spPr>
      </p:sp>
      <p:sp>
        <p:nvSpPr>
          <p:cNvPr id="10" name="Text 7"/>
          <p:cNvSpPr txBox="1"/>
          <p:nvPr/>
        </p:nvSpPr>
        <p:spPr>
          <a:xfrm>
            <a:off x="8028432" y="3684634"/>
            <a:ext cx="3200400" cy="493577"/>
          </a:xfrm>
          <a:prstGeom prst="rect">
            <a:avLst/>
          </a:prstGeom>
          <a:noFill/>
          <a:ln/>
        </p:spPr>
        <p:txBody>
          <a:bodyPr wrap="square" lIns="0" tIns="0" rIns="0" bIns="0" rtlCol="0" anchor="ctr"/>
          <a:lstStyle/>
          <a:p>
            <a:pPr indent="0" marL="0">
              <a:lnSpc>
                <a:spcPct val="124000"/>
              </a:lnSpc>
              <a:buNone/>
            </a:pPr>
            <a:r>
              <a:rPr lang="en-US" sz="1125" dirty="0">
                <a:solidFill>
                  <a:srgbClr val="2B2B2B"/>
                </a:solidFill>
                <a:latin typeface="Century Gothic" pitchFamily="34" charset="0"/>
                <a:ea typeface="Century Gothic" pitchFamily="34" charset="-122"/>
                <a:cs typeface="Century Gothic" pitchFamily="34" charset="-120"/>
              </a:rPr>
              <a:t>Yang dijaga adalah "harga ganti" tiap baris dan kolom, bukan aliran.</a:t>
            </a:r>
            <a:endParaRPr lang="en-US" sz="1125" dirty="0"/>
          </a:p>
        </p:txBody>
      </p:sp>
      <p:sp>
        <p:nvSpPr>
          <p:cNvPr id="11" name="Shape 8"/>
          <p:cNvSpPr/>
          <p:nvPr/>
        </p:nvSpPr>
        <p:spPr>
          <a:xfrm>
            <a:off x="7845552" y="4342804"/>
            <a:ext cx="73152" cy="73152"/>
          </a:xfrm>
          <a:prstGeom prst="rect">
            <a:avLst/>
          </a:prstGeom>
          <a:solidFill>
            <a:srgbClr val="5B8DEF"/>
          </a:solidFill>
          <a:ln/>
        </p:spPr>
      </p:sp>
      <p:sp>
        <p:nvSpPr>
          <p:cNvPr id="12" name="Text 9"/>
          <p:cNvSpPr txBox="1"/>
          <p:nvPr/>
        </p:nvSpPr>
        <p:spPr>
          <a:xfrm>
            <a:off x="8028432" y="4233076"/>
            <a:ext cx="3200400" cy="493577"/>
          </a:xfrm>
          <a:prstGeom prst="rect">
            <a:avLst/>
          </a:prstGeom>
          <a:noFill/>
          <a:ln/>
        </p:spPr>
        <p:txBody>
          <a:bodyPr wrap="square" lIns="0" tIns="0" rIns="0" bIns="0" rtlCol="0" anchor="ctr"/>
          <a:lstStyle/>
          <a:p>
            <a:pPr indent="0" marL="0">
              <a:lnSpc>
                <a:spcPct val="124000"/>
              </a:lnSpc>
              <a:buNone/>
            </a:pPr>
            <a:r>
              <a:rPr lang="en-US" sz="1125" dirty="0">
                <a:solidFill>
                  <a:srgbClr val="2B2B2B"/>
                </a:solidFill>
                <a:latin typeface="Century Gothic" pitchFamily="34" charset="0"/>
                <a:ea typeface="Century Gothic" pitchFamily="34" charset="-122"/>
                <a:cs typeface="Century Gothic" pitchFamily="34" charset="-120"/>
              </a:rPr>
              <a:t>Indeksnya 1-based; baris dan kolom 0 dipakai sebagai penanda kosong.</a:t>
            </a:r>
            <a:endParaRPr lang="en-US" sz="1125" dirty="0"/>
          </a:p>
        </p:txBody>
      </p:sp>
      <p:sp>
        <p:nvSpPr>
          <p:cNvPr id="13" name="Shape 10"/>
          <p:cNvSpPr/>
          <p:nvPr/>
        </p:nvSpPr>
        <p:spPr>
          <a:xfrm>
            <a:off x="7845552" y="4891245"/>
            <a:ext cx="73152" cy="73152"/>
          </a:xfrm>
          <a:prstGeom prst="rect">
            <a:avLst/>
          </a:prstGeom>
          <a:solidFill>
            <a:srgbClr val="5B8DEF"/>
          </a:solidFill>
          <a:ln/>
        </p:spPr>
      </p:sp>
      <p:sp>
        <p:nvSpPr>
          <p:cNvPr id="14" name="Text 11"/>
          <p:cNvSpPr txBox="1"/>
          <p:nvPr/>
        </p:nvSpPr>
        <p:spPr>
          <a:xfrm>
            <a:off x="8028432" y="4781517"/>
            <a:ext cx="3200400" cy="493577"/>
          </a:xfrm>
          <a:prstGeom prst="rect">
            <a:avLst/>
          </a:prstGeom>
          <a:noFill/>
          <a:ln/>
        </p:spPr>
        <p:txBody>
          <a:bodyPr wrap="square" lIns="0" tIns="0" rIns="0" bIns="0" rtlCol="0" anchor="ctr"/>
          <a:lstStyle/>
          <a:p>
            <a:pPr indent="0" marL="0">
              <a:lnSpc>
                <a:spcPct val="124000"/>
              </a:lnSpc>
              <a:buNone/>
            </a:pPr>
            <a:r>
              <a:rPr lang="en-US" sz="1125" dirty="0">
                <a:solidFill>
                  <a:srgbClr val="2B2B2B"/>
                </a:solidFill>
                <a:latin typeface="Century Gothic" pitchFamily="34" charset="0"/>
                <a:ea typeface="Century Gothic" pitchFamily="34" charset="-122"/>
                <a:cs typeface="Century Gothic" pitchFamily="34" charset="-120"/>
              </a:rPr>
              <a:t>n = 500 selesai dalam waktu yang MCMF sudah tidak sanggup.</a:t>
            </a:r>
            <a:endParaRPr lang="en-US" sz="1125" dirty="0"/>
          </a:p>
        </p:txBody>
      </p:sp>
      <p:sp>
        <p:nvSpPr>
          <p:cNvPr id="15" name="Shape 12"/>
          <p:cNvSpPr/>
          <p:nvPr/>
        </p:nvSpPr>
        <p:spPr>
          <a:xfrm>
            <a:off x="7845552" y="5439686"/>
            <a:ext cx="73152" cy="73152"/>
          </a:xfrm>
          <a:prstGeom prst="rect">
            <a:avLst/>
          </a:prstGeom>
          <a:solidFill>
            <a:srgbClr val="5B8DEF"/>
          </a:solidFill>
          <a:ln/>
        </p:spPr>
      </p:sp>
      <p:sp>
        <p:nvSpPr>
          <p:cNvPr id="16" name="Text 13"/>
          <p:cNvSpPr txBox="1"/>
          <p:nvPr/>
        </p:nvSpPr>
        <p:spPr>
          <a:xfrm>
            <a:off x="8028432" y="5329958"/>
            <a:ext cx="3200400" cy="493577"/>
          </a:xfrm>
          <a:prstGeom prst="rect">
            <a:avLst/>
          </a:prstGeom>
          <a:noFill/>
          <a:ln/>
        </p:spPr>
        <p:txBody>
          <a:bodyPr wrap="square" lIns="0" tIns="0" rIns="0" bIns="0" rtlCol="0" anchor="ctr"/>
          <a:lstStyle/>
          <a:p>
            <a:pPr indent="0" marL="0">
              <a:lnSpc>
                <a:spcPct val="124000"/>
              </a:lnSpc>
              <a:buNone/>
            </a:pPr>
            <a:r>
              <a:rPr lang="en-US" sz="1125" dirty="0">
                <a:solidFill>
                  <a:srgbClr val="2B2B2B"/>
                </a:solidFill>
                <a:latin typeface="Century Gothic" pitchFamily="34" charset="0"/>
                <a:ea typeface="Century Gothic" pitchFamily="34" charset="-122"/>
                <a:cs typeface="Century Gothic" pitchFamily="34" charset="-120"/>
              </a:rPr>
              <a:t>Untuk mencari maksimum, negasikan seluruh biayanya lebih dulu.</a:t>
            </a:r>
            <a:endParaRPr lang="en-US" sz="11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Jebakan yang Sering Terjadi</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Empat kesalahan berikut menghasilkan angka yang terlihat masuk akal tetapi bukan jawaban optimal.</a:t>
            </a:r>
            <a:endParaRPr lang="en-US" sz="1300" dirty="0"/>
          </a:p>
        </p:txBody>
      </p:sp>
      <p:sp>
        <p:nvSpPr>
          <p:cNvPr id="4" name="Shape 2"/>
          <p:cNvSpPr/>
          <p:nvPr/>
        </p:nvSpPr>
        <p:spPr>
          <a:xfrm>
            <a:off x="667512" y="1892808"/>
            <a:ext cx="91440" cy="91440"/>
          </a:xfrm>
          <a:prstGeom prst="rect">
            <a:avLst/>
          </a:prstGeom>
          <a:solidFill>
            <a:srgbClr val="4FA8E8"/>
          </a:solidFill>
          <a:ln/>
        </p:spPr>
      </p:sp>
      <p:sp>
        <p:nvSpPr>
          <p:cNvPr id="5" name="Text 3"/>
          <p:cNvSpPr txBox="1"/>
          <p:nvPr/>
        </p:nvSpPr>
        <p:spPr>
          <a:xfrm>
            <a:off x="960120" y="1737360"/>
            <a:ext cx="10332720" cy="365760"/>
          </a:xfrm>
          <a:prstGeom prst="rect">
            <a:avLst/>
          </a:prstGeom>
          <a:noFill/>
          <a:ln/>
        </p:spPr>
        <p:txBody>
          <a:bodyPr wrap="square" lIns="0" tIns="0" rIns="0" bIns="0" rtlCol="0" anchor="ctr"/>
          <a:lstStyle/>
          <a:p>
            <a:pPr indent="0" marL="0">
              <a:buNone/>
            </a:pPr>
            <a:r>
              <a:rPr lang="en-US" sz="1500" dirty="0">
                <a:solidFill>
                  <a:srgbClr val="4FA8E8"/>
                </a:solidFill>
                <a:latin typeface="Century Gothic" pitchFamily="34" charset="0"/>
                <a:ea typeface="Century Gothic" pitchFamily="34" charset="-122"/>
                <a:cs typeface="Century Gothic" pitchFamily="34" charset="-120"/>
              </a:rPr>
              <a:t>Memakai Dijkstra tanpa potensial</a:t>
            </a:r>
            <a:endParaRPr lang="en-US" sz="1500" dirty="0"/>
          </a:p>
        </p:txBody>
      </p:sp>
      <p:sp>
        <p:nvSpPr>
          <p:cNvPr id="6" name="Text 4"/>
          <p:cNvSpPr txBox="1"/>
          <p:nvPr/>
        </p:nvSpPr>
        <p:spPr>
          <a:xfrm>
            <a:off x="960120" y="208483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Sisi balik berbiaya negatif membuat Dijkstra memberi jarak yang salah. Pakai SPFA, atau Dijkstra dengan potensial Johnson yang dijaga tiap iterasi.</a:t>
            </a:r>
            <a:endParaRPr lang="en-US" sz="1250" dirty="0"/>
          </a:p>
        </p:txBody>
      </p:sp>
      <p:sp>
        <p:nvSpPr>
          <p:cNvPr id="7" name="Shape 5"/>
          <p:cNvSpPr/>
          <p:nvPr/>
        </p:nvSpPr>
        <p:spPr>
          <a:xfrm>
            <a:off x="667512" y="2898648"/>
            <a:ext cx="91440" cy="91440"/>
          </a:xfrm>
          <a:prstGeom prst="rect">
            <a:avLst/>
          </a:prstGeom>
          <a:solidFill>
            <a:srgbClr val="3ECF9E"/>
          </a:solidFill>
          <a:ln/>
        </p:spPr>
      </p:sp>
      <p:sp>
        <p:nvSpPr>
          <p:cNvPr id="8" name="Text 6"/>
          <p:cNvSpPr txBox="1"/>
          <p:nvPr/>
        </p:nvSpPr>
        <p:spPr>
          <a:xfrm>
            <a:off x="960120" y="2743200"/>
            <a:ext cx="10332720" cy="365760"/>
          </a:xfrm>
          <a:prstGeom prst="rect">
            <a:avLst/>
          </a:prstGeom>
          <a:noFill/>
          <a:ln/>
        </p:spPr>
        <p:txBody>
          <a:bodyPr wrap="square" lIns="0" tIns="0" rIns="0" bIns="0" rtlCol="0" anchor="ctr"/>
          <a:lstStyle/>
          <a:p>
            <a:pPr indent="0" marL="0">
              <a:buNone/>
            </a:pPr>
            <a:r>
              <a:rPr lang="en-US" sz="1500" dirty="0">
                <a:solidFill>
                  <a:srgbClr val="3ECF9E"/>
                </a:solidFill>
                <a:latin typeface="Century Gothic" pitchFamily="34" charset="0"/>
                <a:ea typeface="Century Gothic" pitchFamily="34" charset="-122"/>
                <a:cs typeface="Century Gothic" pitchFamily="34" charset="-120"/>
              </a:rPr>
              <a:t>Lupa memberi biaya negatif pada sisi balik</a:t>
            </a:r>
            <a:endParaRPr lang="en-US" sz="1500" dirty="0"/>
          </a:p>
        </p:txBody>
      </p:sp>
      <p:sp>
        <p:nvSpPr>
          <p:cNvPr id="9" name="Text 7"/>
          <p:cNvSpPr txBox="1"/>
          <p:nvPr/>
        </p:nvSpPr>
        <p:spPr>
          <a:xfrm>
            <a:off x="960120" y="309067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Tanpa itu, algoritma tidak pernah bisa membatalkan keputusan lama, dan hasilnya persis sama dengan pendekatan rakus yang salah.</a:t>
            </a:r>
            <a:endParaRPr lang="en-US" sz="1250" dirty="0"/>
          </a:p>
        </p:txBody>
      </p:sp>
      <p:sp>
        <p:nvSpPr>
          <p:cNvPr id="10" name="Shape 8"/>
          <p:cNvSpPr/>
          <p:nvPr/>
        </p:nvSpPr>
        <p:spPr>
          <a:xfrm>
            <a:off x="667512" y="3904488"/>
            <a:ext cx="91440" cy="91440"/>
          </a:xfrm>
          <a:prstGeom prst="rect">
            <a:avLst/>
          </a:prstGeom>
          <a:solidFill>
            <a:srgbClr val="F5A623"/>
          </a:solidFill>
          <a:ln/>
        </p:spPr>
      </p:sp>
      <p:sp>
        <p:nvSpPr>
          <p:cNvPr id="11" name="Text 9"/>
          <p:cNvSpPr txBox="1"/>
          <p:nvPr/>
        </p:nvSpPr>
        <p:spPr>
          <a:xfrm>
            <a:off x="960120" y="3749040"/>
            <a:ext cx="10332720" cy="365760"/>
          </a:xfrm>
          <a:prstGeom prst="rect">
            <a:avLst/>
          </a:prstGeom>
          <a:noFill/>
          <a:ln/>
        </p:spPr>
        <p:txBody>
          <a:bodyPr wrap="square" lIns="0" tIns="0" rIns="0" bIns="0" rtlCol="0" anchor="ctr"/>
          <a:lstStyle/>
          <a:p>
            <a:pPr indent="0" marL="0">
              <a:buNone/>
            </a:pPr>
            <a:r>
              <a:rPr lang="en-US" sz="1500" dirty="0">
                <a:solidFill>
                  <a:srgbClr val="F5A623"/>
                </a:solidFill>
                <a:latin typeface="Century Gothic" pitchFamily="34" charset="0"/>
                <a:ea typeface="Century Gothic" pitchFamily="34" charset="-122"/>
                <a:cs typeface="Century Gothic" pitchFamily="34" charset="-120"/>
              </a:rPr>
              <a:t>Menganggap aliran maksimum berbiaya minimum sama dengan biaya minimum</a:t>
            </a:r>
            <a:endParaRPr lang="en-US" sz="1500" dirty="0"/>
          </a:p>
        </p:txBody>
      </p:sp>
      <p:sp>
        <p:nvSpPr>
          <p:cNvPr id="12" name="Text 10"/>
          <p:cNvSpPr txBox="1"/>
          <p:nvPr/>
        </p:nvSpPr>
        <p:spPr>
          <a:xfrm>
            <a:off x="960120" y="409651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Kalau soal tidak mewajibkan aliran maksimum, berhentilah saat biaya jalur berikutnya sudah positif — menambah aliran justru memperburuk.</a:t>
            </a:r>
            <a:endParaRPr lang="en-US" sz="1250" dirty="0"/>
          </a:p>
        </p:txBody>
      </p:sp>
      <p:sp>
        <p:nvSpPr>
          <p:cNvPr id="13" name="Shape 11"/>
          <p:cNvSpPr/>
          <p:nvPr/>
        </p:nvSpPr>
        <p:spPr>
          <a:xfrm>
            <a:off x="667512" y="4910328"/>
            <a:ext cx="91440" cy="91440"/>
          </a:xfrm>
          <a:prstGeom prst="rect">
            <a:avLst/>
          </a:prstGeom>
          <a:solidFill>
            <a:srgbClr val="A78BFA"/>
          </a:solidFill>
          <a:ln/>
        </p:spPr>
      </p:sp>
      <p:sp>
        <p:nvSpPr>
          <p:cNvPr id="14" name="Text 12"/>
          <p:cNvSpPr txBox="1"/>
          <p:nvPr/>
        </p:nvSpPr>
        <p:spPr>
          <a:xfrm>
            <a:off x="960120" y="4754880"/>
            <a:ext cx="10332720" cy="365760"/>
          </a:xfrm>
          <a:prstGeom prst="rect">
            <a:avLst/>
          </a:prstGeom>
          <a:noFill/>
          <a:ln/>
        </p:spPr>
        <p:txBody>
          <a:bodyPr wrap="square" lIns="0" tIns="0" rIns="0" bIns="0" rtlCol="0" anchor="ctr"/>
          <a:lstStyle/>
          <a:p>
            <a:pPr indent="0" marL="0">
              <a:buNone/>
            </a:pPr>
            <a:r>
              <a:rPr lang="en-US" sz="1500" dirty="0">
                <a:solidFill>
                  <a:srgbClr val="A78BFA"/>
                </a:solidFill>
                <a:latin typeface="Century Gothic" pitchFamily="34" charset="0"/>
                <a:ea typeface="Century Gothic" pitchFamily="34" charset="-122"/>
                <a:cs typeface="Century Gothic" pitchFamily="34" charset="-120"/>
              </a:rPr>
              <a:t>Memakai MCMF untuk penugasan berukuran ratusan</a:t>
            </a:r>
            <a:endParaRPr lang="en-US" sz="1500" dirty="0"/>
          </a:p>
        </p:txBody>
      </p:sp>
      <p:sp>
        <p:nvSpPr>
          <p:cNvPr id="15" name="Text 13"/>
          <p:cNvSpPr txBox="1"/>
          <p:nvPr/>
        </p:nvSpPr>
        <p:spPr>
          <a:xfrm>
            <a:off x="960120" y="510235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Untuk n = 500 MCMF terlalu lambat sementara Hungarian selesai seketika. Kenali bentuk penugasan dan pakai alat yang tepat.</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04</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Contoh Soal</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Dari pernyataan sampai kode lengkap</a:t>
            </a:r>
            <a:endParaRPr lang="en-US" sz="1350" dirty="0"/>
          </a:p>
        </p:txBody>
      </p:sp>
      <p:sp>
        <p:nvSpPr>
          <p:cNvPr id="5" name="Shape 3"/>
          <p:cNvSpPr/>
          <p:nvPr/>
        </p:nvSpPr>
        <p:spPr>
          <a:xfrm>
            <a:off x="5815584" y="4251960"/>
            <a:ext cx="548640" cy="45720"/>
          </a:xfrm>
          <a:prstGeom prst="rect">
            <a:avLst/>
          </a:prstGeom>
          <a:solidFill>
            <a:srgbClr val="3ECF9E"/>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Latihan Terbimbing</a:t>
            </a:r>
            <a:endParaRPr lang="en-US" sz="3000" dirty="0"/>
          </a:p>
        </p:txBody>
      </p:sp>
      <p:sp>
        <p:nvSpPr>
          <p:cNvPr id="3" name="Shape 1"/>
          <p:cNvSpPr/>
          <p:nvPr/>
        </p:nvSpPr>
        <p:spPr>
          <a:xfrm>
            <a:off x="667512" y="1280160"/>
            <a:ext cx="6035040" cy="4572000"/>
          </a:xfrm>
          <a:prstGeom prst="rect">
            <a:avLst/>
          </a:prstGeom>
          <a:solidFill>
            <a:srgbClr val="FAFAFA"/>
          </a:solidFill>
          <a:ln/>
        </p:spPr>
      </p:sp>
      <p:sp>
        <p:nvSpPr>
          <p:cNvPr id="4" name="Shape 2"/>
          <p:cNvSpPr/>
          <p:nvPr/>
        </p:nvSpPr>
        <p:spPr>
          <a:xfrm>
            <a:off x="667512" y="1280160"/>
            <a:ext cx="6035040" cy="45720"/>
          </a:xfrm>
          <a:prstGeom prst="rect">
            <a:avLst/>
          </a:prstGeom>
          <a:solidFill>
            <a:srgbClr val="F0736A"/>
          </a:solidFill>
          <a:ln/>
        </p:spPr>
      </p:sp>
      <p:sp>
        <p:nvSpPr>
          <p:cNvPr id="5" name="Text 3"/>
          <p:cNvSpPr txBox="1"/>
          <p:nvPr/>
        </p:nvSpPr>
        <p:spPr>
          <a:xfrm>
            <a:off x="923544" y="1463040"/>
            <a:ext cx="2743200" cy="274320"/>
          </a:xfrm>
          <a:prstGeom prst="rect">
            <a:avLst/>
          </a:prstGeom>
          <a:noFill/>
          <a:ln/>
        </p:spPr>
        <p:txBody>
          <a:bodyPr wrap="square" lIns="0" tIns="0" rIns="0" bIns="0" rtlCol="0" anchor="ctr"/>
          <a:lstStyle/>
          <a:p>
            <a:pPr indent="0" marL="0">
              <a:buNone/>
            </a:pPr>
            <a:r>
              <a:rPr lang="en-US" sz="1050" spc="300" kern="0" dirty="0">
                <a:solidFill>
                  <a:srgbClr val="F0736A"/>
                </a:solidFill>
                <a:latin typeface="Century Gothic" pitchFamily="34" charset="0"/>
                <a:ea typeface="Century Gothic" pitchFamily="34" charset="-122"/>
                <a:cs typeface="Century Gothic" pitchFamily="34" charset="-120"/>
              </a:rPr>
              <a:t>SOAL</a:t>
            </a:r>
            <a:endParaRPr lang="en-US" sz="1050" dirty="0"/>
          </a:p>
        </p:txBody>
      </p:sp>
      <p:sp>
        <p:nvSpPr>
          <p:cNvPr id="6" name="Text 4"/>
          <p:cNvSpPr txBox="1"/>
          <p:nvPr/>
        </p:nvSpPr>
        <p:spPr>
          <a:xfrm>
            <a:off x="923544" y="1737360"/>
            <a:ext cx="5486400" cy="365760"/>
          </a:xfrm>
          <a:prstGeom prst="rect">
            <a:avLst/>
          </a:prstGeom>
          <a:noFill/>
          <a:ln/>
        </p:spPr>
        <p:txBody>
          <a:bodyPr wrap="square" lIns="0" tIns="0" rIns="0" bIns="0" rtlCol="0" anchor="ctr"/>
          <a:lstStyle/>
          <a:p>
            <a:pPr indent="0" marL="0">
              <a:buNone/>
            </a:pPr>
            <a:r>
              <a:rPr lang="en-US" sz="1600" dirty="0">
                <a:solidFill>
                  <a:srgbClr val="1A1A1A"/>
                </a:solidFill>
                <a:latin typeface="Century Gothic" pitchFamily="34" charset="0"/>
                <a:ea typeface="Century Gothic" pitchFamily="34" charset="-122"/>
                <a:cs typeface="Century Gothic" pitchFamily="34" charset="-120"/>
              </a:rPr>
              <a:t>Menugaskan Kurir ke Pesanan</a:t>
            </a:r>
            <a:endParaRPr lang="en-US" sz="1600" dirty="0"/>
          </a:p>
        </p:txBody>
      </p:sp>
      <p:sp>
        <p:nvSpPr>
          <p:cNvPr id="7" name="Text 5"/>
          <p:cNvSpPr txBox="1"/>
          <p:nvPr/>
        </p:nvSpPr>
        <p:spPr>
          <a:xfrm>
            <a:off x="923544" y="2194560"/>
            <a:ext cx="5486400" cy="2377440"/>
          </a:xfrm>
          <a:prstGeom prst="rect">
            <a:avLst/>
          </a:prstGeom>
          <a:noFill/>
          <a:ln/>
        </p:spPr>
        <p:txBody>
          <a:bodyPr wrap="square" lIns="0" tIns="0" rIns="0" bIns="0" rtlCol="0" anchor="ctr"/>
          <a:lstStyle/>
          <a:p>
            <a:pPr indent="0" marL="0">
              <a:lnSpc>
                <a:spcPct val="130000"/>
              </a:lnSpc>
              <a:buNone/>
            </a:pPr>
            <a:r>
              <a:rPr lang="en-US" sz="1300" dirty="0">
                <a:solidFill>
                  <a:srgbClr val="2B2B2B"/>
                </a:solidFill>
                <a:latin typeface="Century Gothic" pitchFamily="34" charset="0"/>
                <a:ea typeface="Century Gothic" pitchFamily="34" charset="-122"/>
                <a:cs typeface="Century Gothic" pitchFamily="34" charset="-120"/>
              </a:rPr>
              <a:t>Ada n kurir dan n pesanan, masing-masing pada koordinat bilangan bulat. Biaya menugaskan seorang kurir ke sebuah pesanan adalah jarak Manhattan di antara keduanya. Setiap kurir mengambil tepat satu pesanan dan setiap pesanan diambil tepat satu kurir. Minimalkan total biaya.</a:t>
            </a:r>
            <a:endParaRPr lang="en-US" sz="1300" dirty="0"/>
          </a:p>
        </p:txBody>
      </p:sp>
      <p:sp>
        <p:nvSpPr>
          <p:cNvPr id="8" name="Text 6"/>
          <p:cNvSpPr txBox="1"/>
          <p:nvPr/>
        </p:nvSpPr>
        <p:spPr>
          <a:xfrm>
            <a:off x="1014984" y="4480560"/>
            <a:ext cx="5394960" cy="12801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7F7F7F"/>
                </a:solidFill>
                <a:latin typeface="Century Gothic" pitchFamily="34" charset="0"/>
                <a:ea typeface="Century Gothic" pitchFamily="34" charset="-122"/>
                <a:cs typeface="Century Gothic" pitchFamily="34" charset="-120"/>
              </a:rPr>
              <a:t>1 &lt;= n &lt;= 500</a:t>
            </a:r>
            <a:endParaRPr lang="en-US" sz="1200" dirty="0"/>
          </a:p>
          <a:p>
            <a:pPr marL="342900" indent="-342900">
              <a:spcAft>
                <a:spcPts val="600"/>
              </a:spcAft>
              <a:buSzPct val="100000"/>
              <a:buChar char="▪"/>
            </a:pPr>
            <a:r>
              <a:rPr lang="en-US" sz="1200" dirty="0">
                <a:solidFill>
                  <a:srgbClr val="7F7F7F"/>
                </a:solidFill>
                <a:latin typeface="Century Gothic" pitchFamily="34" charset="0"/>
                <a:ea typeface="Century Gothic" pitchFamily="34" charset="-122"/>
                <a:cs typeface="Century Gothic" pitchFamily="34" charset="-120"/>
              </a:rPr>
              <a:t>0 &lt;= koordinat &lt;= 10^9</a:t>
            </a:r>
            <a:endParaRPr lang="en-US" sz="1200" dirty="0"/>
          </a:p>
          <a:p>
            <a:pPr marL="342900" indent="-342900">
              <a:spcAft>
                <a:spcPts val="600"/>
              </a:spcAft>
              <a:buSzPct val="100000"/>
              <a:buChar char="▪"/>
            </a:pPr>
            <a:r>
              <a:rPr lang="en-US" sz="1200" dirty="0">
                <a:solidFill>
                  <a:srgbClr val="7F7F7F"/>
                </a:solidFill>
                <a:latin typeface="Century Gothic" pitchFamily="34" charset="0"/>
                <a:ea typeface="Century Gothic" pitchFamily="34" charset="-122"/>
                <a:cs typeface="Century Gothic" pitchFamily="34" charset="-120"/>
              </a:rPr>
              <a:t>batas waktu 2 detik</a:t>
            </a:r>
            <a:endParaRPr lang="en-US" sz="1200" dirty="0"/>
          </a:p>
          <a:p>
            <a:pPr marL="342900" indent="-342900">
              <a:spcAft>
                <a:spcPts val="600"/>
              </a:spcAft>
              <a:buSzPct val="100000"/>
              <a:buChar char="▪"/>
            </a:pPr>
            <a:r>
              <a:rPr lang="en-US" sz="1200" dirty="0">
                <a:solidFill>
                  <a:srgbClr val="7F7F7F"/>
                </a:solidFill>
                <a:latin typeface="Century Gothic" pitchFamily="34" charset="0"/>
                <a:ea typeface="Century Gothic" pitchFamily="34" charset="-122"/>
                <a:cs typeface="Century Gothic" pitchFamily="34" charset="-120"/>
              </a:rPr>
              <a:t>jawaban muat dalam 64 bit</a:t>
            </a:r>
            <a:endParaRPr lang="en-US" sz="1200" dirty="0"/>
          </a:p>
        </p:txBody>
      </p:sp>
      <p:pic>
        <p:nvPicPr>
          <p:cNvPr id="9" name="Image 0" descr="/tmp/ppt/imgs/c14_18_112.png">    </p:cNvPr>
          <p:cNvPicPr>
            <a:picLocks noChangeAspect="1"/>
          </p:cNvPicPr>
          <p:nvPr/>
        </p:nvPicPr>
        <p:blipFill>
          <a:blip r:embed="rId1"/>
          <a:stretch>
            <a:fillRect/>
          </a:stretch>
        </p:blipFill>
        <p:spPr>
          <a:xfrm>
            <a:off x="7937592" y="1280160"/>
            <a:ext cx="2595696" cy="4572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Pembahasan - Menugaskan Kurir ke Pesanan</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Bangun matriks jaraknya sekali, lalu jalankan Hungarian. Sebagai pembanding, jalankan juga pendekatan rakus untuk melihat selisihnya.</a:t>
            </a:r>
            <a:endParaRPr lang="en-US" sz="1300" dirty="0"/>
          </a:p>
        </p:txBody>
      </p:sp>
      <p:pic>
        <p:nvPicPr>
          <p:cNvPr id="4" name="Image 0" descr="/tmp/ppt/imgs/c14_19_113.png">    </p:cNvPr>
          <p:cNvPicPr>
            <a:picLocks noChangeAspect="1"/>
          </p:cNvPicPr>
          <p:nvPr/>
        </p:nvPicPr>
        <p:blipFill>
          <a:blip r:embed="rId1"/>
          <a:stretch>
            <a:fillRect/>
          </a:stretch>
        </p:blipFill>
        <p:spPr>
          <a:xfrm>
            <a:off x="2781741" y="1993392"/>
            <a:ext cx="2218062" cy="3995928"/>
          </a:xfrm>
          <a:prstGeom prst="rect">
            <a:avLst/>
          </a:prstGeom>
        </p:spPr>
      </p:pic>
      <p:sp>
        <p:nvSpPr>
          <p:cNvPr id="5" name="Shape 2"/>
          <p:cNvSpPr/>
          <p:nvPr/>
        </p:nvSpPr>
        <p:spPr>
          <a:xfrm>
            <a:off x="7571232" y="1993392"/>
            <a:ext cx="3950208" cy="3995928"/>
          </a:xfrm>
          <a:prstGeom prst="rect">
            <a:avLst/>
          </a:prstGeom>
          <a:solidFill>
            <a:srgbClr val="FAFAFA"/>
          </a:solidFill>
          <a:ln/>
        </p:spPr>
      </p:sp>
      <p:sp>
        <p:nvSpPr>
          <p:cNvPr id="6" name="Shape 3"/>
          <p:cNvSpPr/>
          <p:nvPr/>
        </p:nvSpPr>
        <p:spPr>
          <a:xfrm>
            <a:off x="7571232" y="1993392"/>
            <a:ext cx="3950208" cy="45720"/>
          </a:xfrm>
          <a:prstGeom prst="rect">
            <a:avLst/>
          </a:prstGeom>
          <a:solidFill>
            <a:srgbClr val="A78BFA"/>
          </a:solidFill>
          <a:ln/>
        </p:spPr>
      </p:sp>
      <p:sp>
        <p:nvSpPr>
          <p:cNvPr id="7" name="Text 4"/>
          <p:cNvSpPr txBox="1"/>
          <p:nvPr/>
        </p:nvSpPr>
        <p:spPr>
          <a:xfrm>
            <a:off x="7845552" y="2194560"/>
            <a:ext cx="3401568" cy="274320"/>
          </a:xfrm>
          <a:prstGeom prst="rect">
            <a:avLst/>
          </a:prstGeom>
          <a:noFill/>
          <a:ln/>
        </p:spPr>
        <p:txBody>
          <a:bodyPr wrap="square" lIns="0" tIns="0" rIns="0" bIns="0" rtlCol="0" anchor="ctr"/>
          <a:lstStyle/>
          <a:p>
            <a:pPr indent="0" marL="0">
              <a:buNone/>
            </a:pPr>
            <a:r>
              <a:rPr lang="en-US" sz="1050" spc="300" kern="0" dirty="0">
                <a:solidFill>
                  <a:srgbClr val="A78BFA"/>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596896"/>
            <a:ext cx="3401568" cy="876234"/>
          </a:xfrm>
          <a:prstGeom prst="rect">
            <a:avLst/>
          </a:prstGeom>
          <a:noFill/>
          <a:ln/>
        </p:spPr>
        <p:txBody>
          <a:bodyPr wrap="square" lIns="0" tIns="0" rIns="0" bIns="0" rtlCol="0" anchor="ctr"/>
          <a:lstStyle/>
          <a:p>
            <a:pPr indent="0" marL="0">
              <a:lnSpc>
                <a:spcPct val="130000"/>
              </a:lnSpc>
              <a:buNone/>
            </a:pPr>
            <a:r>
              <a:rPr lang="en-US" sz="1100" dirty="0">
                <a:solidFill>
                  <a:srgbClr val="2B2B2B"/>
                </a:solidFill>
                <a:latin typeface="Century Gothic" pitchFamily="34" charset="0"/>
                <a:ea typeface="Century Gothic" pitchFamily="34" charset="-122"/>
                <a:cs typeface="Century Gothic" pitchFamily="34" charset="-120"/>
              </a:rPr>
              <a:t>Untuk 400 kurir dan 400 pesanan acak, Hungarian memberi total 288.754 sementara pendekatan rakus memberi 405.482 — sekitar empat puluh persen lebih mahal. Selisih sebesar itulah yang membedakan AC dari WA.</a:t>
            </a:r>
            <a:endParaRPr lang="en-US" sz="1100" dirty="0"/>
          </a:p>
        </p:txBody>
      </p:sp>
      <p:sp>
        <p:nvSpPr>
          <p:cNvPr id="9" name="Shape 6"/>
          <p:cNvSpPr/>
          <p:nvPr/>
        </p:nvSpPr>
        <p:spPr>
          <a:xfrm>
            <a:off x="7845552" y="3738306"/>
            <a:ext cx="73152" cy="73152"/>
          </a:xfrm>
          <a:prstGeom prst="rect">
            <a:avLst/>
          </a:prstGeom>
          <a:solidFill>
            <a:srgbClr val="A78BFA"/>
          </a:solidFill>
          <a:ln/>
        </p:spPr>
      </p:sp>
      <p:sp>
        <p:nvSpPr>
          <p:cNvPr id="10" name="Text 7"/>
          <p:cNvSpPr txBox="1"/>
          <p:nvPr/>
        </p:nvSpPr>
        <p:spPr>
          <a:xfrm>
            <a:off x="8028432" y="3628578"/>
            <a:ext cx="3200400" cy="465549"/>
          </a:xfrm>
          <a:prstGeom prst="rect">
            <a:avLst/>
          </a:prstGeom>
          <a:noFill/>
          <a:ln/>
        </p:spPr>
        <p:txBody>
          <a:bodyPr wrap="square" lIns="0" tIns="0" rIns="0" bIns="0" rtlCol="0" anchor="ctr"/>
          <a:lstStyle/>
          <a:p>
            <a:pPr indent="0" marL="0">
              <a:lnSpc>
                <a:spcPct val="124000"/>
              </a:lnSpc>
              <a:buNone/>
            </a:pPr>
            <a:r>
              <a:rPr lang="en-US" sz="1050" dirty="0">
                <a:solidFill>
                  <a:srgbClr val="2B2B2B"/>
                </a:solidFill>
                <a:latin typeface="Century Gothic" pitchFamily="34" charset="0"/>
                <a:ea typeface="Century Gothic" pitchFamily="34" charset="-122"/>
                <a:cs typeface="Century Gothic" pitchFamily="34" charset="-120"/>
              </a:rPr>
              <a:t>Matriksnya n kali n; untuk n = 500 itu 250 ribu sel, masih ringan.</a:t>
            </a:r>
            <a:endParaRPr lang="en-US" sz="1050" dirty="0"/>
          </a:p>
        </p:txBody>
      </p:sp>
      <p:sp>
        <p:nvSpPr>
          <p:cNvPr id="11" name="Shape 8"/>
          <p:cNvSpPr/>
          <p:nvPr/>
        </p:nvSpPr>
        <p:spPr>
          <a:xfrm>
            <a:off x="7845552" y="4258719"/>
            <a:ext cx="73152" cy="73152"/>
          </a:xfrm>
          <a:prstGeom prst="rect">
            <a:avLst/>
          </a:prstGeom>
          <a:solidFill>
            <a:srgbClr val="A78BFA"/>
          </a:solidFill>
          <a:ln/>
        </p:spPr>
      </p:sp>
      <p:sp>
        <p:nvSpPr>
          <p:cNvPr id="12" name="Text 9"/>
          <p:cNvSpPr txBox="1"/>
          <p:nvPr/>
        </p:nvSpPr>
        <p:spPr>
          <a:xfrm>
            <a:off x="8028432" y="4148991"/>
            <a:ext cx="3200400" cy="465549"/>
          </a:xfrm>
          <a:prstGeom prst="rect">
            <a:avLst/>
          </a:prstGeom>
          <a:noFill/>
          <a:ln/>
        </p:spPr>
        <p:txBody>
          <a:bodyPr wrap="square" lIns="0" tIns="0" rIns="0" bIns="0" rtlCol="0" anchor="ctr"/>
          <a:lstStyle/>
          <a:p>
            <a:pPr indent="0" marL="0">
              <a:lnSpc>
                <a:spcPct val="124000"/>
              </a:lnSpc>
              <a:buNone/>
            </a:pPr>
            <a:r>
              <a:rPr lang="en-US" sz="1050" dirty="0">
                <a:solidFill>
                  <a:srgbClr val="2B2B2B"/>
                </a:solidFill>
                <a:latin typeface="Century Gothic" pitchFamily="34" charset="0"/>
                <a:ea typeface="Century Gothic" pitchFamily="34" charset="-122"/>
                <a:cs typeface="Century Gothic" pitchFamily="34" charset="-120"/>
              </a:rPr>
              <a:t>Hungarian O(n^3) berarti sekitar 10^8 operasi untuk n = 500 — muat 2 detik.</a:t>
            </a:r>
            <a:endParaRPr lang="en-US" sz="1050" dirty="0"/>
          </a:p>
        </p:txBody>
      </p:sp>
      <p:sp>
        <p:nvSpPr>
          <p:cNvPr id="13" name="Shape 10"/>
          <p:cNvSpPr/>
          <p:nvPr/>
        </p:nvSpPr>
        <p:spPr>
          <a:xfrm>
            <a:off x="7845552" y="4779131"/>
            <a:ext cx="73152" cy="73152"/>
          </a:xfrm>
          <a:prstGeom prst="rect">
            <a:avLst/>
          </a:prstGeom>
          <a:solidFill>
            <a:srgbClr val="A78BFA"/>
          </a:solidFill>
          <a:ln/>
        </p:spPr>
      </p:sp>
      <p:sp>
        <p:nvSpPr>
          <p:cNvPr id="14" name="Text 11"/>
          <p:cNvSpPr txBox="1"/>
          <p:nvPr/>
        </p:nvSpPr>
        <p:spPr>
          <a:xfrm>
            <a:off x="8028432" y="4669403"/>
            <a:ext cx="3200400" cy="465549"/>
          </a:xfrm>
          <a:prstGeom prst="rect">
            <a:avLst/>
          </a:prstGeom>
          <a:noFill/>
          <a:ln/>
        </p:spPr>
        <p:txBody>
          <a:bodyPr wrap="square" lIns="0" tIns="0" rIns="0" bIns="0" rtlCol="0" anchor="ctr"/>
          <a:lstStyle/>
          <a:p>
            <a:pPr indent="0" marL="0">
              <a:lnSpc>
                <a:spcPct val="124000"/>
              </a:lnSpc>
              <a:buNone/>
            </a:pPr>
            <a:r>
              <a:rPr lang="en-US" sz="1050" dirty="0">
                <a:solidFill>
                  <a:srgbClr val="2B2B2B"/>
                </a:solidFill>
                <a:latin typeface="Century Gothic" pitchFamily="34" charset="0"/>
                <a:ea typeface="Century Gothic" pitchFamily="34" charset="-122"/>
                <a:cs typeface="Century Gothic" pitchFamily="34" charset="-120"/>
              </a:rPr>
              <a:t>Rakus dijalankan hanya sebagai pembanding, bukan sebagai solusi.</a:t>
            </a:r>
            <a:endParaRPr lang="en-US" sz="1050" dirty="0"/>
          </a:p>
        </p:txBody>
      </p:sp>
      <p:sp>
        <p:nvSpPr>
          <p:cNvPr id="15" name="Shape 12"/>
          <p:cNvSpPr/>
          <p:nvPr/>
        </p:nvSpPr>
        <p:spPr>
          <a:xfrm>
            <a:off x="7845552" y="5299544"/>
            <a:ext cx="73152" cy="73152"/>
          </a:xfrm>
          <a:prstGeom prst="rect">
            <a:avLst/>
          </a:prstGeom>
          <a:solidFill>
            <a:srgbClr val="A78BFA"/>
          </a:solidFill>
          <a:ln/>
        </p:spPr>
      </p:sp>
      <p:sp>
        <p:nvSpPr>
          <p:cNvPr id="16" name="Text 13"/>
          <p:cNvSpPr txBox="1"/>
          <p:nvPr/>
        </p:nvSpPr>
        <p:spPr>
          <a:xfrm>
            <a:off x="8028432" y="5189816"/>
            <a:ext cx="3200400" cy="465549"/>
          </a:xfrm>
          <a:prstGeom prst="rect">
            <a:avLst/>
          </a:prstGeom>
          <a:noFill/>
          <a:ln/>
        </p:spPr>
        <p:txBody>
          <a:bodyPr wrap="square" lIns="0" tIns="0" rIns="0" bIns="0" rtlCol="0" anchor="ctr"/>
          <a:lstStyle/>
          <a:p>
            <a:pPr indent="0" marL="0">
              <a:lnSpc>
                <a:spcPct val="124000"/>
              </a:lnSpc>
              <a:buNone/>
            </a:pPr>
            <a:r>
              <a:rPr lang="en-US" sz="1050" dirty="0">
                <a:solidFill>
                  <a:srgbClr val="2B2B2B"/>
                </a:solidFill>
                <a:latin typeface="Century Gothic" pitchFamily="34" charset="0"/>
                <a:ea typeface="Century Gothic" pitchFamily="34" charset="-122"/>
                <a:cs typeface="Century Gothic" pitchFamily="34" charset="-120"/>
              </a:rPr>
              <a:t>Jarak Manhattan dijumlahkan dalam long long sejak awal.</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Latihan Mandiri</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Dua yang pertama adalah penugasan langsung; tiga sisanya menuntut memodelkan soal menjadi jaringan lebih dulu.</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7512" y="1993392"/>
          <a:ext cx="10853928" cy="914400"/>
        </p:xfrm>
        <a:graphic>
          <a:graphicData uri="http://schemas.openxmlformats.org/drawingml/2006/table">
            <a:tbl>
              <a:tblPr/>
              <a:tblGrid>
                <a:gridCol w="3383280"/>
                <a:gridCol w="4480560"/>
                <a:gridCol w="2990088"/>
              </a:tblGrid>
              <a:tr h="548640">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Soal</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Yang dilatih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Tingkat</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UVa 10746 Crime Wave</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Penugasan langsung dengan Hungarian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Menengah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SPOJ SCITIES / GREED</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Aliran biaya minimum dasar</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Menengah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Codeforces 1288F</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Memodelkan soal menjadi jaringan berbiaya</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Sulit</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Codeforces 863F Almost Permutation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Batas nilai menjadi kapasitas dan biaya</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Sulit</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AtCoder Library Practice Contest E</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Penugasan dengan batas tambahan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Sulit</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Ringkasan</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Empat hal yang perlu terbawa dari materi ini.</a:t>
            </a:r>
            <a:endParaRPr lang="en-US" sz="1300" dirty="0"/>
          </a:p>
        </p:txBody>
      </p:sp>
      <p:sp>
        <p:nvSpPr>
          <p:cNvPr id="4" name="Shape 2"/>
          <p:cNvSpPr/>
          <p:nvPr/>
        </p:nvSpPr>
        <p:spPr>
          <a:xfrm>
            <a:off x="667512" y="1892808"/>
            <a:ext cx="91440" cy="91440"/>
          </a:xfrm>
          <a:prstGeom prst="rect">
            <a:avLst/>
          </a:prstGeom>
          <a:solidFill>
            <a:srgbClr val="4FA8E8"/>
          </a:solidFill>
          <a:ln/>
        </p:spPr>
      </p:sp>
      <p:sp>
        <p:nvSpPr>
          <p:cNvPr id="5" name="Text 3"/>
          <p:cNvSpPr txBox="1"/>
          <p:nvPr/>
        </p:nvSpPr>
        <p:spPr>
          <a:xfrm>
            <a:off x="960120" y="1737360"/>
            <a:ext cx="10332720" cy="365760"/>
          </a:xfrm>
          <a:prstGeom prst="rect">
            <a:avLst/>
          </a:prstGeom>
          <a:noFill/>
          <a:ln/>
        </p:spPr>
        <p:txBody>
          <a:bodyPr wrap="square" lIns="0" tIns="0" rIns="0" bIns="0" rtlCol="0" anchor="ctr"/>
          <a:lstStyle/>
          <a:p>
            <a:pPr indent="0" marL="0">
              <a:buNone/>
            </a:pPr>
            <a:r>
              <a:rPr lang="en-US" sz="1500" dirty="0">
                <a:solidFill>
                  <a:srgbClr val="4FA8E8"/>
                </a:solidFill>
                <a:latin typeface="Century Gothic" pitchFamily="34" charset="0"/>
                <a:ea typeface="Century Gothic" pitchFamily="34" charset="-122"/>
                <a:cs typeface="Century Gothic" pitchFamily="34" charset="-120"/>
              </a:rPr>
              <a:t>Satu perubahan dari Dinic: pilih jalur TERMURAH</a:t>
            </a:r>
            <a:endParaRPr lang="en-US" sz="1500" dirty="0"/>
          </a:p>
        </p:txBody>
      </p:sp>
      <p:sp>
        <p:nvSpPr>
          <p:cNvPr id="6" name="Text 4"/>
          <p:cNvSpPr txBox="1"/>
          <p:nvPr/>
        </p:nvSpPr>
        <p:spPr>
          <a:xfrm>
            <a:off x="960120" y="208483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Kalau setiap jalur penambah yang dipakai adalah yang berbiaya terkecil, hasil akhirnya terbukti optimal. Sisanya sama persis dengan aliran maksimum.</a:t>
            </a:r>
            <a:endParaRPr lang="en-US" sz="1250" dirty="0"/>
          </a:p>
        </p:txBody>
      </p:sp>
      <p:sp>
        <p:nvSpPr>
          <p:cNvPr id="7" name="Shape 5"/>
          <p:cNvSpPr/>
          <p:nvPr/>
        </p:nvSpPr>
        <p:spPr>
          <a:xfrm>
            <a:off x="667512" y="2898648"/>
            <a:ext cx="91440" cy="91440"/>
          </a:xfrm>
          <a:prstGeom prst="rect">
            <a:avLst/>
          </a:prstGeom>
          <a:solidFill>
            <a:srgbClr val="3ECF9E"/>
          </a:solidFill>
          <a:ln/>
        </p:spPr>
      </p:sp>
      <p:sp>
        <p:nvSpPr>
          <p:cNvPr id="8" name="Text 6"/>
          <p:cNvSpPr txBox="1"/>
          <p:nvPr/>
        </p:nvSpPr>
        <p:spPr>
          <a:xfrm>
            <a:off x="960120" y="2743200"/>
            <a:ext cx="10332720" cy="365760"/>
          </a:xfrm>
          <a:prstGeom prst="rect">
            <a:avLst/>
          </a:prstGeom>
          <a:noFill/>
          <a:ln/>
        </p:spPr>
        <p:txBody>
          <a:bodyPr wrap="square" lIns="0" tIns="0" rIns="0" bIns="0" rtlCol="0" anchor="ctr"/>
          <a:lstStyle/>
          <a:p>
            <a:pPr indent="0" marL="0">
              <a:buNone/>
            </a:pPr>
            <a:r>
              <a:rPr lang="en-US" sz="1500" dirty="0">
                <a:solidFill>
                  <a:srgbClr val="3ECF9E"/>
                </a:solidFill>
                <a:latin typeface="Century Gothic" pitchFamily="34" charset="0"/>
                <a:ea typeface="Century Gothic" pitchFamily="34" charset="-122"/>
                <a:cs typeface="Century Gothic" pitchFamily="34" charset="-120"/>
              </a:rPr>
              <a:t>Sisi balik berbiaya negatif adalah intinya</a:t>
            </a:r>
            <a:endParaRPr lang="en-US" sz="1500" dirty="0"/>
          </a:p>
        </p:txBody>
      </p:sp>
      <p:sp>
        <p:nvSpPr>
          <p:cNvPr id="9" name="Text 7"/>
          <p:cNvSpPr txBox="1"/>
          <p:nvPr/>
        </p:nvSpPr>
        <p:spPr>
          <a:xfrm>
            <a:off x="960120" y="309067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Itulah yang membuat algoritma bisa membatalkan keputusan lama. Tanpanya, MCMF menjadi pendekatan rakus yang salah.</a:t>
            </a:r>
            <a:endParaRPr lang="en-US" sz="1250" dirty="0"/>
          </a:p>
        </p:txBody>
      </p:sp>
      <p:sp>
        <p:nvSpPr>
          <p:cNvPr id="10" name="Shape 8"/>
          <p:cNvSpPr/>
          <p:nvPr/>
        </p:nvSpPr>
        <p:spPr>
          <a:xfrm>
            <a:off x="667512" y="3904488"/>
            <a:ext cx="91440" cy="91440"/>
          </a:xfrm>
          <a:prstGeom prst="rect">
            <a:avLst/>
          </a:prstGeom>
          <a:solidFill>
            <a:srgbClr val="F5A623"/>
          </a:solidFill>
          <a:ln/>
        </p:spPr>
      </p:sp>
      <p:sp>
        <p:nvSpPr>
          <p:cNvPr id="11" name="Text 9"/>
          <p:cNvSpPr txBox="1"/>
          <p:nvPr/>
        </p:nvSpPr>
        <p:spPr>
          <a:xfrm>
            <a:off x="960120" y="3749040"/>
            <a:ext cx="10332720" cy="365760"/>
          </a:xfrm>
          <a:prstGeom prst="rect">
            <a:avLst/>
          </a:prstGeom>
          <a:noFill/>
          <a:ln/>
        </p:spPr>
        <p:txBody>
          <a:bodyPr wrap="square" lIns="0" tIns="0" rIns="0" bIns="0" rtlCol="0" anchor="ctr"/>
          <a:lstStyle/>
          <a:p>
            <a:pPr indent="0" marL="0">
              <a:buNone/>
            </a:pPr>
            <a:r>
              <a:rPr lang="en-US" sz="1500" dirty="0">
                <a:solidFill>
                  <a:srgbClr val="F5A623"/>
                </a:solidFill>
                <a:latin typeface="Century Gothic" pitchFamily="34" charset="0"/>
                <a:ea typeface="Century Gothic" pitchFamily="34" charset="-122"/>
                <a:cs typeface="Century Gothic" pitchFamily="34" charset="-120"/>
              </a:rPr>
              <a:t>Karena ada biaya negatif, pakai SPFA</a:t>
            </a:r>
            <a:endParaRPr lang="en-US" sz="1500" dirty="0"/>
          </a:p>
        </p:txBody>
      </p:sp>
      <p:sp>
        <p:nvSpPr>
          <p:cNvPr id="12" name="Text 10"/>
          <p:cNvSpPr txBox="1"/>
          <p:nvPr/>
        </p:nvSpPr>
        <p:spPr>
          <a:xfrm>
            <a:off x="960120" y="409651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Dijkstra biasa memberi jarak yang salah pada graf sisa. Alternatifnya Dijkstra dengan potensial Johnson, yang lebih cepat tetapi lebih panjang.</a:t>
            </a:r>
            <a:endParaRPr lang="en-US" sz="1250" dirty="0"/>
          </a:p>
        </p:txBody>
      </p:sp>
      <p:sp>
        <p:nvSpPr>
          <p:cNvPr id="13" name="Shape 11"/>
          <p:cNvSpPr/>
          <p:nvPr/>
        </p:nvSpPr>
        <p:spPr>
          <a:xfrm>
            <a:off x="667512" y="4910328"/>
            <a:ext cx="91440" cy="91440"/>
          </a:xfrm>
          <a:prstGeom prst="rect">
            <a:avLst/>
          </a:prstGeom>
          <a:solidFill>
            <a:srgbClr val="A78BFA"/>
          </a:solidFill>
          <a:ln/>
        </p:spPr>
      </p:sp>
      <p:sp>
        <p:nvSpPr>
          <p:cNvPr id="14" name="Text 12"/>
          <p:cNvSpPr txBox="1"/>
          <p:nvPr/>
        </p:nvSpPr>
        <p:spPr>
          <a:xfrm>
            <a:off x="960120" y="4754880"/>
            <a:ext cx="10332720" cy="365760"/>
          </a:xfrm>
          <a:prstGeom prst="rect">
            <a:avLst/>
          </a:prstGeom>
          <a:noFill/>
          <a:ln/>
        </p:spPr>
        <p:txBody>
          <a:bodyPr wrap="square" lIns="0" tIns="0" rIns="0" bIns="0" rtlCol="0" anchor="ctr"/>
          <a:lstStyle/>
          <a:p>
            <a:pPr indent="0" marL="0">
              <a:buNone/>
            </a:pPr>
            <a:r>
              <a:rPr lang="en-US" sz="1500" dirty="0">
                <a:solidFill>
                  <a:srgbClr val="A78BFA"/>
                </a:solidFill>
                <a:latin typeface="Century Gothic" pitchFamily="34" charset="0"/>
                <a:ea typeface="Century Gothic" pitchFamily="34" charset="-122"/>
                <a:cs typeface="Century Gothic" pitchFamily="34" charset="-120"/>
              </a:rPr>
              <a:t>Untuk penugasan n kali n, Hungarian menang telak</a:t>
            </a:r>
            <a:endParaRPr lang="en-US" sz="1500" dirty="0"/>
          </a:p>
        </p:txBody>
      </p:sp>
      <p:sp>
        <p:nvSpPr>
          <p:cNvPr id="15" name="Text 13"/>
          <p:cNvSpPr txBox="1"/>
          <p:nvPr/>
        </p:nvSpPr>
        <p:spPr>
          <a:xfrm>
            <a:off x="960120" y="510235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O(n^3) murni tanpa membangun graf. Kenali bentuk "n pekerja n tugas satu-satu" dan langsung pakai itu.</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2026-09-11T16:59:28Z</dcterms:created>
  <dcterms:modified xsi:type="dcterms:W3CDTF">2026-09-11T16:59:28Z</dcterms:modified>
</cp:coreProperties>
</file>