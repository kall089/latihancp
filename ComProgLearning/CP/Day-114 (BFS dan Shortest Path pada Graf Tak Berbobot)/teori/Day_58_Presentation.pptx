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46304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58A6FF"/>
                </a:solidFill>
              </a:rPr>
              <a:t>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COMPETITIVE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150 Day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BFS — Breadth-First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Level-order · Shortest Path · Multi-source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Queue-based traversal yang fundamental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5120640"/>
            <a:ext cx="169164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521208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Level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5120640"/>
            <a:ext cx="169164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521208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Level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5120640"/>
            <a:ext cx="169164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5212080"/>
            <a:ext cx="1691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Level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Day 58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Konsep
BFS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Level-order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Queue FIFO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Tinta menyebar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O(V+E)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Algoritma
&amp; Trace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Pseudocode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Step-by-step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dist[] array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prev[] untuk path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Shortest
Path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Unweighted graph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Path reconstruction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Why optimal?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BFS vs Dijkstra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Grid &amp;
Multi-source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Grid 4-arah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8-arah variant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Multi-source BFS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Aplikasi &amp; 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Konsep BFS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Level per level dari source — seperti tinta menyebar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BFS — Visualisasi Level-Order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Mulai dari source, lalu ke jarak 1, jarak 2,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338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C857"/>
                </a:solidFill>
              </a:rPr>
              <a:t>🌊 BFS dari node S — kunjungi level by level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4754880" y="2286000"/>
            <a:ext cx="1005840" cy="0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92240" y="2286000"/>
            <a:ext cx="1005839" cy="0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126480" y="1280160"/>
            <a:ext cx="0" cy="640080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108960" y="2286000"/>
            <a:ext cx="914399" cy="0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89120" y="2651760"/>
            <a:ext cx="0" cy="640080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63840" y="2651760"/>
            <a:ext cx="0" cy="640080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0" y="2286000"/>
            <a:ext cx="914400" cy="0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76198" y="3884241"/>
            <a:ext cx="1163203" cy="918317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413558" y="3884241"/>
            <a:ext cx="1163203" cy="918317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760720" y="1920240"/>
            <a:ext cx="731520" cy="73152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10312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S</a:t>
            </a:r>
          </a:p>
        </p:txBody>
      </p:sp>
      <p:sp>
        <p:nvSpPr>
          <p:cNvPr id="18" name="Oval 17"/>
          <p:cNvSpPr/>
          <p:nvPr/>
        </p:nvSpPr>
        <p:spPr>
          <a:xfrm>
            <a:off x="4023359" y="1920240"/>
            <a:ext cx="731520" cy="73152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59" y="210312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A</a:t>
            </a:r>
          </a:p>
        </p:txBody>
      </p:sp>
      <p:sp>
        <p:nvSpPr>
          <p:cNvPr id="20" name="Oval 19"/>
          <p:cNvSpPr/>
          <p:nvPr/>
        </p:nvSpPr>
        <p:spPr>
          <a:xfrm>
            <a:off x="7498079" y="1920240"/>
            <a:ext cx="731520" cy="73152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210312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5760720" y="548640"/>
            <a:ext cx="731520" cy="73152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73152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C</a:t>
            </a:r>
          </a:p>
        </p:txBody>
      </p:sp>
      <p:sp>
        <p:nvSpPr>
          <p:cNvPr id="24" name="Oval 23"/>
          <p:cNvSpPr/>
          <p:nvPr/>
        </p:nvSpPr>
        <p:spPr>
          <a:xfrm>
            <a:off x="2377440" y="1920240"/>
            <a:ext cx="731520" cy="731520"/>
          </a:xfrm>
          <a:prstGeom prst="ellipse">
            <a:avLst/>
          </a:prstGeom>
          <a:solidFill>
            <a:srgbClr val="3FD97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210312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D</a:t>
            </a:r>
          </a:p>
        </p:txBody>
      </p:sp>
      <p:sp>
        <p:nvSpPr>
          <p:cNvPr id="26" name="Oval 25"/>
          <p:cNvSpPr/>
          <p:nvPr/>
        </p:nvSpPr>
        <p:spPr>
          <a:xfrm>
            <a:off x="4023359" y="3291840"/>
            <a:ext cx="731520" cy="731520"/>
          </a:xfrm>
          <a:prstGeom prst="ellipse">
            <a:avLst/>
          </a:prstGeom>
          <a:solidFill>
            <a:srgbClr val="3FD97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59" y="347472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E</a:t>
            </a:r>
          </a:p>
        </p:txBody>
      </p:sp>
      <p:sp>
        <p:nvSpPr>
          <p:cNvPr id="28" name="Oval 27"/>
          <p:cNvSpPr/>
          <p:nvPr/>
        </p:nvSpPr>
        <p:spPr>
          <a:xfrm>
            <a:off x="7498079" y="3291840"/>
            <a:ext cx="731520" cy="731520"/>
          </a:xfrm>
          <a:prstGeom prst="ellipse">
            <a:avLst/>
          </a:prstGeom>
          <a:solidFill>
            <a:srgbClr val="3FD97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347472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0" y="1920240"/>
            <a:ext cx="731520" cy="731520"/>
          </a:xfrm>
          <a:prstGeom prst="ellipse">
            <a:avLst/>
          </a:prstGeom>
          <a:solidFill>
            <a:srgbClr val="3FD97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210312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G</a:t>
            </a:r>
          </a:p>
        </p:txBody>
      </p:sp>
      <p:sp>
        <p:nvSpPr>
          <p:cNvPr id="32" name="Oval 31"/>
          <p:cNvSpPr/>
          <p:nvPr/>
        </p:nvSpPr>
        <p:spPr>
          <a:xfrm>
            <a:off x="5760720" y="4663440"/>
            <a:ext cx="731520" cy="731520"/>
          </a:xfrm>
          <a:prstGeom prst="ellipse">
            <a:avLst/>
          </a:prstGeom>
          <a:solidFill>
            <a:srgbClr val="C9A0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4846320"/>
            <a:ext cx="731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182880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FFC857"/>
                </a:solidFill>
              </a:rPr>
              <a:t>Level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155448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58A6FF"/>
                </a:solidFill>
              </a:rPr>
              <a:t>Level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65760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3FD97F"/>
                </a:solidFill>
              </a:rPr>
              <a:t>Level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44068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C9A0FF"/>
                </a:solidFill>
              </a:rPr>
              <a:t>Level 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852160"/>
            <a:ext cx="11338560" cy="640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852160"/>
            <a:ext cx="113385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89320"/>
            <a:ext cx="113385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58A6FF"/>
                </a:solidFill>
                <a:latin typeface="Menlo"/>
              </a:rPr>
              <a:t>🎯 BFS Order: S → A,B,C → D,E,F,G → 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Properti BFS — Mengapa Powerful?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486400" cy="27432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0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04241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🔑 Properti Inti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9961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1. Struktur: Queue (FIFO)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9222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2. Traversal: level per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3. dist[v] = jumlah edge minimum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7744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 dari source ke 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7004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4. Setiap node dikunjungi 1×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86200"/>
            <a:ext cx="5486400" cy="22860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86200"/>
            <a:ext cx="54864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922776"/>
            <a:ext cx="5212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📊 Kompleksitas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379976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Time: O(V + 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672584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  setiap V &amp; E diproses 1×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965192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Space: O(V) — queue + dist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257800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Optimal untuk unweighted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005840"/>
            <a:ext cx="56692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🆚 BFS vs DFS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554480"/>
            <a:ext cx="1517904" cy="544068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600200"/>
            <a:ext cx="1371600" cy="4526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Aspek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1554480"/>
            <a:ext cx="1975104" cy="544068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1600200"/>
            <a:ext cx="1828800" cy="4526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BFS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554480"/>
            <a:ext cx="2066543" cy="544068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1600200"/>
            <a:ext cx="1920239" cy="4526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DFS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144268"/>
            <a:ext cx="5632704" cy="603503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217420"/>
            <a:ext cx="1371600" cy="49377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Struktur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217420"/>
            <a:ext cx="1828800" cy="49377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Queue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217420"/>
            <a:ext cx="1920239" cy="49377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Stack/recursion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784348"/>
            <a:ext cx="5632704" cy="603503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857500"/>
            <a:ext cx="1371600" cy="49377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Order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2857500"/>
            <a:ext cx="1828800" cy="49377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Level-by-level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857500"/>
            <a:ext cx="1920239" cy="49377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Depth-first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424427"/>
            <a:ext cx="5632704" cy="603503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497579"/>
            <a:ext cx="1371600" cy="49377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SP unweighted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497579"/>
            <a:ext cx="1828800" cy="49377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✓ Optimal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497579"/>
            <a:ext cx="1920239" cy="49377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6B8A"/>
                </a:solidFill>
              </a:rPr>
              <a:t>✗ Tidak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4064507"/>
            <a:ext cx="5632704" cy="603503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4137659"/>
            <a:ext cx="1371600" cy="49377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A0FF"/>
                </a:solidFill>
              </a:rPr>
              <a:t>Memori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137659"/>
            <a:ext cx="1828800" cy="49377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O(V) (level lebar)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4137659"/>
            <a:ext cx="1920239" cy="49377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O(V) (depth)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704588"/>
            <a:ext cx="5632704" cy="603503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4777740"/>
            <a:ext cx="1371600" cy="49377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6B8A"/>
                </a:solidFill>
              </a:rPr>
              <a:t>Use case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4777740"/>
            <a:ext cx="1828800" cy="49377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Shortest path,
level order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777740"/>
            <a:ext cx="1920239" cy="49377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Cycle detect,
topo sort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0" y="5486400"/>
            <a:ext cx="566928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26480" y="5486400"/>
            <a:ext cx="91440" cy="5029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557784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5596128"/>
            <a:ext cx="4892040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BFS pertama kali capai v = jarak terpendek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Algoritma &amp; Trace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Step-by-step dengan queue dan dist array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BFS Algoritma — Implementasi C++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bfs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adj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dist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</a:t>
            </a:r>
            <a:r>
              <a:rPr sz="1100">
                <a:solidFill>
                  <a:srgbClr val="6E7681"/>
                </a:solidFill>
                <a:latin typeface="Menlo"/>
              </a:rPr>
              <a:t>// -1 = unvisited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39D0D8"/>
                </a:solidFill>
                <a:latin typeface="Menlo"/>
              </a:rPr>
              <a:t>queue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dist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empty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u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front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: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adj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u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dist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C9D1D9"/>
                </a:solidFill>
                <a:latin typeface="Menlo"/>
              </a:rPr>
              <a:t>       </a:t>
            </a:r>
            <a:r>
              <a:rPr sz="1100">
                <a:solidFill>
                  <a:srgbClr val="6E7681"/>
                </a:solidFill>
                <a:latin typeface="Menlo"/>
              </a:rPr>
              <a:t>// belum visit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100">
                <a:solidFill>
                  <a:srgbClr val="C9D1D9"/>
                </a:solidFill>
                <a:latin typeface="Menlo"/>
              </a:rPr>
              <a:t>dist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dist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u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6E7681"/>
                </a:solidFill>
                <a:latin typeface="Menlo"/>
              </a:rPr>
              <a:t>// jarak +1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100">
                <a:solidFill>
                  <a:srgbClr val="C9D1D9"/>
                </a:solidFill>
                <a:latin typeface="Menlo"/>
              </a:rPr>
              <a:t>q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dist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</a:t>
            </a:r>
            <a:r>
              <a:rPr sz="1100">
                <a:solidFill>
                  <a:srgbClr val="6E7681"/>
                </a:solidFill>
                <a:latin typeface="Menlo"/>
              </a:rPr>
              <a:t>// -1 jika tidak terjangkau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172200"/>
            <a:ext cx="5943600" cy="4572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6172200"/>
            <a:ext cx="59436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208776"/>
            <a:ext cx="56692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🧠 3 Bagian Utama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665976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1. Init: dist=-1, push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958584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2. Loop: pop, expand tetangga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7251192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3. Cek dist=-1 sebelum push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7543800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→ pastikan visit 1×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🎬 Trace BFS dari node 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82128" y="1783080"/>
            <a:ext cx="1152144" cy="0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89520" y="2075688"/>
            <a:ext cx="0" cy="832104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326880" y="2075688"/>
            <a:ext cx="0" cy="832104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82128" y="3200400"/>
            <a:ext cx="1152144" cy="0"/>
          </a:xfrm>
          <a:prstGeom prst="line">
            <a:avLst/>
          </a:prstGeom>
          <a:ln w="22225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296912" y="1490472"/>
            <a:ext cx="585216" cy="58521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1636776"/>
            <a:ext cx="58521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9034272" y="1490472"/>
            <a:ext cx="585216" cy="58521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34272" y="1636776"/>
            <a:ext cx="58521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7" name="Oval 26"/>
          <p:cNvSpPr/>
          <p:nvPr/>
        </p:nvSpPr>
        <p:spPr>
          <a:xfrm>
            <a:off x="7296912" y="2907792"/>
            <a:ext cx="585216" cy="58521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96912" y="3054096"/>
            <a:ext cx="58521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29" name="Oval 28"/>
          <p:cNvSpPr/>
          <p:nvPr/>
        </p:nvSpPr>
        <p:spPr>
          <a:xfrm>
            <a:off x="9034272" y="2907792"/>
            <a:ext cx="585216" cy="585216"/>
          </a:xfrm>
          <a:prstGeom prst="ellipse">
            <a:avLst/>
          </a:prstGeom>
          <a:solidFill>
            <a:srgbClr val="3FD97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34272" y="3054096"/>
            <a:ext cx="58521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4114800"/>
            <a:ext cx="1152144" cy="3264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160520"/>
            <a:ext cx="1005840" cy="235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</a:rPr>
              <a:t>Step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4114800"/>
            <a:ext cx="1517904" cy="3264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4160520"/>
            <a:ext cx="1371600" cy="235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</a:rPr>
              <a:t>Queue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4114800"/>
            <a:ext cx="2432304" cy="3264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19" y="4160520"/>
            <a:ext cx="2286000" cy="235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 i="0">
                <a:solidFill>
                  <a:srgbClr val="0D1117"/>
                </a:solidFill>
              </a:rPr>
              <a:t>dist[]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486960"/>
            <a:ext cx="517550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560112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F0F6FC"/>
                </a:solidFill>
              </a:rPr>
              <a:t>init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560112"/>
            <a:ext cx="13716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</a:rPr>
              <a:t>[1]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19" y="4560112"/>
            <a:ext cx="22860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</a:rPr>
              <a:t>1:0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4871008"/>
            <a:ext cx="5175504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4944160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F0F6FC"/>
                </a:solidFill>
              </a:rPr>
              <a:t>pop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4944160"/>
            <a:ext cx="13716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</a:rPr>
              <a:t>[2,3]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19" y="4944160"/>
            <a:ext cx="22860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</a:rPr>
              <a:t>1:0,2:1,3:1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5255056"/>
            <a:ext cx="517550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5328208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F0F6FC"/>
                </a:solidFill>
              </a:rPr>
              <a:t>pop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328208"/>
            <a:ext cx="13716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</a:rPr>
              <a:t>[3,4]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19" y="5328208"/>
            <a:ext cx="22860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</a:rPr>
              <a:t>1:0,2:1,3:1,4:2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5639104"/>
            <a:ext cx="5175504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5712256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F0F6FC"/>
                </a:solidFill>
              </a:rPr>
              <a:t>pop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712256"/>
            <a:ext cx="13716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</a:rPr>
              <a:t>[4]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19" y="5712256"/>
            <a:ext cx="22860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0F6FC"/>
                </a:solidFill>
              </a:rPr>
              <a:t>(4 visited)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6023152"/>
            <a:ext cx="517550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6096304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0">
                <a:solidFill>
                  <a:srgbClr val="3FD97F"/>
                </a:solidFill>
              </a:rPr>
              <a:t>pop 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6096304"/>
            <a:ext cx="13716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3FD97F"/>
                </a:solidFill>
              </a:rPr>
              <a:t>[]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19" y="6096304"/>
            <a:ext cx="228600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3FD97F"/>
                </a:solidFill>
              </a:rPr>
              <a:t>DONE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0" y="6263640"/>
            <a:ext cx="5212080" cy="36576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83680" y="6263640"/>
            <a:ext cx="9144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66560" y="6355079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C857"/>
                </a:solidFill>
              </a:rPr>
              <a:t>🎯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69480" y="6373368"/>
            <a:ext cx="443484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Hasil: dist=[-,0,1,1,2]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Visualisasi BFS — Setiap Langkah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25603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1. Init: push 1</a:t>
            </a:r>
          </a:p>
        </p:txBody>
      </p:sp>
      <p:sp>
        <p:nvSpPr>
          <p:cNvPr id="7" name="Oval 6"/>
          <p:cNvSpPr/>
          <p:nvPr/>
        </p:nvSpPr>
        <p:spPr>
          <a:xfrm>
            <a:off x="1124712" y="1856231"/>
            <a:ext cx="493776" cy="49377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97967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2496312" y="1856231"/>
            <a:ext cx="493776" cy="493776"/>
          </a:xfrm>
          <a:prstGeom prst="ellipse">
            <a:avLst/>
          </a:prstGeom>
          <a:solidFill>
            <a:srgbClr val="1F293C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197967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124712" y="3044952"/>
            <a:ext cx="493776" cy="493776"/>
          </a:xfrm>
          <a:prstGeom prst="ellipse">
            <a:avLst/>
          </a:prstGeom>
          <a:solidFill>
            <a:srgbClr val="1F293C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31683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2496312" y="3044952"/>
            <a:ext cx="493776" cy="493776"/>
          </a:xfrm>
          <a:prstGeom prst="ellipse">
            <a:avLst/>
          </a:prstGeom>
          <a:solidFill>
            <a:srgbClr val="1F293C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6312" y="31683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18488" y="2103120"/>
            <a:ext cx="877824" cy="0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371600" y="2350008"/>
            <a:ext cx="0" cy="694944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743200" y="2350008"/>
            <a:ext cx="0" cy="694944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618488" y="3291840"/>
            <a:ext cx="877824" cy="0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124712" y="1856231"/>
            <a:ext cx="493776" cy="49377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197967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2496312" y="1856231"/>
            <a:ext cx="493776" cy="493776"/>
          </a:xfrm>
          <a:prstGeom prst="ellipse">
            <a:avLst/>
          </a:prstGeom>
          <a:solidFill>
            <a:srgbClr val="1F293C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96312" y="197967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1124712" y="3044952"/>
            <a:ext cx="493776" cy="493776"/>
          </a:xfrm>
          <a:prstGeom prst="ellipse">
            <a:avLst/>
          </a:prstGeom>
          <a:solidFill>
            <a:srgbClr val="1F293C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31683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2496312" y="3044952"/>
            <a:ext cx="493776" cy="493776"/>
          </a:xfrm>
          <a:prstGeom prst="ellipse">
            <a:avLst/>
          </a:prstGeom>
          <a:solidFill>
            <a:srgbClr val="1F293C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6312" y="31683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37744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Menlo"/>
              </a:rPr>
              <a:t>queue=[1]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097280"/>
            <a:ext cx="5486400" cy="25603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14300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2. Pop 1, push 2,3</a:t>
            </a:r>
          </a:p>
        </p:txBody>
      </p:sp>
      <p:sp>
        <p:nvSpPr>
          <p:cNvPr id="30" name="Oval 29"/>
          <p:cNvSpPr/>
          <p:nvPr/>
        </p:nvSpPr>
        <p:spPr>
          <a:xfrm>
            <a:off x="6976872" y="1856231"/>
            <a:ext cx="493776" cy="49377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76872" y="197967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32" name="Oval 31"/>
          <p:cNvSpPr/>
          <p:nvPr/>
        </p:nvSpPr>
        <p:spPr>
          <a:xfrm>
            <a:off x="8348472" y="1856231"/>
            <a:ext cx="493776" cy="49377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8472" y="197967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34" name="Oval 33"/>
          <p:cNvSpPr/>
          <p:nvPr/>
        </p:nvSpPr>
        <p:spPr>
          <a:xfrm>
            <a:off x="6976872" y="3044952"/>
            <a:ext cx="493776" cy="49377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76872" y="31683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36" name="Oval 35"/>
          <p:cNvSpPr/>
          <p:nvPr/>
        </p:nvSpPr>
        <p:spPr>
          <a:xfrm>
            <a:off x="8348472" y="3044952"/>
            <a:ext cx="493776" cy="493776"/>
          </a:xfrm>
          <a:prstGeom prst="ellipse">
            <a:avLst/>
          </a:prstGeom>
          <a:solidFill>
            <a:srgbClr val="1F293C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48472" y="31683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</a:rPr>
              <a:t>4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470648" y="2103120"/>
            <a:ext cx="877824" cy="0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223760" y="2350008"/>
            <a:ext cx="0" cy="694944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95360" y="2350008"/>
            <a:ext cx="0" cy="694944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470648" y="3291840"/>
            <a:ext cx="877824" cy="0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976872" y="1856231"/>
            <a:ext cx="493776" cy="49377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76872" y="197967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44" name="Oval 43"/>
          <p:cNvSpPr/>
          <p:nvPr/>
        </p:nvSpPr>
        <p:spPr>
          <a:xfrm>
            <a:off x="8348472" y="1856231"/>
            <a:ext cx="493776" cy="49377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48472" y="197967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46" name="Oval 45"/>
          <p:cNvSpPr/>
          <p:nvPr/>
        </p:nvSpPr>
        <p:spPr>
          <a:xfrm>
            <a:off x="6976872" y="3044952"/>
            <a:ext cx="493776" cy="49377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76872" y="31683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48" name="Oval 47"/>
          <p:cNvSpPr/>
          <p:nvPr/>
        </p:nvSpPr>
        <p:spPr>
          <a:xfrm>
            <a:off x="8348472" y="3044952"/>
            <a:ext cx="493776" cy="493776"/>
          </a:xfrm>
          <a:prstGeom prst="ellipse">
            <a:avLst/>
          </a:prstGeom>
          <a:solidFill>
            <a:srgbClr val="1F293C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48472" y="31683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237744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Menlo"/>
              </a:rPr>
              <a:t>queue=[2,3]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3840480"/>
            <a:ext cx="5486400" cy="25603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388620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3. Pop 2, push 4</a:t>
            </a:r>
          </a:p>
        </p:txBody>
      </p:sp>
      <p:sp>
        <p:nvSpPr>
          <p:cNvPr id="53" name="Oval 52"/>
          <p:cNvSpPr/>
          <p:nvPr/>
        </p:nvSpPr>
        <p:spPr>
          <a:xfrm>
            <a:off x="1124712" y="4599431"/>
            <a:ext cx="493776" cy="49377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24712" y="472287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55" name="Oval 54"/>
          <p:cNvSpPr/>
          <p:nvPr/>
        </p:nvSpPr>
        <p:spPr>
          <a:xfrm>
            <a:off x="2496312" y="4599431"/>
            <a:ext cx="493776" cy="49377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496312" y="472287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57" name="Oval 56"/>
          <p:cNvSpPr/>
          <p:nvPr/>
        </p:nvSpPr>
        <p:spPr>
          <a:xfrm>
            <a:off x="1124712" y="5788152"/>
            <a:ext cx="493776" cy="49377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4712" y="59115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59" name="Oval 58"/>
          <p:cNvSpPr/>
          <p:nvPr/>
        </p:nvSpPr>
        <p:spPr>
          <a:xfrm>
            <a:off x="2496312" y="5788152"/>
            <a:ext cx="493776" cy="493776"/>
          </a:xfrm>
          <a:prstGeom prst="ellipse">
            <a:avLst/>
          </a:prstGeom>
          <a:solidFill>
            <a:srgbClr val="3FD97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96312" y="59115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4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618488" y="4846320"/>
            <a:ext cx="877824" cy="0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371600" y="5093208"/>
            <a:ext cx="0" cy="694944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743200" y="5093208"/>
            <a:ext cx="0" cy="694944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618488" y="6035040"/>
            <a:ext cx="877824" cy="0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124712" y="4599431"/>
            <a:ext cx="493776" cy="49377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24712" y="472287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67" name="Oval 66"/>
          <p:cNvSpPr/>
          <p:nvPr/>
        </p:nvSpPr>
        <p:spPr>
          <a:xfrm>
            <a:off x="2496312" y="4599431"/>
            <a:ext cx="493776" cy="49377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96312" y="472287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69" name="Oval 68"/>
          <p:cNvSpPr/>
          <p:nvPr/>
        </p:nvSpPr>
        <p:spPr>
          <a:xfrm>
            <a:off x="1124712" y="5788152"/>
            <a:ext cx="493776" cy="49377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24712" y="59115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71" name="Oval 70"/>
          <p:cNvSpPr/>
          <p:nvPr/>
        </p:nvSpPr>
        <p:spPr>
          <a:xfrm>
            <a:off x="2496312" y="5788152"/>
            <a:ext cx="493776" cy="493776"/>
          </a:xfrm>
          <a:prstGeom prst="ellipse">
            <a:avLst/>
          </a:prstGeom>
          <a:solidFill>
            <a:srgbClr val="3FD97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496312" y="59115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31920" y="512064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Menlo"/>
              </a:rPr>
              <a:t>queue=[3,4]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309360" y="3840480"/>
            <a:ext cx="5486400" cy="25603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00800" y="3886200"/>
            <a:ext cx="53035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4. Pop 3,4: done</a:t>
            </a:r>
          </a:p>
        </p:txBody>
      </p:sp>
      <p:sp>
        <p:nvSpPr>
          <p:cNvPr id="76" name="Oval 75"/>
          <p:cNvSpPr/>
          <p:nvPr/>
        </p:nvSpPr>
        <p:spPr>
          <a:xfrm>
            <a:off x="6976872" y="4599431"/>
            <a:ext cx="493776" cy="49377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76872" y="472287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78" name="Oval 77"/>
          <p:cNvSpPr/>
          <p:nvPr/>
        </p:nvSpPr>
        <p:spPr>
          <a:xfrm>
            <a:off x="8348472" y="4599431"/>
            <a:ext cx="493776" cy="49377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48472" y="472287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80" name="Oval 79"/>
          <p:cNvSpPr/>
          <p:nvPr/>
        </p:nvSpPr>
        <p:spPr>
          <a:xfrm>
            <a:off x="6976872" y="5788152"/>
            <a:ext cx="493776" cy="49377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76872" y="59115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82" name="Oval 81"/>
          <p:cNvSpPr/>
          <p:nvPr/>
        </p:nvSpPr>
        <p:spPr>
          <a:xfrm>
            <a:off x="8348472" y="5788152"/>
            <a:ext cx="493776" cy="49377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48472" y="59115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4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470648" y="4846320"/>
            <a:ext cx="877824" cy="0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223760" y="5093208"/>
            <a:ext cx="0" cy="694944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95360" y="5093208"/>
            <a:ext cx="0" cy="694944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470648" y="6035040"/>
            <a:ext cx="877824" cy="0"/>
          </a:xfrm>
          <a:prstGeom prst="line">
            <a:avLst/>
          </a:prstGeom>
          <a:ln w="1905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6976872" y="4599431"/>
            <a:ext cx="493776" cy="49377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976872" y="472287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90" name="Oval 89"/>
          <p:cNvSpPr/>
          <p:nvPr/>
        </p:nvSpPr>
        <p:spPr>
          <a:xfrm>
            <a:off x="8348472" y="4599431"/>
            <a:ext cx="493776" cy="49377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48472" y="472287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92" name="Oval 91"/>
          <p:cNvSpPr/>
          <p:nvPr/>
        </p:nvSpPr>
        <p:spPr>
          <a:xfrm>
            <a:off x="6976872" y="5788152"/>
            <a:ext cx="493776" cy="49377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976872" y="59115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94" name="Oval 93"/>
          <p:cNvSpPr/>
          <p:nvPr/>
        </p:nvSpPr>
        <p:spPr>
          <a:xfrm>
            <a:off x="8348472" y="5788152"/>
            <a:ext cx="493776" cy="49377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348472" y="5911596"/>
            <a:ext cx="493776" cy="2468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84080" y="512064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Menlo"/>
              </a:rPr>
              <a:t>queue=[]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Shortest Path Unweighted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BFS otomatis menemukan jalur terpendek (jumlah edge)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Shortest Path + Path Reconstruction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68580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68580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65836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shortest_path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src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dst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         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prev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39D0D8"/>
                </a:solidFill>
                <a:latin typeface="Menlo"/>
              </a:rPr>
              <a:t>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src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src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front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dst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break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00">
                <a:solidFill>
                  <a:srgbClr val="C9D1D9"/>
                </a:solidFill>
                <a:latin typeface="Menlo"/>
              </a:rPr>
              <a:t>prev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← simpan parent!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dst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6E7681"/>
                </a:solidFill>
                <a:latin typeface="Menlo"/>
              </a:rPr>
              <a:t>// Rekonstruksi path: trace dst→src via prev[]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path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dst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prev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path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79C0FF"/>
                </a:solidFill>
                <a:latin typeface="Menlo"/>
              </a:rPr>
              <a:t>reverse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path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path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path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005840"/>
            <a:ext cx="4297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🎯 Shortest Path 1 → 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22208" y="2103120"/>
            <a:ext cx="1243584" cy="0"/>
          </a:xfrm>
          <a:prstGeom prst="line">
            <a:avLst/>
          </a:prstGeom>
          <a:ln w="1270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0" y="2395727"/>
            <a:ext cx="0" cy="786385"/>
          </a:xfrm>
          <a:prstGeom prst="line">
            <a:avLst/>
          </a:prstGeom>
          <a:ln w="1270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2395727"/>
            <a:ext cx="0" cy="786385"/>
          </a:xfrm>
          <a:prstGeom prst="line">
            <a:avLst/>
          </a:prstGeom>
          <a:ln w="1270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22208" y="3474720"/>
            <a:ext cx="1243584" cy="0"/>
          </a:xfrm>
          <a:prstGeom prst="line">
            <a:avLst/>
          </a:prstGeom>
          <a:ln w="1270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320116" y="2919778"/>
            <a:ext cx="848167" cy="424083"/>
          </a:xfrm>
          <a:prstGeom prst="line">
            <a:avLst/>
          </a:prstGeom>
          <a:ln w="12700">
            <a:solidFill>
              <a:srgbClr val="8B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22208" y="2103120"/>
            <a:ext cx="1243584" cy="0"/>
          </a:xfrm>
          <a:prstGeom prst="line">
            <a:avLst/>
          </a:prstGeom>
          <a:ln w="38100">
            <a:solidFill>
              <a:srgbClr val="3FD9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320116" y="2233978"/>
            <a:ext cx="848167" cy="424083"/>
          </a:xfrm>
          <a:prstGeom prst="line">
            <a:avLst/>
          </a:prstGeom>
          <a:ln w="38100">
            <a:solidFill>
              <a:srgbClr val="3FD9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936992" y="1810511"/>
            <a:ext cx="585216" cy="58521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1956815"/>
            <a:ext cx="58521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9765792" y="1810511"/>
            <a:ext cx="585216" cy="585216"/>
          </a:xfrm>
          <a:prstGeom prst="ellipse">
            <a:avLst/>
          </a:prstGeom>
          <a:solidFill>
            <a:srgbClr val="3FD97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65792" y="1956815"/>
            <a:ext cx="58521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7936992" y="3182112"/>
            <a:ext cx="585216" cy="58521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36992" y="3328415"/>
            <a:ext cx="58521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9765792" y="3182112"/>
            <a:ext cx="585216" cy="58521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5792" y="3328415"/>
            <a:ext cx="58521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11137392" y="2496312"/>
            <a:ext cx="585216" cy="585216"/>
          </a:xfrm>
          <a:prstGeom prst="ellipse">
            <a:avLst/>
          </a:prstGeom>
          <a:solidFill>
            <a:srgbClr val="3FD97F"/>
          </a:solidFill>
          <a:ln w="12700"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37392" y="2642615"/>
            <a:ext cx="585216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4297680"/>
            <a:ext cx="4297680" cy="9144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98079" y="4297680"/>
            <a:ext cx="429768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438912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FD97F"/>
                </a:solidFill>
                <a:latin typeface="Menlo"/>
              </a:rPr>
              <a:t>🎯 Path: 1 → 2 →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709160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FFC857"/>
                </a:solidFill>
                <a:latin typeface="Menlo"/>
              </a:rPr>
              <a:t>Length = 2 edges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4983480"/>
            <a:ext cx="4114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  <a:latin typeface="Menlo"/>
              </a:rPr>
              <a:t>Trace prev: 5←2←1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5303520"/>
            <a:ext cx="4297680" cy="128016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79" y="5303520"/>
            <a:ext cx="429768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1" y="5340096"/>
            <a:ext cx="40233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🧠 Intuisi prev[]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5797296"/>
            <a:ext cx="39319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Saat pertama kali capai v,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9248" y="6089904"/>
            <a:ext cx="39319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parent paling optimal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9248" y="6382512"/>
            <a:ext cx="39319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Trace back: dst → src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9248" y="6675120"/>
            <a:ext cx="39319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Reverse → src → dst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Grid BFS &amp; Multi-source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Aplikasi BFS pada grid 2D &amp; multiple sources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BFS Grid — 4-arah Movement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Setiap sel = node, edge ke 4 tetangga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9436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6692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dx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dy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bfs_grid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sr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sc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er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ec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39D0D8"/>
                </a:solidFill>
                <a:latin typeface="Menlo"/>
              </a:rPr>
              <a:t>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pair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sr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sc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sr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sc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front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er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ec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4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dx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d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nc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dy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d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nr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nc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nc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grid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nr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nc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C857"/>
                </a:solidFill>
                <a:latin typeface="Menlo"/>
              </a:rPr>
              <a:t>'#'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nr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nc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nr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nc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r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nr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nc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🗺️ Grid 5×5 BFS dari 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554480"/>
            <a:ext cx="594360" cy="594360"/>
          </a:xfrm>
          <a:prstGeom prst="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73736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1554480"/>
            <a:ext cx="594360" cy="594360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73736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554480"/>
            <a:ext cx="594360" cy="594360"/>
          </a:xfrm>
          <a:prstGeom prst="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1554480"/>
            <a:ext cx="59436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173736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6B8A"/>
                </a:solidFill>
                <a:latin typeface="Menlo"/>
              </a:rPr>
              <a:t>#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554480"/>
            <a:ext cx="594360" cy="594360"/>
          </a:xfrm>
          <a:prstGeom prst="rect">
            <a:avLst/>
          </a:prstGeom>
          <a:solidFill>
            <a:srgbClr val="FF6B8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73736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148840"/>
            <a:ext cx="594360" cy="594360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33172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2148840"/>
            <a:ext cx="59436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33172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6B8A"/>
                </a:solidFill>
                <a:latin typeface="Menlo"/>
              </a:rPr>
              <a:t>#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148840"/>
            <a:ext cx="594360" cy="594360"/>
          </a:xfrm>
          <a:prstGeom prst="rect">
            <a:avLst/>
          </a:prstGeom>
          <a:solidFill>
            <a:srgbClr val="C9A0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33172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2148840"/>
            <a:ext cx="59436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233172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6B8A"/>
                </a:solidFill>
                <a:latin typeface="Menlo"/>
              </a:rPr>
              <a:t>#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2148840"/>
            <a:ext cx="594360" cy="594360"/>
          </a:xfrm>
          <a:prstGeom prst="rect">
            <a:avLst/>
          </a:prstGeom>
          <a:solidFill>
            <a:srgbClr val="FF6B8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233172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2743200"/>
            <a:ext cx="594360" cy="594360"/>
          </a:xfrm>
          <a:prstGeom prst="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29260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60" y="2743200"/>
            <a:ext cx="594360" cy="594360"/>
          </a:xfrm>
          <a:prstGeom prst="rect">
            <a:avLst/>
          </a:prstGeom>
          <a:solidFill>
            <a:srgbClr val="C9A0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29260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2743200"/>
            <a:ext cx="594360" cy="594360"/>
          </a:xfrm>
          <a:prstGeom prst="rect">
            <a:avLst/>
          </a:prstGeom>
          <a:solidFill>
            <a:srgbClr val="FF6B8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0" y="29260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41080" y="2743200"/>
            <a:ext cx="59436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29260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6B8A"/>
                </a:solidFill>
                <a:latin typeface="Menlo"/>
              </a:rPr>
              <a:t>#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2743200"/>
            <a:ext cx="594360" cy="594360"/>
          </a:xfrm>
          <a:prstGeom prst="rect">
            <a:avLst/>
          </a:prstGeom>
          <a:solidFill>
            <a:srgbClr val="C9A0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292608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3337560"/>
            <a:ext cx="594360" cy="594360"/>
          </a:xfrm>
          <a:prstGeom prst="rect">
            <a:avLst/>
          </a:prstGeom>
          <a:solidFill>
            <a:srgbClr val="C9A0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352044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52360" y="3337560"/>
            <a:ext cx="59436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52360" y="352044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6B8A"/>
                </a:solidFill>
                <a:latin typeface="Menlo"/>
              </a:rPr>
              <a:t>#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3337560"/>
            <a:ext cx="594360" cy="594360"/>
          </a:xfrm>
          <a:prstGeom prst="rect">
            <a:avLst/>
          </a:prstGeom>
          <a:solidFill>
            <a:srgbClr val="FF6B8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352044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41080" y="3337560"/>
            <a:ext cx="594360" cy="59436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41080" y="352044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6B8A"/>
                </a:solidFill>
                <a:latin typeface="Menlo"/>
              </a:rPr>
              <a:t>#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35440" y="3337560"/>
            <a:ext cx="594360" cy="594360"/>
          </a:xfrm>
          <a:prstGeom prst="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35440" y="352044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0" y="3931920"/>
            <a:ext cx="594360" cy="594360"/>
          </a:xfrm>
          <a:prstGeom prst="rect">
            <a:avLst/>
          </a:prstGeom>
          <a:solidFill>
            <a:srgbClr val="FF6B8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0" y="411480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52360" y="3931920"/>
            <a:ext cx="594360" cy="594360"/>
          </a:xfrm>
          <a:prstGeom prst="rect">
            <a:avLst/>
          </a:prstGeom>
          <a:solidFill>
            <a:srgbClr val="FF6B8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52360" y="411480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46720" y="3931920"/>
            <a:ext cx="594360" cy="594360"/>
          </a:xfrm>
          <a:prstGeom prst="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0" y="411480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0F6FC"/>
                </a:solidFill>
                <a:latin typeface="Menlo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41080" y="3931920"/>
            <a:ext cx="594360" cy="594360"/>
          </a:xfrm>
          <a:prstGeom prst="rect">
            <a:avLst/>
          </a:prstGeom>
          <a:solidFill>
            <a:srgbClr val="FF6B8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1080" y="411480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35440" y="3931920"/>
            <a:ext cx="594360" cy="594360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35440" y="411480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0" y="4754880"/>
            <a:ext cx="52120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FC857"/>
                </a:solidFill>
              </a:rPr>
              <a:t>🎨 Color = jarak dari 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83680" y="5074920"/>
            <a:ext cx="1005840" cy="36576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0" y="5120640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635240" y="5074920"/>
            <a:ext cx="1005840" cy="36576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35240" y="5120640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1-2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686800" y="5074920"/>
            <a:ext cx="1005840" cy="36576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0" y="5120640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738360" y="5074920"/>
            <a:ext cx="1005840" cy="36576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738360" y="5120640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4-5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789920" y="5074920"/>
            <a:ext cx="1005840" cy="36576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89920" y="5120640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#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583680" y="5623560"/>
            <a:ext cx="521208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583680" y="5623560"/>
            <a:ext cx="91440" cy="5029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66560" y="571500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🎯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69480" y="5733288"/>
            <a:ext cx="4434840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Cek (1) batas, (2) bukan tembok, (3) belum visit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Multi-source BFS — Push Banyak Source Sekaligus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45720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420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multi_bfs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sources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        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adj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dist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39D0D8"/>
                </a:solidFill>
                <a:latin typeface="Menlo"/>
              </a:rPr>
              <a:t>queue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Push SEMUA source dengan dist = 0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: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sources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dist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BFS normal selanjutnya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u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front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: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adj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u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dist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50">
                <a:solidFill>
                  <a:srgbClr val="C9D1D9"/>
                </a:solidFill>
                <a:latin typeface="Menlo"/>
              </a:rPr>
              <a:t>dist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dist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u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50">
                <a:solidFill>
                  <a:srgbClr val="C9D1D9"/>
                </a:solidFill>
                <a:latin typeface="Menlo"/>
              </a:rPr>
              <a:t>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dist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🔥 Contoh: Sebarkan api dari 2 titik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554480"/>
            <a:ext cx="640080" cy="640080"/>
          </a:xfrm>
          <a:prstGeom prst="rect">
            <a:avLst/>
          </a:prstGeom>
          <a:solidFill>
            <a:srgbClr val="FF6B8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73736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554480"/>
            <a:ext cx="640080" cy="640080"/>
          </a:xfrm>
          <a:prstGeom prst="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73736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640080" cy="640080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73736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1554480"/>
            <a:ext cx="640080" cy="640080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173736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1554480"/>
            <a:ext cx="640080" cy="640080"/>
          </a:xfrm>
          <a:prstGeom prst="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73736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194560"/>
            <a:ext cx="640080" cy="640080"/>
          </a:xfrm>
          <a:prstGeom prst="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37744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9" y="2194560"/>
            <a:ext cx="640080" cy="640080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237744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194560"/>
            <a:ext cx="640080" cy="640080"/>
          </a:xfrm>
          <a:prstGeom prst="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37744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2194560"/>
            <a:ext cx="640080" cy="640080"/>
          </a:xfrm>
          <a:prstGeom prst="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237744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2194560"/>
            <a:ext cx="640080" cy="640080"/>
          </a:xfrm>
          <a:prstGeom prst="rect">
            <a:avLst/>
          </a:prstGeom>
          <a:solidFill>
            <a:srgbClr val="FF6B8A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237744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2834639"/>
            <a:ext cx="640080" cy="640080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01752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2834639"/>
            <a:ext cx="640080" cy="640080"/>
          </a:xfrm>
          <a:prstGeom prst="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301752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2834639"/>
            <a:ext cx="640080" cy="640080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301752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2834639"/>
            <a:ext cx="640080" cy="640080"/>
          </a:xfrm>
          <a:prstGeom prst="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0" y="301752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18320" y="2834639"/>
            <a:ext cx="640080" cy="640080"/>
          </a:xfrm>
          <a:prstGeom prst="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0" y="301752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3474720"/>
            <a:ext cx="640080" cy="640080"/>
          </a:xfrm>
          <a:prstGeom prst="rect">
            <a:avLst/>
          </a:prstGeom>
          <a:solidFill>
            <a:srgbClr val="3FD97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365760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3474720"/>
            <a:ext cx="640080" cy="640080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79" y="365760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3474720"/>
            <a:ext cx="640080" cy="640080"/>
          </a:xfrm>
          <a:prstGeom prst="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365760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78240" y="3474720"/>
            <a:ext cx="640080" cy="640080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0" y="365760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18320" y="3474720"/>
            <a:ext cx="640080" cy="640080"/>
          </a:xfrm>
          <a:prstGeom prst="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8320" y="3657600"/>
            <a:ext cx="64008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4297680"/>
            <a:ext cx="521208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83680" y="4297680"/>
            <a:ext cx="91440" cy="50292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0" y="438912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C857"/>
                </a:solidFill>
              </a:rPr>
              <a:t>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4407408"/>
            <a:ext cx="4434840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F = source api, angka = jarak terdekat ke F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0" y="4937760"/>
            <a:ext cx="5212080" cy="169164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583680" y="4937760"/>
            <a:ext cx="521208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48272" y="4974336"/>
            <a:ext cx="4937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🎯 Aplikasi Multi-source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84848" y="543153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Jarak ke 'sel berbahaya' terdekat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84848" y="5724144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Sebarkan virus dari banyak titik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84848" y="6016752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Distance to nearest exit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84848" y="6309360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Distance to nearest landmark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760720"/>
            <a:ext cx="594360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5760720"/>
            <a:ext cx="91440" cy="50292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5852159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C9A0FF"/>
                </a:solidFill>
              </a:rPr>
              <a:t>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3000" y="5870448"/>
            <a:ext cx="5166360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Trick: push semua source ke queue dengan dist=0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Common Mistakes — BFS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Cek visited di pop, bukan 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Lambat &amp; memori boros!
Cek dist[v]==-1 SEBELUM push.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Push duplicate ke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Tanpa cek visited dulu → loop besar.
Fatal di graph dense.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Lupa cek batas grid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nr&lt;0 atau nr&gt;=R → segfault!
Selalu validate sebelum akses.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Pakai BFS untuk weighted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BFS hanya benar untuk unweighted.
Weighted → Dijkstra (min-heap).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5. dx/dy salah arah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dx untuk row, dy untuk col.
Konsistensi penting!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6. Source diset visited di luar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dist[src]=0 SEBELUM push.
Kalau salah → infinite loop.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— BFS Templates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STANDARD BFS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front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adj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u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BFS GRID ===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dx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dy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queue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pair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  <a:r>
              <a:rPr sz="1000">
                <a:solidFill>
                  <a:srgbClr val="C9D1D9"/>
                </a:solidFill>
                <a:latin typeface="Menlo"/>
              </a:rPr>
              <a:t>sr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sc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sr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sc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5683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2120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SHORTEST PATH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prev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di dalam BFS, simpan prev[v] = u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Rekonstruksi: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path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dst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prev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path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v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79C0FF"/>
                </a:solidFill>
                <a:latin typeface="Menlo"/>
              </a:rPr>
              <a:t>reverse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path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begin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path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end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MULTI-SOURCE BFS ===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sources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q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BFS normal: hasil = jarak ke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            source TERDEKAT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TIPS ===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• dist[v] = -1 berarti unvisited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• Cek dist[v] == -1 SEBELUM push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• Grid: encode (r,c) → r*C + 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BFS — fondasi shortest path &amp; level traversal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9144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Konsep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Level-order traversal dengan queue. Tinta menyebar dari source.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91440" cy="7772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Algoritma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init dist=-1, push source. Loop: pop, expand, cek belum visit.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91440" cy="7772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Shortest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Optimal untuk unweighted. prev[] untuk rekonstruksi path.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91440" cy="7772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Grid &amp; Multi-source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Grid 4-arah. Multi-source: push semua source dist=0 di awal.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91440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406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Cek visited SEBELUM push. Validate batas grid. Weighted → Dijkstra.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Day 58 | Competitive Programming · 150 Day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