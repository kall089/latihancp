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Recursion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Base case  ·  Call stack  ·  Divide &amp; conquer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Fondasi DP, backtracking, dan tree traversal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394960"/>
            <a:ext cx="3657600" cy="292608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54132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fact(0)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230368"/>
            <a:ext cx="3657600" cy="292608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248656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fact(1)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065776"/>
            <a:ext cx="3657600" cy="292608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5084064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fact(2)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4901184"/>
            <a:ext cx="3657600" cy="292608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919472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fact(3)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
Dasar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Base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Recursive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Call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Stack overflow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Klasik:
Factorial &amp;
Fibonacci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factorial(n)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fib naif O(2^n)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Memoization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Trace tree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Hanoi &amp;
Fast Power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Tower of Hanoi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Fast power O(log 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GCD Euclidean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Pola D&amp;C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Pola &amp;
Konversi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Linear/binary rec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Mutual rec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Iteratif vs rec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Tips &amp; pitfall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Dasar Rekursi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Base case + recursive case = fondasi rekursi yang aman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Rekursi?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Fungsi yang memanggil dirinya sendiri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02920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Wajib 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BASE CASE — kondisi berhenti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RECURSIVE CASE — panggil 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dengan input lebih kecil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Tanpa base case → infinite recursion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6265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STACK OVERFLOW (SIGSEGV)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029200" cy="23774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0292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7" y="38862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19" y="38862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38862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475488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void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countdown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BASE CASE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"Selesai!\n"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countdown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</a:t>
            </a:r>
            <a:r>
              <a:rPr sz="1100">
                <a:solidFill>
                  <a:srgbClr val="6E7681"/>
                </a:solidFill>
                <a:latin typeface="Menlo"/>
              </a:rPr>
              <a:t>// RECURSIVE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countdown(3): 3, 2, 1, Selesai!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005840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📚 Visualisasi Call Stack: countdown(3)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55448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0020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countdown(3)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05740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10312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  countdown(2)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6032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606039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    countdown(1)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06324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      countdown(0) → return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56616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61188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    return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06908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11480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  return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572000"/>
            <a:ext cx="585216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61772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return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Factorial &amp; Fibonacci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Klasik rekursi: linear vs binary, dan kekuatan memoization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Factorial — Linear Recursion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40233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factorial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1LL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BASE CASE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factorial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RECURSIVE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Trace: factorial(4)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4 * factorial(3)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4 * 3 * factorial(2)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4 * 3 * 2 * factorial(1)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4 * 3 * 2 * 1 * factorial(0)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4 * 3 * 2 * 1 * 1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📊 Batasan factorial(n)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133502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00200"/>
            <a:ext cx="1188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54480"/>
            <a:ext cx="38953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600200"/>
            <a:ext cx="37490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n!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88819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619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061972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46020"/>
            <a:ext cx="52669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25191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19172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3,628,800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03220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9763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76372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1.3 × 10¹²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360420"/>
            <a:ext cx="52669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34335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433572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2.4 × 10¹⁸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17620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3890772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890772"/>
            <a:ext cx="37490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OVERFLOW long long!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57200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4572000"/>
            <a:ext cx="91440" cy="5486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68172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Untuk n &gt; 20, gunakan __int128 atau BigInteger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11247120" cy="12801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8523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🔻 Stack Frame Visualization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623560"/>
            <a:ext cx="2103120" cy="777240"/>
          </a:xfrm>
          <a:prstGeom prst="roundRect">
            <a:avLst/>
          </a:prstGeom>
          <a:solidFill>
            <a:srgbClr val="1F293C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064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fact(0)=1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5623560"/>
            <a:ext cx="2103120" cy="777240"/>
          </a:xfrm>
          <a:prstGeom prst="roundRect">
            <a:avLst/>
          </a:prstGeom>
          <a:solidFill>
            <a:srgbClr val="1F293C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58064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Menlo"/>
              </a:rPr>
              <a:t>fact(1)=1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5623560"/>
            <a:ext cx="2103120" cy="777240"/>
          </a:xfrm>
          <a:prstGeom prst="roundRect">
            <a:avLst/>
          </a:prstGeom>
          <a:solidFill>
            <a:srgbClr val="1F293C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58064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Menlo"/>
              </a:rPr>
              <a:t>fact(2)=2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5623560"/>
            <a:ext cx="2103120" cy="777240"/>
          </a:xfrm>
          <a:prstGeom prst="roundRect">
            <a:avLst/>
          </a:prstGeom>
          <a:solidFill>
            <a:srgbClr val="1F293C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58064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Menlo"/>
              </a:rPr>
              <a:t>fact(3)=6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5623560"/>
            <a:ext cx="2103120" cy="777240"/>
          </a:xfrm>
          <a:prstGeom prst="roundRect">
            <a:avLst/>
          </a:prstGeom>
          <a:solidFill>
            <a:srgbClr val="1F293C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58064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Menlo"/>
              </a:rPr>
              <a:t>fact(4)=24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Fibonacci — Naif O(2ⁿ) vs Memo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1828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NAIF — JANGAN PAKAI!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Untuk n=50 → ~1 detik+ (TLE!)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5486400" cy="23774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" y="30175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" y="30175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0175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521208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MEMOIZATION — RECOMMENDED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memo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FFA657"/>
                </a:solidFill>
                <a:latin typeface="Menlo"/>
              </a:rPr>
              <a:t>105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memo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memo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memo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fib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memset(memo, -1, sizeof memo);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🌳 Tree fib(5) NAIF — overlapping subproblems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712878" y="1676198"/>
            <a:ext cx="942003" cy="533803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84478" y="1676198"/>
            <a:ext cx="942003" cy="533803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71793" y="2491616"/>
            <a:ext cx="538173" cy="45744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55028" y="2522300"/>
            <a:ext cx="326183" cy="396079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78968" y="2511503"/>
            <a:ext cx="393103" cy="417673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98228" y="2522300"/>
            <a:ext cx="326183" cy="396079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22792" y="1307592"/>
            <a:ext cx="493776" cy="49377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41869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7251192" y="2084831"/>
            <a:ext cx="493776" cy="49377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219593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9994392" y="2084831"/>
            <a:ext cx="493776" cy="49377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219593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6336792" y="2862072"/>
            <a:ext cx="493776" cy="49377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97317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7891272" y="2862072"/>
            <a:ext cx="493776" cy="493776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97317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9262872" y="2862072"/>
            <a:ext cx="493776" cy="493776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297317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10634472" y="2862072"/>
            <a:ext cx="493776" cy="49377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34472" y="2973171"/>
            <a:ext cx="493776" cy="271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657600"/>
            <a:ext cx="566928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657600"/>
            <a:ext cx="91440" cy="6400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767328"/>
            <a:ext cx="530352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fib(3) dihitung 2x, fib(2) 3x — boros!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3484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Naif vs Memo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846320"/>
            <a:ext cx="1243584" cy="38862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892040"/>
            <a:ext cx="109728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Versi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4846320"/>
            <a:ext cx="11521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4892040"/>
            <a:ext cx="100584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846320"/>
            <a:ext cx="11521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892040"/>
            <a:ext cx="100584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Space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4846320"/>
            <a:ext cx="19751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892040"/>
            <a:ext cx="18288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Catatan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280659"/>
            <a:ext cx="56327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353812"/>
            <a:ext cx="1097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Naif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5353812"/>
            <a:ext cx="10058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O(2ⁿ)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353812"/>
            <a:ext cx="10058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5353812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TLE n&gt;40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5737859"/>
            <a:ext cx="56327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5811012"/>
            <a:ext cx="1097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Memo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79" y="5811012"/>
            <a:ext cx="10058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O(n)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811012"/>
            <a:ext cx="10058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O(n)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5811012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Aman ≤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Hanoi, Fast Power &amp; GCD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Pola Divide &amp; Conquer — solve big problem dengan small subproblem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Tower of Hanoi — Klasik D&amp;C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void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hanoi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src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dst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char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via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hanoi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src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via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dst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n-1 dari src ke via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"Move "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": "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src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 -&gt; "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hanoi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via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dst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src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n-1 dari via ke dst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hanoi(n, 'A', 'C', 'B');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Total langkah: 2^n - 1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📊 Jumlah Langkah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16093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00200"/>
            <a:ext cx="146304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n disk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2102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474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Langkah (2ⁿ-1)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88819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6197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619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46020"/>
            <a:ext cx="52669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251917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191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03220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97637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763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1,023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360420"/>
            <a:ext cx="52669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343357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335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1,048,575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17620"/>
            <a:ext cx="52669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389077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907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1.8 × 10¹⁹ langkah!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572000"/>
            <a:ext cx="53035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4572000"/>
            <a:ext cx="91440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66344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58A6FF"/>
                </a:solidFill>
              </a:rPr>
              <a:t>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81728"/>
            <a:ext cx="4526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T(n) = 2·T(n-1) + 1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🎬 Trace hanoi(2, A, C, B):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49240"/>
            <a:ext cx="3611880" cy="10058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5623560"/>
            <a:ext cx="35204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Step 1: Move disk 1 from A → 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349240"/>
            <a:ext cx="3611880" cy="10058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623560"/>
            <a:ext cx="35204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FC857"/>
                </a:solidFill>
              </a:rPr>
              <a:t>Step 2: Move disk 2 from A → 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5349240"/>
            <a:ext cx="3611880" cy="10058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59" y="5623560"/>
            <a:ext cx="35204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58A6FF"/>
                </a:solidFill>
              </a:rPr>
              <a:t>Step 3: Move disk 1 from B →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Fast Power &amp; GCD — O(log)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32004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2834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FAST POWER O(log b)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fastpow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mod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1LL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fastpow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/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mod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h2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%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mod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%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h2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%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mod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h2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%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mod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2^10 = ~3 level rekursi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5486400" cy="2011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" y="43891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" y="43891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3891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GCD EUCLIDEAN O(log min)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gcd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?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gcd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%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lcm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/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gcd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Pakai built-in __gcd(a,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Trace gcd(48, 18)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554480"/>
            <a:ext cx="56692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0020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gcd(48, 18)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600200"/>
            <a:ext cx="4023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gcd(18, 48 % 18) = gcd(18, 12)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148840"/>
            <a:ext cx="56692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9456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gcd(18, 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194560"/>
            <a:ext cx="4023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gcd(12, 18 % 12) = gcd(12, 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743200"/>
            <a:ext cx="56692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78892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  <a:latin typeface="Menlo"/>
              </a:rPr>
              <a:t>gcd(12, 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788920"/>
            <a:ext cx="4023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gcd(6,  12 % 6)  = gcd(6, 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337560"/>
            <a:ext cx="56692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38328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gcd(6, 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383280"/>
            <a:ext cx="4023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6  ← BASE CASE!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114800"/>
            <a:ext cx="566928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11480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224528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GCD: setiap 2 langkah, a berkurang minimal setengah → O(log)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800600"/>
            <a:ext cx="566928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4800600"/>
            <a:ext cx="56692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4837176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Kapan Pakai Fast Power?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5294376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Untuk a^b mod m dengan b besar (10⁹)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86984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Naif O(b) → 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879592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Modular inverse: a^(p-2) mod 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617220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Butuh untuk kombinatorika, geometry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Pola &amp; Konversi Iteratif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Linear, binary, mutual — dan kapan iteratif lebih baik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Pola Rekursi — 4 Tipe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32918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1.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051560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0D1117"/>
                </a:solidFill>
              </a:rPr>
              <a:t>1 panggilan/langkah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03520" cy="1554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14630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4630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1" y="14630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91640"/>
            <a:ext cx="502920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int sum(int A[], int n)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if (n==0) return 0;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A[0]+sum(A+1,n-1);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1">
                <a:solidFill>
                  <a:srgbClr val="58A6FF"/>
                </a:solidFill>
              </a:rPr>
              <a:t>Depth O(n), calls 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0584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5577840" cy="32918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05156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2. BINARY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051560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0D1117"/>
                </a:solidFill>
              </a:rPr>
              <a:t>2 panggilan/langkah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417320"/>
            <a:ext cx="5303520" cy="1554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41732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14630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14630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93992" y="14630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91640"/>
            <a:ext cx="502920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ll fib(int n)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if (n&lt;=1) return n;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fib(n-1)+fib(n-2);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1">
                <a:solidFill>
                  <a:srgbClr val="3FD97F"/>
                </a:solidFill>
              </a:rPr>
              <a:t>Depth O(n), calls O(2ⁿ)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0332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5577840" cy="32918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7490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3. DIVIDE &amp; CONQUER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749040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0D1117"/>
                </a:solidFill>
              </a:rPr>
              <a:t>Split jadi setengah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114800"/>
            <a:ext cx="5303520" cy="1554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11480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4088" y="41605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1" y="41605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502920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void mergeSort(int l,int r)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if (l&gt;=r) return;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int m=(l+r)/2;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mergeSort(l,m);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mergeSort(m+1,r);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6072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1">
                <a:solidFill>
                  <a:srgbClr val="FFC857"/>
                </a:solidFill>
              </a:rPr>
              <a:t>Depth O(log n), calls O(n)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70332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703320"/>
            <a:ext cx="5577840" cy="32918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7490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4. MUTUAL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749040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0D1117"/>
                </a:solidFill>
              </a:rPr>
              <a:t>2 fungsi saling panggil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114800"/>
            <a:ext cx="5303520" cy="1554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11480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4808" y="41605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29400" y="41605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93992" y="41605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389120"/>
            <a:ext cx="502920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bool isEven(int n)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n==0 ? true : isOdd(n-1);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bool isOdd(int n)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return n==0 ? false : isEven(n-1);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76072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1">
                <a:solidFill>
                  <a:srgbClr val="C9A0FF"/>
                </a:solidFill>
              </a:rPr>
              <a:t>Hati-hati infinite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Hindari Stack Overflow!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Lupa 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Infinite recursion → SIGSEGV.
Selalu tulis base case PERTAMA.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Recursive case salah arah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Input harus mengecil ke base.
f(n+1) bukannya f(n-1) → infinite!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Fibonacci naif untuk n besar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n=50 → 1 detik+, TLE!
Wajib pakai memoization.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Memo tanpa init 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Default 0 dianggap sudah dihitung.
memset(memo, -1, sizeof memo).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Rekursi terlalu dalam (n&gt;10⁵)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Stack default ~1MB → ~10⁵ frame.
Konversi iteratif untuk n besar.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Overflow di factorial(n) untuk n&gt;20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20! = 2.4×10¹⁸ ≈ batas long long.
21! overflow → pakai __int128.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Recursion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TEMPLATE REKURSI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ReturnType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solve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args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1. BASE CASE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terminating_condition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base_value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2. RECURSIVE CASE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combine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solve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smaller_args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MEMOIZATION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MAXN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105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memo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MAXN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base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memo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memo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memo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compute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memset(memo, -1, sizeof memo);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FAST POWER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fpow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fpow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/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%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%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?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%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GCD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gcd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?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gcd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%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FACTORIAL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fact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?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fact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126480"/>
            <a:ext cx="1124712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19963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🌟 Aturan: Base case dulu · Input mengecil · Memo untuk overlapping subproblem · Iteratif untuk n&gt;10⁵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Recursion: solve big with smaller — fondasi DP &amp; backtracking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Base + Recursive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Setiap rekursi WAJIB punya base case dan input yang mengecil.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Memoization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Cache subresult untuk hindari overlapping subproblem. Naif fib O(2ⁿ) → memo O(n).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Divide &amp; Conquer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Hanoi 2ⁿ-1, fast power O(log b), gcd O(log min). Split → solve → combine.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Linear, binary, D&amp;C, mutual. Pilih sesuai struktur masalah.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Stack overflow untuk n&gt;10⁵. Konversi iteratif atau pakai stack STL.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11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