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Priority Queue &amp; Heap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Max/Min Heap · K-th · Merge K · Dijkstra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Pola powerful untuk problem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6916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Max-Heap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20640"/>
            <a:ext cx="16916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Min-Heap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5120640"/>
            <a:ext cx="169164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Dijkstra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Heap
Fundamental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Complete bin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Max vs Min heap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Kompleksitas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STL pq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K-th Largest
&amp; Merge 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Min-heap size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Top-K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Merge K sorted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O(N log 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Median
Stream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Two heaps trick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max +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Balance invariant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O(log n) per add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Dijkstra &amp;
Task Scheduler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Shortest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Stale entry skip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Greedy w/ heap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Aplikasi nyata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Heap Fundamental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Complete binary tree dengan heap property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Heap? — Tree + Array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Complete binary tree, parent ≥/≤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🌳 MAX-HEAP — root = max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90554" y="1943621"/>
            <a:ext cx="973771" cy="63903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53594" y="1943621"/>
            <a:ext cx="973771" cy="63903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91733" y="2975949"/>
            <a:ext cx="376853" cy="49462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3253" y="2975949"/>
            <a:ext cx="376853" cy="49462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017813" y="2975949"/>
            <a:ext cx="376853" cy="49462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49333" y="2975949"/>
            <a:ext cx="376853" cy="49462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16352" y="1490472"/>
            <a:ext cx="585216" cy="5852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6221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15" name="Oval 14"/>
          <p:cNvSpPr/>
          <p:nvPr/>
        </p:nvSpPr>
        <p:spPr>
          <a:xfrm>
            <a:off x="1353312" y="2450592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258226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30</a:t>
            </a:r>
          </a:p>
        </p:txBody>
      </p:sp>
      <p:sp>
        <p:nvSpPr>
          <p:cNvPr id="17" name="Oval 16"/>
          <p:cNvSpPr/>
          <p:nvPr/>
        </p:nvSpPr>
        <p:spPr>
          <a:xfrm>
            <a:off x="4279392" y="2450592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258226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40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341071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4238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10</a:t>
            </a:r>
          </a:p>
        </p:txBody>
      </p:sp>
      <p:sp>
        <p:nvSpPr>
          <p:cNvPr id="21" name="Oval 20"/>
          <p:cNvSpPr/>
          <p:nvPr/>
        </p:nvSpPr>
        <p:spPr>
          <a:xfrm>
            <a:off x="2084832" y="341071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2" y="354238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20</a:t>
            </a:r>
          </a:p>
        </p:txBody>
      </p:sp>
      <p:sp>
        <p:nvSpPr>
          <p:cNvPr id="23" name="Oval 22"/>
          <p:cNvSpPr/>
          <p:nvPr/>
        </p:nvSpPr>
        <p:spPr>
          <a:xfrm>
            <a:off x="3547872" y="341071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354238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35</a:t>
            </a:r>
          </a:p>
        </p:txBody>
      </p:sp>
      <p:sp>
        <p:nvSpPr>
          <p:cNvPr id="25" name="Oval 24"/>
          <p:cNvSpPr/>
          <p:nvPr/>
        </p:nvSpPr>
        <p:spPr>
          <a:xfrm>
            <a:off x="5010912" y="341071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54238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Array (level-order):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713232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16152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75104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75104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40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34056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34056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2344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93008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20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35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912" y="4754880"/>
            <a:ext cx="713232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0912" y="4507992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837176"/>
            <a:ext cx="6766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25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486400"/>
            <a:ext cx="54864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486400"/>
            <a:ext cx="54864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57784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📐 Index Formula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870448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parent(i) = (i-1)/2     left(i) = 2i+1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199632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right(i) = 2i+2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📊 Kompleksitas Heap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1554480"/>
            <a:ext cx="17922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1600200"/>
            <a:ext cx="16459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1554480"/>
            <a:ext cx="15179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1600200"/>
            <a:ext cx="13716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Time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84080" y="1554480"/>
            <a:ext cx="2066543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19" y="1600200"/>
            <a:ext cx="19202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Cara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1988819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20619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push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0619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19" y="20619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Sift-up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446020"/>
            <a:ext cx="54498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25191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top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25191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19" y="25191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Lihat root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2903220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29763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29763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19" y="29763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Sift-down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360420"/>
            <a:ext cx="54498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34335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build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4335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5519" y="34335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Heapify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3817620"/>
            <a:ext cx="54498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92240" y="389077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Find arbitrary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8907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19" y="389077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Bukan BST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4251960"/>
            <a:ext cx="548640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00800" y="425196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65392" y="428853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💡 Why Heap di CP?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01968" y="474573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Get max/min cepat O(1)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1968" y="503834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Insert/remove O(log 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1968" y="533095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Tidak butuh sort dulu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1968" y="562356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Cocok untuk Top-K, Dijkstra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0" y="5943600"/>
            <a:ext cx="548640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400800" y="594360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0" y="603504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86600" y="6053328"/>
            <a:ext cx="47091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Heap = root selalu yang 'paling penting'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priority_queue STL — Max &amp; Min 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FF7BC7"/>
                </a:solidFill>
                <a:latin typeface="Menlo"/>
              </a:rPr>
              <a:t>#include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queue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MAX-HEAP (default) — top = max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O(log n)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O(log n)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MIN-HEAP — top = min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100">
                <a:solidFill>
                  <a:srgbClr val="39D0D8"/>
                </a:solidFill>
                <a:latin typeface="Menlo"/>
              </a:rPr>
              <a:t>greater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CUSTOM COMPARATOR ===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struct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Cmp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bool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operator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min-heap by dist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Cmp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🎬 push 5 → push 3 → push 8 → pop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256032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4948" y="2103120"/>
            <a:ext cx="502920" cy="45720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4948" y="2176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58A6FF"/>
                </a:solidFill>
                <a:latin typeface="Menlo"/>
              </a:rPr>
              <a:t>top=5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54480"/>
            <a:ext cx="256032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5" y="210312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9255" y="2176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39" y="210312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39" y="217627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1752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58A6FF"/>
                </a:solidFill>
                <a:latin typeface="Menlo"/>
              </a:rPr>
              <a:t>top=5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023360"/>
            <a:ext cx="256032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push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7164" y="457200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7164" y="46451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4948" y="457200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4948" y="46451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2731" y="457200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2731" y="46451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864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58A6FF"/>
                </a:solidFill>
                <a:latin typeface="Menlo"/>
              </a:rPr>
              <a:t>top=8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4023360"/>
            <a:ext cx="2560320" cy="219456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06908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pop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49255" y="4572000"/>
            <a:ext cx="50292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9255" y="46451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07039" y="4572000"/>
            <a:ext cx="502920" cy="457200"/>
          </a:xfrm>
          <a:prstGeom prst="roundRect">
            <a:avLst/>
          </a:prstGeom>
          <a:solidFill>
            <a:srgbClr val="8B949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39" y="4645152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4864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58A6FF"/>
                </a:solidFill>
                <a:latin typeface="Menlo"/>
              </a:rPr>
              <a:t>top=5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K-th Largest &amp; Merge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Min-heap size K untuk efisiensi memori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K-th Largest — Min-Heap Size 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Counter-intuitive: pakai MIN-heap untuk cari LARGEST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kthLargest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   </a:t>
            </a:r>
            <a:r>
              <a:rPr sz="1100">
                <a:solidFill>
                  <a:srgbClr val="39D0D8"/>
                </a:solidFill>
                <a:latin typeface="Menlo"/>
              </a:rPr>
              <a:t>greater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← min-heap!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buang yang kecil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minPQ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top = K-th largest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K-th SMALLEST: pakai MAX-heap size K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maxPQ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pop saat size &gt; k (buang yang besar)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57800"/>
            <a:ext cx="594360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59436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294376"/>
            <a:ext cx="5669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Mengapa min-heap?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51576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Heap berisi K largest sementara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044184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Top = yang TERKECIL di antara K largest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36792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Saat ada elemen baru: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629400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jika &gt; top → masuk, top dipop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922008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Akhir: top = K-th largest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🎬 A = [3, 2, 1, 5, 6, 4], k =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603503" cy="34975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00200"/>
            <a:ext cx="457199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554480"/>
            <a:ext cx="1792224" cy="349758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164592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minPQ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554480"/>
            <a:ext cx="2706624" cy="34975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600200"/>
            <a:ext cx="256032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Aksi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49957"/>
            <a:ext cx="5175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2311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02311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2311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size=1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361438"/>
            <a:ext cx="5175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43459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43459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[2, 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3459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size=2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72918"/>
            <a:ext cx="5175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84607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84607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[1, 3]→[2,3]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84607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1&lt;min, pop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184398"/>
            <a:ext cx="5175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25755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25755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[2,3,5]→[3,5]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25755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push, pop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595878"/>
            <a:ext cx="5175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66903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66903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[3,5,6]→[5,6]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66903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push, pop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007358"/>
            <a:ext cx="5175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080510"/>
            <a:ext cx="45719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08051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[4,5,6]→[5,6]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080510"/>
            <a:ext cx="25603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4&lt;5, pop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4206240"/>
            <a:ext cx="52120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0" y="420624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4297679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4315968"/>
            <a:ext cx="44348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minPQ.top() = 5 → 2nd largest!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Merge K Sorted Lists — Min-Heap O(N log K)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min-heap of (val, list_idx, elem_idx)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tuple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tuple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Init: push first elem of each list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lists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lists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result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li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ei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result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Push next elem from same list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ei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lists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lists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li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ei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li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ei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3 lists merging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L0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554480"/>
            <a:ext cx="50292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6093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54480"/>
            <a:ext cx="50292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6093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54480"/>
            <a:ext cx="502920" cy="36576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093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L1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194560"/>
            <a:ext cx="502920" cy="36576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24942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194560"/>
            <a:ext cx="502920" cy="36576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24942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194560"/>
            <a:ext cx="502920" cy="36576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4942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39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L2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834639"/>
            <a:ext cx="502920" cy="3657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89503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2834639"/>
            <a:ext cx="502920" cy="3657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889503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834639"/>
            <a:ext cx="502920" cy="3657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889503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3520440"/>
            <a:ext cx="0" cy="365760"/>
          </a:xfrm>
          <a:prstGeom prst="line">
            <a:avLst/>
          </a:prstGeom>
          <a:ln w="31750">
            <a:solidFill>
              <a:srgbClr val="C9A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0" y="365760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C9A0FF"/>
                </a:solidFill>
              </a:rPr>
              <a:t>min-heap 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02336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Result: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96328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6328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4616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08976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08976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7264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21624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2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34272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5208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59568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59568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77856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72216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72216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0504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484864" y="4297680"/>
            <a:ext cx="566928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84864" y="4050791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03152" y="4379976"/>
            <a:ext cx="53035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120640"/>
            <a:ext cx="246888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5120640"/>
            <a:ext cx="24688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5285231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5623559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O(N log K)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120640"/>
            <a:ext cx="256032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120640"/>
            <a:ext cx="25603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5285231"/>
            <a:ext cx="2377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Space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5623559"/>
            <a:ext cx="237743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O(K)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6172200"/>
            <a:ext cx="5212080" cy="3657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83680" y="6172200"/>
            <a:ext cx="9144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60" y="62636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📊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69480" y="6281928"/>
            <a:ext cx="443484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N=total elemen, K=jumlah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Median dari Data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Two heaps trick — divide elements jadi 2 setengah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MedianFinder — 2 Heap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max-heap (lower half) + min-heap (upper half)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🎯 Konsep: Bagi Array Jadi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9424"/>
            <a:ext cx="5943600" cy="457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7432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6B8A"/>
                </a:solidFill>
              </a:rPr>
              <a:t>Lower (max-heap)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258568"/>
            <a:ext cx="274320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3FD97F"/>
                </a:solidFill>
              </a:rPr>
              <a:t>Upper (min-heap)</a:t>
            </a:r>
          </a:p>
        </p:txBody>
      </p:sp>
      <p:sp>
        <p:nvSpPr>
          <p:cNvPr id="12" name="Oval 11"/>
          <p:cNvSpPr/>
          <p:nvPr/>
        </p:nvSpPr>
        <p:spPr>
          <a:xfrm>
            <a:off x="3035808" y="2121408"/>
            <a:ext cx="329184" cy="329184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</a:rPr>
              <a:t>median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2834640" cy="21945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83464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62656"/>
            <a:ext cx="2560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maxH (lower)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19856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Top = MAX of 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12464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Berisi 1/2 elemen kiri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05072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Sebagai TINGGI: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97680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3 → 2 →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926080"/>
            <a:ext cx="2834640" cy="21945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2926080"/>
            <a:ext cx="28346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2962656"/>
            <a:ext cx="2560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minH (upper)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3419856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Top = MIN of upper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3712464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Berisi 1/2 elemen kanan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005072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Sebagai TINGGI: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4297680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4 → 5 →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9240"/>
            <a:ext cx="5943600" cy="12801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594360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40680"/>
            <a:ext cx="5669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📐 Rumus Median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760720"/>
            <a:ext cx="5669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6B8A"/>
                </a:solidFill>
                <a:latin typeface="Menlo"/>
              </a:rPr>
              <a:t>ganjil: maxH.top()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5669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  <a:latin typeface="Menlo"/>
              </a:rPr>
              <a:t>genap: (maxH.top() + minH.top()) / 2.0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1005840"/>
            <a:ext cx="521208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100584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934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225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1280160"/>
            <a:ext cx="493776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class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MedianFinder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lower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  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upper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public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addNum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num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num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double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findMedian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/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2.0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6126480"/>
            <a:ext cx="5212080" cy="45720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6126480"/>
            <a:ext cx="91440" cy="4572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621792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6236208"/>
            <a:ext cx="4434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addNum O(log n) · findMedian O(1)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MedianFinder — Step-by-Step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Stream: 1, 2, 3, 4,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792224" cy="46634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64592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Aksi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097280"/>
            <a:ext cx="2706624" cy="466344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143000"/>
            <a:ext cx="256032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maxH (lower)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097280"/>
            <a:ext cx="2706624" cy="466344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143000"/>
            <a:ext cx="256032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minH (upper)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097280"/>
            <a:ext cx="1792224" cy="46634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143000"/>
            <a:ext cx="164592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Median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9344"/>
            <a:ext cx="9107424" cy="51206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8249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add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68249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8249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68249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57984"/>
            <a:ext cx="9107424" cy="512063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3113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add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23113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23113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23113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06624"/>
            <a:ext cx="9107424" cy="51206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7977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add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77977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[2,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77977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77977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55263"/>
            <a:ext cx="9107424" cy="512063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328415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add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328415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[2, 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328415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[3,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28415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03904"/>
            <a:ext cx="9107424" cy="51206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7705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add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87705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[3, 2, 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877056"/>
            <a:ext cx="25603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[4, 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877056"/>
            <a:ext cx="1645920" cy="4023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C857"/>
                </a:solidFill>
              </a:rPr>
              <a:t>📊 Setelah 'add 5':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225148" y="5640806"/>
            <a:ext cx="304583" cy="28554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56668" y="5640806"/>
            <a:ext cx="304583" cy="28554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450592" y="5148072"/>
            <a:ext cx="585216" cy="58521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50592" y="52797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4" name="Oval 43"/>
          <p:cNvSpPr/>
          <p:nvPr/>
        </p:nvSpPr>
        <p:spPr>
          <a:xfrm>
            <a:off x="1719072" y="5833872"/>
            <a:ext cx="585216" cy="58521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9072" y="59655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3182112" y="5833872"/>
            <a:ext cx="585216" cy="58521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2112" y="59655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1663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6B8A"/>
                </a:solidFill>
              </a:rPr>
              <a:t>maxH</a:t>
            </a:r>
          </a:p>
        </p:txBody>
      </p:sp>
      <p:sp>
        <p:nvSpPr>
          <p:cNvPr id="49" name="Oval 48"/>
          <p:cNvSpPr/>
          <p:nvPr/>
        </p:nvSpPr>
        <p:spPr>
          <a:xfrm>
            <a:off x="5623560" y="544068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5650992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60807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median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8168748" y="5640806"/>
            <a:ext cx="304583" cy="28554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394192" y="514807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94192" y="52797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7662671" y="583387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2671" y="5965545"/>
            <a:ext cx="585216" cy="3218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1663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minH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6446520"/>
            <a:ext cx="11338560" cy="3657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446520"/>
            <a:ext cx="9144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537959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58A6FF"/>
                </a:solidFill>
              </a:rPr>
              <a:t>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6556248"/>
            <a:ext cx="105613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size: 3 vs 2 → ganjil → median = maxH.top() =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Dijkstra &amp; Task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Aplikasi heap di shortest path &amp; greedy scheduling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Dijkstra Shortest Path — Min-heap O((V+E) log V)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4008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1264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const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INF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e18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dijkstra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INF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  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min-heap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STALE!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0584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🕸️ Contoh graph &amp; shortest path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973082" y="1708493"/>
            <a:ext cx="1793195" cy="103453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05088" y="165049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66878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51034" y="2066904"/>
            <a:ext cx="574251" cy="803951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73568" y="235915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37744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10059" y="1941877"/>
            <a:ext cx="611081" cy="1008285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51008" y="2336291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8" y="2354579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751" y="3120205"/>
            <a:ext cx="1792657" cy="68949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19488" y="304495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306324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6218" y="3370676"/>
            <a:ext cx="469803" cy="93960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96528" y="373075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6528" y="374904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9551667" y="3387723"/>
            <a:ext cx="1196345" cy="996953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85248" y="3776472"/>
            <a:ext cx="329184" cy="219456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8" y="3794760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8B949E"/>
                </a:solidFill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7388352" y="1536192"/>
            <a:ext cx="585216" cy="5852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168249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32" name="Oval 31"/>
          <p:cNvSpPr/>
          <p:nvPr/>
        </p:nvSpPr>
        <p:spPr>
          <a:xfrm>
            <a:off x="9765792" y="139903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154533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281635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296265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10680192" y="2907792"/>
            <a:ext cx="585216" cy="58521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80192" y="305409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9034272" y="4279392"/>
            <a:ext cx="585216" cy="58521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442569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07492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Shortest from 0: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5394960"/>
            <a:ext cx="1335024" cy="24871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440680"/>
            <a:ext cx="1188720" cy="1572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node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5394960"/>
            <a:ext cx="1335024" cy="248716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5440680"/>
            <a:ext cx="1188720" cy="1572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dist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5689396"/>
            <a:ext cx="2706624" cy="25603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5762548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19" y="5762548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5982004"/>
            <a:ext cx="2706624" cy="25603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6055156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19" y="6055156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6274612"/>
            <a:ext cx="2706624" cy="25603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6347764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19" y="6347764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6567220"/>
            <a:ext cx="2706624" cy="25603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6640372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6640372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6859828"/>
            <a:ext cx="2706624" cy="25603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0" y="6932980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6932980"/>
            <a:ext cx="11887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6172200"/>
            <a:ext cx="6400800" cy="4114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6172200"/>
            <a:ext cx="91440" cy="4114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2636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6281928"/>
            <a:ext cx="5623560" cy="1920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if (d &gt; dist[u]) continue → skip stale entry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Task Scheduler — Greedy with Max-Heap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4008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1264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tasks=['A','A','A','B','B','B'], n=2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leastInterval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tasks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26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tasks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C857"/>
                </a:solidFill>
                <a:latin typeface="Menlo"/>
              </a:rPr>
              <a:t>'A'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time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temp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cycle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cycle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temp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time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temp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f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break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time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cycle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idle slots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time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0584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🎯 Visualisasi cycle (n=2)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5448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Cycle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960119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39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59" y="1554480"/>
            <a:ext cx="960119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9" y="1691639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1554480"/>
            <a:ext cx="960119" cy="502920"/>
          </a:xfrm>
          <a:prstGeom prst="roundRect">
            <a:avLst/>
          </a:prstGeom>
          <a:solidFill>
            <a:srgbClr val="4D555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1691639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  <a:latin typeface="Menlo"/>
              </a:rPr>
              <a:t>idle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46888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Cycle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468880"/>
            <a:ext cx="960119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59" y="2468880"/>
            <a:ext cx="960119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2606040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2468880"/>
            <a:ext cx="960119" cy="502920"/>
          </a:xfrm>
          <a:prstGeom prst="roundRect">
            <a:avLst/>
          </a:prstGeom>
          <a:solidFill>
            <a:srgbClr val="4D555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606040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0F6FC"/>
                </a:solidFill>
                <a:latin typeface="Menlo"/>
              </a:rPr>
              <a:t>idle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8328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Cycle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383280"/>
            <a:ext cx="960119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520440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59" y="3383280"/>
            <a:ext cx="960119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59" y="3520440"/>
            <a:ext cx="9601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572000"/>
            <a:ext cx="484632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57200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466344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681728"/>
            <a:ext cx="406908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Total = 8 slots (6 task + 2 idle)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5212080"/>
            <a:ext cx="48463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5212080"/>
            <a:ext cx="48463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5472" y="52486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Greedy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5705856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Pilih task terbanyak dulu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5998464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Tunggu cooldown 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6291072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idle saat tidak ada task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6583680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Heap = ambil top freq tiap cycle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Heap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Default = max-heap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priority_queue&lt;int&gt; = MAX!
Untuk min: greater&lt;int&gt;().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Comparator logika balik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comp(a,b)=true → b di atas a.
Min-heap: a &gt; b (bukan a &lt; b!).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Lupa stale entry skip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Dijkstra: cek if (d &gt; dist[u]) continue.
Tanpa ini, salah / lambat.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Heap bukan untuk find arbitrary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Cari elemen tertentu di heap = O(n).
Pakai BST/set kalau perlu.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Modify top()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top() readonly! Pop dulu, push baru.
Langsung modify → invalid heap.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Custom compare lambda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decltype trick atau struct functor.
Lambda biasa tidak bisa di pq.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Priority Queue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MAX-HEAP (default)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MIN-HEAP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K-th LARGEST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MERGE K SORTED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lists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lists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DIJKSTRA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INF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pii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pii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STALE!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w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MEDIAN STREAM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lower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minH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upper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Priority Queue &amp; Heap — top-K, merge K, Dijkstra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Heap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Complete bin tree. push/pop O(log n), top O(1). build O(n).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K-th Largest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Min-heap size K. Counter-intuitive! top = K-th largest.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Median 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2 heap trick. addNum O(log n), median O(1).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Dijkstra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Min-heap (dist, node). Cek stale entry: if d &gt; dist[u].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Default max-heap. Min butuh greater&lt;&gt;. Cek stale di Dijkstra.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39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