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Queue &amp; Deque 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FIFO · Double-Ended · Sliding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Pola O(n) elegan dengan deque monotonic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120640"/>
            <a:ext cx="13258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FIFO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5120640"/>
            <a:ext cx="132588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Deque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120640"/>
            <a:ext cx="13258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BFS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5120640"/>
            <a:ext cx="132588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Window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38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Queue
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FIFO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Visualisasi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Kapan pakai?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Deque —
Double Ended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push/pop_front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push/pop_back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Stack alternatif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Queue alternatif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Sliding
Window 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Monotonic deque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Step-by-step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O(n)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Window invariant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Stream &amp;
BFS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First non-repeat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Queue + freq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BFS level 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Tips &amp; pitfall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Queue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FIFO sederhana — fondasi BFS dan simulasi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Queue STL — FIFO Visualisasi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Yang masuk pertama, keluar pertama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0292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47548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FF7BC7"/>
                </a:solidFill>
                <a:latin typeface="Menlo"/>
              </a:rPr>
              <a:t>#include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queue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tambah ke belakang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hapus dari depan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peek depan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</a:t>
            </a:r>
            <a:r>
              <a:rPr sz="1100">
                <a:solidFill>
                  <a:srgbClr val="6E7681"/>
                </a:solidFill>
                <a:latin typeface="Menlo"/>
              </a:rPr>
              <a:t>// O(1) — peek belakang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bool kosong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</a:t>
            </a:r>
            <a:r>
              <a:rPr sz="1100">
                <a:solidFill>
                  <a:srgbClr val="6E7681"/>
                </a:solidFill>
                <a:latin typeface="Menlo"/>
              </a:rPr>
              <a:t>// jumlah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process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57800"/>
            <a:ext cx="502920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50292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29437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Kapan pakai Queue?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5157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BFS / Level-order traversal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04418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Simulasi antrian / proses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3679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Stream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62940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Topological sort (Kahn's)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005840"/>
            <a:ext cx="6126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Visualisasi: enqueue &amp; dequeue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554480"/>
            <a:ext cx="2743200" cy="14630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600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4868" y="20574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4868" y="21305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4868" y="256032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FF6B8A"/>
                </a:solidFill>
              </a:rPr>
              <a:t>front↑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4868" y="256032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3FD97F"/>
                </a:solidFill>
              </a:rPr>
              <a:t>↑back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554480"/>
            <a:ext cx="2743200" cy="14630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600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74936" y="205740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4936" y="21305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20574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1305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4936" y="256032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FF6B8A"/>
                </a:solidFill>
              </a:rPr>
              <a:t>front↑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56032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3FD97F"/>
                </a:solidFill>
              </a:rPr>
              <a:t>↑back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886200"/>
            <a:ext cx="2743200" cy="14630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9319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7084" y="438912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7084" y="4462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4868" y="438912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4868" y="4462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2652" y="4389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2652" y="4462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7084" y="489204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FF6B8A"/>
                </a:solidFill>
              </a:rPr>
              <a:t>front↑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2652" y="489204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3FD97F"/>
                </a:solidFill>
              </a:rPr>
              <a:t>↑back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886200"/>
            <a:ext cx="2743200" cy="146304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39319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pop →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74936" y="43891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74936" y="4462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32720" y="438912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0" y="4462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4936" y="489204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FF6B8A"/>
                </a:solidFill>
              </a:rPr>
              <a:t>front↑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489204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 i="0">
                <a:solidFill>
                  <a:srgbClr val="3FD97F"/>
                </a:solidFill>
              </a:rPr>
              <a:t>↑back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6263640"/>
            <a:ext cx="6126480" cy="45720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60720" y="6263640"/>
            <a:ext cx="91440" cy="4572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635507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373368"/>
            <a:ext cx="53492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FIFO: First In, First Out — semua O(1)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Deque — Double Ended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push/pop di kedua ujung — O(1) all the 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Deque STL — 4 Operasi di 2 Ujung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FF7BC7"/>
                </a:solidFill>
                <a:latin typeface="Menlo"/>
              </a:rPr>
              <a:t>#include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deque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deque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KEDUA UJUNG ===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O(1)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O(1)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O(1)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</a:t>
            </a:r>
            <a:r>
              <a:rPr sz="1100">
                <a:solidFill>
                  <a:srgbClr val="6E7681"/>
                </a:solidFill>
                <a:latin typeface="Menlo"/>
              </a:rPr>
              <a:t>// O(1)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6E7681"/>
                </a:solidFill>
                <a:latin typeface="Menlo"/>
              </a:rPr>
              <a:t>// peek depan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</a:t>
            </a:r>
            <a:r>
              <a:rPr sz="1100">
                <a:solidFill>
                  <a:srgbClr val="6E7681"/>
                </a:solidFill>
                <a:latin typeface="Menlo"/>
              </a:rPr>
              <a:t>// peek belakang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SEBAGAI STACK ===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SEBAGAI QUEUE ===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📊 Queue vs Deque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17922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16459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151790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13716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554480"/>
            <a:ext cx="2066543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600200"/>
            <a:ext cx="192023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deque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88819"/>
            <a:ext cx="54498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619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push_back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619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0619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46020"/>
            <a:ext cx="54498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191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push_front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191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5191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03220"/>
            <a:ext cx="54498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763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pop_back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763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9763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360420"/>
            <a:ext cx="54498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335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pop_front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335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4335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17620"/>
            <a:ext cx="54498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8907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operator[]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8907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8907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 O(1)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6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🎯 Deque visual (2 ujung)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493776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5010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493776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5010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493776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5010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493776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5010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493776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501091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5166360"/>
            <a:ext cx="411480" cy="0"/>
          </a:xfrm>
          <a:prstGeom prst="line">
            <a:avLst/>
          </a:prstGeom>
          <a:ln w="25400">
            <a:solidFill>
              <a:srgbClr val="F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72200" y="544068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6B8A"/>
                </a:solidFill>
              </a:rPr>
              <a:t>front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84080" y="5166360"/>
            <a:ext cx="411480" cy="0"/>
          </a:xfrm>
          <a:prstGeom prst="line">
            <a:avLst/>
          </a:prstGeom>
          <a:ln w="2540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738360" y="544068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back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5852160"/>
            <a:ext cx="54864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60" y="585216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94360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5961888"/>
            <a:ext cx="470916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Deque &gt; Queue di fleksibilitas (semua O(1))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Sliding Window Maximum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Monotonic decreasing deque — O(n) elegan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Sliding Window Maximum — Konsep &amp; Invariant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Deque menyimpan INDEX, monoton menurun berdasar nilai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24688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🎯 Invariant Deque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• Front = index nilai MAX di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Nilai dq.front → dq.back menurun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Index out-of-window di pop_front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Index nilai ≤ baru di pop_back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5486400" cy="30175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7" y="36576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19" y="36576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6576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86200"/>
            <a:ext cx="5212080" cy="265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swMax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deque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1. Buang index out-of-window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2. Buang yang ≤ A[i] dari belakang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🎬 Monotonic Decreasing Deque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554480"/>
            <a:ext cx="274320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9188" y="20574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9188" y="21305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26060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6B8A"/>
                </a:solidFill>
              </a:rPr>
              <a:t>front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26060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554480"/>
            <a:ext cx="274320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6002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12096" y="205740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21305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205740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21305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6060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6B8A"/>
                </a:solidFill>
              </a:rPr>
              <a:t>front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6060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0175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58A6FF"/>
                </a:solidFill>
              </a:rPr>
              <a:t>→ monoton turun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023360"/>
            <a:ext cx="274320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0690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7→pop 3,5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19188" y="452628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9188" y="459943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19188" y="507492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6B8A"/>
                </a:solidFill>
              </a:rPr>
              <a:t>front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9188" y="507492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4023360"/>
            <a:ext cx="274320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40690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12096" y="452628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2096" y="459943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452628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459943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507492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6B8A"/>
                </a:solidFill>
              </a:rPr>
              <a:t>front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69880" y="507492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back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54864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58A6FF"/>
                </a:solidFill>
              </a:rPr>
              <a:t>→ monoton turun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Sliding Window Max — Full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A = [1, 3, -1, -3, 5, 3, 6, 7], k =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7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28016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033271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137891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194560"/>
            <a:ext cx="603503" cy="3264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240279"/>
            <a:ext cx="457199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2194560"/>
            <a:ext cx="1060704" cy="3264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2240279"/>
            <a:ext cx="91440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A[i]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2194560"/>
            <a:ext cx="3621024" cy="3264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2240279"/>
            <a:ext cx="347472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Deque (idx)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194560"/>
            <a:ext cx="1335024" cy="32644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2240279"/>
            <a:ext cx="118872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566720"/>
            <a:ext cx="672998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639872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2639872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2639872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[0]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63987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950768"/>
            <a:ext cx="672998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023920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3023920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3023920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[1]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023920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334816"/>
            <a:ext cx="672998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407968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3407968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-1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3407968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[1, 2]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3407968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18864"/>
            <a:ext cx="672998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92016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3792016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-3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3792016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[1, 2, 3]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792016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102912"/>
            <a:ext cx="672998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176064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4176064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4176064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[4]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417606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486960"/>
            <a:ext cx="672998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560112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4560112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4560112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[4, 5]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456011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871008"/>
            <a:ext cx="672998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944160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4944160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4944160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[6]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4944160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255056"/>
            <a:ext cx="672998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328208"/>
            <a:ext cx="457199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20" y="5328208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0" y="5328208"/>
            <a:ext cx="3474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[7]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5328208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  <a:latin typeface="Menlo"/>
              </a:rPr>
              <a:t>📊 Output: [3, 3, 5, 5, 6, 7]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589520" y="178308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89520" y="15361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07808" y="18736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75320" y="178308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75320" y="15361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93608" y="18736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61120" y="178308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61120" y="15361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79408" y="18736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646920" y="178308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46920" y="15361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65208" y="18736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332720" y="178308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332720" y="15361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51008" y="18736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018520" y="178308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18520" y="15361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36808" y="18736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589520" y="2606040"/>
            <a:ext cx="4206240" cy="17830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89520" y="2606040"/>
            <a:ext cx="42062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54112" y="2642616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💡 Mengapa O(n)?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90688" y="3099816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Setiap index push 1× ke deque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90688" y="3392424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Setiap index pop 1× dari deque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90688" y="3685032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Total operasi 2n = O(n)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90688" y="3977640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Bukan O(nk) walau ada while!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89520" y="4526280"/>
            <a:ext cx="420624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89520" y="4526280"/>
            <a:ext cx="9144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72400" y="46177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58A6FF"/>
                </a:solidFill>
              </a:rPr>
              <a:t>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75320" y="4636008"/>
            <a:ext cx="3428999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Min: ubah '&lt;=' jadi '&gt;=' di pop_back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89520" y="5166360"/>
            <a:ext cx="4206240" cy="14630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589520" y="5166360"/>
            <a:ext cx="42062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54112" y="5202936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🎯 Tips Penting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90688" y="5660136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dq menyimpan INDEX (bukan value)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90688" y="5952744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Cek out-of-window pakai i-k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90688" y="6245352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Output mulai i ≥ k-1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90688" y="6537960"/>
            <a:ext cx="3840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Buat function monotonic = reusable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First Non-Repeating &amp; BFS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Aplikasi queue di stream processing &amp;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First Non-Repeating Character in 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firstNonRepeating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stream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freq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FFA657"/>
                </a:solidFill>
                <a:latin typeface="Menlo"/>
              </a:rPr>
              <a:t>26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stream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freq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'a'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6E7681"/>
                </a:solidFill>
                <a:latin typeface="Menlo"/>
              </a:rPr>
              <a:t>// Buang dari depan kalau sudah duplikat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freq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C857"/>
                </a:solidFill>
                <a:latin typeface="Menlo"/>
              </a:rPr>
              <a:t>'a'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?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'#'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ans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57800"/>
            <a:ext cx="594360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59436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294376"/>
            <a:ext cx="5669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51576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Queue tracks urutan masuk 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44184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freq[] hitung kemunculan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36792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Front yang freq&gt;1 → buang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629400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Front sekarang = first non-repeat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Menlo"/>
              </a:rPr>
              <a:t>🎬 Trace: stream = 'aabcc'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554480"/>
            <a:ext cx="8778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00200"/>
            <a:ext cx="7315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554480"/>
            <a:ext cx="133502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600200"/>
            <a:ext cx="11887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554480"/>
            <a:ext cx="151790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19" y="1600200"/>
            <a:ext cx="13716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freq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59" y="1554480"/>
            <a:ext cx="1335024" cy="38862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599" y="1600200"/>
            <a:ext cx="11887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988819"/>
            <a:ext cx="51755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061972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'a'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20619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[a]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20619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a=1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599" y="20619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446020"/>
            <a:ext cx="51755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519172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'a'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25191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25191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a=2 (pop)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599" y="25191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#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903220"/>
            <a:ext cx="51755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2976372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'b'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29763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[b]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19" y="29763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b=1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599" y="29763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360420"/>
            <a:ext cx="51755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433572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'c'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19" y="34335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[b,c]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19" y="34335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c=1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599" y="34335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3817620"/>
            <a:ext cx="51755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3890772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'c'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19" y="38907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[b]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19" y="38907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c=2 (pop)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599" y="38907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4572000"/>
            <a:ext cx="52120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457200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466344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681728"/>
            <a:ext cx="44348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Result: 'a#bbb' (concat semua output)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5257800"/>
            <a:ext cx="521208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3680" y="525780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48272" y="529437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Variasi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4848" y="575157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Cek char di interval (last 60 chars)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604418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Pop juga saat keluar window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848" y="633679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 timestamp +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BFS Level-Order Traversal — Queue di Tree/Graph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levelOrder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TreeNode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root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root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TreeNode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root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sz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</a:t>
            </a:r>
            <a:r>
              <a:rPr sz="1050">
                <a:solidFill>
                  <a:srgbClr val="6E7681"/>
                </a:solidFill>
                <a:latin typeface="Menlo"/>
              </a:rPr>
              <a:t>// SIZE level saat ini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level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sz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node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level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node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val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node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left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node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left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node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right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node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right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level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🌳 Tree dengan level coloring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082107" y="1886521"/>
            <a:ext cx="843625" cy="75323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62267" y="1886521"/>
            <a:ext cx="843625" cy="75323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772172" y="3072101"/>
            <a:ext cx="481015" cy="66807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95132" y="3072101"/>
            <a:ext cx="481015" cy="66807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851392" y="1399032"/>
            <a:ext cx="585216" cy="5852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153070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7571231" y="254203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67370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20" name="Oval 19"/>
          <p:cNvSpPr/>
          <p:nvPr/>
        </p:nvSpPr>
        <p:spPr>
          <a:xfrm>
            <a:off x="10131552" y="254203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67370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20</a:t>
            </a:r>
          </a:p>
        </p:txBody>
      </p:sp>
      <p:sp>
        <p:nvSpPr>
          <p:cNvPr id="22" name="Oval 21"/>
          <p:cNvSpPr/>
          <p:nvPr/>
        </p:nvSpPr>
        <p:spPr>
          <a:xfrm>
            <a:off x="9308592" y="3685031"/>
            <a:ext cx="585216" cy="5852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381670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15</a:t>
            </a:r>
          </a:p>
        </p:txBody>
      </p:sp>
      <p:sp>
        <p:nvSpPr>
          <p:cNvPr id="24" name="Oval 23"/>
          <p:cNvSpPr/>
          <p:nvPr/>
        </p:nvSpPr>
        <p:spPr>
          <a:xfrm>
            <a:off x="10954512" y="3685031"/>
            <a:ext cx="585216" cy="5852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81670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55448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L0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9748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</a:rPr>
              <a:t>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84048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</a:rPr>
              <a:t>L2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572000"/>
            <a:ext cx="521208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4572000"/>
            <a:ext cx="52120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663440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📋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98348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3FD97F"/>
                </a:solidFill>
                <a:latin typeface="Menlo"/>
              </a:rPr>
              <a:t>[ [3], [9, 20], [15, 7]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4406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8B949E"/>
                </a:solidFill>
              </a:rPr>
              <a:t>Level 0, Level 1, Level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6035040"/>
            <a:ext cx="5212080" cy="45720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6035040"/>
            <a:ext cx="91440" cy="4572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612647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6144768"/>
            <a:ext cx="4434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Trick: simpan q.size() di awal level untuk pisah level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Queue/Deque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Sliding window: pakai value bukan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deque&lt;int&gt; dq simpan INDEX!
Pakai A[dq.front()] untuk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Lupa cek out-of-window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while (dq.front() &lt;= i-k) pop_front
Harus di paling awal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Output mulai i=0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Pertama kali window penuh: i=k-1.
Output hanya saat i ≥ k-1.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Ambiguity '&lt;' vs '&lt;='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Max: pop saat A[back] &lt;= A[i]
Min: pop saat A[back] &gt;= A[i]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BFS lupa simpan q.size()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Tanpa fix size, infinite loop.
Simpan sz = q.size() per level.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Stream: lupa pop sampai habis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while loop, bukan if!
Bisa banyak char yang sudah duplikat.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Queue/Deque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SLIDING WINDOW MAX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deque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res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res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SLIDING WINDOW MIN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Sama tapi: A[dq.back()] &gt;= A[i]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BFS LEVEL ORDER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TreeNode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root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sz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sz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6E7681"/>
                </a:solidFill>
                <a:latin typeface="Menlo"/>
              </a:rPr>
              <a:t>// process x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level selesai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STREAM FIRST NON-REPEAT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26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stream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C857"/>
                </a:solidFill>
                <a:latin typeface="Menlo"/>
              </a:rPr>
              <a:t>'a'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C857"/>
                </a:solidFill>
                <a:latin typeface="Menlo"/>
              </a:rPr>
              <a:t>'a'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?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'#'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Queue &amp; Deque — fondasi BFS dan sliding window O(n)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FIFO. push_back, pop_front. Pakai untuk BFS, simulasi, stream.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Deque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2 ujung O(1). Bisa jadi stack atau queue. operator[] random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Sliding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Monotonic deque simpan INDEX. Setiap idx push/pop 1× → O(n).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BFS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Simpan q.size() per iterasi untuk pisah level. Stream + freq array.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Out-of-window check di awal. Output mulai i≥k-1. Stream pakai while.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38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