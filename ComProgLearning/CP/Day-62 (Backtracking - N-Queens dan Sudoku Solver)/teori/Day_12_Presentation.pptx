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57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-9144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286000" y="5029200"/>
            <a:ext cx="3657600" cy="36576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0"/>
            <a:ext cx="36576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57200"/>
            <a:ext cx="146304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438912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0" b="1" i="0">
                <a:solidFill>
                  <a:srgbClr val="58A6FF"/>
                </a:solidFill>
              </a:rPr>
              <a:t>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COMPETITIVE PROGRAMMING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6E7681"/>
                </a:solidFill>
              </a:rPr>
              <a:t>150 Day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64008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200" b="1" i="0">
                <a:solidFill>
                  <a:srgbClr val="F0F6FC"/>
                </a:solidFill>
              </a:rPr>
              <a:t>Backtracking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246120"/>
            <a:ext cx="45720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24612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42900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9D0D8"/>
                </a:solidFill>
              </a:rPr>
              <a:t>Choose · Explore · Undo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13048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C9A0FF"/>
                </a:solidFill>
              </a:rPr>
              <a:t>Eksplorasi sistematis dengan pruning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6126480"/>
            <a:ext cx="36576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621792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E7681"/>
                </a:solidFill>
              </a:rPr>
              <a:t>Modern Cobalt Theme · python-pptx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5120640"/>
            <a:ext cx="1691640" cy="4572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5212080"/>
            <a:ext cx="1691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Choose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5120640"/>
            <a:ext cx="1691640" cy="45720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5212080"/>
            <a:ext cx="1691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Explore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5120640"/>
            <a:ext cx="1691640" cy="45720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5212080"/>
            <a:ext cx="1691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Undo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Agenda — Day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Topik utama yang akan kita bahas hari 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8892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914400" cy="5486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Paradigma
Backtracking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242316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Choose-Explore-Undo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Recursion 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Pruning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State management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1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1" y="1234440"/>
            <a:ext cx="278892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1463040"/>
            <a:ext cx="914400" cy="5486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Permutation
&amp; Subset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2971800"/>
            <a:ext cx="2423160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Permutation O(n!)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Subset O(2ⁿ)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used[] array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start index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3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3" y="1234440"/>
            <a:ext cx="278892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1463040"/>
            <a:ext cx="914400" cy="5486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N-Queens &amp;
Combination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5664" y="2971800"/>
            <a:ext cx="2423160" cy="36576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N-Queens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Diagonal check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Combination sum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Sort + break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0576" y="1234440"/>
            <a:ext cx="278892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63455" y="1463040"/>
            <a:ext cx="914400" cy="54864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5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5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Word Search
&amp; Aplikasi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3455" y="2971800"/>
            <a:ext cx="2423160" cy="36576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5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DFS di grid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5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Mark &amp; restore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5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Graph coloring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BT vs DP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Paradigma Backtracking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3 langkah: Choose → Explore → Undo (CEU)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Pola Universal Backtracking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Sebuah template yang akan kamu pakai berulang kali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943600" cy="45720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5669280" cy="4206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>
                <a:solidFill>
                  <a:srgbClr val="C9A0FF"/>
                </a:solidFill>
                <a:latin typeface="Menlo"/>
              </a:rPr>
              <a:t>void</a:t>
            </a:r>
            <a:r>
              <a:rPr sz="1150">
                <a:solidFill>
                  <a:srgbClr val="C9D1D9"/>
                </a:solidFill>
                <a:latin typeface="Menlo"/>
              </a:rPr>
              <a:t> </a:t>
            </a:r>
            <a:r>
              <a:rPr sz="1150">
                <a:solidFill>
                  <a:srgbClr val="C9D1D9"/>
                </a:solidFill>
                <a:latin typeface="Menlo"/>
              </a:rPr>
              <a:t>backtrack</a:t>
            </a:r>
            <a:r>
              <a:rPr sz="1150">
                <a:solidFill>
                  <a:srgbClr val="C9D1D9"/>
                </a:solidFill>
                <a:latin typeface="Menlo"/>
              </a:rPr>
              <a:t>(</a:t>
            </a:r>
            <a:r>
              <a:rPr sz="1150">
                <a:solidFill>
                  <a:srgbClr val="C9D1D9"/>
                </a:solidFill>
                <a:latin typeface="Menlo"/>
              </a:rPr>
              <a:t>state</a:t>
            </a:r>
            <a:r>
              <a:rPr sz="1150">
                <a:solidFill>
                  <a:srgbClr val="C9D1D9"/>
                </a:solidFill>
                <a:latin typeface="Menlo"/>
              </a:rPr>
              <a:t>)</a:t>
            </a:r>
            <a:r>
              <a:rPr sz="1150">
                <a:solidFill>
                  <a:srgbClr val="C9D1D9"/>
                </a:solidFill>
                <a:latin typeface="Menlo"/>
              </a:rPr>
              <a:t> </a:t>
            </a:r>
            <a:r>
              <a:rPr sz="11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50">
                <a:solidFill>
                  <a:srgbClr val="C9D1D9"/>
                </a:solidFill>
                <a:latin typeface="Menlo"/>
              </a:rPr>
              <a:t>    </a:t>
            </a:r>
            <a:r>
              <a:rPr sz="1150">
                <a:solidFill>
                  <a:srgbClr val="6E7681"/>
                </a:solidFill>
                <a:latin typeface="Menlo"/>
              </a:rPr>
              <a:t>// 1. BASE CASE — solusi ditemukan</a:t>
            </a:r>
          </a:p>
          <a:p>
            <a:pPr algn="l"/>
            <a:r>
              <a:rPr sz="1150">
                <a:solidFill>
                  <a:srgbClr val="C9D1D9"/>
                </a:solidFill>
                <a:latin typeface="Menlo"/>
              </a:rPr>
              <a:t>    </a:t>
            </a:r>
            <a:r>
              <a:rPr sz="1150">
                <a:solidFill>
                  <a:srgbClr val="C9A0FF"/>
                </a:solidFill>
                <a:latin typeface="Menlo"/>
              </a:rPr>
              <a:t>if</a:t>
            </a:r>
            <a:r>
              <a:rPr sz="1150">
                <a:solidFill>
                  <a:srgbClr val="C9D1D9"/>
                </a:solidFill>
                <a:latin typeface="Menlo"/>
              </a:rPr>
              <a:t> </a:t>
            </a:r>
            <a:r>
              <a:rPr sz="1150">
                <a:solidFill>
                  <a:srgbClr val="C9D1D9"/>
                </a:solidFill>
                <a:latin typeface="Menlo"/>
              </a:rPr>
              <a:t>(</a:t>
            </a:r>
            <a:r>
              <a:rPr sz="1150">
                <a:solidFill>
                  <a:srgbClr val="C9D1D9"/>
                </a:solidFill>
                <a:latin typeface="Menlo"/>
              </a:rPr>
              <a:t>goal_reached</a:t>
            </a:r>
            <a:r>
              <a:rPr sz="1150">
                <a:solidFill>
                  <a:srgbClr val="C9D1D9"/>
                </a:solidFill>
                <a:latin typeface="Menlo"/>
              </a:rPr>
              <a:t>)</a:t>
            </a:r>
            <a:r>
              <a:rPr sz="1150">
                <a:solidFill>
                  <a:srgbClr val="C9D1D9"/>
                </a:solidFill>
                <a:latin typeface="Menlo"/>
              </a:rPr>
              <a:t> </a:t>
            </a:r>
            <a:r>
              <a:rPr sz="11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50">
                <a:solidFill>
                  <a:srgbClr val="C9D1D9"/>
                </a:solidFill>
                <a:latin typeface="Menlo"/>
              </a:rPr>
              <a:t>        </a:t>
            </a:r>
            <a:r>
              <a:rPr sz="1150">
                <a:solidFill>
                  <a:srgbClr val="C9D1D9"/>
                </a:solidFill>
                <a:latin typeface="Menlo"/>
              </a:rPr>
              <a:t>record_solution</a:t>
            </a:r>
            <a:r>
              <a:rPr sz="1150">
                <a:solidFill>
                  <a:srgbClr val="C9D1D9"/>
                </a:solidFill>
                <a:latin typeface="Menlo"/>
              </a:rPr>
              <a:t>(</a:t>
            </a:r>
            <a:r>
              <a:rPr sz="1150">
                <a:solidFill>
                  <a:srgbClr val="C9D1D9"/>
                </a:solidFill>
                <a:latin typeface="Menlo"/>
              </a:rPr>
              <a:t>)</a:t>
            </a:r>
            <a:r>
              <a:rPr sz="11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50">
                <a:solidFill>
                  <a:srgbClr val="C9D1D9"/>
                </a:solidFill>
                <a:latin typeface="Menlo"/>
              </a:rPr>
              <a:t>        </a:t>
            </a:r>
            <a:r>
              <a:rPr sz="1150">
                <a:solidFill>
                  <a:srgbClr val="C9A0FF"/>
                </a:solidFill>
                <a:latin typeface="Menlo"/>
              </a:rPr>
              <a:t>return</a:t>
            </a:r>
            <a:r>
              <a:rPr sz="11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50">
                <a:solidFill>
                  <a:srgbClr val="C9D1D9"/>
                </a:solidFill>
                <a:latin typeface="Menlo"/>
              </a:rPr>
              <a:t>    </a:t>
            </a:r>
            <a:r>
              <a:rPr sz="11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50">
                <a:latin typeface="Menlo"/>
              </a:rPr>
              <a:t> </a:t>
            </a:r>
          </a:p>
          <a:p>
            <a:pPr algn="l"/>
            <a:r>
              <a:rPr sz="1150">
                <a:solidFill>
                  <a:srgbClr val="C9D1D9"/>
                </a:solidFill>
                <a:latin typeface="Menlo"/>
              </a:rPr>
              <a:t>    </a:t>
            </a:r>
            <a:r>
              <a:rPr sz="1150">
                <a:solidFill>
                  <a:srgbClr val="6E7681"/>
                </a:solidFill>
                <a:latin typeface="Menlo"/>
              </a:rPr>
              <a:t>// 2. CABANG — coba setiap pilihan</a:t>
            </a:r>
          </a:p>
          <a:p>
            <a:pPr algn="l"/>
            <a:r>
              <a:rPr sz="1150">
                <a:solidFill>
                  <a:srgbClr val="C9D1D9"/>
                </a:solidFill>
                <a:latin typeface="Menlo"/>
              </a:rPr>
              <a:t>    </a:t>
            </a:r>
            <a:r>
              <a:rPr sz="1150">
                <a:solidFill>
                  <a:srgbClr val="C9A0FF"/>
                </a:solidFill>
                <a:latin typeface="Menlo"/>
              </a:rPr>
              <a:t>for</a:t>
            </a:r>
            <a:r>
              <a:rPr sz="1150">
                <a:solidFill>
                  <a:srgbClr val="C9D1D9"/>
                </a:solidFill>
                <a:latin typeface="Menlo"/>
              </a:rPr>
              <a:t> </a:t>
            </a:r>
            <a:r>
              <a:rPr sz="1150">
                <a:solidFill>
                  <a:srgbClr val="C9D1D9"/>
                </a:solidFill>
                <a:latin typeface="Menlo"/>
              </a:rPr>
              <a:t>(</a:t>
            </a:r>
            <a:r>
              <a:rPr sz="1150">
                <a:solidFill>
                  <a:srgbClr val="C9D1D9"/>
                </a:solidFill>
                <a:latin typeface="Menlo"/>
              </a:rPr>
              <a:t>each</a:t>
            </a:r>
            <a:r>
              <a:rPr sz="1150">
                <a:solidFill>
                  <a:srgbClr val="C9D1D9"/>
                </a:solidFill>
                <a:latin typeface="Menlo"/>
              </a:rPr>
              <a:t> </a:t>
            </a:r>
            <a:r>
              <a:rPr sz="1150">
                <a:solidFill>
                  <a:srgbClr val="C9D1D9"/>
                </a:solidFill>
                <a:latin typeface="Menlo"/>
              </a:rPr>
              <a:t>choice</a:t>
            </a:r>
            <a:r>
              <a:rPr sz="1150">
                <a:solidFill>
                  <a:srgbClr val="C9D1D9"/>
                </a:solidFill>
                <a:latin typeface="Menlo"/>
              </a:rPr>
              <a:t>)</a:t>
            </a:r>
            <a:r>
              <a:rPr sz="1150">
                <a:solidFill>
                  <a:srgbClr val="C9D1D9"/>
                </a:solidFill>
                <a:latin typeface="Menlo"/>
              </a:rPr>
              <a:t> </a:t>
            </a:r>
            <a:r>
              <a:rPr sz="11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50">
                <a:solidFill>
                  <a:srgbClr val="C9D1D9"/>
                </a:solidFill>
                <a:latin typeface="Menlo"/>
              </a:rPr>
              <a:t>        </a:t>
            </a:r>
            <a:r>
              <a:rPr sz="1150">
                <a:solidFill>
                  <a:srgbClr val="C9A0FF"/>
                </a:solidFill>
                <a:latin typeface="Menlo"/>
              </a:rPr>
              <a:t>if</a:t>
            </a:r>
            <a:r>
              <a:rPr sz="1150">
                <a:solidFill>
                  <a:srgbClr val="C9D1D9"/>
                </a:solidFill>
                <a:latin typeface="Menlo"/>
              </a:rPr>
              <a:t> </a:t>
            </a:r>
            <a:r>
              <a:rPr sz="1150">
                <a:solidFill>
                  <a:srgbClr val="C9D1D9"/>
                </a:solidFill>
                <a:latin typeface="Menlo"/>
              </a:rPr>
              <a:t>(</a:t>
            </a:r>
            <a:r>
              <a:rPr sz="1150">
                <a:solidFill>
                  <a:srgbClr val="C9D1D9"/>
                </a:solidFill>
                <a:latin typeface="Menlo"/>
              </a:rPr>
              <a:t>is_valid</a:t>
            </a:r>
            <a:r>
              <a:rPr sz="1150">
                <a:solidFill>
                  <a:srgbClr val="C9D1D9"/>
                </a:solidFill>
                <a:latin typeface="Menlo"/>
              </a:rPr>
              <a:t>(</a:t>
            </a:r>
            <a:r>
              <a:rPr sz="1150">
                <a:solidFill>
                  <a:srgbClr val="C9D1D9"/>
                </a:solidFill>
                <a:latin typeface="Menlo"/>
              </a:rPr>
              <a:t>choice</a:t>
            </a:r>
            <a:r>
              <a:rPr sz="1150">
                <a:solidFill>
                  <a:srgbClr val="C9D1D9"/>
                </a:solidFill>
                <a:latin typeface="Menlo"/>
              </a:rPr>
              <a:t>)</a:t>
            </a:r>
            <a:r>
              <a:rPr sz="1150">
                <a:solidFill>
                  <a:srgbClr val="C9D1D9"/>
                </a:solidFill>
                <a:latin typeface="Menlo"/>
              </a:rPr>
              <a:t>)</a:t>
            </a:r>
            <a:r>
              <a:rPr sz="1150">
                <a:solidFill>
                  <a:srgbClr val="C9D1D9"/>
                </a:solidFill>
                <a:latin typeface="Menlo"/>
              </a:rPr>
              <a:t> </a:t>
            </a:r>
            <a:r>
              <a:rPr sz="1150">
                <a:solidFill>
                  <a:srgbClr val="C9D1D9"/>
                </a:solidFill>
                <a:latin typeface="Menlo"/>
              </a:rPr>
              <a:t>{</a:t>
            </a:r>
            <a:r>
              <a:rPr sz="1150">
                <a:solidFill>
                  <a:srgbClr val="C9D1D9"/>
                </a:solidFill>
                <a:latin typeface="Menlo"/>
              </a:rPr>
              <a:t>  </a:t>
            </a:r>
            <a:r>
              <a:rPr sz="1150">
                <a:solidFill>
                  <a:srgbClr val="6E7681"/>
                </a:solidFill>
                <a:latin typeface="Menlo"/>
              </a:rPr>
              <a:t>// ← PRUNING</a:t>
            </a:r>
          </a:p>
          <a:p>
            <a:pPr algn="l"/>
            <a:r>
              <a:rPr sz="1150">
                <a:solidFill>
                  <a:srgbClr val="C9D1D9"/>
                </a:solidFill>
                <a:latin typeface="Menlo"/>
              </a:rPr>
              <a:t>            </a:t>
            </a:r>
            <a:r>
              <a:rPr sz="1150">
                <a:solidFill>
                  <a:srgbClr val="C9D1D9"/>
                </a:solidFill>
                <a:latin typeface="Menlo"/>
              </a:rPr>
              <a:t>make_choice</a:t>
            </a:r>
            <a:r>
              <a:rPr sz="1150">
                <a:solidFill>
                  <a:srgbClr val="C9D1D9"/>
                </a:solidFill>
                <a:latin typeface="Menlo"/>
              </a:rPr>
              <a:t>(</a:t>
            </a:r>
            <a:r>
              <a:rPr sz="1150">
                <a:solidFill>
                  <a:srgbClr val="C9D1D9"/>
                </a:solidFill>
                <a:latin typeface="Menlo"/>
              </a:rPr>
              <a:t>choice</a:t>
            </a:r>
            <a:r>
              <a:rPr sz="1150">
                <a:solidFill>
                  <a:srgbClr val="C9D1D9"/>
                </a:solidFill>
                <a:latin typeface="Menlo"/>
              </a:rPr>
              <a:t>)</a:t>
            </a:r>
            <a:r>
              <a:rPr sz="1150">
                <a:solidFill>
                  <a:srgbClr val="C9D1D9"/>
                </a:solidFill>
                <a:latin typeface="Menlo"/>
              </a:rPr>
              <a:t>;</a:t>
            </a:r>
            <a:r>
              <a:rPr sz="1150">
                <a:solidFill>
                  <a:srgbClr val="C9D1D9"/>
                </a:solidFill>
                <a:latin typeface="Menlo"/>
              </a:rPr>
              <a:t>     </a:t>
            </a:r>
            <a:r>
              <a:rPr sz="1150">
                <a:solidFill>
                  <a:srgbClr val="6E7681"/>
                </a:solidFill>
                <a:latin typeface="Menlo"/>
              </a:rPr>
              <a:t>// CHOOSE</a:t>
            </a:r>
          </a:p>
          <a:p>
            <a:pPr algn="l"/>
            <a:r>
              <a:rPr sz="1150">
                <a:solidFill>
                  <a:srgbClr val="C9D1D9"/>
                </a:solidFill>
                <a:latin typeface="Menlo"/>
              </a:rPr>
              <a:t>            </a:t>
            </a:r>
            <a:r>
              <a:rPr sz="1150">
                <a:solidFill>
                  <a:srgbClr val="C9D1D9"/>
                </a:solidFill>
                <a:latin typeface="Menlo"/>
              </a:rPr>
              <a:t>backtrack</a:t>
            </a:r>
            <a:r>
              <a:rPr sz="1150">
                <a:solidFill>
                  <a:srgbClr val="C9D1D9"/>
                </a:solidFill>
                <a:latin typeface="Menlo"/>
              </a:rPr>
              <a:t>(</a:t>
            </a:r>
            <a:r>
              <a:rPr sz="1150">
                <a:solidFill>
                  <a:srgbClr val="C9D1D9"/>
                </a:solidFill>
                <a:latin typeface="Menlo"/>
              </a:rPr>
              <a:t>next_state</a:t>
            </a:r>
            <a:r>
              <a:rPr sz="1150">
                <a:solidFill>
                  <a:srgbClr val="C9D1D9"/>
                </a:solidFill>
                <a:latin typeface="Menlo"/>
              </a:rPr>
              <a:t>)</a:t>
            </a:r>
            <a:r>
              <a:rPr sz="1150">
                <a:solidFill>
                  <a:srgbClr val="C9D1D9"/>
                </a:solidFill>
                <a:latin typeface="Menlo"/>
              </a:rPr>
              <a:t>;</a:t>
            </a:r>
            <a:r>
              <a:rPr sz="1150">
                <a:solidFill>
                  <a:srgbClr val="C9D1D9"/>
                </a:solidFill>
                <a:latin typeface="Menlo"/>
              </a:rPr>
              <a:t>   </a:t>
            </a:r>
            <a:r>
              <a:rPr sz="1150">
                <a:solidFill>
                  <a:srgbClr val="6E7681"/>
                </a:solidFill>
                <a:latin typeface="Menlo"/>
              </a:rPr>
              <a:t>// EXPLORE</a:t>
            </a:r>
          </a:p>
          <a:p>
            <a:pPr algn="l"/>
            <a:r>
              <a:rPr sz="1150">
                <a:solidFill>
                  <a:srgbClr val="C9D1D9"/>
                </a:solidFill>
                <a:latin typeface="Menlo"/>
              </a:rPr>
              <a:t>            </a:t>
            </a:r>
            <a:r>
              <a:rPr sz="1150">
                <a:solidFill>
                  <a:srgbClr val="C9D1D9"/>
                </a:solidFill>
                <a:latin typeface="Menlo"/>
              </a:rPr>
              <a:t>undo_choice</a:t>
            </a:r>
            <a:r>
              <a:rPr sz="1150">
                <a:solidFill>
                  <a:srgbClr val="C9D1D9"/>
                </a:solidFill>
                <a:latin typeface="Menlo"/>
              </a:rPr>
              <a:t>(</a:t>
            </a:r>
            <a:r>
              <a:rPr sz="1150">
                <a:solidFill>
                  <a:srgbClr val="C9D1D9"/>
                </a:solidFill>
                <a:latin typeface="Menlo"/>
              </a:rPr>
              <a:t>choice</a:t>
            </a:r>
            <a:r>
              <a:rPr sz="1150">
                <a:solidFill>
                  <a:srgbClr val="C9D1D9"/>
                </a:solidFill>
                <a:latin typeface="Menlo"/>
              </a:rPr>
              <a:t>)</a:t>
            </a:r>
            <a:r>
              <a:rPr sz="1150">
                <a:solidFill>
                  <a:srgbClr val="C9D1D9"/>
                </a:solidFill>
                <a:latin typeface="Menlo"/>
              </a:rPr>
              <a:t>;</a:t>
            </a:r>
            <a:r>
              <a:rPr sz="1150">
                <a:solidFill>
                  <a:srgbClr val="C9D1D9"/>
                </a:solidFill>
                <a:latin typeface="Menlo"/>
              </a:rPr>
              <a:t>     </a:t>
            </a:r>
            <a:r>
              <a:rPr sz="1150">
                <a:solidFill>
                  <a:srgbClr val="6E7681"/>
                </a:solidFill>
                <a:latin typeface="Menlo"/>
              </a:rPr>
              <a:t>// UNDO</a:t>
            </a:r>
          </a:p>
          <a:p>
            <a:pPr algn="l"/>
            <a:r>
              <a:rPr sz="1150">
                <a:solidFill>
                  <a:srgbClr val="C9D1D9"/>
                </a:solidFill>
                <a:latin typeface="Menlo"/>
              </a:rPr>
              <a:t>        </a:t>
            </a:r>
            <a:r>
              <a:rPr sz="11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50">
                <a:solidFill>
                  <a:srgbClr val="C9D1D9"/>
                </a:solidFill>
                <a:latin typeface="Menlo"/>
              </a:rPr>
              <a:t>    </a:t>
            </a:r>
            <a:r>
              <a:rPr sz="11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0058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🔄 3 Langkah Inti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508760"/>
            <a:ext cx="5212080" cy="123444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11112" y="1673351"/>
            <a:ext cx="585216" cy="585216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755648"/>
            <a:ext cx="5943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673351"/>
            <a:ext cx="4114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CHOOSE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011680"/>
            <a:ext cx="411480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Tambah pilihan ke state
(push_back, mark visited)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2880360"/>
            <a:ext cx="5212080" cy="123444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11112" y="3044952"/>
            <a:ext cx="585216" cy="585216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127248"/>
            <a:ext cx="5943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044952"/>
            <a:ext cx="4114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FD97F"/>
                </a:solidFill>
              </a:rPr>
              <a:t>EXPLORE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383280"/>
            <a:ext cx="411480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Rekursi ke level berikutnya
dengan state baru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4251960"/>
            <a:ext cx="5212080" cy="123444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11112" y="4416552"/>
            <a:ext cx="585216" cy="585216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498848"/>
            <a:ext cx="5943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416552"/>
            <a:ext cx="4114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UNDO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754880"/>
            <a:ext cx="411480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Restore state ke kondisi
sebelum CHOOSE (pop, unmark)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5760720"/>
            <a:ext cx="521208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0" y="5760720"/>
            <a:ext cx="914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5852159"/>
            <a:ext cx="45720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FF6B8A"/>
                </a:solidFill>
              </a:rPr>
              <a:t>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5870448"/>
            <a:ext cx="44348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KUNCI: setiap make_choice WAJIB di-undo!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3FD97F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Permutation &amp; Subset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Dua pola fondasi: used[] untuk permutasi, start untuk subset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Generate Permutations — used[] Array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852160" cy="50292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85216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577840" cy="466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perm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bool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used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false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void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backtrack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perm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size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print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perm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</a:t>
            </a:r>
            <a:r>
              <a:rPr sz="1100">
                <a:solidFill>
                  <a:srgbClr val="6E7681"/>
                </a:solidFill>
                <a:latin typeface="Menlo"/>
              </a:rPr>
              <a:t>// 1 solusi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for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used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continue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used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true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       </a:t>
            </a:r>
            <a:r>
              <a:rPr sz="1100">
                <a:solidFill>
                  <a:srgbClr val="6E7681"/>
                </a:solidFill>
                <a:latin typeface="Menlo"/>
              </a:rPr>
              <a:t>// CHOOSE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perm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push_back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backtrack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          </a:t>
            </a:r>
            <a:r>
              <a:rPr sz="1100">
                <a:solidFill>
                  <a:srgbClr val="6E7681"/>
                </a:solidFill>
                <a:latin typeface="Menlo"/>
              </a:rPr>
              <a:t>// EXPLORE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perm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pop_back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      </a:t>
            </a:r>
            <a:r>
              <a:rPr sz="1100">
                <a:solidFill>
                  <a:srgbClr val="6E7681"/>
                </a:solidFill>
                <a:latin typeface="Menlo"/>
              </a:rPr>
              <a:t>// UNDO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used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false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Total: n! permutasi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005840"/>
            <a:ext cx="5303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🌳 Recursion Tree — perm of {1,2,3}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858000" y="1764792"/>
            <a:ext cx="2286000" cy="493776"/>
          </a:xfrm>
          <a:prstGeom prst="line">
            <a:avLst/>
          </a:prstGeom>
          <a:ln w="1587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1764792"/>
            <a:ext cx="0" cy="493776"/>
          </a:xfrm>
          <a:prstGeom prst="line">
            <a:avLst/>
          </a:prstGeom>
          <a:ln w="1587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1764792"/>
            <a:ext cx="2286000" cy="493776"/>
          </a:xfrm>
          <a:prstGeom prst="line">
            <a:avLst/>
          </a:prstGeom>
          <a:ln w="1587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035040" y="2587752"/>
            <a:ext cx="822960" cy="630936"/>
          </a:xfrm>
          <a:prstGeom prst="line">
            <a:avLst/>
          </a:prstGeom>
          <a:ln w="1587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0" y="2587752"/>
            <a:ext cx="822960" cy="630936"/>
          </a:xfrm>
          <a:prstGeom prst="line">
            <a:avLst/>
          </a:prstGeom>
          <a:ln w="1587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503920" y="2587752"/>
            <a:ext cx="640080" cy="630936"/>
          </a:xfrm>
          <a:prstGeom prst="line">
            <a:avLst/>
          </a:prstGeom>
          <a:ln w="1587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4000" y="2587752"/>
            <a:ext cx="640080" cy="630936"/>
          </a:xfrm>
          <a:prstGeom prst="line">
            <a:avLst/>
          </a:prstGeom>
          <a:ln w="1587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0698480" y="2587752"/>
            <a:ext cx="731520" cy="630936"/>
          </a:xfrm>
          <a:prstGeom prst="line">
            <a:avLst/>
          </a:prstGeom>
          <a:ln w="1587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430000" y="2587752"/>
            <a:ext cx="548640" cy="630936"/>
          </a:xfrm>
          <a:prstGeom prst="line">
            <a:avLst/>
          </a:prstGeom>
          <a:ln w="1587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778240" y="1435608"/>
            <a:ext cx="731520" cy="329184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472184"/>
            <a:ext cx="731520" cy="2560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  <a:latin typeface="Menlo"/>
              </a:rPr>
              <a:t>[]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258568"/>
            <a:ext cx="731520" cy="329184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295144"/>
            <a:ext cx="731520" cy="2560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  <a:latin typeface="Menlo"/>
              </a:rPr>
              <a:t>[1]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2258568"/>
            <a:ext cx="731520" cy="329184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2295144"/>
            <a:ext cx="731520" cy="2560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  <a:latin typeface="Menlo"/>
              </a:rPr>
              <a:t>[2]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064240" y="2258568"/>
            <a:ext cx="731520" cy="329184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64240" y="2295144"/>
            <a:ext cx="731520" cy="2560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  <a:latin typeface="Menlo"/>
              </a:rPr>
              <a:t>[3]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79" y="3218688"/>
            <a:ext cx="731520" cy="329184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79" y="3255264"/>
            <a:ext cx="731520" cy="2560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  <a:latin typeface="Menlo"/>
              </a:rPr>
              <a:t>[1,2]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3218688"/>
            <a:ext cx="731520" cy="329184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3255264"/>
            <a:ext cx="731520" cy="2560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  <a:latin typeface="Menlo"/>
              </a:rPr>
              <a:t>[1,3]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218688"/>
            <a:ext cx="731520" cy="329184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3255264"/>
            <a:ext cx="731520" cy="2560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  <a:latin typeface="Menlo"/>
              </a:rPr>
              <a:t>[2,1]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18319" y="3218688"/>
            <a:ext cx="731520" cy="329184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19" y="3255264"/>
            <a:ext cx="731520" cy="2560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  <a:latin typeface="Menlo"/>
              </a:rPr>
              <a:t>[2,3]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32719" y="3218688"/>
            <a:ext cx="731520" cy="329184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19" y="3255264"/>
            <a:ext cx="731520" cy="2560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  <a:latin typeface="Menlo"/>
              </a:rPr>
              <a:t>[3,1]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12880" y="3218688"/>
            <a:ext cx="731520" cy="329184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12880" y="3255264"/>
            <a:ext cx="731520" cy="2560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  <a:latin typeface="Menlo"/>
              </a:rPr>
              <a:t>[3,2]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0" y="3840480"/>
            <a:ext cx="5303520" cy="155448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0" y="3840480"/>
            <a:ext cx="530352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56831" y="387705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Kompleksitas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3407" y="4334256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Total: O(n! × 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3407" y="4626864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Depth: O(n)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3407" y="4919472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n=8 → 40,320 permutasi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3407" y="5212080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n=12 → ~479M (TLE)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92240" y="5532120"/>
            <a:ext cx="5303520" cy="64008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92240" y="5532120"/>
            <a:ext cx="91440" cy="64008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5623559"/>
            <a:ext cx="457200" cy="45719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FFC857"/>
                </a:solidFill>
              </a:rPr>
              <a:t>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78040" y="5641848"/>
            <a:ext cx="4526280" cy="42062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Untuk n&gt;11, permutasi sudah TLE. Pakai DP / bitmask.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Generate Subsets (Power Set) — start Index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852160" cy="420624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85216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577840" cy="38404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subset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void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backtrack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start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print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subset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</a:t>
            </a:r>
            <a:r>
              <a:rPr sz="1100">
                <a:solidFill>
                  <a:srgbClr val="6E7681"/>
                </a:solidFill>
                <a:latin typeface="Menlo"/>
              </a:rPr>
              <a:t>// termasuk subset kosong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for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start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subset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push_back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6E7681"/>
                </a:solidFill>
                <a:latin typeface="Menlo"/>
              </a:rPr>
              <a:t>// CHOOSE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backtrack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  </a:t>
            </a:r>
            <a:r>
              <a:rPr sz="1100">
                <a:solidFill>
                  <a:srgbClr val="6E7681"/>
                </a:solidFill>
                <a:latin typeface="Menlo"/>
              </a:rPr>
              <a:t>// i+1: tidak ulang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subset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pop_back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 </a:t>
            </a:r>
            <a:r>
              <a:rPr sz="1100">
                <a:solidFill>
                  <a:srgbClr val="6E7681"/>
                </a:solidFill>
                <a:latin typeface="Menlo"/>
              </a:rPr>
              <a:t>// UNDO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Panggil: backtrack(1)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Total: 2^n subset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005840"/>
            <a:ext cx="5303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📋 Output untuk n=3 — 2³=8 subset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508760"/>
            <a:ext cx="2606040" cy="41148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2606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C9A0FF"/>
                </a:solidFill>
                <a:latin typeface="Menlo"/>
              </a:rPr>
              <a:t>{}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508760"/>
            <a:ext cx="2606040" cy="41148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554480"/>
            <a:ext cx="2606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  <a:latin typeface="Menlo"/>
              </a:rPr>
              <a:t>{1}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011680"/>
            <a:ext cx="2606040" cy="41148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057400"/>
            <a:ext cx="2606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3FD97F"/>
                </a:solidFill>
                <a:latin typeface="Menlo"/>
              </a:rPr>
              <a:t>{1, 2}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2011680"/>
            <a:ext cx="2606040" cy="41148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2057400"/>
            <a:ext cx="2606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3FD97F"/>
                </a:solidFill>
                <a:latin typeface="Menlo"/>
              </a:rPr>
              <a:t>{1, 2, 3}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514600"/>
            <a:ext cx="2606040" cy="41148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560320"/>
            <a:ext cx="2606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  <a:latin typeface="Menlo"/>
              </a:rPr>
              <a:t>{1, 3}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2514600"/>
            <a:ext cx="2606040" cy="41148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2560320"/>
            <a:ext cx="2606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  <a:latin typeface="Menlo"/>
              </a:rPr>
              <a:t>{2}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017520"/>
            <a:ext cx="2606040" cy="41148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063239"/>
            <a:ext cx="2606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3FD97F"/>
                </a:solidFill>
                <a:latin typeface="Menlo"/>
              </a:rPr>
              <a:t>{2, 3}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3017520"/>
            <a:ext cx="2606040" cy="41148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3063239"/>
            <a:ext cx="2606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  <a:latin typeface="Menlo"/>
              </a:rPr>
              <a:t>{3}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3840480"/>
            <a:ext cx="5303520" cy="13716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3840480"/>
            <a:ext cx="530352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1" y="387705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Kompleksitas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7" y="4334256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Total: O(2ⁿ × 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3407" y="4626864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n=20 → 1M subset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93407" y="4919472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n=25 → 33M (kemungkinan TLE)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5349240"/>
            <a:ext cx="5303520" cy="64008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92240" y="5349240"/>
            <a:ext cx="91440" cy="64008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5440679"/>
            <a:ext cx="457200" cy="45719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FD97F"/>
                </a:solidFill>
              </a:rPr>
              <a:t>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5458968"/>
            <a:ext cx="4526280" cy="42062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Alternatif: Bitmask enumeration (lebih cepat &amp; bersih)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349240"/>
            <a:ext cx="5852160" cy="100584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5349240"/>
            <a:ext cx="5852160" cy="4572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44068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C9A0FF"/>
                </a:solidFill>
              </a:rPr>
              <a:t>🔑 Trick start: hindari duplicate subset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715000"/>
            <a:ext cx="5486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i+1 dalam rekursi memastikan setiap elemen dipakai
maksimal sekali per cabang → tidak ada {1,2} &amp; {2,1}.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FFC857"/>
                </a:solidFill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N-Queens &amp; Combination Sum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Aplikasi klasik dengan pruning constraint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N-Queens — Constraint dengan 3 array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6035040" cy="50292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60350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760720" cy="466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bool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cols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diag1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FFA657"/>
                </a:solidFill>
                <a:latin typeface="Menlo"/>
              </a:rPr>
              <a:t>2</a:t>
            </a:r>
            <a:r>
              <a:rPr sz="1050">
                <a:solidFill>
                  <a:srgbClr val="C9D1D9"/>
                </a:solidFill>
                <a:latin typeface="Menlo"/>
              </a:rPr>
              <a:t>*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diag2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FFA657"/>
                </a:solidFill>
                <a:latin typeface="Menlo"/>
              </a:rPr>
              <a:t>2</a:t>
            </a:r>
            <a:r>
              <a:rPr sz="1050">
                <a:solidFill>
                  <a:srgbClr val="C9D1D9"/>
                </a:solidFill>
                <a:latin typeface="Menlo"/>
              </a:rPr>
              <a:t>*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solutions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void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solve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row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row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solutions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col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col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col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cols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col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|</a:t>
            </a:r>
            <a:r>
              <a:rPr sz="1050">
                <a:solidFill>
                  <a:srgbClr val="C9D1D9"/>
                </a:solidFill>
                <a:latin typeface="Menlo"/>
              </a:rPr>
              <a:t>|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diag1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row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col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          </a:t>
            </a:r>
            <a:r>
              <a:rPr sz="1050">
                <a:solidFill>
                  <a:srgbClr val="C9D1D9"/>
                </a:solidFill>
                <a:latin typeface="Menlo"/>
              </a:rPr>
              <a:t>|</a:t>
            </a:r>
            <a:r>
              <a:rPr sz="1050">
                <a:solidFill>
                  <a:srgbClr val="C9D1D9"/>
                </a:solidFill>
                <a:latin typeface="Menlo"/>
              </a:rPr>
              <a:t>|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diag2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row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col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continue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6E7681"/>
                </a:solidFill>
                <a:latin typeface="Menlo"/>
              </a:rPr>
              <a:t>// CHOOSE: tempatkan ratu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cols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col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diag1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row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col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     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diag2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row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col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true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solve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row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             </a:t>
            </a:r>
            <a:r>
              <a:rPr sz="1050">
                <a:solidFill>
                  <a:srgbClr val="6E7681"/>
                </a:solidFill>
                <a:latin typeface="Menlo"/>
              </a:rPr>
              <a:t>// EXPLORE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6E7681"/>
                </a:solidFill>
                <a:latin typeface="Menlo"/>
              </a:rPr>
              <a:t>// UNDO: angkat ratu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cols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col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diag1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row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col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     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diag2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row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col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false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005840"/>
            <a:ext cx="5303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♛ N-Queens 4×4 — 1 dari 2 solusi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554480"/>
            <a:ext cx="502920" cy="50292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8040" y="1554480"/>
            <a:ext cx="502920" cy="502920"/>
          </a:xfrm>
          <a:prstGeom prst="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46620" y="1623060"/>
            <a:ext cx="365760" cy="36576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1600200"/>
            <a:ext cx="5029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</a:rPr>
              <a:t>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1554480"/>
            <a:ext cx="502920" cy="50292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554480"/>
            <a:ext cx="502920" cy="502920"/>
          </a:xfrm>
          <a:prstGeom prst="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2057400"/>
            <a:ext cx="502920" cy="502920"/>
          </a:xfrm>
          <a:prstGeom prst="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78040" y="2057400"/>
            <a:ext cx="502920" cy="50292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80960" y="2057400"/>
            <a:ext cx="502920" cy="502920"/>
          </a:xfrm>
          <a:prstGeom prst="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9" y="2057400"/>
            <a:ext cx="502920" cy="50292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52460" y="2125979"/>
            <a:ext cx="365760" cy="36576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2103120"/>
            <a:ext cx="5029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</a:rPr>
              <a:t>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2560320"/>
            <a:ext cx="502920" cy="50292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43700" y="2628899"/>
            <a:ext cx="365760" cy="36576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606039"/>
            <a:ext cx="5029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</a:rPr>
              <a:t>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2560320"/>
            <a:ext cx="502920" cy="502920"/>
          </a:xfrm>
          <a:prstGeom prst="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0" y="2560320"/>
            <a:ext cx="502920" cy="50292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79" y="2560320"/>
            <a:ext cx="502920" cy="502920"/>
          </a:xfrm>
          <a:prstGeom prst="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75120" y="3063240"/>
            <a:ext cx="502920" cy="502920"/>
          </a:xfrm>
          <a:prstGeom prst="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78040" y="3063240"/>
            <a:ext cx="502920" cy="50292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80960" y="3063240"/>
            <a:ext cx="502920" cy="502920"/>
          </a:xfrm>
          <a:prstGeom prst="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49540" y="3131820"/>
            <a:ext cx="365760" cy="36576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3108960"/>
            <a:ext cx="5029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</a:rPr>
              <a:t>♛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79" y="3063240"/>
            <a:ext cx="502920" cy="50292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0" y="1554480"/>
            <a:ext cx="2926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FD97F"/>
                </a:solidFill>
              </a:rPr>
              <a:t>📊 Jumlah Solusi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20" y="2011680"/>
            <a:ext cx="1152144" cy="349758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0" y="2057400"/>
            <a:ext cx="1005840" cy="25831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49840" y="2011680"/>
            <a:ext cx="1700784" cy="349758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41280" y="2057400"/>
            <a:ext cx="1554480" cy="25831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Solusi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61120" y="2407158"/>
            <a:ext cx="2889504" cy="37490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2560" y="2480310"/>
            <a:ext cx="100584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2480310"/>
            <a:ext cx="155448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2818638"/>
            <a:ext cx="2889504" cy="37490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52560" y="2891790"/>
            <a:ext cx="100584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2891790"/>
            <a:ext cx="155448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92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61120" y="3230118"/>
            <a:ext cx="2889504" cy="37490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0" y="3303270"/>
            <a:ext cx="100584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3303270"/>
            <a:ext cx="155448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724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1120" y="3641598"/>
            <a:ext cx="2889504" cy="37490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52560" y="3714750"/>
            <a:ext cx="100584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3714750"/>
            <a:ext cx="155448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14,200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675120" y="4297680"/>
            <a:ext cx="5303520" cy="155448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675120" y="4297680"/>
            <a:ext cx="530352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39712" y="433425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Diagonal Index Trick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76288" y="4791456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diag1: r-c+n  → ↘ kanan bawah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76288" y="5084064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diag2: r+c    → ↙ kiri bawah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76288" y="5376672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+n untuk hindari index negatif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Combination Sum — Pruning dengan Sort + Break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943600" cy="41148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669280" cy="3749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79C0FF"/>
                </a:solidFill>
                <a:latin typeface="Menlo"/>
              </a:rPr>
              <a:t>sort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cands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begin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cands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end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6E7681"/>
                </a:solidFill>
                <a:latin typeface="Menlo"/>
              </a:rPr>
              <a:t>// WAJIB!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void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backtrack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start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target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target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result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push_back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current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for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start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cands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size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cands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target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break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</a:t>
            </a:r>
            <a:r>
              <a:rPr sz="1100">
                <a:solidFill>
                  <a:srgbClr val="6E7681"/>
                </a:solidFill>
                <a:latin typeface="Menlo"/>
              </a:rPr>
              <a:t>// ← PRUNING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current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push_back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cands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backtrack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target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cands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6E7681"/>
                </a:solidFill>
                <a:latin typeface="Menlo"/>
              </a:rPr>
              <a:t>// i: boleh ulang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current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pop_back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0058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📋 Contoh: cands=[2,3,5], target=8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554480"/>
            <a:ext cx="521208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600200"/>
            <a:ext cx="22860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Menlo"/>
              </a:rPr>
              <a:t>[2, 2, 2, 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600200"/>
            <a:ext cx="26974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Menlo"/>
              </a:rPr>
              <a:t>2+2+2+2 = 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148840"/>
            <a:ext cx="521208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2194560"/>
            <a:ext cx="22860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FD97F"/>
                </a:solidFill>
                <a:latin typeface="Menlo"/>
              </a:rPr>
              <a:t>[2, 3, 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194560"/>
            <a:ext cx="26974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Menlo"/>
              </a:rPr>
              <a:t>2+3+3 = 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2743200"/>
            <a:ext cx="521208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788920"/>
            <a:ext cx="22860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  <a:latin typeface="Menlo"/>
              </a:rPr>
              <a:t>[3, 5]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788920"/>
            <a:ext cx="26974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Menlo"/>
              </a:rPr>
              <a:t>3+5 = 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3520440"/>
            <a:ext cx="5212080" cy="173736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0" y="3520440"/>
            <a:ext cx="521208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3557016"/>
            <a:ext cx="49377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Kenapa Sort + Break?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4014216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Setelah sort, jika cands[i] &gt; target,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4306824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semua cands[j&gt;i] juga &gt; 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4599432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→ Tidak perlu cek lagi → break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4892040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Memangkas banyak cabang!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5440680"/>
            <a:ext cx="5212080" cy="64008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0" y="5440680"/>
            <a:ext cx="91440" cy="64008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5532120"/>
            <a:ext cx="457200" cy="45719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C9A0FF"/>
                </a:solidFill>
              </a:rPr>
              <a:t>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5550408"/>
            <a:ext cx="4434840" cy="42062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Boleh ulang? Pakai i. Tidak boleh? Pakai i+1.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349240"/>
            <a:ext cx="5943600" cy="128016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349240"/>
            <a:ext cx="5943600" cy="457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440680"/>
            <a:ext cx="5669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</a:rPr>
              <a:t>🌳 Pruning Effect: dari 3⁸ → ratusan saja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760720"/>
            <a:ext cx="566928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Sort + break pada combination sum mengurangi search space
secara drastis. Kompleksitas: O(2^target / min(cands))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C9A0FF"/>
                </a:solidFill>
              </a:rP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Word Search &amp; Backtracking vs DP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DFS di grid, mark-restore trick, dan kapan pilih BT vs DP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Word Search — DFS + Mark/Restore Trick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943600" cy="50292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669280" cy="466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dr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dc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bool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dfs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idx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idx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word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size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true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|</a:t>
            </a:r>
            <a:r>
              <a:rPr sz="1050">
                <a:solidFill>
                  <a:srgbClr val="C9D1D9"/>
                </a:solidFill>
                <a:latin typeface="Menlo"/>
              </a:rPr>
              <a:t>|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|</a:t>
            </a:r>
            <a:r>
              <a:rPr sz="1050">
                <a:solidFill>
                  <a:srgbClr val="C9D1D9"/>
                </a:solidFill>
                <a:latin typeface="Menlo"/>
              </a:rPr>
              <a:t>|</a:t>
            </a:r>
            <a:r>
              <a:rPr sz="1050">
                <a:solidFill>
                  <a:srgbClr val="C9D1D9"/>
                </a:solidFill>
                <a:latin typeface="Menlo"/>
              </a:rPr>
              <a:t>c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|</a:t>
            </a:r>
            <a:r>
              <a:rPr sz="1050">
                <a:solidFill>
                  <a:srgbClr val="C9D1D9"/>
                </a:solidFill>
                <a:latin typeface="Menlo"/>
              </a:rPr>
              <a:t>|</a:t>
            </a:r>
            <a:r>
              <a:rPr sz="1050">
                <a:solidFill>
                  <a:srgbClr val="C9D1D9"/>
                </a:solidFill>
                <a:latin typeface="Menlo"/>
              </a:rPr>
              <a:t>c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C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false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grid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c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word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idx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false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char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tmp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grid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c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grid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c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C857"/>
                </a:solidFill>
                <a:latin typeface="Menlo"/>
              </a:rPr>
              <a:t>'#'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6E7681"/>
                </a:solidFill>
                <a:latin typeface="Menlo"/>
              </a:rPr>
              <a:t>// CHOOSE: mark visited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bool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found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false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4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dfs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dr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d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dc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d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idx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found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true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break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grid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r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c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tmp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6E7681"/>
                </a:solidFill>
                <a:latin typeface="Menlo"/>
              </a:rPr>
              <a:t>// UNDO: restore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found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0058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🔠 Grid Word Search — cari 'ABCD'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1554480"/>
            <a:ext cx="566928" cy="548640"/>
          </a:xfrm>
          <a:prstGeom prst="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645920"/>
            <a:ext cx="566928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Menlo"/>
              </a:rP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6367" y="1554480"/>
            <a:ext cx="566928" cy="548640"/>
          </a:xfrm>
          <a:prstGeom prst="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6367" y="1645920"/>
            <a:ext cx="566928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Menlo"/>
              </a:rPr>
              <a:t>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1554480"/>
            <a:ext cx="566928" cy="548640"/>
          </a:xfrm>
          <a:prstGeom prst="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3296" y="1645920"/>
            <a:ext cx="566928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Menlo"/>
              </a:rPr>
              <a:t>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50224" y="1554480"/>
            <a:ext cx="566928" cy="54864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0224" y="1645920"/>
            <a:ext cx="566928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  <a:latin typeface="Menlo"/>
              </a:rPr>
              <a:t>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2103120"/>
            <a:ext cx="566928" cy="54864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2194560"/>
            <a:ext cx="566928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  <a:latin typeface="Menlo"/>
              </a:rPr>
              <a:t>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103120"/>
            <a:ext cx="566928" cy="54864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16367" y="2194560"/>
            <a:ext cx="566928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  <a:latin typeface="Menlo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83296" y="2103120"/>
            <a:ext cx="566928" cy="548640"/>
          </a:xfrm>
          <a:prstGeom prst="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83296" y="2194560"/>
            <a:ext cx="566928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Menlo"/>
              </a:rPr>
              <a:t>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50224" y="2103120"/>
            <a:ext cx="566928" cy="54864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50224" y="2194560"/>
            <a:ext cx="566928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  <a:latin typeface="Menlo"/>
              </a:rPr>
              <a:t>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2651760"/>
            <a:ext cx="566928" cy="54864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2743200"/>
            <a:ext cx="566928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  <a:latin typeface="Menlo"/>
              </a:rPr>
              <a:t>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16367" y="2651760"/>
            <a:ext cx="566928" cy="54864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16367" y="2743200"/>
            <a:ext cx="566928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  <a:latin typeface="Menlo"/>
              </a:rPr>
              <a:t>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83296" y="2651760"/>
            <a:ext cx="566928" cy="54864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3296" y="2743200"/>
            <a:ext cx="566928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  <a:latin typeface="Menlo"/>
              </a:rPr>
              <a:t>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50224" y="2651760"/>
            <a:ext cx="566928" cy="54864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50224" y="2743200"/>
            <a:ext cx="566928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  <a:latin typeface="Menlo"/>
              </a:rPr>
              <a:t>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3520440"/>
            <a:ext cx="5212080" cy="173736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0" y="3520440"/>
            <a:ext cx="521208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48272" y="3557016"/>
            <a:ext cx="49377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Mark &amp; Restore Trick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4014216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grid[r][c] = '#' → tandai visited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4848" y="4306824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→ rekursi tidak akan kembali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84848" y="4599432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Setelah rekursi: restore dengan tmp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84848" y="4892040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Hemat memori vs visited[][]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0" y="5440680"/>
            <a:ext cx="5212080" cy="64008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0" y="5440680"/>
            <a:ext cx="91440" cy="64008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0" y="5532120"/>
            <a:ext cx="457200" cy="45719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FFC857"/>
                </a:solidFill>
              </a:rPr>
              <a:t>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5550408"/>
            <a:ext cx="4434840" cy="42062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Kompleksitas: O(R·C · 4ᴸ) di mana L=panjang word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Backtracking vs Dynamic Programming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706624" cy="42748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560320" cy="33604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Aspek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097280"/>
            <a:ext cx="4169663" cy="427482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143000"/>
            <a:ext cx="4023359" cy="33604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Backtracking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097280"/>
            <a:ext cx="4169663" cy="427482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143000"/>
            <a:ext cx="4023359" cy="33604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Dynamic Programming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70482"/>
            <a:ext cx="11119104" cy="46634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43634"/>
            <a:ext cx="25603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Tujuan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643634"/>
            <a:ext cx="4023359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Cari semua / 1 solusi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43634"/>
            <a:ext cx="4023359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Hitung optimal (min/max/count)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073402"/>
            <a:ext cx="11119104" cy="46634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146554"/>
            <a:ext cx="25603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146554"/>
            <a:ext cx="4023359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Eksplisit (modify+undo)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146554"/>
            <a:ext cx="4023359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Tabular (dp[i][j])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76322"/>
            <a:ext cx="11119104" cy="46634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49474"/>
            <a:ext cx="25603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Overlap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649474"/>
            <a:ext cx="4023359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Sedikit / tidak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649474"/>
            <a:ext cx="4023359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Banyak (cache wajib)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79242"/>
            <a:ext cx="11119104" cy="46634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152394"/>
            <a:ext cx="25603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Memori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152394"/>
            <a:ext cx="4023359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O(depth)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152394"/>
            <a:ext cx="4023359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O(state space)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582162"/>
            <a:ext cx="11119104" cy="46634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55314"/>
            <a:ext cx="25603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Range 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655314"/>
            <a:ext cx="4023359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N ≤ 20 (eksponensial OK)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655314"/>
            <a:ext cx="4023359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N besar (polynomial)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085082"/>
            <a:ext cx="11119104" cy="46634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158234"/>
            <a:ext cx="25603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4158234"/>
            <a:ext cx="4023359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Daftar / satu solusi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158234"/>
            <a:ext cx="4023359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Angka tunggal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588002"/>
            <a:ext cx="11119104" cy="46634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661154"/>
            <a:ext cx="25603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Contoh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4661154"/>
            <a:ext cx="4023359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N-Queens, Sudoku, perm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661154"/>
            <a:ext cx="4023359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LCS, knapsack, fib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52160"/>
            <a:ext cx="1124712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5852160"/>
            <a:ext cx="91440" cy="5486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943600"/>
            <a:ext cx="45720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C9A0FF"/>
                </a:solidFill>
              </a:rPr>
              <a:t>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5961888"/>
            <a:ext cx="104698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Hybrid: BT + memoization = top-down DP. Cocok jika ada overlap.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Common Mistakes — Backtracking Pitfalls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1. Lupa UNDO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Kamu push tapi tidak pop.
Result akan korup setelah loop.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2. Salah start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Boleh ulang → pakai i
Tidak boleh → pakai i+1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3. used[] tidak di-reset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Antar test case, used[] harus
di-reset → fill(used, false)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4. N-Queens diagonal salah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diag1: r-c+n (anti-diagonal)
diag2: r+c (main diagonal).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5. Pruning telat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Cek validity SEBELUM rekursi.
Kalau di awal fungsi → kalkulasi sia-sia.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6. Stack overflow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Backtracking depth bisa O(n).
Untuk n&gt;10⁴ → konversi iteratif.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Cheatsheet — Backtracking Templates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66928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6692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39496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PERMUTATION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perm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bool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used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void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perms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perm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size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print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return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used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continue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used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perm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perms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perm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used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SUBSET ===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void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subsets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start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print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cur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start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cur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subsets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cur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4864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5683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80160"/>
            <a:ext cx="521208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N-QUEENS ===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bool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col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d1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FFA657"/>
                </a:solidFill>
                <a:latin typeface="Menlo"/>
              </a:rPr>
              <a:t>2</a:t>
            </a:r>
            <a:r>
              <a:rPr sz="1000">
                <a:solidFill>
                  <a:srgbClr val="C9D1D9"/>
                </a:solidFill>
                <a:latin typeface="Menlo"/>
              </a:rPr>
              <a:t>*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d2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FFA657"/>
                </a:solidFill>
                <a:latin typeface="Menlo"/>
              </a:rPr>
              <a:t>2</a:t>
            </a:r>
            <a:r>
              <a:rPr sz="1000">
                <a:solidFill>
                  <a:srgbClr val="C9D1D9"/>
                </a:solidFill>
                <a:latin typeface="Menlo"/>
              </a:rPr>
              <a:t>*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void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queens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ans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return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col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|</a:t>
            </a:r>
            <a:r>
              <a:rPr sz="1000">
                <a:solidFill>
                  <a:srgbClr val="C9D1D9"/>
                </a:solidFill>
                <a:latin typeface="Menlo"/>
              </a:rPr>
              <a:t>|</a:t>
            </a:r>
            <a:r>
              <a:rPr sz="1000">
                <a:solidFill>
                  <a:srgbClr val="C9D1D9"/>
                </a:solidFill>
                <a:latin typeface="Menlo"/>
              </a:rPr>
              <a:t>d1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|</a:t>
            </a:r>
            <a:r>
              <a:rPr sz="1000">
                <a:solidFill>
                  <a:srgbClr val="C9D1D9"/>
                </a:solidFill>
                <a:latin typeface="Menlo"/>
              </a:rPr>
              <a:t>|</a:t>
            </a:r>
            <a:r>
              <a:rPr sz="1000">
                <a:solidFill>
                  <a:srgbClr val="C9D1D9"/>
                </a:solidFill>
                <a:latin typeface="Menlo"/>
              </a:rPr>
              <a:t>d2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continue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col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d1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d2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queens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col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d1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d2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COMBINATION SUM ===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sort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cands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cands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void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cs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t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record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return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cands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t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break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cur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cands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cs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cands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cur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0"/>
            <a:ext cx="1828800" cy="18288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65760"/>
            <a:ext cx="5029200" cy="6400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</a:rPr>
              <a:t>🎯 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Backtracking: Choose-Explore-Undo dengan pruning cerdas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0972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6916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91640"/>
            <a:ext cx="9144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Paradigma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031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3 langkah: Choose, Explore, Undo. Setiap modify state WAJIB di-undo.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060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06040"/>
            <a:ext cx="91440" cy="7772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974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FD97F"/>
                </a:solidFill>
              </a:rPr>
              <a:t>Permutation &amp; Subset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175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used[] untuk perm O(n!). start untuk subset O(2ⁿ). Hindari duplicate.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04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20440"/>
            <a:ext cx="91440" cy="7772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118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N-Queens &amp; Combination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319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Constraint check 3 array. Sort + break untuk pruning combination sum.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34840"/>
            <a:ext cx="91440" cy="7772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C9A0FF"/>
                </a:solidFill>
              </a:rPr>
              <a:t>Word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DFS di grid. Mark dengan '#', restore dengan tmp. Hemat memori.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492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49240"/>
            <a:ext cx="91440" cy="7772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406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6B8A"/>
                </a:solidFill>
              </a:rPr>
              <a:t>BT vs DP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607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BT: semua solusi, N≤20. DP: 1 angka optimal, N besar. Hybrid: top-down DP.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92240"/>
            <a:ext cx="109728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Day 12 | Competitive Programming · 150 Day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