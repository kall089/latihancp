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Sliding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Fixed  ·  Variable  ·  Monotonic Deque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Subarray kontinu O(n) — amortized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5120640"/>
            <a:ext cx="14630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5212080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fixed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5120640"/>
            <a:ext cx="14630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212080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variable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120640"/>
            <a:ext cx="146304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5212080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freq-map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5120640"/>
            <a:ext cx="146304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monotonic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 &amp;
Intuisi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Sliding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Reuse antar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Fixed vs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Amortized 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Fixed-Size
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Sum / Avg /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Slide-add-remove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Anagram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 tetap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Variable
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Longest constraint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Shortest constraint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Freq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 distinct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Monotonic
Deque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Window max/min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O(n)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Decreasing dq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Index-based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&amp; Intuisi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Reuse antar window — tiap elemen masuk &amp; keluar 1×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Sliding Window?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Geser jendela ukuran K, manfaatkan tumpang-tindih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Properti Sliding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Subarray/substring KONTINU yang bergerak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1 elemen masuk (kanan), 1 keluar (kiri)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Reuse hasil → O(1) per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Total operasi 2n → amortized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Pointer L, R hanya MAJU (tidak mundur)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A = [2, 1, 5, 1, 3, 2],  K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W1: sum = 2+1+5 =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8288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8288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8288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82880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82880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182880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158191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191109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46888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W2: 8 - 2 + 1 = 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83464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283464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7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283464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283464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283464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283464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5877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29169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347472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W3: 7 - 1 + 3 = 9   ← MAX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0" y="3840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1888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3840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7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40880" y="3840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89520" y="3840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7808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3840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56448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86800" y="3840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3593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05088" y="3922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0624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206240"/>
            <a:ext cx="27432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370831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Brute Force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709159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O(n·k)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83280" y="420624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83280" y="420624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0" y="4370831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Sliding Window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74720" y="4709159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48640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E7681"/>
                </a:solidFill>
              </a:rPr>
              <a:t>Speedup: k× untuk fixed, n× untuk variable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Dua Varian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Fixed: ukuran tetap K. Variable: window membesar/mengecil.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FIXED-SIZE — slide 1 langkah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760720" cy="2377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76072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Step 1: [L=0, R=2]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41148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20240"/>
            <a:ext cx="41148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1920240"/>
            <a:ext cx="41148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19202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19202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9202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Step 2: [L=1, R=3]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28346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28346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28346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99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6888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3832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L &amp; R maju bersamaan, K tetap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VARIABLE-SIZE — expand &amp; shrink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1417320"/>
            <a:ext cx="5760720" cy="2377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1417320"/>
            <a:ext cx="576072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Expand R → window membesar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19202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7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49440" y="19202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7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06640" y="19202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4927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192024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38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2127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21040" y="19202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7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78240" y="19202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1673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96528" y="19943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Shrink L → window mengecil saat invalid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224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7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4944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7727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06640" y="2834640"/>
            <a:ext cx="41148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066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4927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63840" y="2834640"/>
            <a:ext cx="41148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82127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2104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10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9327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78240" y="283464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78240" y="25877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96528" y="290870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33832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L &amp; R independen, ukuran berubah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7200" y="4023360"/>
            <a:ext cx="11612880" cy="2377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57200" y="4023360"/>
            <a:ext cx="11612880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C9A0FF"/>
                </a:solidFill>
              </a:rPr>
              <a:t>🎯 Decision Tree: Pilih Varian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457200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'Subarray ukuran TEPAT K'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489204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→ FIXED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9360" y="457200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'Subarray TERPANJANG yang ...'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60" y="489204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→ VARIABLE LONGEST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544068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'Subarray TERPENDEK yang ...'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" y="576072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→ VARIABLE SHORTEST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60" y="544068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'Max/Min tiap window K'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09360" y="576072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→ MONOTONIC DEQUE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Fixed-Size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Ukuran K tetap — sum, avg, count, anagram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Fixed-Size — Maximum Sum Subarray 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Inisialisasi window pertama, lalu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3840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Init: hitung sum window pertama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Slide: tambah kanan, kurangi kiri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max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Window pada iterasi i: [i-k+1, i]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+A[i] = elemen baru masuk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-A[i-k] = elemen lama keluar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Trace: A=[2,1,5,1,3,2], K=3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50876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50876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150876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3852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init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193852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[2,1,5]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93852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193852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5000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i=3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35000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[1,5,1]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35000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35000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97479"/>
            <a:ext cx="5303520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76148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i=4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76148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[5,1,3]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76148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761487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172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i=5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172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[1,3,2]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172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3172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70332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70332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81304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Window terbaik [5,1,3] dengan sum = 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02920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029200"/>
            <a:ext cx="1124712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Pattern: Fixed Window + Frequency (Anagram Check)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486400"/>
            <a:ext cx="10972800" cy="10058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486400"/>
            <a:ext cx="10972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9807" y="55321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4399" y="55321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8991" y="55321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vector&lt;int&gt; need(26), have(26);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for (char c : t) need[c - 'a']++;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for (int i = 0; i &lt; n; i++)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have[s[i] - 'a']++;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if (i &gt;= m) have[s[i - m] - 'a']--;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if (i &gt;= m - 1 &amp;&amp; have == need) cout &lt;&lt; i - m + 1;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Variable-Size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Expand R, shrink L — longest / shortest / freq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Variable Longest — Subarray Sum ≤ 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Expand R selalu, shrink L sampai valid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expand kanan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shrink kiri sampai valid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max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window valid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05840"/>
            <a:ext cx="53035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Pola Variable LONGEST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Expand R tanpa syarat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while (INVALID) shrink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Update ans SETELAH valid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Pre-condition: A[i] ≥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5303520" cy="16916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7180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30175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30175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39712" y="30175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46120"/>
            <a:ext cx="502920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TEMPLATE GENERIK: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add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invalid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remove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247120" cy="1737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112471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88289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Hati-hati Pre-condition!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4009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Sliding window sum-based hanya jalan jika A[i] ≥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3270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Kalau ada nilai negatif → sum bisa naik-turun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2531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prefix sum + map untuk array negatif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Variable Shortest — Subarray Sum ≥ 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Update ans DI DALAM loop shrink (saat masih valid)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INT_MAX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expand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selama valid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min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update di sini!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sum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INT_MAX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?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05840"/>
            <a:ext cx="2560320" cy="4114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25603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042416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LONGEST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49961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while (INVALID) shrink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Update ans SETELAH while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084832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Cari max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7744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ans = max(...)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7004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Init ans =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005840"/>
            <a:ext cx="2560320" cy="4114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005840"/>
            <a:ext cx="25603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042416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SHORTEST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149961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while (VALID) shrink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1792224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Update ans DI DALAM while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084832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Cari min length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37744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ans = min(...)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67004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Init ans = INT_MAX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800"/>
            <a:ext cx="11247120" cy="1325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11247120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Trace: A=[2,1,5,2,3,2], S=7  →  output = 2 (window [5,2])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9728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R=2: sum=8≥7 → ans=3 [2,1,5];  shrink L=1 sum=6.   R=3: sum=8 → ans=3 [1,5,2]; shrink L=2 sum=7→ans=2 [5,2]; shrink L=3.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Variable + Frequency Map — Longest K Distinct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Substring dengan paling banyak K karakter berbeda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unordered_map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char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tambah char baru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        </a:t>
            </a:r>
            <a:r>
              <a:rPr sz="1050">
                <a:solidFill>
                  <a:srgbClr val="6E7681"/>
                </a:solidFill>
                <a:latin typeface="Menlo"/>
              </a:rPr>
              <a:t>// &gt; K distinct → shrink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freq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erase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⚠ wajib erase!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Trace: s="araaci", K=2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5212080" cy="34747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508760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1508760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1" y="1508760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freq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1" y="1508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1508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1508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5212080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883664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883664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1883664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{a:1}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1883664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1883664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1883664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212848"/>
            <a:ext cx="5212080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267712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267712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1" y="2267712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{a:1,r:1}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1" y="2267712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2267712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2267712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596896"/>
            <a:ext cx="5212080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2651760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2651760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1" y="2651760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{a:2,r:1}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1" y="2651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2651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2" y="2651760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980944"/>
            <a:ext cx="5212080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1112" y="3035808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3035808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1" y="3035808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{a:3,r:1}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1" y="3035808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0072" y="3035808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2992" y="3035808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364991"/>
            <a:ext cx="5212080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3419856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22592" y="3419856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34071" y="3419856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{a:2,c:1}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7151" y="3419856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3419856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2992" y="3419856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749039"/>
            <a:ext cx="5212080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1112" y="3803903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2592" y="3803903"/>
            <a:ext cx="356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34071" y="3803903"/>
            <a:ext cx="17282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{c:1,i:1}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1" y="3803903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0072" y="3803903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3803903"/>
            <a:ext cx="44805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0" y="4251960"/>
            <a:ext cx="512064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425196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4361688"/>
            <a:ext cx="475487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Hasil: ans = 4 (substring "araa")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349240"/>
            <a:ext cx="112471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538581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Wajib erase!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584301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freq[s[L]]-- saja TIDAK CUKUP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61356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Harus erase saat count = 0,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642823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kalau tidak freq.size() over-count!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Monotonic Deque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Sliding window max / min — O(n)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Sliding Window Maximum — Monotonic Deque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Deque simpan INDEX, A[idx] decreasing dari front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1264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85216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deque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simpan index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1. Buang front yang sudah keluar window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2. Buang back yang nilainya ≤ A[i]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   (mereka tidak akan jadi max selama A[i] ada)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3. Push index sekarang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4. Output max ketika window penuh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79C0FF"/>
                </a:solidFill>
                <a:latin typeface="Menlo"/>
              </a:rPr>
              <a:t>cout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' '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005840"/>
            <a:ext cx="5120640" cy="21945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005840"/>
            <a:ext cx="51206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04241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Invariant Deque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9961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Index di dq selalu di [i-k+1, 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79222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A[front] ≥ A[next] ≥ ... ≥ A[back]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8483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A[front] = MAX di window sekarang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377440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Tiap elemen masuk &amp; keluar 1× → O(n)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337560"/>
            <a:ext cx="5120640" cy="16916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337560"/>
            <a:ext cx="51206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337413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Untuk window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83133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Tukar perbandingan saja: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12394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while A[dq.back()] &gt;= A[i]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41655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Sisanya identik dengan 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709160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Front = MIN di window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5212080"/>
            <a:ext cx="246888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5212080"/>
            <a:ext cx="246888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376672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Brute 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1500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O(n·k)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212080"/>
            <a:ext cx="246888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5212080"/>
            <a:ext cx="246888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5376672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Mono Deque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571500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Trace Monotonic Deque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A=[1,3,-1,-3,5,3,6,7], K=3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12063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097280"/>
            <a:ext cx="740664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A[i]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097280"/>
            <a:ext cx="1426464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161288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Pop front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97280"/>
            <a:ext cx="2340864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61288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Pop 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1097280"/>
            <a:ext cx="2157984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16128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dq (idx)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097280"/>
            <a:ext cx="740664" cy="4114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161288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554480"/>
            <a:ext cx="810158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0934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609344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609344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60934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60934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609344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38528"/>
            <a:ext cx="810158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99339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1993392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199339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199339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pop A[0]=1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99339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1993392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322576"/>
            <a:ext cx="810158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3774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377440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237744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37744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237744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[1,2]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377440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706624"/>
            <a:ext cx="810158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7614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276148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76148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276148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2761488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[1,2,3]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276148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90672"/>
            <a:ext cx="810158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14553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3145536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3145536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3145536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pop A[3,2,1]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314553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[4]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3145536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474720"/>
            <a:ext cx="810158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2958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3529584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3529584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352958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52958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[4,5]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3529584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858768"/>
            <a:ext cx="810158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3913631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3913631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3913631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3913631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pop A[5,4]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0" y="3913631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[6]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3913631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242816"/>
            <a:ext cx="810158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29767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4297679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0" y="4297679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4297679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pop A[6]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0" y="4297679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[7]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63840" y="4297679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7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475488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3FD97F"/>
                </a:solidFill>
              </a:rPr>
              <a:t>✓ Output: 3 3 5 5 6 7  (max tiap window K=3)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88720" y="594360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8872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700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783080" y="594360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8308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0136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77440" y="594360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7744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9572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-1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971800" y="594360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7180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9008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-3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566160" y="594360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6616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8444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60520" y="594360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6052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78807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54880" y="594360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5488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73168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349240" y="594360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49240" y="569671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67527" y="602589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0" y="6035040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C857"/>
                </a:solidFill>
              </a:rPr>
              <a:t>Window terakhir [5,3,6,7] → max akhir =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 Recognition — Mana Sliding Window?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210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474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Situasi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097280"/>
            <a:ext cx="307238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43000"/>
            <a:ext cx="292607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Strategi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097280"/>
            <a:ext cx="224942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143000"/>
            <a:ext cx="21031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Kompleksitas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97280"/>
            <a:ext cx="2157984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143000"/>
            <a:ext cx="201167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Catatan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316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047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Subarray ukuran TEPAT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6047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Fixed-size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047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047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Max sum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88819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619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Subarray TERPANJANG, sum ≤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0619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Var Longest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619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619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A[i] ≥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460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191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Subarray TERPENDEK, sum ≥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5191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Var Shortest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191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5191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Min length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032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63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Substring ≤ K karakter unik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763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Var + freq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9763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9763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freq.size()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04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4335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Hitung subarray sum ≤ 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4335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Var + 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4335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4335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cnt += R-L+1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176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8907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Exactly K distinct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8907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atMost(K) - atMost(K-1)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8907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8907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Trick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748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3479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Anagram windows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3479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Fixed + freq array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3479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3479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Compare arrays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320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8051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Maximum/Minimum tiap window 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8051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Monotonic Deque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80517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805172"/>
            <a:ext cx="20116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Index-based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Pakai `if` bukan `while`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Kondisi violated bisa berlangsung beberapa langkah!
while (sum &gt; K) shrink, BUKAN 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Update ans sebelum shrink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Window mungkin masih invalid!
Pola LONGEST: shrink dulu, baru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Lupa erase di freq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freq[s[L]]-- saja tidak cukup.
if (freq[c]==0) freq.erase(c); WAJIB.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Sliding window pada negatif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Sum bisa naik-turun → monotonicity hilang!
Untuk negatif: prefix sum +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Off-by-one panjang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Panjang [L, R] inclusive = R - L + 1
BUKAN R - L (itu kurang 1)!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Lupa init window pertama (Fixed)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Loop tunggal sering bug saat i &lt; k-1
Lebih aman: init [0..k-1], lalu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FIXED-SIZE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VARIABLE LONGEST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add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invalid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remove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VARIABLE SHORTEST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INT_MAX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add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valid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remove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MONOTONIC DEQUE (MAX)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deque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cout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🌟 Aturan 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Pakai while, BUKAN if untuk shrink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Pakai long long untuk sum (overflow!)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Panjang window = R - L + 1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Test edge: k=1, k=n, n=0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Sliding Window — Subarray kontinu O(n)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Reuse hasil antar window. Pointer L,R hanya maju → tiap elemen 1× masuk &amp; keluar.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Fixed-Size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Init window [0..k-1], lalu sum += A[i] - A[i-k]. Pattern anagram: freq array.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Longest: shrink saat invalid, update setelah. Shortest: shrink saat valid, update di dalam.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Monotonic Deque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Simpan INDEX, A[idx] decreasing. Front = max window. O(n) untuk window max/min.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while bukan if, A[i]≥0 untuk sum, freq.erase wajib, panjang R-L+1, init window pertama.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20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