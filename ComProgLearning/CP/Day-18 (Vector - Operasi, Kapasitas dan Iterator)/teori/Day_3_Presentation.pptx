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STL Containers 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Vector  ·  String  ·  Pair  ·  Tuple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Foundation untuk Semua CP Solutions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120640"/>
            <a:ext cx="128016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21208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vector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5120640"/>
            <a:ext cx="128016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521208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string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5120640"/>
            <a:ext cx="128016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521208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pair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2720" y="5120640"/>
            <a:ext cx="1280160" cy="45720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521208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tuple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Vector
Dinamis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Deklarasi &amp; 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push/pop/access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Iterasi &amp; sort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2D vector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String
Manipulation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Substring &amp; find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Reverse &amp; sort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Konversi int↔string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Frequency 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Pair
Dua Nilai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.first / .second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make_pair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Sort by first/second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Negate trick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Tuple
Multi-Nilai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get&lt;i&gt;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make_tuple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Structured binding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Multi-criteria sort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Vector — Array Dinamis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Container paling penting di CP, hampir di setiap soal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Apa itu Vector?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Array yang ukurannya bisa berubah dinamis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029200" cy="29260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0292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042416"/>
            <a:ext cx="47548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Konsep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99616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Array dinamis — ukuran bisa bertambah/berkurang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Akses index O(1) — sama seperti array biasa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84832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push_back() amortized O(1)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Otomatis manage memori — tidak perlu malloc/new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Default value 0 saat init dengan ukuran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005840"/>
            <a:ext cx="5943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  <a:latin typeface="Menlo"/>
              </a:rPr>
              <a:t>vector&lt;int&gt; v = {3, 1, 4, 1, 5};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155448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9007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55448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55448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7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155448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155448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2468880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FD97F"/>
                </a:solidFill>
                <a:latin typeface="Menlo"/>
              </a:rPr>
              <a:t>v.push_back(9);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283464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25877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007" y="292516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283464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5877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7" y="292516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0" y="283464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25877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7" y="292516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283464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5877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36408" y="292516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03920" y="283464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25877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2208" y="292516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9720" y="2834640"/>
            <a:ext cx="64008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20" y="25877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08008" y="292516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338328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↑ baru!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297680"/>
            <a:ext cx="27432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297680"/>
            <a:ext cx="274320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446227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Akses v[i]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800600"/>
            <a:ext cx="256032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O(1)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83280" y="4297680"/>
            <a:ext cx="27432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83280" y="4297680"/>
            <a:ext cx="27432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0" y="446227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push_back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74720" y="4800600"/>
            <a:ext cx="256032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</a:rPr>
              <a:t>O(1)*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09360" y="4297680"/>
            <a:ext cx="27432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09360" y="4297680"/>
            <a:ext cx="2743200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446227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Insert tengah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800600"/>
            <a:ext cx="256032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FF6B8A"/>
                </a:solidFill>
              </a:rPr>
              <a:t>O(n)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35440" y="4297680"/>
            <a:ext cx="246888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35440" y="4297680"/>
            <a:ext cx="2468880" cy="5486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26880" y="4462272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Sort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4800600"/>
            <a:ext cx="228600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FFC857"/>
                </a:solidFill>
              </a:rPr>
              <a:t>O(n log n)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55321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6E7681"/>
                </a:solidFill>
              </a:rPr>
              <a:t>* amortized — kadang O(n) saat reallocation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Vector — Operasi Penting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4864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2120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DEKLARASI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kosong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[0,0,0,0,0]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</a:t>
            </a:r>
            <a:r>
              <a:rPr sz="1000">
                <a:solidFill>
                  <a:srgbClr val="6E7681"/>
                </a:solidFill>
                <a:latin typeface="Menlo"/>
              </a:rPr>
              <a:t>// [-1,-1,-1,-1,-1]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4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6E7681"/>
                </a:solidFill>
                <a:latin typeface="Menlo"/>
              </a:rPr>
              <a:t>// initializer list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MODIFIKASI ===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10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</a:t>
            </a:r>
            <a:r>
              <a:rPr sz="1000">
                <a:solidFill>
                  <a:srgbClr val="6E7681"/>
                </a:solidFill>
                <a:latin typeface="Menlo"/>
              </a:rPr>
              <a:t>// tambah belakang   O(1)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</a:t>
            </a:r>
            <a:r>
              <a:rPr sz="1000">
                <a:solidFill>
                  <a:srgbClr val="6E7681"/>
                </a:solidFill>
                <a:latin typeface="Menlo"/>
              </a:rPr>
              <a:t>// hapus belakang    O(1)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clear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</a:t>
            </a:r>
            <a:r>
              <a:rPr sz="1000">
                <a:solidFill>
                  <a:srgbClr val="6E7681"/>
                </a:solidFill>
                <a:latin typeface="Menlo"/>
              </a:rPr>
              <a:t>// hapus semua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AKSES ===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by index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</a:t>
            </a:r>
            <a:r>
              <a:rPr sz="1000">
                <a:solidFill>
                  <a:srgbClr val="6E7681"/>
                </a:solidFill>
                <a:latin typeface="Menlo"/>
              </a:rPr>
              <a:t>// elemen pertama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elemen terakhir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jumlah elemen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</a:t>
            </a:r>
            <a:r>
              <a:rPr sz="1000">
                <a:solidFill>
                  <a:srgbClr val="6E7681"/>
                </a:solidFill>
                <a:latin typeface="Menlo"/>
              </a:rPr>
              <a:t>// bool kosong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57784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55778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3620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280160"/>
            <a:ext cx="530352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ITERASI ===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Cara 1: index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C857"/>
                </a:solidFill>
                <a:latin typeface="Menlo"/>
              </a:rPr>
              <a:t>" "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Cara 2: range-based (RECOMMENDED)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C857"/>
                </a:solidFill>
                <a:latin typeface="Menlo"/>
              </a:rPr>
              <a:t>" "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Cara 3: reference (untuk modify)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*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SORT &amp; UNIQUE ===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sort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asc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sort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rbegin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rend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6E7681"/>
                </a:solidFill>
                <a:latin typeface="Menlo"/>
              </a:rPr>
              <a:t>// desc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erase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79C0FF"/>
                </a:solidFill>
                <a:latin typeface="Menlo"/>
              </a:rPr>
              <a:t>unique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6E7681"/>
                </a:solidFill>
                <a:latin typeface="Menlo"/>
              </a:rPr>
              <a:t>// remove dup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Vector Internals — Capacity &amp; 2D Grid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Mengapa push_back amortized O(1)? Capacity digandakan!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Trace: push_back &amp; Capacity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632704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Operasi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46304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46304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46304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Cap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92224"/>
            <a:ext cx="5632704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56231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vector&lt;int&gt; v;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856231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[]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56231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856231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76272"/>
            <a:ext cx="5632704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40279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v.push_back(10);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240279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[10]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240279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240279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60320"/>
            <a:ext cx="5632704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624327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v.push_back(20);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2624327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[10,20]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624327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624327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44368"/>
            <a:ext cx="5632704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008375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v.push_back(30);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3008375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[10,20,30]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008375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008375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FC857"/>
                </a:solidFill>
                <a:latin typeface="Menlo"/>
              </a:rPr>
              <a:t>4 ← grow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28415"/>
            <a:ext cx="5632704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392423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v.push_back(40);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3392423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[10,20,30,40]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3392423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3392423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712464"/>
            <a:ext cx="5632704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776472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v.push_back(50);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3776472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[10,20,30,40,50]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377647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3776472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FC857"/>
                </a:solidFill>
                <a:latin typeface="Menlo"/>
              </a:rPr>
              <a:t>8 ← grow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096512"/>
            <a:ext cx="5632704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16052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v.pop_back();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416052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[10,20,30,40]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4160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160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572000"/>
            <a:ext cx="576072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572000"/>
            <a:ext cx="91440" cy="5029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681728"/>
            <a:ext cx="5394959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Capacity selalu power of 2 → amortized O(1)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212080"/>
            <a:ext cx="576072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5212080"/>
            <a:ext cx="57607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" y="5248656"/>
            <a:ext cx="54864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Tips Performance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705856"/>
            <a:ext cx="53949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v.reserve(n) jika tahu ukuran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5998464"/>
            <a:ext cx="53949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Hindari realokasi berulang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291072"/>
            <a:ext cx="53949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emplace_back &gt; push_back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583680"/>
            <a:ext cx="53949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vector&lt;int&gt;().swap(v) = free memory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2D Vector — Grid / Matrix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1417320"/>
            <a:ext cx="5303520" cy="9144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0" y="1417320"/>
            <a:ext cx="53035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510528" y="146304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675120" y="146304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9712" y="146304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37960" y="16916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vector&lt;vector&lt;int&gt;&gt; grid(3, vector&lt;int&gt;(4, 0));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grid[1][2] = 5;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3 baris × 4 kolom, default 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58000" y="260604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0" y="2715768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23591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c=0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2761488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 i="0">
                <a:solidFill>
                  <a:srgbClr val="6E7681"/>
                </a:solidFill>
              </a:rPr>
              <a:t>r=0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71231" y="260604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71231" y="2715768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71231" y="23591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c=1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84464" y="260604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84464" y="2715768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84464" y="23591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c=2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97696" y="260604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97696" y="2715768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97696" y="23591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c=3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858000" y="3182112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0" y="329184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46520" y="3337560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 i="0">
                <a:solidFill>
                  <a:srgbClr val="6E7681"/>
                </a:solidFill>
              </a:rPr>
              <a:t>r=1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71231" y="3182112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71231" y="329184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84464" y="3182112"/>
            <a:ext cx="640080" cy="50292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84464" y="329184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997696" y="3182112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97696" y="329184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0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0" y="3758184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58000" y="3867912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46520" y="3913632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 i="0">
                <a:solidFill>
                  <a:srgbClr val="6E7681"/>
                </a:solidFill>
              </a:rPr>
              <a:t>r=2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571231" y="3758184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571231" y="3867912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0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284464" y="3758184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84464" y="3867912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0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997696" y="3758184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97696" y="3867912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0" y="438912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↑ grid[1][2] = 5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400800" y="4937760"/>
            <a:ext cx="5303520" cy="15544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400800" y="4937760"/>
            <a:ext cx="530352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565392" y="497433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Iterasi Grid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01968" y="543153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for (int i=0; i&lt;n; i++)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01968" y="572414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for (int j=0; j&lt;m; j++)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601968" y="601675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  process(grid[i][j]);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01968" y="630936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Inisial: vector&lt;vector&lt;T&gt;&gt;(n, vector&lt;T&gt;(m, val))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String — Sequence of Characters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Manipulasi teks yang sering muncul di CP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String — Operations Cheat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string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C857"/>
                </a:solidFill>
                <a:latin typeface="Menlo"/>
              </a:rPr>
              <a:t>"hello"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UKURAN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/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length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</a:t>
            </a:r>
            <a:r>
              <a:rPr sz="1000">
                <a:solidFill>
                  <a:srgbClr val="6E7681"/>
                </a:solidFill>
                <a:latin typeface="Menlo"/>
              </a:rPr>
              <a:t>// 5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AKSES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'h'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'o'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MODIFIKASI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C857"/>
                </a:solidFill>
                <a:latin typeface="Menlo"/>
              </a:rPr>
              <a:t>" world"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concat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C857"/>
                </a:solidFill>
                <a:latin typeface="Menlo"/>
              </a:rPr>
              <a:t>'!'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append char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SUBSTRING &amp; SEARCH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substr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"hello"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substr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6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"world!"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find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C857"/>
                </a:solidFill>
                <a:latin typeface="Menlo"/>
              </a:rPr>
              <a:t>"lo"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3 (atau npos)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REVERSE &amp; SORT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reverse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sort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KONVERSI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to_string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123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"123"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stoi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C857"/>
                </a:solidFill>
                <a:latin typeface="Menlo"/>
              </a:rPr>
              <a:t>"123"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123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stoll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C857"/>
                </a:solidFill>
                <a:latin typeface="Menlo"/>
              </a:rPr>
              <a:t>"999999999999"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</a:t>
            </a:r>
            <a:r>
              <a:rPr sz="1000">
                <a:solidFill>
                  <a:srgbClr val="6E7681"/>
                </a:solidFill>
                <a:latin typeface="Menlo"/>
              </a:rPr>
              <a:t>// long long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Pattern Umum di 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5303520" cy="14630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530352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49961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Cek Palindrome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95681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string rev = s;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24942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reverse(rev.begin(), rev.end());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54203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if (s == rev) // palindrome!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108960"/>
            <a:ext cx="5303520" cy="14630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108960"/>
            <a:ext cx="530352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14553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Frequency 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60273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int freq[26] = {};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89534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for (char c : s) freq[c-'a']++;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18795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// freq[0]=jumlah 'a', dst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754880"/>
            <a:ext cx="5303520" cy="14630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754880"/>
            <a:ext cx="5303520" cy="3840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479145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Konversi &amp; Parsing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524865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int n = stoi(s);    // string→int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554126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string s = to_string(n); // int→string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583387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Hati-hati: stoi throw exception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Pair — Dua Nilai Terkait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.first dan .second — sederhana tapi powerful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Pair — Pasangan Nilai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DEKLARASI &amp; AKSES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string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C857"/>
                </a:solidFill>
                <a:latin typeface="Menlo"/>
              </a:rPr>
              <a:t>"Alice"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95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first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C857"/>
                </a:solidFill>
                <a:latin typeface="Menlo"/>
              </a:rPr>
              <a:t>" "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second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6E7681"/>
                </a:solidFill>
                <a:latin typeface="Menlo"/>
              </a:rPr>
              <a:t>// 3 5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STRUCTURED BINDING (C++17)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name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score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name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C857"/>
                </a:solidFill>
                <a:latin typeface="Menlo"/>
              </a:rPr>
              <a:t>" got "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score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VECTOR OF PAIRS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vp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sort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vp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vp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Result: {1,5}, {3,1}, {3,2}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        ↑ by first, lalu by second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SORT BY SECOND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sort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vp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vp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second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second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💡 Pattern: Sort + Index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463040"/>
            <a:ext cx="5120640" cy="22860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463040"/>
            <a:ext cx="51206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93408" y="15087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0" y="15087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22592" y="15087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37360"/>
            <a:ext cx="4846320" cy="1920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Simpan (value, original_index)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arr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sort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Sekarang: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v[0].first  = nilai terkecil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v[0].second = index aslinya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31920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Pair vs Struct?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297680"/>
            <a:ext cx="5120640" cy="17373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4297680"/>
            <a:ext cx="5120640" cy="3840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4334256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Kapan pakai mana?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4791456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Pair: 2 elemen, tidak perlu nama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5084064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Tuple: 3+ elemen sementara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5376672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Struct: butuh field names jelas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Tuple — Tiga atau Lebih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Multi-criteria sort dengan trick negate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Tuple — Multi-Value Container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DEKLARASI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tuple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tuple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string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double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C857"/>
                </a:solidFill>
                <a:latin typeface="Menlo"/>
              </a:rPr>
              <a:t>"Bob"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20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3.5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AKSES dengan get&lt;index&gt;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get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</a:t>
            </a:r>
            <a:r>
              <a:rPr sz="1000">
                <a:solidFill>
                  <a:srgbClr val="6E7681"/>
                </a:solidFill>
                <a:latin typeface="Menlo"/>
              </a:rPr>
              <a:t>// 1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get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</a:t>
            </a:r>
            <a:r>
              <a:rPr sz="1000">
                <a:solidFill>
                  <a:srgbClr val="6E7681"/>
                </a:solidFill>
                <a:latin typeface="Menlo"/>
              </a:rPr>
              <a:t>// 2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STRUCTURED BINDING (C++17) — RECOMMENDED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name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age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gpa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TIE — unpack ke variable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tie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SORTING — lexicographic by default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tuple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FFA657"/>
                </a:solidFill>
                <a:latin typeface="Menlo"/>
              </a:rPr>
              <a:t>4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FFA657"/>
                </a:solidFill>
                <a:latin typeface="Menlo"/>
              </a:rPr>
              <a:t>9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sort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Result: {1,5,9}, {3,1,2}, {3,1,4}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🎯 Multi-Criteria Sort dengan Negate Trick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463040"/>
            <a:ext cx="512064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463040"/>
            <a:ext cx="91440" cy="5486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572768"/>
            <a:ext cx="4754879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Sort siswa: IPK desc, angkatan asc, nama asc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194560"/>
            <a:ext cx="5120640" cy="219456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2194560"/>
            <a:ext cx="51206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3408" y="2240279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0" y="2240279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2592" y="2240279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468879"/>
            <a:ext cx="4846320" cy="182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>
                <a:solidFill>
                  <a:srgbClr val="6E7681"/>
                </a:solidFill>
                <a:latin typeface="Menlo"/>
              </a:rPr>
              <a:t>// Trick: negate field yg mau desc</a:t>
            </a:r>
          </a:p>
          <a:p>
            <a:pPr algn="l"/>
            <a:r>
              <a:rPr sz="950">
                <a:solidFill>
                  <a:srgbClr val="39D0D8"/>
                </a:solidFill>
                <a:latin typeface="Menlo"/>
              </a:rPr>
              <a:t>vector</a:t>
            </a:r>
            <a:r>
              <a:rPr sz="950">
                <a:solidFill>
                  <a:srgbClr val="C9D1D9"/>
                </a:solidFill>
                <a:latin typeface="Menlo"/>
              </a:rPr>
              <a:t>&lt;</a:t>
            </a:r>
            <a:r>
              <a:rPr sz="950">
                <a:solidFill>
                  <a:srgbClr val="39D0D8"/>
                </a:solidFill>
                <a:latin typeface="Menlo"/>
              </a:rPr>
              <a:t>tuple</a:t>
            </a:r>
            <a:r>
              <a:rPr sz="950">
                <a:solidFill>
                  <a:srgbClr val="C9D1D9"/>
                </a:solidFill>
                <a:latin typeface="Menlo"/>
              </a:rPr>
              <a:t>&lt;</a:t>
            </a:r>
            <a:r>
              <a:rPr sz="950">
                <a:solidFill>
                  <a:srgbClr val="C9A0FF"/>
                </a:solidFill>
                <a:latin typeface="Menlo"/>
              </a:rPr>
              <a:t>int</a:t>
            </a:r>
            <a:r>
              <a:rPr sz="950">
                <a:solidFill>
                  <a:srgbClr val="C9D1D9"/>
                </a:solidFill>
                <a:latin typeface="Menlo"/>
              </a:rPr>
              <a:t>,</a:t>
            </a:r>
            <a:r>
              <a:rPr sz="950">
                <a:solidFill>
                  <a:srgbClr val="C9A0FF"/>
                </a:solidFill>
                <a:latin typeface="Menlo"/>
              </a:rPr>
              <a:t>int</a:t>
            </a:r>
            <a:r>
              <a:rPr sz="950">
                <a:solidFill>
                  <a:srgbClr val="C9D1D9"/>
                </a:solidFill>
                <a:latin typeface="Menlo"/>
              </a:rPr>
              <a:t>,</a:t>
            </a:r>
            <a:r>
              <a:rPr sz="950">
                <a:solidFill>
                  <a:srgbClr val="39D0D8"/>
                </a:solidFill>
                <a:latin typeface="Menlo"/>
              </a:rPr>
              <a:t>string</a:t>
            </a:r>
            <a:r>
              <a:rPr sz="950">
                <a:solidFill>
                  <a:srgbClr val="C9D1D9"/>
                </a:solidFill>
                <a:latin typeface="Menlo"/>
              </a:rPr>
              <a:t>&gt;</a:t>
            </a:r>
            <a:r>
              <a:rPr sz="950">
                <a:solidFill>
                  <a:srgbClr val="C9D1D9"/>
                </a:solidFill>
                <a:latin typeface="Menlo"/>
              </a:rPr>
              <a:t>&gt;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students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solidFill>
                  <a:srgbClr val="6E7681"/>
                </a:solidFill>
                <a:latin typeface="Menlo"/>
              </a:rPr>
              <a:t>// (-ipk_x100, angkatan, nama)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students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emplace_back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-</a:t>
            </a:r>
            <a:r>
              <a:rPr sz="950">
                <a:solidFill>
                  <a:srgbClr val="FFA657"/>
                </a:solidFill>
                <a:latin typeface="Menlo"/>
              </a:rPr>
              <a:t>380</a:t>
            </a:r>
            <a:r>
              <a:rPr sz="950">
                <a:solidFill>
                  <a:srgbClr val="C9D1D9"/>
                </a:solidFill>
                <a:latin typeface="Menlo"/>
              </a:rPr>
              <a:t>,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FFA657"/>
                </a:solidFill>
                <a:latin typeface="Menlo"/>
              </a:rPr>
              <a:t>2021</a:t>
            </a:r>
            <a:r>
              <a:rPr sz="950">
                <a:solidFill>
                  <a:srgbClr val="C9D1D9"/>
                </a:solidFill>
                <a:latin typeface="Menlo"/>
              </a:rPr>
              <a:t>,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FFC857"/>
                </a:solidFill>
                <a:latin typeface="Menlo"/>
              </a:rPr>
              <a:t>"Alice"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students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emplace_back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-</a:t>
            </a:r>
            <a:r>
              <a:rPr sz="950">
                <a:solidFill>
                  <a:srgbClr val="FFA657"/>
                </a:solidFill>
                <a:latin typeface="Menlo"/>
              </a:rPr>
              <a:t>390</a:t>
            </a:r>
            <a:r>
              <a:rPr sz="950">
                <a:solidFill>
                  <a:srgbClr val="C9D1D9"/>
                </a:solidFill>
                <a:latin typeface="Menlo"/>
              </a:rPr>
              <a:t>,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FFA657"/>
                </a:solidFill>
                <a:latin typeface="Menlo"/>
              </a:rPr>
              <a:t>2020</a:t>
            </a:r>
            <a:r>
              <a:rPr sz="950">
                <a:solidFill>
                  <a:srgbClr val="C9D1D9"/>
                </a:solidFill>
                <a:latin typeface="Menlo"/>
              </a:rPr>
              <a:t>,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FFC857"/>
                </a:solidFill>
                <a:latin typeface="Menlo"/>
              </a:rPr>
              <a:t>"Bob"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79C0FF"/>
                </a:solidFill>
                <a:latin typeface="Menlo"/>
              </a:rPr>
              <a:t>sort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students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begin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,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students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end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solidFill>
                  <a:srgbClr val="6E7681"/>
                </a:solidFill>
                <a:latin typeface="Menlo"/>
              </a:rPr>
              <a:t>// Sort default ascending → karena -ipk</a:t>
            </a:r>
          </a:p>
          <a:p>
            <a:pPr algn="l"/>
            <a:r>
              <a:rPr sz="950">
                <a:solidFill>
                  <a:srgbClr val="6E7681"/>
                </a:solidFill>
                <a:latin typeface="Menlo"/>
              </a:rPr>
              <a:t>// Result: ipk DESC, angkatan ASC, nama ASC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617720"/>
            <a:ext cx="5120640" cy="15544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4617720"/>
            <a:ext cx="512064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4654296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Tuple vs Struct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5111496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Tuple OK untuk sementara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5404104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Struct + operator&lt; lebih readable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5696712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Pilih struct untuk kode yg di-reuse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Trace Visualization — Sort Pairs &amp; Remove Duplicates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Lexicographic sort + unique-erase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Sort vector&lt;pair&lt;int,int&gt;&gt;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C857"/>
                </a:solidFill>
                <a:latin typeface="Menlo"/>
              </a:rPr>
              <a:t>Input: {(3,1), (1,5), (3,2), (1,3)}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Before: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23444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234440" cy="45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2344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(3, 1)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103120"/>
            <a:ext cx="123444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0" y="2103120"/>
            <a:ext cx="1234440" cy="45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240280"/>
            <a:ext cx="12344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(1, 5)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103120"/>
            <a:ext cx="123444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2103120"/>
            <a:ext cx="1234440" cy="45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240280"/>
            <a:ext cx="12344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(3, 2)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103120"/>
            <a:ext cx="123444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103120"/>
            <a:ext cx="1234440" cy="45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240280"/>
            <a:ext cx="12344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(1, 3)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83464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↓ sort()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46120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After (sort by first, then by second):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566160"/>
            <a:ext cx="1234440" cy="6400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03320"/>
            <a:ext cx="12344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(1, 3)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3566160"/>
            <a:ext cx="1234440" cy="6400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3703320"/>
            <a:ext cx="12344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(1, 5)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3566160"/>
            <a:ext cx="1234440" cy="6400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3703320"/>
            <a:ext cx="12344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(3, 1)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3566160"/>
            <a:ext cx="1234440" cy="6400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703320"/>
            <a:ext cx="12344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(3, 2)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976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← first=1 grup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2976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← first=3 grup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54880"/>
            <a:ext cx="5760720" cy="14630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754880"/>
            <a:ext cx="57607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4791456"/>
            <a:ext cx="54864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Default Lexicographic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248656"/>
            <a:ext cx="53949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Sort primary by .first ascending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541264"/>
            <a:ext cx="53949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Tiebreak by .second ascending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833872"/>
            <a:ext cx="53949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Tuple sama: by elemen 0, lalu 1, 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C9A0FF"/>
                </a:solidFill>
              </a:rPr>
              <a:t>Sort + Unique + Erase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137160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C857"/>
                </a:solidFill>
                <a:latin typeface="Menlo"/>
              </a:rPr>
              <a:t>v = [3, 1, 4, 1, 5, 3, 2, 1]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78308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Step 1: sort()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210312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1856231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21854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0" y="210312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0" y="1856231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7" y="21854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98079" y="210312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79" y="1856231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16367" y="21854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210312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0" y="1856231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65008" y="21854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95360" y="210312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95360" y="1856231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3648" y="21854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44000" y="210312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0" y="1856231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62288" y="21854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92640" y="210312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92640" y="1856231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10928" y="21854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241280" y="210312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41280" y="1856231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59568" y="21854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269748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Step 2: unique() — geser unik ke depan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0" y="301752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0" y="277063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19088" y="30998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949440" y="301752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49440" y="277063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67727" y="30998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498079" y="301752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98079" y="277063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16367" y="30998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046720" y="301752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46720" y="277063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65008" y="30998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595360" y="301752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95360" y="277063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13648" y="30998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144000" y="3017520"/>
            <a:ext cx="502920" cy="457200"/>
          </a:xfrm>
          <a:prstGeom prst="roundRect">
            <a:avLst/>
          </a:prstGeom>
          <a:solidFill>
            <a:srgbClr val="4D555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0" y="277063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62288" y="30998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?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692640" y="3017520"/>
            <a:ext cx="502920" cy="457200"/>
          </a:xfrm>
          <a:prstGeom prst="roundRect">
            <a:avLst/>
          </a:prstGeom>
          <a:solidFill>
            <a:srgbClr val="4D555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92640" y="277063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10928" y="30998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?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241280" y="3017520"/>
            <a:ext cx="502920" cy="457200"/>
          </a:xfrm>
          <a:prstGeom prst="roundRect">
            <a:avLst/>
          </a:prstGeom>
          <a:solidFill>
            <a:srgbClr val="4D555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41280" y="277063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259568" y="3099815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?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0" y="361188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FFC857"/>
                </a:solidFill>
              </a:rPr>
              <a:t>↑ iterator unique() return di sini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800" y="393192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Step 3: erase(unique_end, end()) — buang garbage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400800" y="425196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00800" y="400507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19088" y="433425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949440" y="425196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949440" y="400507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67727" y="433425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498079" y="425196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498079" y="400507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16367" y="433425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046720" y="425196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046720" y="400507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65008" y="433425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595360" y="425196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95360" y="400507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13648" y="433425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400800" y="4937760"/>
            <a:ext cx="530352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400800" y="4937760"/>
            <a:ext cx="91440" cy="5029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629400" y="5047488"/>
            <a:ext cx="4937759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5 elemen unik. Total: O(n log n).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400800" y="5532120"/>
            <a:ext cx="5303520" cy="10515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00800" y="5532120"/>
            <a:ext cx="53035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565392" y="556869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⚠ Hati-hati!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01968" y="602589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unique() HARUS setelah sort()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01968" y="631850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unique() saja tidak cukup — hapus garbage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01968" y="661111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Wajib pasangan: sort + unique + erase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Pattern Recognition — Container Mana?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706624" cy="42748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56032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Situasi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097280"/>
            <a:ext cx="2889504" cy="42748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143000"/>
            <a:ext cx="274320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Container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3072384" cy="42748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143000"/>
            <a:ext cx="2926079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Operasi Kunci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097280"/>
            <a:ext cx="2432304" cy="427482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143000"/>
            <a:ext cx="228600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Contoh Soal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70482"/>
            <a:ext cx="1121054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4363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Butuh array dinamis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643634"/>
            <a:ext cx="27432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43634"/>
            <a:ext cx="292607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O(1) access, O(1) 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643634"/>
            <a:ext cx="22860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Hampir semua soal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73402"/>
            <a:ext cx="11210544" cy="46634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14655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Manipulasi teks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146554"/>
            <a:ext cx="27432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146554"/>
            <a:ext cx="292607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find/substr built-in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146554"/>
            <a:ext cx="22860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String problems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76322"/>
            <a:ext cx="1121054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64947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2 nilai terkait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649474"/>
            <a:ext cx="27432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pair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649474"/>
            <a:ext cx="292607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.first/.second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649474"/>
            <a:ext cx="22860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(value, index) tracking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079242"/>
            <a:ext cx="11210544" cy="46634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15239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3+ nilai terkait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152394"/>
            <a:ext cx="27432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tuple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152394"/>
            <a:ext cx="292607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get&lt;i&gt; / structured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152394"/>
            <a:ext cx="22860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Multi-criteria sort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582162"/>
            <a:ext cx="1121054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65531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Sort + remove dup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655314"/>
            <a:ext cx="27432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vector + sort + unique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655314"/>
            <a:ext cx="292607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 log 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655314"/>
            <a:ext cx="22860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Distinct count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085082"/>
            <a:ext cx="11210544" cy="46634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15823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Sort by 2 kriteria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158234"/>
            <a:ext cx="27432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vector&lt;pair&gt;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158234"/>
            <a:ext cx="292607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default lexicographic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158234"/>
            <a:ext cx="22860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Score + name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588002"/>
            <a:ext cx="1121054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66115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Sort 3+ kriteria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4661154"/>
            <a:ext cx="27432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vector&lt;tuple&gt;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661154"/>
            <a:ext cx="292607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negate untuk desc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661154"/>
            <a:ext cx="22860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Tournament rank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Hati-hati!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v.size() unsigned underflow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v.size() return size_t (unsigned).
v.size() - 1 saat empty = HUGE number!
Fix: cast (int)v.size() - 1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Akses out of bounds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v[5] saat size=3 → undefined behavior.
Selalu cek: if (i &lt; v.size())
Atau pakai v.at(i) yang throw exception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push_back saat iterating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Iterator invalidation jika resize!
Pakai index-based loop, atau
kumpulkan dulu, baru push setelah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String compare dengan strcmp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Di C++, gunakan operator==
string s1, s2; if (s1 == s2) ...
strcmp untuk char[] gaya 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Pair sort tidak custom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Default sort by .first lalu .second.
Untuk sort by .second saja, butuh
custom comparator (lambda).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6. Tuple get&lt;&gt; butuh constexpr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get&lt;i&gt;(t) dimana i HARUS literal.
get&lt;n&gt;(t) di runtime → compile error!
Pakai std::tie atau structured binding.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4114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VECTOR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: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cin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erase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79C0FF"/>
                </a:solidFill>
                <a:latin typeface="Menlo"/>
              </a:rPr>
              <a:t>unique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all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STRING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string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cin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substr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pos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len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find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FFC857"/>
                </a:solidFill>
                <a:latin typeface="Menlo"/>
              </a:rPr>
              <a:t>"pattern"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</a:t>
            </a:r>
            <a:r>
              <a:rPr sz="1100">
                <a:solidFill>
                  <a:srgbClr val="6E7681"/>
                </a:solidFill>
                <a:latin typeface="Menlo"/>
              </a:rPr>
              <a:t>// npos jika gagal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reverse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to_string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stoi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4114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PAIR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pair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p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auto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y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p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     </a:t>
            </a:r>
            <a:r>
              <a:rPr sz="1100">
                <a:solidFill>
                  <a:srgbClr val="6E7681"/>
                </a:solidFill>
                <a:latin typeface="Menlo"/>
              </a:rPr>
              <a:t>// C++17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vp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vp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6E7681"/>
                </a:solidFill>
                <a:latin typeface="Menlo"/>
              </a:rPr>
              <a:t>// by first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TUPLE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tuple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get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get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auto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  </a:t>
            </a:r>
            <a:r>
              <a:rPr sz="1100">
                <a:solidFill>
                  <a:srgbClr val="6E7681"/>
                </a:solidFill>
                <a:latin typeface="Menlo"/>
              </a:rPr>
              <a:t>// C++17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negate trick untuk desc: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emplace_back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key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49240"/>
            <a:ext cx="11247120" cy="128016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349240"/>
            <a:ext cx="1124712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FD97F"/>
                </a:solidFill>
              </a:rPr>
              <a:t>🌟 Aturan Emas Hari 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reserve(n) jika tahu ukuran (avoid realloc)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76072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emplace_back &gt; push_back untuk objects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80759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cast (int)v.size() saat aritmatika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6080759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structured binding [a,b,c] sangat readable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Foundation containers untuk semua CP problems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Array dinamis. push_back O(1), sort O(n log n). Default container CP.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Manipulasi teks. substr, find, reverse, to_string/stoi.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Pair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.first/.second. Sort lexicographic default. Trick (value, index).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Tuple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3+ nilai. get&lt;i&gt;, structured binding. Negate trick untuk desc sort.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v.size() unsigned, akses out-of-bounds, iterator invalidation.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3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