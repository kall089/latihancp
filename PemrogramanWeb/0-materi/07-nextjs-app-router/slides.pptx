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5720" cy="685800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017520" y="-914400"/>
            <a:ext cx="2743200" cy="27432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286000" y="5029200"/>
            <a:ext cx="3657600" cy="36576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0"/>
            <a:ext cx="36576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457200"/>
            <a:ext cx="1645920" cy="411480"/>
          </a:xfrm>
          <a:prstGeom prst="round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02920"/>
            <a:ext cx="16459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MODUL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280160"/>
            <a:ext cx="4389120" cy="2377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0" b="1" i="0">
                <a:solidFill>
                  <a:srgbClr val="C9A0FF"/>
                </a:solidFill>
              </a:rPr>
              <a:t>07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657600"/>
            <a:ext cx="3657600" cy="73152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657600"/>
            <a:ext cx="1371600" cy="73152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840480"/>
            <a:ext cx="4114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8B949E"/>
                </a:solidFill>
              </a:rPr>
              <a:t>PEMROGRAMAN WEB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114800"/>
            <a:ext cx="4114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6E7681"/>
                </a:solidFill>
              </a:rPr>
              <a:t>Teori + Praktikum · 8 Modul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103120"/>
            <a:ext cx="6400800" cy="1280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200" b="1" i="0">
                <a:solidFill>
                  <a:srgbClr val="F0F6FC"/>
                </a:solidFill>
              </a:rPr>
              <a:t>Next.js App Router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3246120"/>
            <a:ext cx="457200" cy="73152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3246120"/>
            <a:ext cx="3657600" cy="73152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0" y="3429000"/>
            <a:ext cx="6400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39D0D8"/>
                </a:solidFill>
              </a:rPr>
              <a:t>File-based routing · layout · dynamic route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3813048"/>
            <a:ext cx="6400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C9A0FF"/>
                </a:solidFill>
              </a:rPr>
              <a:t>Server vs Client Component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0" y="6126480"/>
            <a:ext cx="365760" cy="4572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0" y="6217920"/>
            <a:ext cx="6400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 i="1">
                <a:solidFill>
                  <a:srgbClr val="6E7681"/>
                </a:solidFill>
              </a:rPr>
              <a:t>Modern Cobalt Theme · python-pptx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23560" y="5074920"/>
            <a:ext cx="1463040" cy="438912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5157216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routing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96328" y="5074920"/>
            <a:ext cx="1463040" cy="438912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96328" y="5157216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layout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69096" y="5074920"/>
            <a:ext cx="1463040" cy="438912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69096" y="5157216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server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341864" y="5074920"/>
            <a:ext cx="1463040" cy="438912"/>
          </a:xfrm>
          <a:prstGeom prst="round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41864" y="5157216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client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Agenda — Modul 07: Next.js App Router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Topik utama yang akan kita bahas hari ini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2788920" cy="914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914400" cy="54864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Kenapa
Next.js?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971800"/>
            <a:ext cx="242316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React + rangka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SSR vs CSR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SEO &amp; performa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Struktur proyek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64991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64991" y="1234440"/>
            <a:ext cx="2788920" cy="9144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47872" y="1463040"/>
            <a:ext cx="914400" cy="548640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47872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7872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File-based
Routing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7872" y="2971800"/>
            <a:ext cx="2423160" cy="36576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47872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app/page.tsx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47872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layout.tsx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47872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Nested route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47872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&lt;Link&gt;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72783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72783" y="1234440"/>
            <a:ext cx="2788920" cy="9144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55664" y="1463040"/>
            <a:ext cx="914400" cy="548640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55664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5664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Dynamic
Route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55664" y="2971800"/>
            <a:ext cx="2423160" cy="36576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55664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[slug]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55664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params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55664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notFound()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55664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generateStaticParams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80576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80576" y="1234440"/>
            <a:ext cx="2788920" cy="9144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363455" y="1463040"/>
            <a:ext cx="914400" cy="548640"/>
          </a:xfrm>
          <a:prstGeom prst="round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63455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63455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Server vs
Client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363455" y="2971800"/>
            <a:ext cx="2423160" cy="36576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63455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Default server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63455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"use client"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63455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Kapan client?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63455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Komposisi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58A6FF"/>
                </a:solidFill>
              </a:rPr>
              <a:t>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Mengapa Next.js?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React murni hanya library UI — Next.js melengkapinya jadi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React Murni vs Next.js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Next.js menambahkan routing, rendering server, dan optimasi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5486400" cy="182880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5486400" cy="38404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71016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React saja (CSR murni)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28216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HTML awal nyaris kosong + bundle JS besar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020824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Routing? Pasang library sendiri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313432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SEO lemah: crawler dapat halaman kosong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606039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Loading awal lambat di koneksi pelan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234440"/>
            <a:ext cx="5532120" cy="182880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234440"/>
            <a:ext cx="5532120" cy="384048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6792" y="1271016"/>
            <a:ext cx="525780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Dengan Next.js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1728216"/>
            <a:ext cx="51663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Routing dari struktur folder (app/)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2020824"/>
            <a:ext cx="51663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Server render → HTML utuh terkirim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2313432"/>
            <a:ext cx="51663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Optimasi gambar/font bawaan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2606039"/>
            <a:ext cx="51663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Code splitting otomatis per halaman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291840"/>
            <a:ext cx="11247120" cy="182880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291840"/>
            <a:ext cx="11247120" cy="38404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3328416"/>
            <a:ext cx="1097280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Struktur minimum proyek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785616"/>
            <a:ext cx="108813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app/layout.tsx  → kerangka semua halaman (wajib)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4078224"/>
            <a:ext cx="108813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app/page.tsx    → halaman / (root)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370832"/>
            <a:ext cx="108813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app/globals.css → CSS global + Tailwind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4663440"/>
            <a:ext cx="108813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package.json    → dependensi &amp; script (dev/build)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3FD97F"/>
                </a:solidFill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File-based Routing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Struktur folder app/ = peta URL situsmu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Folder → URL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page.tsx = halaman yang bisa diakses; layout.tsx = bungkus yang bertahan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11247120" cy="461772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1124712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6927" y="12801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19" y="12801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12801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08760"/>
            <a:ext cx="10972800" cy="4251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app/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├── layout.tsx              (kerangka semua halaman)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├── page.tsx                →  /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├── tentang/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│   └── page.tsx            →  /tentang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├── materi/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│   ├── page.tsx            →  /materi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│   └── [slug]/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│       └── page.tsx        →  /materi/html-dasar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│                              /materi/css-dasar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└── components/             (bukan route — tak ada page.tsx)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    └── Navbar.tsx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971032"/>
            <a:ext cx="11247120" cy="5486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5971032"/>
            <a:ext cx="91440" cy="54864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6080760"/>
            <a:ext cx="1088136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Hanya folder dengan page.tsx yang menjadi URL. [kurung] = segmen dinamis.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layout.tsx dan page.tsx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Layout membungkus page lewat props children; tidak di-render ulang saat pindah halaman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5943600" cy="3968953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59436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6927" y="12801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19" y="12801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12801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08760"/>
            <a:ext cx="5669280" cy="36031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// app/layout.tsx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export default function RootLayout({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children,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}: { children: React.ReactNode }) {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return (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&lt;html lang="id"&gt;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  &lt;body&gt;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    &lt;nav&gt;{/* Navbar semua hal. */}&lt;/nav&gt;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    &lt;main&gt;{children}&lt;/main&gt;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    &lt;footer&gt;© 2026&lt;/footer&gt;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  &lt;/body&gt;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&lt;/html&gt;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);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// app/tentang/page.tsx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export default function TentangPage() {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return &lt;h1&gt;Tentang Kami&lt;/h1&gt;;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234440"/>
            <a:ext cx="5486400" cy="2121408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75120" y="1234440"/>
            <a:ext cx="5486400" cy="384048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39712" y="1271016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Navigasi dengan &lt;Link&gt;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76288" y="1728216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import Link from "next/link";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6288" y="2020824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&lt;Link href="/tentang"&gt;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6288" y="2313432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Tentang&lt;/Link&gt;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2606039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Tanpa reload halaman penuh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76288" y="2898647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Prefetch otomatis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5120" y="3557016"/>
            <a:ext cx="5486400" cy="182880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75120" y="3557016"/>
            <a:ext cx="5486400" cy="38404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39712" y="359359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Metadata (SEO)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6288" y="4050792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export const metadata = {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6288" y="4343400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title: "Tentang | Situsku",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76288" y="4636008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description: "...",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76288" y="4928616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};  // di page/layout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FFC857"/>
                </a:solidFill>
              </a:rPr>
              <a:t>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Dynamic Route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[slug] menangkap nilai dari URL — satu file untuk banyak halaman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Dynamic Route: app/materi/[slug]/page.tsx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URL /materi/css-dasar → params.slug = "css-dasar"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5943600" cy="4151376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59436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6927" y="12801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19" y="12801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12801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08760"/>
            <a:ext cx="5669280" cy="37856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import { notFound } from "next/navigation";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import { daftarMateri } from "@/lib/data";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export function generateStaticParams() {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return daftarMateri.map((m) =&gt; ({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slug: m.slug,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}));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export default async function DetailPage({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params,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}: { params: Promise&lt;{ slug: string }&gt; }) {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const { slug } = await params;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const materi = daftarMateri.find(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(m) =&gt; m.slug === slug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);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if (!materi) notFound();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return &lt;h1&gt;{materi.judul}&lt;/h1&gt;;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234440"/>
            <a:ext cx="5486400" cy="182880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75120" y="1234440"/>
            <a:ext cx="5486400" cy="384048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39712" y="1271016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Alur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76288" y="1728216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1. User buka /materi/x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6288" y="2020824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2. Next cocokkan folder [slug]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6288" y="2313432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3. params berisi { slug: "x" 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2606039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4. Cari data, render, atau 404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0" y="3264408"/>
            <a:ext cx="5486400" cy="1536192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675120" y="3264408"/>
            <a:ext cx="5486400" cy="384048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39712" y="3300984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generateStaticParams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76288" y="3758184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Daftar slug diketahui saat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6288" y="4050792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build → halaman jadi statis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6288" y="4343400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Cepat + murah di-hosting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C9A0FF"/>
                </a:solidFill>
              </a:rPr>
              <a:t>04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Server vs Client Component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Default = server. "use client" hanya saat butuh interaksi.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Request Flow — App Router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Server component dirender di server; client component di-hydrate di browser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11247120" cy="461772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1124712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6927" y="12801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19" y="12801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12801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08760"/>
            <a:ext cx="10972800" cy="4251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 Browser                     Server (Next.js)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    │  GET /materi/css  ──────────▶│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    │                              │ 1. cocokkan route app/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    │                              │ 2. render layout + page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    │                              │    (server component,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    │                              │     boleh await data)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    │ ◀───── HTML utuh + CSS ──────│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    │  (langsung terlihat!)        │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    │ ◀── JS client component ─────│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    │  3. hydration: tombol dkk    │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    │     jadi interaktif          │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    ▼                              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971032"/>
            <a:ext cx="11247120" cy="5486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5971032"/>
            <a:ext cx="91440" cy="54864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6080760"/>
            <a:ext cx="1088136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Konten tampil dulu (HTML server), interaktivitas menyusul (hydration).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Server vs Client Component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Pertanyaan kunci: butuh useState/onClick? Kalau tidak → biarkan server.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5532120" cy="2121408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5532120" cy="384048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71016"/>
            <a:ext cx="525780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SERVER (default)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28216"/>
            <a:ext cx="51663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Render di server, JS tak dikirim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020824"/>
            <a:ext cx="51663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Boleh async/await data &amp; rahasia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313432"/>
            <a:ext cx="51663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Akses DB/file langsung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606039"/>
            <a:ext cx="51663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TIDAK bisa useState/onClick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898647"/>
            <a:ext cx="51663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Cocok: halaman, daftar, detail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234440"/>
            <a:ext cx="5532120" cy="2121408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234440"/>
            <a:ext cx="5532120" cy="384048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1271016"/>
            <a:ext cx="525780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CLIENT ("use client")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1728216"/>
            <a:ext cx="51663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Baris pertama file: "use client"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2020824"/>
            <a:ext cx="51663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Bisa useState, useEffect, event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2313432"/>
            <a:ext cx="51663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Dikirim sebagai JS ke browser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2606039"/>
            <a:ext cx="51663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Tak bisa akses rahasia server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2898647"/>
            <a:ext cx="51663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Cocok: form, tombol, filter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584448"/>
            <a:ext cx="11247120" cy="59436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584448"/>
            <a:ext cx="91440" cy="59436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694176"/>
            <a:ext cx="10881360" cy="3749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Pola terbaik: halaman tetap server; bagian interaktif dipecah jadi client component kecil.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Komposisi: Server Membungkus Client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Data diambil di server, interaksi ditangani client component kecil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5943600" cy="4477816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59436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6927" y="12801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19" y="12801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12801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08760"/>
            <a:ext cx="5669280" cy="41120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C9D1D9"/>
                </a:solidFill>
                <a:latin typeface="Menlo"/>
              </a:rPr>
              <a:t>// app/produk/page.tsx (SERVER)</a:t>
            </a:r>
          </a:p>
          <a:p>
            <a:pPr algn="l"/>
            <a:r>
              <a:rPr sz="900">
                <a:solidFill>
                  <a:srgbClr val="C9D1D9"/>
                </a:solidFill>
                <a:latin typeface="Menlo"/>
              </a:rPr>
              <a:t>import { getProduk } from "@/lib/data";</a:t>
            </a:r>
          </a:p>
          <a:p>
            <a:pPr algn="l"/>
            <a:r>
              <a:rPr sz="900">
                <a:solidFill>
                  <a:srgbClr val="C9D1D9"/>
                </a:solidFill>
                <a:latin typeface="Menlo"/>
              </a:rPr>
              <a:t>import TombolSuka from</a:t>
            </a:r>
          </a:p>
          <a:p>
            <a:pPr algn="l"/>
            <a:r>
              <a:rPr sz="900">
                <a:solidFill>
                  <a:srgbClr val="C9D1D9"/>
                </a:solidFill>
                <a:latin typeface="Menlo"/>
              </a:rPr>
              <a:t>  "@/components/TombolSuka";</a:t>
            </a:r>
          </a:p>
          <a:p>
            <a:pPr algn="l"/>
            <a:r>
              <a:rPr sz="900">
                <a:solidFill>
                  <a:srgbClr val="C9D1D9"/>
                </a:solidFill>
                <a:latin typeface="Menlo"/>
              </a:rPr>
              <a:t> </a:t>
            </a:r>
          </a:p>
          <a:p>
            <a:pPr algn="l"/>
            <a:r>
              <a:rPr sz="900">
                <a:solidFill>
                  <a:srgbClr val="C9D1D9"/>
                </a:solidFill>
                <a:latin typeface="Menlo"/>
              </a:rPr>
              <a:t>export default async function Page() {</a:t>
            </a:r>
          </a:p>
          <a:p>
            <a:pPr algn="l"/>
            <a:r>
              <a:rPr sz="900">
                <a:solidFill>
                  <a:srgbClr val="C9D1D9"/>
                </a:solidFill>
                <a:latin typeface="Menlo"/>
              </a:rPr>
              <a:t>  const produk = await getProduk();</a:t>
            </a:r>
          </a:p>
          <a:p>
            <a:pPr algn="l"/>
            <a:r>
              <a:rPr sz="900">
                <a:solidFill>
                  <a:srgbClr val="C9D1D9"/>
                </a:solidFill>
                <a:latin typeface="Menlo"/>
              </a:rPr>
              <a:t>  return (</a:t>
            </a:r>
          </a:p>
          <a:p>
            <a:pPr algn="l"/>
            <a:r>
              <a:rPr sz="900">
                <a:solidFill>
                  <a:srgbClr val="C9D1D9"/>
                </a:solidFill>
                <a:latin typeface="Menlo"/>
              </a:rPr>
              <a:t>    &lt;ul&gt;</a:t>
            </a:r>
          </a:p>
          <a:p>
            <a:pPr algn="l"/>
            <a:r>
              <a:rPr sz="900">
                <a:solidFill>
                  <a:srgbClr val="C9D1D9"/>
                </a:solidFill>
                <a:latin typeface="Menlo"/>
              </a:rPr>
              <a:t>      {produk.map((p) =&gt; (</a:t>
            </a:r>
          </a:p>
          <a:p>
            <a:pPr algn="l"/>
            <a:r>
              <a:rPr sz="900">
                <a:solidFill>
                  <a:srgbClr val="C9D1D9"/>
                </a:solidFill>
                <a:latin typeface="Menlo"/>
              </a:rPr>
              <a:t>        &lt;li key={p.id}&gt;</a:t>
            </a:r>
          </a:p>
          <a:p>
            <a:pPr algn="l"/>
            <a:r>
              <a:rPr sz="900">
                <a:solidFill>
                  <a:srgbClr val="C9D1D9"/>
                </a:solidFill>
                <a:latin typeface="Menlo"/>
              </a:rPr>
              <a:t>          {p.nama}</a:t>
            </a:r>
          </a:p>
          <a:p>
            <a:pPr algn="l"/>
            <a:r>
              <a:rPr sz="900">
                <a:solidFill>
                  <a:srgbClr val="C9D1D9"/>
                </a:solidFill>
                <a:latin typeface="Menlo"/>
              </a:rPr>
              <a:t>          &lt;TombolSuka id={p.id} /&gt;</a:t>
            </a:r>
          </a:p>
          <a:p>
            <a:pPr algn="l"/>
            <a:r>
              <a:rPr sz="900">
                <a:solidFill>
                  <a:srgbClr val="C9D1D9"/>
                </a:solidFill>
                <a:latin typeface="Menlo"/>
              </a:rPr>
              <a:t>        &lt;/li&gt;</a:t>
            </a:r>
          </a:p>
          <a:p>
            <a:pPr algn="l"/>
            <a:r>
              <a:rPr sz="900">
                <a:solidFill>
                  <a:srgbClr val="C9D1D9"/>
                </a:solidFill>
                <a:latin typeface="Menlo"/>
              </a:rPr>
              <a:t>      ))}</a:t>
            </a:r>
          </a:p>
          <a:p>
            <a:pPr algn="l"/>
            <a:r>
              <a:rPr sz="900">
                <a:solidFill>
                  <a:srgbClr val="C9D1D9"/>
                </a:solidFill>
                <a:latin typeface="Menlo"/>
              </a:rPr>
              <a:t>    &lt;/ul&gt;</a:t>
            </a:r>
          </a:p>
          <a:p>
            <a:pPr algn="l"/>
            <a:r>
              <a:rPr sz="900">
                <a:solidFill>
                  <a:srgbClr val="C9D1D9"/>
                </a:solidFill>
                <a:latin typeface="Menlo"/>
              </a:rPr>
              <a:t>  );</a:t>
            </a:r>
          </a:p>
          <a:p>
            <a:pPr algn="l"/>
            <a:r>
              <a:rPr sz="9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900">
                <a:solidFill>
                  <a:srgbClr val="C9D1D9"/>
                </a:solidFill>
                <a:latin typeface="Menlo"/>
              </a:rPr>
              <a:t> </a:t>
            </a:r>
          </a:p>
          <a:p>
            <a:pPr algn="l"/>
            <a:r>
              <a:rPr sz="900">
                <a:solidFill>
                  <a:srgbClr val="C9D1D9"/>
                </a:solidFill>
                <a:latin typeface="Menlo"/>
              </a:rPr>
              <a:t>// components/TombolSuka.tsx (CLIENT)</a:t>
            </a:r>
          </a:p>
          <a:p>
            <a:pPr algn="l"/>
            <a:r>
              <a:rPr sz="900">
                <a:solidFill>
                  <a:srgbClr val="C9D1D9"/>
                </a:solidFill>
                <a:latin typeface="Menlo"/>
              </a:rPr>
              <a:t>"use client";</a:t>
            </a:r>
          </a:p>
          <a:p>
            <a:pPr algn="l"/>
            <a:r>
              <a:rPr sz="900">
                <a:solidFill>
                  <a:srgbClr val="C9D1D9"/>
                </a:solidFill>
                <a:latin typeface="Menlo"/>
              </a:rPr>
              <a:t>import { useState } from "react";</a:t>
            </a:r>
          </a:p>
          <a:p>
            <a:pPr algn="l"/>
            <a:r>
              <a:rPr sz="900">
                <a:solidFill>
                  <a:srgbClr val="C9D1D9"/>
                </a:solidFill>
                <a:latin typeface="Menlo"/>
              </a:rPr>
              <a:t>export default function TombolSuka(...)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234440"/>
            <a:ext cx="5486400" cy="2121408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75120" y="1234440"/>
            <a:ext cx="5486400" cy="384048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39712" y="1271016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Aturan komposisi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76288" y="1728216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Server boleh me-render client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6288" y="2020824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Client TIDAK bisa import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6288" y="2313432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server component langsung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2606039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(tapi bisa terima children)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76288" y="2898647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Props harus serializable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5120" y="3557016"/>
            <a:ext cx="5486400" cy="1536192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75120" y="3557016"/>
            <a:ext cx="5486400" cy="384048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39712" y="359359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Sinyal butuh "use client"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6288" y="4050792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useState / useEffect,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6288" y="4343400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onClick / onChange,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76288" y="4636008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browser API (localStorage)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Kesalahan Umum Next.js — Hindari Ini!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3749039" cy="7315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35204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6B8A"/>
                </a:solidFill>
              </a:rPr>
              <a:t>1. "use client" di mana-mana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3520440" cy="1600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Kehilangan keunggulan server rendering.
Default server; client hanya bila perlu.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00584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005840"/>
            <a:ext cx="3749039" cy="7315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188720"/>
            <a:ext cx="35204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6B8A"/>
                </a:solidFill>
              </a:rPr>
              <a:t>2. useState di server comp.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783080"/>
            <a:ext cx="3520440" cy="1600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Error! Hook interaktif butuh "use client"
di baris pertama file.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00584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005840"/>
            <a:ext cx="3749039" cy="73152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188720"/>
            <a:ext cx="35204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3. &lt;a&gt; untuk pindah internal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783080"/>
            <a:ext cx="3520440" cy="1600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Full reload, state hilang.
Pakai &lt;Link href="..."&gt; dari next/link.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70332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703320"/>
            <a:ext cx="3749039" cy="73152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886200"/>
            <a:ext cx="35204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4. Lupa await params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480560"/>
            <a:ext cx="3520440" cy="1600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Di Next 15 params adalah Promise.
const { slug } = await params;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370332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60" y="3703320"/>
            <a:ext cx="3749039" cy="73152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3886200"/>
            <a:ext cx="35204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C9A0FF"/>
                </a:solidFill>
              </a:rPr>
              <a:t>5. Folder = route semua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480560"/>
            <a:ext cx="3520440" cy="1600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components/ ikut jadi URL? Tidak —
hanya folder ber-page.tsx yang jadi route.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70332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3703320"/>
            <a:ext cx="3749039" cy="73152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3886200"/>
            <a:ext cx="35204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C9A0FF"/>
                </a:solidFill>
              </a:rPr>
              <a:t>6. Rahasia bocor ke client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480560"/>
            <a:ext cx="3520440" cy="1600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API key di client component terkirim
ke browser! Simpan di server/env.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Cheatsheet Next.js App Router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51560"/>
            <a:ext cx="5577840" cy="475488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557784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7" y="109728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19" y="109728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09728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325880"/>
            <a:ext cx="53035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# Struktur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app/layout.tsx    → kerangka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app/page.tsx      → /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app/x/page.tsx    → /x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app/x/[id]/page.tsx → /x/:id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app/not-found.tsx → 404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# Perintah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npx create-next-app@latest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npm run dev    # localhost:3000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npm run build  # produksi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051560"/>
            <a:ext cx="5468112" cy="475488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051560"/>
            <a:ext cx="5468112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73368" y="109728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37959" y="109728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2552" y="109728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325880"/>
            <a:ext cx="5193792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// Navigasi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import Link from "next/link";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&lt;Link href="/materi"&gt;Materi&lt;/Link&gt;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// Dynamic + 404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const { slug } = await params;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if (!data) notFound();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// Client component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"use client";  // baris PERTAMA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// Metadata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export const metadata = 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title: "...", description: "..." };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1274552" cy="566928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5943600"/>
            <a:ext cx="91440" cy="566928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6053328"/>
            <a:ext cx="10908792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Latihan: 1-pembelajaran/07-nextjs-app-router (routing, dynamic route, server/client)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54864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0" y="0"/>
            <a:ext cx="1828800" cy="18288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0" y="4572000"/>
            <a:ext cx="2743200" cy="27432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365760"/>
            <a:ext cx="5029200" cy="64008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11480"/>
            <a:ext cx="50292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400" b="1" i="0">
                <a:solidFill>
                  <a:srgbClr val="0D1117"/>
                </a:solidFill>
              </a:rPr>
              <a:t>🎯 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0" i="1">
                <a:solidFill>
                  <a:srgbClr val="8B949E"/>
                </a:solidFill>
              </a:rPr>
              <a:t>Next.js App Router — React tingkat produksi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10972800" cy="36576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600200"/>
            <a:ext cx="10972800" cy="841248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600200"/>
            <a:ext cx="91440" cy="84124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673352"/>
            <a:ext cx="38404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58A6FF"/>
                </a:solidFill>
              </a:rPr>
              <a:t>Framework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1984248"/>
            <a:ext cx="104241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Next.js = React + routing + server rendering + optimasi. SEO dan performa lebih baik.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551176"/>
            <a:ext cx="10972800" cy="841248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551176"/>
            <a:ext cx="91440" cy="841248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624328"/>
            <a:ext cx="38404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3FD97F"/>
                </a:solidFill>
              </a:rPr>
              <a:t>Routing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935224"/>
            <a:ext cx="104241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Folder app/ = URL. page.tsx halaman, layout.tsx kerangka persisten, &lt;Link&gt; navigasi.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502152"/>
            <a:ext cx="10972800" cy="841248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502152"/>
            <a:ext cx="91440" cy="841248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575304"/>
            <a:ext cx="38404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FFC857"/>
                </a:solidFill>
              </a:rPr>
              <a:t>Dynamic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886200"/>
            <a:ext cx="104241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[slug] menangkap URL; await params; notFound() untuk 404; generateStaticParams untuk statis.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453128"/>
            <a:ext cx="10972800" cy="841248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453128"/>
            <a:ext cx="91440" cy="841248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526280"/>
            <a:ext cx="38404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C9A0FF"/>
                </a:solidFill>
              </a:rPr>
              <a:t>Server vs Client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837176"/>
            <a:ext cx="104241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Default server (data, SEO). "use client" untuk useState/event. Pecah kecil-kecil.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404104"/>
            <a:ext cx="10972800" cy="841248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5404104"/>
            <a:ext cx="91440" cy="84124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477256"/>
            <a:ext cx="38404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FF6B8A"/>
                </a:solidFill>
              </a:rPr>
              <a:t>Pitfall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788152"/>
            <a:ext cx="104241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Jangan use client semua, jangan &lt;a&gt; internal, jangan taruh rahasia di client.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6492240"/>
            <a:ext cx="1097280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565392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6E7681"/>
                </a:solidFill>
              </a:rPr>
              <a:t>Modul 07  ·  Pemrograman Web · lanjut ke 1-pembelajaran/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