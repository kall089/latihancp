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39D0D8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CSS Dasar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Cascading Style Sheets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Selector  ·  Box Model  ·  Flexbox  ·  Responsive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selector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box-model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flexbox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responsive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02: CSS Dasar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Cara Kerja
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Mengapa CSS?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Syntax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Selector E/C/ID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Inline/Internal/External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Box
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content-padding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border-margin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width/height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display &amp; 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Layout &amp;
Responsive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Flexbox axis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justify/align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Media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Cascade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Latihan &amp;
Pitfall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Desain Profil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Typography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Kesalahan umum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Cheatsheet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9D0D8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Cara Kerja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Selector memilih elemen, deklarasi mengubah tampilannya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Mengapa Kita Membutuhkan CSS?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HTML murni monoton — CSS membuat halaman layak dibaca dan profesional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532120" cy="3977639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5321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3385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HTML Tanpa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5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Tampilan default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83663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Teks hitam di latar putih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1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Tidak ada jarak yang rapi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7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Gambar ukuran asli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6148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Sulit dibaca lama-lama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97280"/>
            <a:ext cx="5532120" cy="3977639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97280"/>
            <a:ext cx="55321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13385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HTML +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591055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Kartu, warna, tipografi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883663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Foto lingkaran + bayangan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176271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Padding &amp; margin terukur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6887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Layout flex /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76148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Nyaman di HP dan desktop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57800"/>
            <a:ext cx="1124712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91440" cy="7772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67528"/>
            <a:ext cx="10881360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HTML = apa isinya. CSS = bagaimana kelihatannya. Pisahkan file: index.html + css/style.css.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Syntax CSS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selector { property: value; } — pilih elemen, ubah aspek visualnya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852160" cy="25603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1887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1887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1887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5577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C9D1D9"/>
                </a:solidFill>
                <a:latin typeface="Menlo"/>
              </a:rPr>
              <a:t>h1 {</a:t>
            </a:r>
          </a:p>
          <a:p>
            <a:pPr algn="l"/>
            <a:r>
              <a:rPr sz="2000">
                <a:solidFill>
                  <a:srgbClr val="C9D1D9"/>
                </a:solidFill>
                <a:latin typeface="Menlo"/>
              </a:rPr>
              <a:t>    color: blue;</a:t>
            </a:r>
          </a:p>
          <a:p>
            <a:pPr algn="l"/>
            <a:r>
              <a:rPr sz="2000">
                <a:solidFill>
                  <a:srgbClr val="C9D1D9"/>
                </a:solidFill>
                <a:latin typeface="Menlo"/>
              </a:rPr>
              <a:t>    font-size: 32px;</a:t>
            </a:r>
          </a:p>
          <a:p>
            <a:pPr algn="l"/>
            <a:r>
              <a:rPr sz="2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143000"/>
            <a:ext cx="5166360" cy="42062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143000"/>
            <a:ext cx="5166360" cy="384048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1179576"/>
            <a:ext cx="48920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Tiga bagian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636776"/>
            <a:ext cx="4800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selector  (h1)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1929384"/>
            <a:ext cx="4800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Elemen HTML yang diincar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221991"/>
            <a:ext cx="4800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property  (color, font-size)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2514599"/>
            <a:ext cx="4800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Aspek visual yang diubah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807207"/>
            <a:ext cx="4800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value  (blue, 32px)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3099815"/>
            <a:ext cx="4800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Nilai spesifik properti itu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852160" cy="10515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59935"/>
            <a:ext cx="658368" cy="65836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160520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50791"/>
            <a:ext cx="4709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6B8A"/>
                </a:solidFill>
              </a:rPr>
              <a:t>Inline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34840"/>
            <a:ext cx="4709160" cy="411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&lt;p style="color:red"&gt; — menempel di HTML, sulit dirawat. Hindari.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74920"/>
            <a:ext cx="5852160" cy="10515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5248655"/>
            <a:ext cx="658368" cy="65836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349240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239512"/>
            <a:ext cx="4709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Internal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623559"/>
            <a:ext cx="4709160" cy="411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&lt;style&gt; di &lt;head&gt; — hanya berlaku di 1 halaman.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Tiga Selector Dasar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Element · Class (titik) · ID (pagar) — class adalah pilihan utama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703320" cy="3977639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7033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337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Element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337560" cy="1051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33375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7" y="1965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399" y="1965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1" y="1965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94560"/>
            <a:ext cx="306324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9D1D9"/>
                </a:solidFill>
                <a:latin typeface="Menlo"/>
              </a:rPr>
              <a:t>p { color: blue;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3246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Pilih semua tag &lt;p&gt;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324612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35908"/>
            <a:ext cx="3246120" cy="3497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Paling lemah · gaya global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1143000"/>
            <a:ext cx="3703320" cy="3977639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143000"/>
            <a:ext cx="37033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371600"/>
            <a:ext cx="3337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3FD97F"/>
                </a:solidFill>
              </a:rPr>
              <a:t>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1920240"/>
            <a:ext cx="3337560" cy="1051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53712" y="1920240"/>
            <a:ext cx="33375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63440" y="1965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28032" y="1965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92624" y="1965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194560"/>
            <a:ext cx="306324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9D1D9"/>
                </a:solidFill>
                <a:latin typeface="Menlo"/>
              </a:rPr>
              <a:t>.judul { color: red;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108960"/>
            <a:ext cx="3246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HTML: class="judul"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9432" y="3794760"/>
            <a:ext cx="3246120" cy="41148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835908"/>
            <a:ext cx="3246120" cy="3497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Reusable · pilihan utama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1143000"/>
            <a:ext cx="3703320" cy="3977639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4464" y="1143000"/>
            <a:ext cx="37033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7344" y="1371600"/>
            <a:ext cx="3337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C857"/>
                </a:solidFill>
              </a:rPr>
              <a:t>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67344" y="1920240"/>
            <a:ext cx="3337560" cy="1051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67344" y="1920240"/>
            <a:ext cx="33375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77072" y="1965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41663" y="1965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06255" y="1965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4504" y="2194560"/>
            <a:ext cx="306324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9D1D9"/>
                </a:solidFill>
                <a:latin typeface="Menlo"/>
              </a:rPr>
              <a:t>#header { background: gray; 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108960"/>
            <a:ext cx="3246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HTML: id="header"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13064" y="3794760"/>
            <a:ext cx="3246120" cy="41148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4" y="3835908"/>
            <a:ext cx="3246120" cy="3497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Unik 1× · specificity tinggi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349240"/>
            <a:ext cx="1124712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3492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458968"/>
            <a:ext cx="10881360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Specificity: inline &gt; #id &gt; .class &gt; elemen. Skor sama → rule TERAKHIR yang menang (cascade).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Cascade &amp; Specificity — Siapa yang Menang?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Urutan keputusan browser saat dua rule bertabrakan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517904" cy="373075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37160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Prioritas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234440"/>
            <a:ext cx="234086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219456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62102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4747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Contoh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621024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80160"/>
            <a:ext cx="34747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Catatan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26387"/>
            <a:ext cx="1371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 (tertinggi)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726387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!important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26387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color: red !important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26387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Hindari — sulit di-debug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165299"/>
            <a:ext cx="1371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165299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Inline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65299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style="color:red"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65299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Menempel di 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04211"/>
            <a:ext cx="1371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604211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ID 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604211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#header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604211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Specificity (1,0,0)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43123"/>
            <a:ext cx="1371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043123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Class/pseudo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043123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.btn, :hover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043123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Specificity (0,1,0)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482035"/>
            <a:ext cx="1371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3482035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Elemen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482035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p, div,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482035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Specificity (0,0,1)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847795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920947"/>
            <a:ext cx="1371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6 (terendah)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3920947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Inherited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3920947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warna dari parent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920947"/>
            <a:ext cx="34747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font/color menurun, box tidak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Box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Setiap elemen adalah kotak: content, padding, border, 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Box Model — Empat Lapisan Kotak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Setiap elemen HTML adalah kotak: content → padding → border →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858000" cy="5074920"/>
          </a:xfrm>
          <a:prstGeom prst="roundRect">
            <a:avLst/>
          </a:prstGeom>
          <a:solidFill>
            <a:srgbClr val="142E24"/>
          </a:solidFill>
          <a:ln w="190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6492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MARGIN  ·  jarak antar elemen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554480"/>
            <a:ext cx="5852160" cy="4114800"/>
          </a:xfrm>
          <a:prstGeom prst="roundRect">
            <a:avLst/>
          </a:prstGeom>
          <a:solidFill>
            <a:srgbClr val="2E2414"/>
          </a:solidFill>
          <a:ln w="190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627631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BORDER  ·  garis tepi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057400"/>
            <a:ext cx="4754880" cy="3108960"/>
          </a:xfrm>
          <a:prstGeom prst="roundRect">
            <a:avLst/>
          </a:prstGeom>
          <a:solidFill>
            <a:srgbClr val="14242E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130552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PADDING  ·  ruang dalam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2651760"/>
            <a:ext cx="3383280" cy="19202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3063239"/>
            <a:ext cx="3383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474720"/>
            <a:ext cx="33832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 i="0">
                <a:solidFill>
                  <a:srgbClr val="0D1117"/>
                </a:solidFill>
              </a:rPr>
              <a:t>teks / gambar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097280"/>
            <a:ext cx="4160520" cy="507492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097280"/>
            <a:ext cx="41605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133856"/>
            <a:ext cx="3886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box-sizing: border-box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1591055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content-box (default):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1883663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width = isi saja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176271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padding+border MENAMBAH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2468879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lebar total → pusing!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2761487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3054095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border-box: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3346703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width = TOTAL kotak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3639311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3931919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 di awal setiap proyek: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4224527"/>
            <a:ext cx="3794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* { box-sizing: border-box;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Box Model dalam Praktik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Shorthand: 1 nilai=semua sisi · 2 nilai=atas-bawah kiri-kanan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2922422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2556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* { box-sizing: border-box; 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.kartu 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width: 320px;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padding: 24px;          /* semua sisi */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padding: 16px 24px;     /* v | h */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border: 1px solid #d1d5db;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border-radius: 12px;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margin: 0 auto;         /* tengah! */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box-shadow: 0 4px 12px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rgba(0, 0, 0, 0.08);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margin: 0 auto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auto kiri-kanan = elemen blok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dengan width berada di tengah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Trik klasik menengahkan kartu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97180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97180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00837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Margin collapse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46557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Margin vertikal 2 elemen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bertemu → diambil TERBESAR,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bukan dijumlah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Sering bikin bingung pemula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Warna, Unit, Tipografi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Nilai yang paling sering ditulis di CSS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Unit dan Warna — Referensi Cepat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px untuk detail kecil, rem untuk ukuran teks, % untuk lebar relatif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79222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6459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Nilai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234440"/>
            <a:ext cx="325526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280160"/>
            <a:ext cx="310896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Contoh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234440"/>
            <a:ext cx="6089904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79" y="1280160"/>
            <a:ext cx="594360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Kapan dipakai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6387"/>
            <a:ext cx="16459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726387"/>
            <a:ext cx="31089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border: 1px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1726387"/>
            <a:ext cx="5943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Detail presisi: border, shadow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65299"/>
            <a:ext cx="16459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rem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165299"/>
            <a:ext cx="31089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font-size: 1.25rem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2165299"/>
            <a:ext cx="5943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Teks &amp; spacing (1rem = 16px), ikut setelan 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4211"/>
            <a:ext cx="16459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604211"/>
            <a:ext cx="31089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width: 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604211"/>
            <a:ext cx="5943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Lebar relatif terhadap parent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3123"/>
            <a:ext cx="16459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vw / vh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043123"/>
            <a:ext cx="31089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height: 100vh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79" y="3043123"/>
            <a:ext cx="5943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Relatif ukuran layar (hero section)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82035"/>
            <a:ext cx="16459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Hex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482035"/>
            <a:ext cx="31089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#0ea5e9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3482035"/>
            <a:ext cx="5943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Warna paling umum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7795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20947"/>
            <a:ext cx="16459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rgb(a)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920947"/>
            <a:ext cx="31089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rgba(0,0,0,0.5)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79" y="3920947"/>
            <a:ext cx="5943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Perlu transparansi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86707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59859"/>
            <a:ext cx="16459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hsl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359859"/>
            <a:ext cx="31089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hsl(199 89% 48%)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79" y="4359859"/>
            <a:ext cx="5943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Mudah diatur terang/gelapnya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Tipografi Dasar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Empat properti ini menentukan 90% kenyamanan baca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575304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209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body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font-family: "Inter", system-ui,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sans-serif;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font-size: 1rem;      /* 16px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line-height: 1.6;     /* tanpa unit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color: #1f2937;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h1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font-size: 2rem;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font-weight: 700;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letter-spacing: -0.02em;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.tercoret { text-decoration: line-through;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.kapital  { text-transform: uppercase;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Aturan praktis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line-height 1.5–1.7 utk paragraf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Fallback font selalu 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(system-ui, sans-serif)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Kontras teks vs latar cukup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(WCAG minimal 4.5:1)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Pseudo-class &amp; Interaksi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Halaman terasa hidup: hover, focus, transisi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Pseudo-class: State Elemen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:hover mouse di atas · :focus dipilih keyboard · :disabled nonaktif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575304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209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.tombol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background: #0ea5e9;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color: white;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transition: background 150ms ease,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transform 150ms ease;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.tombol:hover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background: #0284c7;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transform: translateY(-1px);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.tombol:focus-visible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outline: 3px solid #38bdf8;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outline-offset: 2px;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input:invalid { border-color: #ef4444;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li:nth-child(odd) { background: #f8fafc;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Jangan hapus outline!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outline: none tanpa ganti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pengguna keyboard tersesat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Pakai :focus-visible + outline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custom yang jelas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Transisi halus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transition di state NORMAL,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bukan di :hover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150–250ms terasa responsif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Animasikan transform/opacity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Flexbox — Sumbu Utama vs Sumbu Silang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display:flex  ·  justify-content = main axis  ·  align-items = cross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760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ROW  →  kiri ke kanan (default)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760720" cy="19659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554480" cy="12801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Item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554480" cy="128016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148840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Item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1554480" cy="128016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148840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Item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051560"/>
            <a:ext cx="5257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COLUMN  ↓  atas ke bawah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5257800" cy="19659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1737360"/>
            <a:ext cx="1417320" cy="12801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40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1417320" cy="128016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48840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737360"/>
            <a:ext cx="1417320" cy="128016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48840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703320" cy="1234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37033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7647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justify-content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352043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MAIN AXIS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11880"/>
            <a:ext cx="3703320" cy="1234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11880"/>
            <a:ext cx="370332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77647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align-items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114800"/>
            <a:ext cx="352043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CROSS AXIS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611880"/>
            <a:ext cx="3566160" cy="1234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611880"/>
            <a:ext cx="356616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776472"/>
            <a:ext cx="338327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@media max-width 768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114800"/>
            <a:ext cx="338327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C857"/>
                </a:solidFill>
              </a:rPr>
              <a:t>COLUMN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1124712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91440" cy="6400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138928"/>
            <a:ext cx="1088136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Desktop: flex-direction:row  ·  HP (≤768px): flex-direction:column  — inti responsive design.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47120" cy="685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806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6927" y="5852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19" y="5852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6112" y="5852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080759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9D1D9"/>
                </a:solidFill>
                <a:latin typeface="Menlo"/>
              </a:rPr>
              <a:t>.container { display:flex; gap:20px; }   @media (max-width:768px) { .container { flex-direction:column; }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Latihan: Desain Profil Mahasiswa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HTML semantik + CSS terpisah — brief resmi dosen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33832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66928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33856"/>
            <a:ext cx="5394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Komponen wajib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5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Header &amp; menu navigasi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83663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Foto profil (lingkaran)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1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Nama dan 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7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Deskripsi diri &amp; hobi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61487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Daftar mata kuliah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54095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Contact &amp; footer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097280"/>
            <a:ext cx="5349240" cy="33832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097280"/>
            <a:ext cx="53492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133856"/>
            <a:ext cx="50749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Target implementasi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1591055"/>
            <a:ext cx="4983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Typography &amp; color (hex/rgb)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1883663"/>
            <a:ext cx="4983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Background &amp; border-radius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176271"/>
            <a:ext cx="4983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Margin &amp; padding (box model)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468879"/>
            <a:ext cx="4983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Layout Flexbox (nav + kartu)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761487"/>
            <a:ext cx="4983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Responsive: column di ≤768px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054095"/>
            <a:ext cx="49834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File terpisah: css/style.css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11247120" cy="8686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936" y="4837175"/>
            <a:ext cx="658368" cy="6583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937759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28031"/>
            <a:ext cx="101041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Struktur dulu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212079"/>
            <a:ext cx="10104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Selesaikan HTML semantik (latihan Profil Saya) sebelum menambah CSS.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247120" cy="8686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843016"/>
            <a:ext cx="658368" cy="658368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943600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833872"/>
            <a:ext cx="101041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9D0D8"/>
                </a:solidFill>
              </a:rPr>
              <a:t>Gaya kemudian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6217920"/>
            <a:ext cx="10104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External CSS + class. Kerjakan 1-pembelajaran/02-css-dasar/01-kartu-profil.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CSS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Perang !important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Menang sesaat, kacau selamanya.
Perbaiki specificity, bukan tambah !important.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Lupa box-sizing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width 300 + padding 24 = 348px!?
Set * { box-sizing: border-box; } di awal.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Selector terlalu dalam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div .a ul li a span {...} rapuh.
Beri class langsung pada target.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px untuk semua ukuran teks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Abaikan setelan font pengguna.
Gunakan rem untuk font-size.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Margin untuk layout besar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Menyusun kolom dengan margin manual
rapuh — itu tugas flexbox/grid (Modul 03).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Styling pakai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Specificity tinggi, susah dioverride.
ID untuk anchor/JS, class untuk CSS.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CSS Dasar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Reset minimal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* { box-sizing: border-box;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body { margin: 0;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font-family: system-ui, sans-serif;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line-height: 1.6;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Selector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        /* elemen  (0,0,1)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.class   /* class   (0,1,0)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#id      /* id      (1,0,0)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nav a    /* turunan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.a &gt; .b  /* anak langsung */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Box model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padding: 16px 24px;  /* v h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margin: 0 auto;      /* tengah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border: 1px solid #ddd;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border-radius: 12px;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State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.btn:hover        { ...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.btn:focus-visible{ outline: ...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input:invalid     { ...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Transisi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transition: all 150ms ease;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1-pembelajaran/02-css-dasar (4 bab: kartu profil → pseudo-class)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CSS Dasar — selector, box model,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Rule &amp; 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selector { properti: nilai; }. Class = pilihan utama. External CSS via &lt;link&gt;.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9D0D8"/>
                </a:solidFill>
              </a:rPr>
              <a:t>Cascade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inline &gt; id &gt; class &gt; elemen; skor sama → yang terakhir menang. Hindari !important.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Box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content → padding → border → margin. Selalu box-sizing: border-box.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Nilai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rem untuk teks, px untuk detail, % untuk lebar. Hex/rgba/hsl untuk warna.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:hover, :focus-visible, :invalid + transition = interaksi halus dan aksesibel.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02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