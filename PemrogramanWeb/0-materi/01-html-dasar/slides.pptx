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64592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645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MODUL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PEMROGRAMAN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Teori + Praktikum · 8 Modul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HTML Dasar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HyperText Markup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Struktur  ·  Teks  ·  Media  ·  Semantik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5074920"/>
            <a:ext cx="1463040" cy="43891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struktur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96328" y="5074920"/>
            <a:ext cx="1463040" cy="43891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8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teks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9096" y="5074920"/>
            <a:ext cx="1463040" cy="43891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9096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media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41864" y="5074920"/>
            <a:ext cx="1463040" cy="438912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41864" y="5157216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semantik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Modul 01: HTML Dasar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Fondasi
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Apa itu HTML?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HTML vs CSS vs 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Cara browser merender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Tag · elemen · atribut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Teks &amp;
Media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Heading h1–h6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Paragraf &amp;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Link &amp; gambar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List ul / 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Data &amp;
Formulir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Tabel tr/th/td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Form label+input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Semantic 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header/nav/main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Latihan &amp;
Pitfall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Profil Saya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10 komponen wajib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Kesalahan umum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Cheatsheet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Fondasi 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HTML = struktur, CSS = tampilan, JS = perilaku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Apa itu HTML?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HyperText Markup Language — bahasa markup, BUKAN bahasa pemrograman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760720" cy="28803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7607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133856"/>
            <a:ext cx="54864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Definisi &amp; Peran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91055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Menyusun STRUKTUR dan KONTEN halaman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83663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Menentukan makna: judul, paragraf, gambar, tautan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76271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File teks berekstensi .html dibaca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68879"/>
            <a:ext cx="53949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Tidak mengatur warna, animasi, atau logika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097280"/>
            <a:ext cx="5303520" cy="28803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097280"/>
            <a:ext cx="5303520" cy="384048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1338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HTML digunakan untuk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591055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Judul &amp; paragraf  (headings, paragraphs)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883663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Media &amp; tautan    (gambar, URL)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176271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Data terstruktur  (daftar, tabel)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68879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Input pengguna    (formulir &amp; kontrol)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761487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Tata letak dasar  (kerangka halaman)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124712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91440" cy="6400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59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70248"/>
            <a:ext cx="1046988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PENTING: HTML memberi MAKNA. CSS memberi TAMPILAN. Jangan campur keduanya di satu 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83480"/>
            <a:ext cx="3657600" cy="14173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36576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48072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Bukan pemrograman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3474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MARKUP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4983480"/>
            <a:ext cx="3657600" cy="14173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4983480"/>
            <a:ext cx="365760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5148072"/>
            <a:ext cx="3474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Hasilnya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486400"/>
            <a:ext cx="34747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STRUKTUR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983480"/>
            <a:ext cx="3566160" cy="14173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4983480"/>
            <a:ext cx="3566160" cy="54864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148072"/>
            <a:ext cx="338327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Dibaca oleh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486400"/>
            <a:ext cx="3383279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C9A0FF"/>
                </a:solidFill>
              </a:rPr>
              <a:t>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HTML, CSS, dan JavaScript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Analogi rumah: rangka · cat &amp; dekorasi · instalasi listrik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703320" cy="4572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7033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33375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337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Struktur &amp; Konten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3337560" cy="34747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20747"/>
            <a:ext cx="3337560" cy="2953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Analogi: rangka rumah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Pondasi halaman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3756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Heading &amp; paragraf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Gambar &amp; tautan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Urutan konten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143000"/>
            <a:ext cx="3703320" cy="4572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143000"/>
            <a:ext cx="370332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371600"/>
            <a:ext cx="33375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9D0D8"/>
                </a:solidFill>
              </a:rPr>
              <a:t>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1874519"/>
            <a:ext cx="3337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Tampilan &amp; Desain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2286000"/>
            <a:ext cx="3337560" cy="347472"/>
          </a:xfrm>
          <a:prstGeom prst="round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320747"/>
            <a:ext cx="3337560" cy="2953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Analogi: cat &amp; dekorasi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283464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Warna &amp; tipografi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33756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Jarak &amp; border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84048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Layout visual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34340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Responsive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1143000"/>
            <a:ext cx="3703320" cy="4572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4" y="1143000"/>
            <a:ext cx="37033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1371600"/>
            <a:ext cx="33375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FFC857"/>
                </a:solidFill>
              </a:rPr>
              <a:t>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1874519"/>
            <a:ext cx="3337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0F6FC"/>
                </a:solidFill>
              </a:rPr>
              <a:t>Interaksi &amp; Perilaku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67344" y="2286000"/>
            <a:ext cx="3337560" cy="34747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7344" y="2320747"/>
            <a:ext cx="3337560" cy="2953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Analogi: listrik &amp; saklar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3064" y="283464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Klik &amp; validasi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3064" y="333756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Data dinamis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3064" y="384048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Filter &amp; hitung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4343400"/>
            <a:ext cx="32461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▸  API /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1">
                <a:solidFill>
                  <a:srgbClr val="6E7681"/>
                </a:solidFill>
              </a:rPr>
              <a:t>Ketiganya wajib dikuasai terpisah dulu — baru digabung di proyek.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Bagaimana HTML Ditampilkan?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Dari kode mentah ke halaman visual — tiga langkah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4173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" y="1316736"/>
            <a:ext cx="658368" cy="6583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07592"/>
            <a:ext cx="101041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KODE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91640"/>
            <a:ext cx="10104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File teks .html berisi tag terstruktur. Ini dokumen sumber — belum ada warna atau layout.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247120" cy="14173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6936"/>
            <a:ext cx="658368" cy="658368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017520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907792"/>
            <a:ext cx="101041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9D0D8"/>
                </a:solidFill>
              </a:rPr>
              <a:t>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91840"/>
            <a:ext cx="10104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Chrome / Safari / Firefox mengurai (parse) tag menjadi pohon elemen (DOM), lalu merender.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43400"/>
            <a:ext cx="11247120" cy="141732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" y="4517136"/>
            <a:ext cx="658368" cy="65836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617720"/>
            <a:ext cx="685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07992"/>
            <a:ext cx="1010412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</a:rPr>
              <a:t>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92040"/>
            <a:ext cx="1010412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Hasil visual di layar: heading, paragraf, gambar, tautan. Yang kamu lihat adalah hasil render, bukan file mentah.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91440" cy="5486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053328"/>
            <a:ext cx="10881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Kalau tampilan aneh: buka View Source / Inspect — bandingkan tag dengan yang kamu tulis.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Struktur Dasar Dokumen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&lt;!DOCTYPE html&gt; wajib di baris pertama — menandai standar HTML5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852160" cy="49377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577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&lt;!DOCTYPE html&gt;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&lt;html&gt;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  &lt;head&gt;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    &lt;title&gt;Judul Halaman&lt;/title&gt;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  &lt;/head&gt;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  &lt;body&gt;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    Isi halaman web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  &lt;/body&gt;</a:t>
            </a:r>
          </a:p>
          <a:p>
            <a:pPr algn="l"/>
            <a:r>
              <a:rPr sz="1400">
                <a:solidFill>
                  <a:srgbClr val="C9D1D9"/>
                </a:solidFill>
                <a:latin typeface="Menlo"/>
              </a:rPr>
              <a:t>&lt;/html&gt;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234440"/>
            <a:ext cx="557784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234440"/>
            <a:ext cx="557784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1271016"/>
            <a:ext cx="5303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&lt;!DOCTYPE html&gt;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728216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Deklarasi, BUKAN tag 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020824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Wajib paling atas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313432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Tanpa ini: quirks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971800"/>
            <a:ext cx="5577840" cy="1243584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971800"/>
            <a:ext cx="557784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008376"/>
            <a:ext cx="5303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&lt;html&gt;  ROOT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3465576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Pembungkus seluruh dokumen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758184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Tambah lang="id" (aksesibilitas)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416552"/>
            <a:ext cx="5577840" cy="1243584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4416552"/>
            <a:ext cx="55778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4453128"/>
            <a:ext cx="5303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&lt;head&gt; vs &lt;body&gt;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910328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head = metadata, tak tampil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5202936"/>
            <a:ext cx="5212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body = semua yang tampil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Tag, Element, dan Attribute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Tiga istilah yang sering tertukar — hafalkan perbedaannya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760720" cy="21488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76072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1430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1430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1430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48640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C9D1D9"/>
                </a:solidFill>
                <a:latin typeface="Menlo"/>
              </a:rPr>
              <a:t>&lt;p id="intro"&gt;</a:t>
            </a:r>
          </a:p>
          <a:p>
            <a:pPr algn="l"/>
            <a:r>
              <a:rPr sz="1800">
                <a:solidFill>
                  <a:srgbClr val="C9D1D9"/>
                </a:solidFill>
                <a:latin typeface="Menlo"/>
              </a:rPr>
              <a:t>  Selamat datang</a:t>
            </a:r>
          </a:p>
          <a:p>
            <a:pPr algn="l"/>
            <a:r>
              <a:rPr sz="1800">
                <a:solidFill>
                  <a:srgbClr val="C9D1D9"/>
                </a:solidFill>
                <a:latin typeface="Menlo"/>
              </a:rPr>
              <a:t>&lt;/p&gt;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097280"/>
            <a:ext cx="5303520" cy="5029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53035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13385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Empat bagian baris itu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591055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</a:rPr>
              <a:t>&lt;p&gt;  →  TAG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83663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Penanda buka / tutup elemen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176271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</a:rPr>
              <a:t>&lt;p&gt;...&lt;/p&gt;  →  ELEMENT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468879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Keseluruhan dari buka sampai tutup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761487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</a:rPr>
              <a:t>id="intro"  →  ATTRIBUTE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054095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Info tambahan di tag pembuka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346703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9D0D8"/>
                </a:solidFill>
              </a:rPr>
              <a:t>Selamat datang  → 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639311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Teks / isi di dalam elemen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29000"/>
            <a:ext cx="5760720" cy="10058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29000"/>
            <a:ext cx="91440" cy="10058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38728"/>
            <a:ext cx="5394959" cy="7863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Tag berpasangan: &lt;h1&gt;...&lt;/h1&gt;   ·   Empty tag (self-closing): &lt;br&gt; &lt;hr&gt; &lt;img&gt;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17720"/>
            <a:ext cx="5760720" cy="10058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91440" cy="10058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27448"/>
            <a:ext cx="5394959" cy="7863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Atribut SELALU di tag pembuka: nama="nilai". Tanpa spasi di sekitar =.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Teks, Daftar, Tautan, Gambar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Konten inti hampir semua halaman web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Heading h1 sampai h6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Pakai heading berdasarkan STRUKTUR konten, bukan ukuran huruf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035040" cy="621792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09728" cy="6217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07007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&lt;h1&gt;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243584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Judul utama halaman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10512"/>
            <a:ext cx="5623559" cy="621792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9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10512"/>
            <a:ext cx="109728" cy="62179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920240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39D0D8"/>
                </a:solidFill>
              </a:rPr>
              <a:t>&lt;h2&gt;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956816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Bagian besar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2523744"/>
            <a:ext cx="5212079" cy="621792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523744"/>
            <a:ext cx="109728" cy="62179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2633472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3FD97F"/>
                </a:solidFill>
              </a:rPr>
              <a:t>&lt;h3&gt;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670048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Sub-bagian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3236976"/>
            <a:ext cx="4800600" cy="621792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91640" y="3236976"/>
            <a:ext cx="109728" cy="62179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3346704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C857"/>
                </a:solidFill>
              </a:rPr>
              <a:t>&lt;h4&gt;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383280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Lebih dalam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03120" y="3950208"/>
            <a:ext cx="4389120" cy="621792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03120" y="3950208"/>
            <a:ext cx="109728" cy="62179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4059936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C9A0FF"/>
                </a:solidFill>
              </a:rPr>
              <a:t>&lt;h5&gt;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096512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Detail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4663440"/>
            <a:ext cx="3977639" cy="621792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14600" y="4663440"/>
            <a:ext cx="109728" cy="62179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4773168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FF6B8A"/>
                </a:solidFill>
              </a:rPr>
              <a:t>&lt;h6&gt;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809744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Paling dalam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097280"/>
            <a:ext cx="4846320" cy="416052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1097280"/>
            <a:ext cx="484632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1133856"/>
            <a:ext cx="45720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Best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1591055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Tepat SATU &lt;h1&gt; per halaman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1883663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Jangan loncat: h1 → h3 tanpa h2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2176271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Bukan untuk memperbesar teks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2468879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(itu tugas CSS font-size)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2761487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Screen reader baca urutan 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054095"/>
            <a:ext cx="44805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sebagai peta dokumen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532120"/>
            <a:ext cx="1124712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532120"/>
            <a:ext cx="91440" cy="64008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641848"/>
            <a:ext cx="1088136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&lt;p&gt; untuk paragraf. &lt;strong&gt; makna penting · &lt;em&gt; penekanan · &lt;b&gt;/&lt;i&gt; murni visual.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Tag Teks, Daftar, dan Pemisah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Hafalkan — ini muncul di ujian dan dipakai setiap hari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157984" cy="373075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011679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234440"/>
            <a:ext cx="4169663" cy="373075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280160"/>
            <a:ext cx="4023359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Fungsi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234440"/>
            <a:ext cx="4809744" cy="373075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280160"/>
            <a:ext cx="4663440" cy="2816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Catatan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53235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26387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&lt;h1&gt;–&lt;h6&gt;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726387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Heading level 1–6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26387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Satu &lt;h1&gt; per halaman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092147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165299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&lt;p&gt;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165299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Paragraf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65299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Blok teks utama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31059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04211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&lt;strong&gt; / &lt;em&gt;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604211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Penting / penekanan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604211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Bermakna, bukan sekadar tebal/miring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69971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43123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&lt;ul&gt; + &lt;li&gt;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043123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Daftar tak berurut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043123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Bullet 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08883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82035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&lt;ol&gt; + &lt;li&gt;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482035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Daftar berurut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82035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Angka otomatis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7795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920947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&lt;blockquote&gt;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920947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Kutipan panjang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920947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Sertakan cite bila ada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86707"/>
            <a:ext cx="11210544" cy="402336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59859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&lt;code&gt; / &lt;pre&gt;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359859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Kode inline / blok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359859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pre mempertahankan spasi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25619"/>
            <a:ext cx="11210544" cy="402336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798771"/>
            <a:ext cx="201167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&lt;br&gt; / &lt;hr&gt;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798771"/>
            <a:ext cx="4023359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Ganti baris / garis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798771"/>
            <a:ext cx="4663440" cy="2926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Jangan pakai &lt;br&gt; utk jarak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Tautan dan Gambar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href menentukan tujuan; alt wajib untuk aksesibilitas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325672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2959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&lt;!-- Tautan keluar (buka tab baru) --&gt;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&lt;a href="https://developer.mozilla.org"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target="_blank" rel="noopener"&gt;MDN&lt;/a&gt;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&lt;!-- Tautan relatif antar-halaman --&gt;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&lt;a href="tentang.html"&gt;Tentang Kami&lt;/a&gt;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&lt;!-- Anchor ke bagian halaman --&gt;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&lt;a href="#kontak"&gt;Lompat ke Kontak&lt;/a&gt;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&lt;!-- Gambar: alt WAJIB --&gt;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&lt;img src="img/logo.png"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alt="Logo Toko Kopi Senja"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width="200" height="80"&gt;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Jenis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Absolut: https://situs.com/x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Relatif: img/foto.jpg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Anchor: #id-elemen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mailto: / tel: juga bisa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264408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264408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300984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Mengapa alt penting?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Dibaca screen reader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Tampil saat gambar gagal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Dinilai mesin pencari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alt="" utk gambar dekoratif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Tabel dan Formulir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Data terstruktur dan input pengguna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Tabel: Struktur yang Benar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thead + tbody, th untuk sel judul, td untuk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93054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5647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&lt;table&gt;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&lt;caption&gt;Nilai Praktikum&lt;/caption&gt;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&lt;thead&gt;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&lt;tr&gt;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&lt;th&gt;Nama&lt;/th&gt;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&lt;th&gt;Modul&lt;/th&gt;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&lt;th&gt;Nilai&lt;/th&gt;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&lt;/tr&gt;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&lt;/thead&gt;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&lt;tbody&gt;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&lt;tr&gt;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&lt;td&gt;Sinta&lt;/td&gt;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&lt;td&gt;HTML Dasar&lt;/td&gt;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&lt;td&gt;92&lt;/td&gt;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&lt;/tr&gt;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&lt;/tbody&gt;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&lt;/table&gt;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2121408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Aturan tabel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&lt;tr&gt; = baris, &lt;td&gt; = sel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&lt;th&gt; = sel judul (tebal + scope)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thead/tbody memisah struktur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606039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caption = judul tabel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2898647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colspan/rowspan gabung sel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557016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557016"/>
            <a:ext cx="548640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3593592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Kapan pakai tabel?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HANYA untuk data tabular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BUKAN untuk layout halaman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(itu tugas CSS grid/flexbox)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Formulir: label, input, dan validasi bawaan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Setiap input butuh label; type menentukan keyboard &amp; validasi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3767328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669280" cy="3401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&lt;form action="/daftar" method="post"&gt;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&lt;label for="nama"&gt;Nama lengkap&lt;/label&gt;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&lt;input id="nama" name="nama"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type="text" required&gt;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&lt;label for="email"&gt;Email&lt;/label&gt;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&lt;input id="email" name="email"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type="email" required&gt;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&lt;label for="prodi"&gt;Prodi&lt;/label&gt;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&lt;select id="prodi" name="prodi"&gt;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&lt;option value="ti"&gt;Teknik Info&lt;/option&gt;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&lt;option value="si"&gt;Sistem Info&lt;/option&gt;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&lt;/select&gt;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&lt;button type="submit"&gt;Kirim&lt;/button&gt;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&lt;/form&gt;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5486400" cy="153619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54864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2710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Hubungan label–input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7282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for pada label = id pada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0208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Klik label → fokus ke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3134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name = kunci data saat submit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971800"/>
            <a:ext cx="54864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97180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00837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Type input berguna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46557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email, number, date,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7581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checkbox, radio, file,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0507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required, min, max,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43434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= validasi tanpa JavaScript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HTML Semantik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Tag yang menjelaskan MAKNA konten, bukan hanya tampilan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Peta Halaman Semantik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Struktur umum: header → nav → main (section/article) → footer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949440" cy="46177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69494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2801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2801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2801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667512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┌──────────────────────────────────────────┐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&lt;header&gt;  logo + judul situs      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 &lt;nav&gt;   menu navigasi utama     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├──────────────────────────────────────────┤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&lt;main&gt;    konten utama (1x per halaman)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┌────────────────────┐ ┌─────────────┐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│ &lt;section&gt;          │ │ &lt;aside&gt;     │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│   &lt;article&gt;        │ │  sidebar,   │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│   konten mandiri   │ │  info       │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│   &lt;article&gt; ...    │ │  tambahan   │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 └────────────────────┘ └─────────────┘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├──────────────────────────────────────────┤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│ &lt;footer&gt;  kontak + hak cipta             │</a:t>
            </a:r>
          </a:p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└──────────────────────────────────────────┘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234440"/>
            <a:ext cx="4069080" cy="2999232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234440"/>
            <a:ext cx="406908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1271016"/>
            <a:ext cx="3794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Mengapa semantik?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1728216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Screen reader bisa lompat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2020824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antar-bagian halaman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313432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SEO: mesin pencari paham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606039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struktur konten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2898647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Kode mudah dibaca tim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191255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Dipakai di praktikum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483863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01-html-dasar &amp; studi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3776471"/>
            <a:ext cx="3703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kasus landing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71032"/>
            <a:ext cx="694944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971032"/>
            <a:ext cx="91440" cy="5486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080760"/>
            <a:ext cx="658367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div = kotak TANPA makna. Pakai tag semantik dulu, div hanya jika perlu wadah netral.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Latihan: Profil Saya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Halaman HTML semantik TANPA CSS — 10 komponen wajib (slide dosen)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766560" cy="50292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6766560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8016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C9A0FF"/>
                </a:solidFill>
              </a:rPr>
              <a:t>Komponen wajib</a:t>
            </a:r>
          </a:p>
        </p:txBody>
      </p:sp>
      <p:sp>
        <p:nvSpPr>
          <p:cNvPr id="9" name="Oval 8"/>
          <p:cNvSpPr/>
          <p:nvPr/>
        </p:nvSpPr>
        <p:spPr>
          <a:xfrm>
            <a:off x="832104" y="1773936"/>
            <a:ext cx="256032" cy="25603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3736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01  Judul halaman (&lt;title&gt; + &lt;h1&gt;)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" y="2185416"/>
            <a:ext cx="256032" cy="256032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1488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02  Nama lengkap</a:t>
            </a:r>
          </a:p>
        </p:txBody>
      </p:sp>
      <p:sp>
        <p:nvSpPr>
          <p:cNvPr id="13" name="Oval 12"/>
          <p:cNvSpPr/>
          <p:nvPr/>
        </p:nvSpPr>
        <p:spPr>
          <a:xfrm>
            <a:off x="832104" y="2596896"/>
            <a:ext cx="256032" cy="256032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56032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03  NIM mahasiswa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" y="3008376"/>
            <a:ext cx="256032" cy="256032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97180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04  Foto profil  (&lt;img src alt&gt;)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" y="3419856"/>
            <a:ext cx="256032" cy="256032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38328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05  Deskripsi diri  (&lt;p&gt;)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" y="3831336"/>
            <a:ext cx="256032" cy="256032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79476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06  Daftar hobi  (&lt;ul&gt;)</a:t>
            </a:r>
          </a:p>
        </p:txBody>
      </p:sp>
      <p:sp>
        <p:nvSpPr>
          <p:cNvPr id="21" name="Oval 20"/>
          <p:cNvSpPr/>
          <p:nvPr/>
        </p:nvSpPr>
        <p:spPr>
          <a:xfrm>
            <a:off x="832104" y="4242816"/>
            <a:ext cx="256032" cy="256032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20624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07  Daftar mata kuliah  (&lt;ol&gt;)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" y="4654296"/>
            <a:ext cx="256032" cy="256032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61772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08  Link sosmed / web  (&lt;a&gt;)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" y="5065776"/>
            <a:ext cx="256032" cy="256032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029200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09  Tabel data  (&lt;table&gt;)</a:t>
            </a:r>
          </a:p>
        </p:txBody>
      </p:sp>
      <p:sp>
        <p:nvSpPr>
          <p:cNvPr id="27" name="Oval 26"/>
          <p:cNvSpPr/>
          <p:nvPr/>
        </p:nvSpPr>
        <p:spPr>
          <a:xfrm>
            <a:off x="832104" y="5477255"/>
            <a:ext cx="256032" cy="256032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440679"/>
            <a:ext cx="5760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10  Form kontak sederhana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1097280"/>
            <a:ext cx="4251960" cy="5029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1097280"/>
            <a:ext cx="425196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16952" y="1133856"/>
            <a:ext cx="397764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Aturan pengerjaan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8" y="1591055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FOKUS pada struktur semantik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8" y="1883663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Jangan pakai style / CSS dulu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2176271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Tag yang tepat &gt; terlihat bagus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53528" y="2468879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header / main / footer wajib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53528" y="2761487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Kerjakan di 1-pembelajaran/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3054095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01-html-dasar lalu bandingkan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3528" y="3346703"/>
            <a:ext cx="38862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dengan 2-kunci-jawaban/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Kesalahan Umum HTML — Hindari Ini!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Lupa tag penutup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&lt;div&gt; tanpa &lt;/div&gt; merusak layout.
Indentasi rapi membantu melihat pasangan tag.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Heading loncat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h1 → h3 tanpa h2 membingungkan
screen reader. Heading = outline dokumen.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&lt;img&gt; tanpa alt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Gambar tak terbaca screen reader
dan tampak rusak saat gagal dimuat.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&lt;br&gt; untuk jarak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Jarak antar-elemen itu tugas CSS
(margin/padding), bukan &lt;br&gt;&lt;br&gt;.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5. Input tanpa &lt;label&gt;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Placeholder BUKAN pengganti label —
hilang saat diketik, tak dibaca 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6. div untuk segalanya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80560"/>
            <a:ext cx="3520440" cy="1600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"div soup" sulit dirawat.
Gunakan header/main/section/footer.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5577840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Kerangka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&lt;!DOCTYPE html&gt;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&lt;html lang="id"&gt;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&lt;head&gt;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&lt;meta charset="UTF-8"&gt;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&lt;meta name="viewport" content=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"width=device-width, initial-scale=1.0"&gt;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&lt;title&gt;Judul&lt;/title&gt;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&lt;/head&gt;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&lt;body&gt; ... &lt;/body&gt;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&lt;/html&gt;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Teks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&lt;h1&gt;–&lt;h6&gt;, &lt;p&gt;, &lt;strong&gt;, &lt;em&gt;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&lt;ul&gt;/&lt;ol&gt; + &lt;li&gt;, &lt;blockquote&gt;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51560"/>
            <a:ext cx="5468112" cy="47548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68112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09728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109728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2552" y="109728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193792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Tautan &amp; media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&lt;a href="url" target="_blank"&gt;..&lt;/a&gt;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&lt;img src="x.jpg" alt="deskripsi"&gt;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Tabel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&lt;table&gt;&lt;thead&gt;&lt;tr&gt;&lt;th&gt;..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&lt;tbody&gt;&lt;tr&gt;&lt;td&gt;..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Form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&lt;label for="x"&gt;..&lt;/label&gt;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&lt;input id="x" name="x" type="email"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required&gt;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&lt;!-- Semantik --&gt;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&lt;header&gt; &lt;nav&gt; &lt;main&gt; &lt;section&gt;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&lt;article&gt; &lt;aside&gt; &lt;footer&gt;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1274552" cy="56692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91440" cy="56692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53328"/>
            <a:ext cx="1090879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Latihan: 1-pembelajaran/01-html-dasar (5 bab) — kerjakan semua TODO!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HTML Dasar — struktur dan makna konten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00200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Struktur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84248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DOCTYPE → html → head (metadata) → body (konten tampil). Viewport wajib untuk responsive.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51176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51176"/>
            <a:ext cx="91440" cy="8412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24328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Konten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35224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Heading berjenjang, paragraf, list, tautan (href), gambar (alt wajib).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02152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02152"/>
            <a:ext cx="91440" cy="8412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75304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Tabel &amp; 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Tabel hanya untuk data. Form: label terhubung id, type + required = validasi gratis.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53128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3128"/>
            <a:ext cx="91440" cy="8412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Semantik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37176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header/nav/main/section/article/footer memberi makna — aksesibilitas + SEO.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04104"/>
            <a:ext cx="10972800" cy="841248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404104"/>
            <a:ext cx="91440" cy="8412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77256"/>
            <a:ext cx="38404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88152"/>
            <a:ext cx="104241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Tag tak ditutup, heading loncat, img tanpa alt, br untuk jarak, input tanpa label.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Modul 01  ·  Pemrograman Web · lanjut ke 1-pembelajaran/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